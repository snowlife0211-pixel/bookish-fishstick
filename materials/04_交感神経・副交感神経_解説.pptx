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【導入】テーマ04「交感神経・副交感神経」の解説です。全30問です。
配布プリントで解いてもらったあと、1問ずつ解説します。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【要点まとめ】要点まとめ：交感神経と副交感神経の構造
節前線維はすべてアセチルコリン（ニコチン受容体）。
・節前ニューロンの起始：交感神経は胸髄〜腰髄（T1〜L2）の側角、副交感神経は脳幹（Ⅲ・Ⅶ・Ⅸ・Ⅹ）＋仙髄（S2〜S4）
・神経節の位置：交感神経は脊柱の近く（交感神経幹）、副交感神経は効果器の近く・壁内
・線維の長さ：交感神経は節前：短い／節後：長い、副交感神経は節前：長い／節後：短い
・節前線維の伝達物質：アセチルコリン（交感神経・副交感神経とも同じ）
・節後線維の伝達物質：交感神経はノルアドレナリン（汗腺はACh）、副交感神経はアセチルコリン
・効果器の受容体：交感神経はα・β受容体、副交感神経はムスカリン受容体
・線維：節前：有髄（B）／節後：無髄（C）（交感神経・副交感神経とも同じ）
・例外：交感神経は副腎髄質は節前線維が直接支配、副交感神経は骨盤神経（S2〜S4）＝仙髄の副交感
最後に、副交感神経を含む脳神経：動眼（Ⅲ）・顔面（Ⅶ）・舌咽（Ⅸ）・迷走（Ⅹ）。ここは試験でよく問われます。
このあとの問題で、この表のどこが使えるかを確認しながら解説します。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【要点まとめ】要点まとめ：各臓器への作用
交感＝闘争か逃走（fight or flight）、副交感＝休息と消化（rest and digest）。
・瞳孔：交感神経は散瞳（瞳孔散大筋）、副交感神経は縮瞳（瞳孔括約筋）
・水晶体：交感神経は薄くなる（遠方視）、副交感神経は厚くなる（近方視）
・涙腺・唾液腺：交感神経は唾液：粘稠な分泌（促進）、副交感神経は涙液・漿液性唾液の分泌促進
・心臓：交感神経は心拍数↑・収縮力↑、副交感神経は心拍数↓
・気管支：交感神経は拡張、副交感神経は収縮
・消化管：交感神経は蠕動抑制・分泌抑制、副交感神経は蠕動促進・分泌促進（膵液など）
・肝臓：交感神経はグリコーゲン分解、副交感神経はグリコーゲン合成
・膀胱：交感神経は排尿筋弛緩・内尿道括約筋収縮（蓄尿）、副交感神経は排尿筋収縮（排尿）
・血管：交感神経は皮膚・内臓：収縮／骨格筋：拡張、副交感神経は外生殖器：拡張
・汗腺・立毛筋：交感神経は発汗・立毛（交感神経のみ）、副交感神経は支配なし
最後に、二重支配でない（交感のみ）：汗腺・立毛筋・副腎髄質・大部分の血管・脾臓。ここは試験でよく問われます。
このあとの問題で、この表のどこが使えるかを確認しながら解説します。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【問1】（61回午前64）
問題文：交感神経で正しいのはどれか。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 解説】
正解は 5番「節前線維末端からアセチルコリンが放出される」 です。
選択肢を順に確認します。
・1「排尿筋が収縮する」：排尿筋は弛緩（収縮は副交感）
・2「グリコーゲンの合成が促進される」：グリコーゲンは分解が促進
・3「第１腰髄から第２腰髄の後根を通る」：節前線維は前根を通る
・4「副腎髄質は節後線維の直接支配を受ける」：副腎髄質は節前線維の直接支配
・5「節前線維末端からアセチルコリンが放出される」：節前線維はコリン作動性 ○　← 正解
ポイント：自律神経の節前線維はすべてアセチルコリン。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【問2】（61回午後63）
問題文：刺激と反応の組合せで正しいのはどれか。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 解説】
正解は 5番「副交感神経 ― 直腸平滑筋の収縮」 です。
選択肢を順に確認します。
・1「交感神経 ― 縮瞳」：交感神経は散瞳
・2「交感神経 ― 気管支の収縮」：交感神経は気管支拡張
・3「交感神経 ― 心拍数の減少」：交感神経は心拍数増加
・4「副交感神経 ― 立毛筋の収縮」：立毛筋は交感神経のみ
・5「副交感神経 ― 直腸平滑筋の収縮」：副交感神経は消化管運動・排便を促進 ○　← 正解
ポイント：副交感神経＝休息・消化（rest and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【問3】（60回午前47）
問題文：自律神経障害の症状はどれか。２つ選べ。
※2つ選ぶ問題です。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 解説】
正解は 3番「不整脈」と4番「血圧低下」 です。
選択肢を順に確認します。
・1「振戦」：錐体外路・小脳症状
・2「複視」：眼球運動障害（脳神経Ⅲ・Ⅳ・Ⅵ）
・3「不整脈」：心臓の自律神経調節障害 ○　← 正解
・4「血圧低下」：起立性低血圧 ○　← 正解
・5「視力低下」：視覚路の障害
ポイント：自律神経障害：起立性低血圧・不整脈・排尿障害・発汗異常・便秘など。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【問4】（60回午前63）
問題文：自律神経で正しいのはどれか。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 解説】
正解は 5番「節前線維の末端からアセチルコリンが放出される」 です。
選択肢を順に確認します。
・1「節後線維は有髄線維である」：節後線維は無髄（C線維）、節前線維は有髄（B線維）
・2「随意的に内臓の機能を調節する」：不随意的に調節
・3「断続的に臓器へインパルスを発する」：持続的（トーヌス）に発する
・4「汗腺は交感神経と副交感神経の二重支配である」：汗腺は交感神経のみの支配
・5「節前線維の末端からアセチルコリンが放出される」：正しい　← 正解
ポイント：節前＝有髄・ACh、節後＝無髄。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【問5】（60回午後65）
問題文：副交感神経の作用で分泌が促進されるのはどれか。２つ選べ。
※2つ選ぶ問題です。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 解説】
正解は 2番「涙腺」と3番「舌下腺」 です。
選択肢を順に確認します。
・1「汗腺」：交感神経（ただし伝達物質はACh）
・2「涙腺」：顔面神経（副交感）で促進 ○　← 正解
・3「舌下腺」：顔面神経（副交感）で促進 ○　← 正解
・4「レニン」：交感神経（β1）で促進
・5「ノルアドレナリン」：交感神経・副腎髄質
ポイント：涙腺・顎下腺・舌下腺＝顔面神経、耳下腺＝舌咽神経。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【問6】（59回午前63）
問題文：副交感神経の機能を持つのはどれか。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 解説】
正解は 2番「骨盤神経」 です。
選択肢を順に確認します。
・1「横隔神経」：体性運動神経（C3〜C5）
・2「骨盤神経」：仙髄（S2〜S4）由来の副交感神経 ○　← 正解
・3「舌下神経」：舌の運動
・4「内耳神経」：聴覚・平衡覚
・5「肋間神経」：体性神経
ポイント：副交感神経：脳神経（Ⅲ・Ⅶ・Ⅸ・Ⅹ）＋仙髄（骨盤神経）。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【問7】（59回午後62）
問題文：交感神経の節前線維で直接支配されるのはどれか。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 解説】
正解は 5番「副腎髄質」 です。
選択肢を順に確認します。
・1「肝臓」：節後線維
・2「心臓」：節後線維
・3「気管支」：節後線維
・4「唾液腺」：節後線維
・5「副腎髄質」：副腎髄質は節前線維が直接支配 ○　← 正解
ポイント：副腎髄質は交感神経節後ニューロンに相当する。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【問8】（57回午前54）
問題文：自律神経作用と支配する節前ニューロンの起始レベルとの組合せで正しいのはどれか。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【問8 解説】
正解は 4番「瞳孔散大筋の収縮：胸髄」 です。
選択肢を順に確認します。
・1「細気管支の収縮：頸髄」：副交感（迷走神経）→ 延髄
・2「顔面の汗腺の発汗：延髄」：交感神経 → 胸髄
・3「消化管蠕動の亢進：腰髄」：副交感（迷走神経・骨盤神経）→ 延髄・仙髄
・4「瞳孔散大筋の収縮：胸髄」：交感神経（毛様体脊髄中枢 C8〜T2）○　← 正解
・5「内尿道括約筋の収縮：仙髄」：交感神経（下腹神経）→ 腰髄
ポイント：交感神経の節前ニューロンは胸髄〜腰髄（T1〜L2）の側角。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【問9】（57回午後63）
問題文：自律神経の二重支配を受けるのはどれか。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【問9 解説】
正解は 2番「膵臓」 です。
選択肢を順に確認します。
・1「汗腺」：交感神経のみ
・2「膵臓」：交感・副交感の二重支配 ○　← 正解
・3「脾臓」：交感神経のみ
・4「立毛筋」：交感神経のみ
・5「副腎髄質」：交感神経（節前）のみ
ポイント：交感神経のみの支配：汗腺・立毛筋・副腎髄質・大部分の血管・脾臓。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【問10】（56回午後62）
問題文：交感神経および副交感神経の両方の刺激で促進されるのはどれか。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【問10 解説】
正解は 4番「唾液腺分泌」 です。
選択肢を順に確認します。
・1「発汗」：交感神経のみ
・2「心拍」：交感で増加・副交感で減少
・3「胃の蠕動」：副交感で促進・交感で抑制
・4「唾液腺分泌」：両方で促進（交感：粘稠、副交感：漿液性）○　← 正解
・5「立毛筋収縮」：交感神経のみ
ポイント：唾液腺は拮抗せず、両方で分泌促進（性状が異なる）。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【問11】（55回午前51）
問題文：自律神経系の機能をもつのはどれか。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【問11 解説】
正解は 4番「迷走神経」 です。
選択肢を順に確認します。
・1「視神経」：感覚（視覚）
・2「滑車神経」：運動（上斜筋）
・3「三叉神経」：感覚・運動（咀嚼筋）
・4「迷走神経」：副交感神経線維を含む ○　← 正解
・5「舌下神経」：運動（舌筋）
ポイント：副交感線維を含む脳神経は「み(Ⅲ)な(Ⅶ)く(Ⅸ)と(Ⅹ)＝港区」で覚える。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【問12】（55回午前63）
問題文：交感神経の作用はどれか。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【問12 解説】
正解は 3番「気管支を拡張させる。」 です。
選択肢を順に確認します。
・1「瞳孔を縮小させる。」：副交感
・2「排尿を促進させる。」：副交感
・3「気管支を拡張させる。」：交感 ○　← 正解
・4「心拍数を減少させる。」：副交感
・5「胃腸の運動を促進させる。」：副交感
ポイント：交感神経＝「戦いモード」：獲物を見る（散瞳）、大きく息をする（気管支拡張）、食事・排尿はしない。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【問13】（54回午前64）
問題文：交感神経の機能で正しいのはどれか。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【問13 解説】
正解は 4番「水晶体の厚さを減少させる。」 です。
選択肢を順に確認します。
・1「膵液分泌を促進する。」：副交感
・2「心収縮力を減少させる。」：交感神経は増加させる
・3「直腸平滑筋を収縮させる。」：副交感
・4「水晶体の厚さを減少させる。」：遠方視（水晶体が薄くなる）○　← 正解
・5「肝臓でのグリコーゲン合成を促進する。」：交感神経は分解を促進
ポイント：交感神経：散瞳・遠方視、副交感神経：縮瞳・近方視（調節）。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【問14】（54回午後62）
問題文：副交感神経線維を含むのはどれか。２つ選べ。
※2つ選ぶ問題です。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【問14 解説】
正解は 1番「動眼神経」と4番「迷走神経」 です。
選択肢を順に確認します。
・1「動眼神経」：縮瞳・調節 ○　← 正解
・2「滑車神経」：運動のみ
・3「内耳神経」：感覚のみ
・4「迷走神経」：胸腹部内臓 ○　← 正解
・5「舌下神経」：運動のみ
ポイント：副交感線維を含む脳神経：Ⅲ・Ⅶ・Ⅸ・Ⅹ（3・7・9・10）。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【問15】（53回午後63）
問題文：副交感神経の作用で収縮する筋はどれか。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【問15 解説】
正解は 2番「排尿筋」 です。
選択肢を順に確認します。
・1「立毛筋」：交感神経で収縮
・2「排尿筋」：副交感神経（骨盤神経）で収縮 ○　← 正解
・3「血管平滑筋」：主に交感神経で収縮
・4「瞳孔散大筋」：交感神経で収縮
・5「内肛門括約筋」：交感神経で収縮（副交感で弛緩）
ポイント：排尿：副交感で排尿筋収縮＋内尿道括約筋弛緩。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【問16】（52回午後64）
問題文：交感神経の作用はどれか。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【問16 解説】
正解は 4番「気管支の拡張」 です。
選択肢を順に確認します。
・1「瞳孔の縮小」：副交感
・2「膀胱の収縮」：副交感
・3「心拍数の減少」：副交感
・4「気管支の拡張」：交感 ○　← 正解
・5「膵液の分泌促進」：副交感
ポイント：交感神経：気管支拡張（β2）。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【問17】（51回午後65）
問題文：副交感神経の作用はどれか。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【問17 解説】
正解は 3番「心拍数減少」 です。
選択肢を順に確認します。
・1「瞳孔散大」：交感
・2「発汗促進」：交感
・3「心拍数減少」：副交感 ○　← 正解
・4「気管支の拡張」：交感
・5「消化液の分泌抑制」：交感
ポイント：迷走神経刺激で心拍数減少。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【問18】（50回午後63）
問題文：副交感神経の作用はどれか。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【問18 解説】
正解は 1番「気管支の収縮」 です。
選択肢を順に確認します。
・1「気管支の収縮」：副交感 ○　← 正解
・2「心拍数の増加」：交感
・3「涙液の分泌抑制」：副交感は促進
・4「膵液の分泌抑制」：副交感は促進
・5「内肛門括約筋の収縮」：交感
ポイント：副交感神経：気管支収縮・分泌促進。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【問19】（49回午後64）
問題文：自律神経について正しいのはどれか。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【問19 解説】
正解は 5番「副交感神経刺激は縮瞳を引き起こす」 です。
選択肢を順に確認します。
・1「交感神経刺激は膀胱を収縮させる」：交感は膀胱を弛緩（蓄尿）
・2「交感神経刺激は心筋の収縮力を低下させる」：交感は収縮力を増強
・3「副交感神経刺激は消化管運動性を低下させる」：副交感は亢進
・4「副交感神経刺激は唾液分泌を抑制する」：副交感は促進
・5「副交感神経刺激は縮瞳を引き起こす」：正しい（瞳孔括約筋収縮）　← 正解
ポイント：縮瞳＝動眼神経（副交感）→ 瞳孔括約筋。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【問20】（48回午後64）
問題文：副交感神経が交感神経より優位に働いたときの反応はどれか。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【問20 解説】
正解は 3番「気管支収縮」 です。
選択肢を順に確認します。
・1「瞳孔散大」：交感
・2「排尿筋弛緩」：交感
・3「気管支収縮」：副交感 ○　← 正解
・4「心拍数増加」：交感
・5「筋内血管拡張」：交感（β2）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【問21】（47回午前62）
問題文：交感神経の興奮によって生じるのはどれか。２つ選べ。
※2つ選ぶ問題です。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【問21 解説】
正解は 1番「気管支の拡張」と3番「皮膚血管の収縮」 です。
選択肢を順に確認します。
・1「気管支の拡張」：○　← 正解
・2「筋血管の収縮」：骨格筋の血管は拡張（β2）
・3「皮膚血管の収縮」：○（α1）　← 正解
・4「涙腺分泌の亢進」：副交感
・5「消化腺分泌の亢進」：副交感
ポイント：交感神経：皮膚・内臓の血管は収縮、骨格筋の血管は拡張 → 血液を筋へ。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【問22】（47回午後64）
問題文：自律神経について正しいのはどれか。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【問22 解説】
正解は 1番「興奮は不随意である」 です。
選択肢を順に確認します。
・1「興奮は不随意である」：正しい　← 正解
・2「精神的因子は関与しない」：情動・ストレスで変化する
・3「体性内臓反射の求心路である」：体性内臓反射の遠心路
・4「副交感神経の節後線維は交感神経に比べて長い」：副交感の節後線維は短い（神経節が効果器の近く）
・5「交感神経節前線維の伝達物質はノルアドレナリンである」：節前線維はアセチルコリン
ポイント：交感：節前短・節後長、副交感：節前長・節後短。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【問23】（46回午後63）
問題文：副交感神経の興奮によるものはどれか。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【問23 解説】
正解は 4番「気管支平滑筋収縮」 です。
選択肢を順に確認します。
・1「瞳孔散大」：交感
・2「胆嚢弛緩」：副交感は胆嚢収縮
・3「消化管蠕動抑制」：副交感は促進
・4「気管支平滑筋収縮」：副交感 ○　← 正解
・5「外生殖器血管収縮」：副交感は血管拡張（勃起）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【問24】（45回午前64）
問題文：副交感神経が優位に働いたときの反応はどれか。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【問24 解説】
正解は 3番「気管支収縮」 です。
選択肢を順に確認します。
・1「散瞳」：交感
・2「心拍数増加」：交感
・3「気管支収縮」：副交感 ○　← 正解
・4「皮膚血管収縮」：交感
・5「膀胱括約筋収縮」：交感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【問25】（44回午後25）
問題文：副交感神経の作用で正しいのはどれか。２つ選べ。
※2つ選ぶ問題です。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【問25 解説】
正解は 2番「涙液分泌」と5番「気管支収縮」 です。
選択肢を順に確認します。
・1「発汗」：交感
・2「涙液分泌」：副交感 ○　← 正解
・3「立毛筋収縮」：交感
・4「筋血管拡張」：交感
・5「気管支収縮」：副交感 ○　← 正解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【問26】（43回午後25）
問題文：副交感神経作用があるのはどれか。２つ選べ。
※2つ選ぶ問題です。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【問26 解説】
正解は 3番「動眼神経」と5番「顔面神経」 です。
選択肢を順に確認します。
・1「嗅神経」：感覚のみ
・2「視神経」：感覚のみ
・3「動眼神経」：Ⅲ ○　← 正解
・4「三叉神経」：感覚・運動（副交感線維を含まない）
・5「顔面神経」：Ⅶ ○　← 正解
ポイント：Ⅲ・Ⅶ・Ⅸ・Ⅹの4つを確実に覚える。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【問27】（42回午後25）
問題文：副交感神経優位時の臓器とその働きとの組合せで誤っているのはどれか。
※「誤っている」ものを選ぶ問題です。読み飛ばしに注意するよう声をかけます。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【問27 解説】
正解は 3番「肝臓 ― グリコーゲン分解」 です。
「誤っている」ものを選ぶ問題なので、正解の選択肢が誤った内容になっています。
選択肢を順に確認します。
・1「眼 ― 縮瞳」：正しい
・2「心臓 ― 心拍数減少」：正しい
・3「肝臓 ― グリコーゲン分解」：グリコーゲン分解は交感神経 → 誤り（副交感は合成）　← 正解
・4「膵臓 ― 膵液分泌」：正しい
・5「膀胱 ― 排尿筋収縮」：正しい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【問28】（41回午後9）
問題文：脳神経の中で副交感神経線維を含まないのはどれか。
※「含まない」ものを選ぶ問題です。読み飛ばしに注意するよう声をかけます。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【問28 解説】
正解は 2番「三叉神経」 です。
選択肢を順に確認します。
・1「動眼神経」：含む
・2「三叉神経」：含まない ○　← 正解
・3「顔面神経」：含む
・4「舌咽神経」：含む
・5「迷走神経」：含む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【問29】（41回午後25）
問題文：交感神経が優位に働いたときの反応で誤っているのはどれか。
※「誤っている」ものを選ぶ問題です。読み飛ばしに注意するよう声をかけます。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【問29 解説】
正解は 5番「排尿筋の収縮」 です。
「誤っている」ものを選ぶ問題なので、正解の選択肢が誤った内容になっています。
選択肢を順に確認します。
・1「瞳孔の散大」：正しい
・2「心拍数の増加」：正しい
・3「収縮期血圧の上昇」：正しい
・4「皮膚動脈の収縮」：正しい
・5「排尿筋の収縮」：排尿筋は弛緩 → 誤り　← 正解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【問30】（自作）
問題文：受容体がムスカリン受容体であるのはどれか。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【問30 解説】
正解は 4番「副交感神経節後線維」 です。
選択肢を順に確認します。
・1「交感神経節前線維」：節後ニューロンのニコチン受容体
・2「交感神経節後線維」：効果器のアドレナリン受容体（α・β）
・3「副交感神経節前線維」：節後ニューロンのニコチン受容体
・4「副交感神経節後線維」：効果器のムスカリン受容体 ○　← 正解
・5「運動神経神経筋接合部」：ニコチン受容体（NM）
ポイント：神経節・神経筋接合部＝ニコチン受容体、副交感の効果器＝ムスカリン受容体。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【正答一覧】テーマ04「交感神経・副交感神経」の正答を確認します。
正解数を記録して、間違えた問題を見直しましょう。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24D"/>
        </a:solidFill>
      </p:bgPr>
    </p:bg>
    <p:spTree>
      <p:nvGrpSpPr>
        <p:cNvPr id="1" name=""/>
        <p:cNvGrpSpPr/>
        <p:nvPr/>
      </p:nvGrpSpPr>
      <p:grpSpPr>
        <a:xfrm>
          <a:off x="0" y="0"/>
          <a:ext cx="0" cy="0"/>
          <a:chOff x="0" y="0"/>
          <a:chExt cx="0" cy="0"/>
        </a:xfrm>
      </p:grpSpPr>
      <p:sp>
        <p:nvSpPr>
          <p:cNvPr id="2" name="Shape 0"/>
          <p:cNvSpPr/>
          <p:nvPr/>
        </p:nvSpPr>
        <p:spPr>
          <a:xfrm>
            <a:off x="6035040" y="-1097280"/>
            <a:ext cx="4572000" cy="4572000"/>
          </a:xfrm>
          <a:prstGeom prst="ellipse">
            <a:avLst/>
          </a:prstGeom>
          <a:solidFill>
            <a:srgbClr val="2A7F9E">
              <a:alpha val="45000"/>
            </a:srgbClr>
          </a:solidFill>
          <a:ln/>
        </p:spPr>
      </p:sp>
      <p:sp>
        <p:nvSpPr>
          <p:cNvPr id="3" name="Shape 1"/>
          <p:cNvSpPr/>
          <p:nvPr/>
        </p:nvSpPr>
        <p:spPr>
          <a:xfrm>
            <a:off x="7132320" y="2743200"/>
            <a:ext cx="2926080" cy="2926080"/>
          </a:xfrm>
          <a:prstGeom prst="ellipse">
            <a:avLst/>
          </a:prstGeom>
          <a:solidFill>
            <a:srgbClr val="2A7F9E">
              <a:alpha val="25000"/>
            </a:srgbClr>
          </a:solidFill>
          <a:ln/>
        </p:spPr>
      </p:sp>
      <p:sp>
        <p:nvSpPr>
          <p:cNvPr id="4" name="Text 2"/>
          <p:cNvSpPr txBox="1"/>
          <p:nvPr/>
        </p:nvSpPr>
        <p:spPr>
          <a:xfrm>
            <a:off x="548640" y="1097280"/>
            <a:ext cx="7315200" cy="365760"/>
          </a:xfrm>
          <a:prstGeom prst="rect">
            <a:avLst/>
          </a:prstGeom>
          <a:noFill/>
          <a:ln/>
        </p:spPr>
        <p:txBody>
          <a:bodyPr wrap="square" lIns="0" tIns="0" rIns="0" bIns="0" rtlCol="0" anchor="ctr"/>
          <a:lstStyle/>
          <a:p>
            <a:pPr indent="0" marL="0">
              <a:buNone/>
            </a:pPr>
            <a:r>
              <a:rPr lang="en-US" sz="1400" dirty="0">
                <a:solidFill>
                  <a:srgbClr val="BFD7EA"/>
                </a:solidFill>
                <a:latin typeface="Meiryo" pitchFamily="34" charset="0"/>
                <a:ea typeface="Meiryo" pitchFamily="34" charset="-122"/>
                <a:cs typeface="Meiryo" pitchFamily="34" charset="-120"/>
              </a:rPr>
              <a:t>作業療法士国家試験対策　基礎医学（神経系）</a:t>
            </a:r>
            <a:endParaRPr lang="en-US" sz="1400" dirty="0"/>
          </a:p>
        </p:txBody>
      </p:sp>
      <p:sp>
        <p:nvSpPr>
          <p:cNvPr id="5" name="Text 3"/>
          <p:cNvSpPr txBox="1"/>
          <p:nvPr/>
        </p:nvSpPr>
        <p:spPr>
          <a:xfrm>
            <a:off x="548640" y="1645920"/>
            <a:ext cx="7315200" cy="457200"/>
          </a:xfrm>
          <a:prstGeom prst="rect">
            <a:avLst/>
          </a:prstGeom>
          <a:noFill/>
          <a:ln/>
        </p:spPr>
        <p:txBody>
          <a:bodyPr wrap="square" lIns="0" tIns="0" rIns="0" bIns="0" rtlCol="0" anchor="ctr"/>
          <a:lstStyle/>
          <a:p>
            <a:pPr indent="0" marL="0">
              <a:buNone/>
            </a:pPr>
            <a:r>
              <a:rPr lang="en-US" sz="2000" b="1" dirty="0">
                <a:solidFill>
                  <a:srgbClr val="FFFFFF"/>
                </a:solidFill>
                <a:latin typeface="Meiryo" pitchFamily="34" charset="0"/>
                <a:ea typeface="Meiryo" pitchFamily="34" charset="-122"/>
                <a:cs typeface="Meiryo" pitchFamily="34" charset="-120"/>
              </a:rPr>
              <a:t>テーマ 04</a:t>
            </a:r>
            <a:endParaRPr lang="en-US" sz="2000" dirty="0"/>
          </a:p>
        </p:txBody>
      </p:sp>
      <p:sp>
        <p:nvSpPr>
          <p:cNvPr id="6" name="Text 4"/>
          <p:cNvSpPr txBox="1"/>
          <p:nvPr/>
        </p:nvSpPr>
        <p:spPr>
          <a:xfrm>
            <a:off x="548640" y="2103120"/>
            <a:ext cx="7772400" cy="9144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交感神経・副交感神経</a:t>
            </a:r>
            <a:endParaRPr lang="en-US" sz="4000" dirty="0"/>
          </a:p>
        </p:txBody>
      </p:sp>
      <p:sp>
        <p:nvSpPr>
          <p:cNvPr id="7" name="Text 5"/>
          <p:cNvSpPr txBox="1"/>
          <p:nvPr/>
        </p:nvSpPr>
        <p:spPr>
          <a:xfrm>
            <a:off x="548640" y="3200400"/>
            <a:ext cx="7315200" cy="365760"/>
          </a:xfrm>
          <a:prstGeom prst="rect">
            <a:avLst/>
          </a:prstGeom>
          <a:noFill/>
          <a:ln/>
        </p:spPr>
        <p:txBody>
          <a:bodyPr wrap="square" lIns="0" tIns="0" rIns="0" bIns="0" rtlCol="0" anchor="ctr"/>
          <a:lstStyle/>
          <a:p>
            <a:pPr indent="0" marL="0">
              <a:buNone/>
            </a:pPr>
            <a:r>
              <a:rPr lang="en-US" sz="1600" dirty="0">
                <a:solidFill>
                  <a:srgbClr val="BFD7EA"/>
                </a:solidFill>
                <a:latin typeface="Meiryo" pitchFamily="34" charset="0"/>
                <a:ea typeface="Meiryo" pitchFamily="34" charset="-122"/>
                <a:cs typeface="Meiryo" pitchFamily="34" charset="-120"/>
              </a:rPr>
              <a:t>解説スライド　全30問</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要点まとめ：交感神経と副交感神経の構造</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節前線維はすべてアセチルコリン（ニコチン受容体）</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3108960"/>
                <a:gridCol w="3108960"/>
              </a:tblGrid>
              <a:tr h="329184">
                <a:tc>
                  <a:txBody>
                    <a:bodyPr/>
                    <a:lstStyle/>
                    <a:p>
                      <a:pPr algn="ctr" indent="0" marL="0">
                        <a:buNone/>
                      </a:pP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副交感神経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節前ニューロンの起始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胸髄〜腰髄（T1〜L2）の側角</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脳幹（Ⅲ・Ⅶ・Ⅸ・Ⅹ）＋仙髄（S2〜S4）</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神経節の位置</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脊柱の近く（交感神経幹）</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効果器の近く・壁内</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線維の長さ</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節前：短い／節後：長い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節前：長い／節後：短い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節前線維の伝達物質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節後線維の伝達物質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ノルアドレナリン（汗腺はACh）</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効果器の受容体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α・β受容体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ムスカリン受容体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線維</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節前：有髄（B）／節後：無髄（C）</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節前：有髄（B）／節後：無髄（C）</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例外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副腎髄質は節前線維が直接支配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骨盤神経（S2〜S4）＝仙髄の副交感</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副交感神経を含む脳神経：動眼（Ⅲ）・顔面（Ⅶ）・舌咽（Ⅸ）・迷走（Ⅹ）</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要点まとめ：各臓器への作用</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交感＝闘争か逃走（fight or flight）、副交感＝休息と消化（rest and digest）</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00400"/>
                <a:gridCol w="3200400"/>
              </a:tblGrid>
              <a:tr h="27432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臓器</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副交感神経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瞳孔</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散瞳（瞳孔散大筋）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縮瞳（瞳孔括約筋）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水晶体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薄くなる（遠方視）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厚くなる（近方視）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涙腺・唾液腺</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唾液：粘稠な分泌（促進）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涙液・漿液性唾液の分泌促進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心臓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心拍数↑・収縮力↑</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心拍数↓</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気管支</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収縮</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消化管</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蠕動抑制・分泌抑制</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蠕動促進・分泌促進（膵液など）</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肝臓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グリコーゲン分解</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グリコーゲン合成</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膀胱</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排尿筋弛緩・内尿道括約筋収縮（蓄尿）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排尿筋収縮（排尿）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血管</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皮膚・内臓：収縮／骨格筋：拡張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外生殖器：拡張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汗腺・立毛筋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発汗・立毛（交感神経のみ）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支配なし</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二重支配でない（交感のみ）：汗腺・立毛筋・副腎髄質・大部分の血管・脾臓</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排尿筋が収縮する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グリコーゲンの合成が促進される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第１腰髄から第２腰髄の後根を通る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副腎髄質は節後線維の直接支配を受ける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節前線維末端からアセチルコリンが放出される</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排尿筋が収縮する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排尿筋は弛緩（収縮は副交感）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グリコーゲンの合成が促進される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グリコーゲンは分解が促進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第１腰髄から第２腰髄の後根を通る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節前線維は前根を通る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副腎髄質は節後線維の直接支配を受ける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副腎髄質は節前線維の直接支配</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節前線維末端からアセチルコリンが放出される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節前線維はコリン作動性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自律神経の節前線維はすべてアセチルコリン。</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刺激と反応の組合せで正しいのはどれか。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縮瞳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気管支の収縮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心拍数の減少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 ― 立毛筋の収縮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 ― 直腸平滑筋の収縮</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刺激と反応の組合せで正しいのはどれか。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縮瞳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交感神経は散瞳</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気管支の収縮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交感神経は気管支拡張</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心拍数の減少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交感神経は心拍数増加</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 ― 立毛筋の収縮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立毛筋は交感神経のみ</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 ― 直腸平滑筋の収縮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副交感神経は消化管運動・排便を促進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副交感神経＝休息・消化（rest and digest）。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60回午前47</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自律神経障害の症状はどれか。２つ選べ。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振戦</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複視</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不整脈</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血圧低下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視力低下</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60回午前47</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自律神経障害の症状はどれか。２つ選べ。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振戦</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錐体外路・小脳症状</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複視</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眼球運動障害（脳神経Ⅲ・Ⅳ・Ⅵ）</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不整脈</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心臓の自律神経調節障害 ○</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血圧低下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起立性低血圧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視力低下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視覚路の障害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自律神経障害：起立性低血圧・不整脈・排尿障害・発汗異常・便秘など。</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節後線維は有髄線維である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随意的に内臓の機能を調節する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断続的に臓器へインパルスを発する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汗腺は交感神経と副交感神経の二重支配である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節前線維の末端からアセチルコリンが放出される</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節後線維は有髄線維である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節後線維は無髄（C線維）、節前線維は有髄（B線維）</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随意的に内臓の機能を調節する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不随意的に調節</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断続的に臓器へインパルスを発する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持続的（トーヌス）に発する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汗腺は交感神経と副交感神経の二重支配である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汗腺は交感神経のみの支配</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節前線維の末端からアセチルコリンが放出される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節前＝有髄・ACh、節後＝無髄。</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副交感神経の作用で分泌が促進されるのはどれか。２つ選べ。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涙腺</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舌下腺</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レニン</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ノルアドレナリン</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副交感神経の作用で分泌が促進されるのはどれか。２つ選べ。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交感神経（ただし伝達物質はACh）</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涙腺</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顔面神経（副交感）で促進 ○</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舌下腺</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顔面神経（副交感）で促進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レニン</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交感神経（β1）で促進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ノルアドレナリン</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交感神経・副腎髄質</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涙腺・顎下腺・舌下腺＝顔面神経、耳下腺＝舌咽神経。</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副交感神経の機能を持つのはどれか。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横隔神経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骨盤神経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内耳神経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肋間神経</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副交感神経の機能を持つのはどれか。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横隔神経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体性運動神経（C3〜C5）</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骨盤神経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仙髄（S2〜S4）由来の副交感神経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舌の運動</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内耳神経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聴覚・平衡覚</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肋間神経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体性神経</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副交感神経：脳神経（Ⅲ・Ⅶ・Ⅸ・Ⅹ）＋仙髄（骨盤神経）。</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交感神経の節前線維で直接支配されるのはどれか。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唾液腺</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交感神経の節前線維で直接支配されるのはどれか。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肝臓</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気管支</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唾液腺</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副腎髄質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副腎髄質は節前線維が直接支配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副腎髄質は交感神経節後ニューロンに相当する。</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自律神経作用と支配する節前ニューロンの起始レベルとの組合せで正しいのはどれか。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細気管支の収縮：頸髄</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顔面の汗腺の発汗：延髄</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消化管蠕動の亢進：腰髄</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瞳孔散大筋の収縮：胸髄</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内尿道括約筋の収縮：仙髄</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自律神経作用と支配する節前ニューロンの起始レベルとの組合せで正しいのはどれか。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細気管支の収縮：頸髄</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副交感（迷走神経）→ 延髄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顔面の汗腺の発汗：延髄</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 → 胸髄</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消化管蠕動の亢進：腰髄</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副交感（迷走神経・骨盤神経）→ 延髄・仙髄</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瞳孔散大筋の収縮：胸髄</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交感神経（毛様体脊髄中枢 C8〜T2）○</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内尿道括約筋の収縮：仙髄</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交感神経（下腹神経）→ 腰髄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交感神経の節前ニューロンは胸髄〜腰髄（T1〜L2）の側角。</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自律神経の二重支配を受けるのはどれか。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脾臓</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自律神経の二重支配を受けるのはどれか。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膵臓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交感・副交感の二重支配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脾臓</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副腎髄質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交感神経（節前）のみ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交感神経のみの支配：汗腺・立毛筋・副腎髄質・大部分の血管・脾臓。</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交感神経および副交感神経の両方の刺激で促進されるのはどれか。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胃の蠕動</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唾液腺分泌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立毛筋収縮</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交感神経および副交感神経の両方の刺激で促進されるのはどれか。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交感で増加・副交感で減少</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胃の蠕動</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副交感で促進・交感で抑制</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唾液腺分泌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両方で促進（交感：粘稠、副交感：漿液性）○</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唾液腺は拮抗せず、両方で分泌促進（性状が異なる）。</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55回午前51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自律神経系の機能をもつのはどれか。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55回午前51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自律神経系の機能をもつのはどれか。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感覚（視覚）</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運動（上斜筋）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感覚・運動（咀嚼筋）</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迷走神経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副交感神経線維を含む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運動（舌筋）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副交感線維を含む脳神経は「み(Ⅲ)な(Ⅶ)く(Ⅸ)と(Ⅹ)＝港区」で覚える。</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瞳孔を縮小させる。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排尿を促進させる。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気管支を拡張させる。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心拍数を減少させる。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胃腸の運動を促進させる。</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瞳孔を縮小させる。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排尿を促進させる。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気管支を拡張させる。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心拍数を減少させる。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胃腸の運動を促進させる。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交感神経＝「戦いモード」：獲物を見る（散瞳）、大きく息をする（気管支拡張）、食事・排尿はしない。</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交感神経の機能で正しいのはどれか。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膵液分泌を促進する。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心収縮力を減少させる。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直腸平滑筋を収縮させる。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水晶体の厚さを減少させる。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肝臓でのグリコーゲン合成を促進する。</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交感神経の機能で正しいのはどれか。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膵液分泌を促進する。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心収縮力を減少させる。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交感神経は増加させる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直腸平滑筋を収縮させる。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水晶体の厚さを減少させる。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遠方視（水晶体が薄くなる）○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肝臓でのグリコーゲン合成を促進する。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交感神経は分解を促進</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交感神経：散瞳・遠方視、副交感神経：縮瞳・近方視（調節）。</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副交感神経線維を含むのはどれか。２つ選べ。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内耳神経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副交感神経線維を含むのはどれか。２つ選べ。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縮瞳・調節 ○</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運動のみ</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内耳神経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迷走神経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胸腹部内臓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副交感線維を含む脳神経：Ⅲ・Ⅶ・Ⅸ・Ⅹ（3・7・9・10）。</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副交感神経の作用で収縮する筋はどれか。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血管平滑筋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内肛門括約筋</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副交感神経の作用で収縮する筋はどれか。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排尿筋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副交感神経（骨盤神経）で収縮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血管平滑筋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主に交感神経で収縮</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内肛門括約筋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交感神経で収縮（副交感で弛緩）</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排尿：副交感で排尿筋収縮＋内尿道括約筋弛緩。</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瞳孔の縮小</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膵液の分泌促進</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瞳孔の縮小</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膵液の分泌促進</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交感神経：気管支拡張（β2）。</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発汗促進</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消化液の分泌抑制</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発汗促進</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心拍数減少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気管支の拡張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消化液の分泌抑制</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迷走神経刺激で心拍数減少。</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気管支の収縮</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涙液の分泌抑制</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膵液の分泌抑制</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内肛門括約筋の収縮</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気管支の収縮</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涙液の分泌抑制</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膵液の分泌抑制</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内肛門括約筋の収縮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副交感神経：気管支収縮・分泌促進。</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交感神経刺激は膀胱を収縮させる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交感神経刺激は心筋の収縮力を低下させる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副交感神経刺激は消化管運動性を低下させる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副交感神経刺激は唾液分泌を抑制する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副交感神経刺激は縮瞳を引き起こす</a:t>
            </a:r>
            <a:endParaRPr lang="en-US" sz="1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交感神経刺激は膀胱を収縮させる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交感は膀胱を弛緩（蓄尿）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交感神経刺激は心筋の収縮力を低下させる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交感は収縮力を増強</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副交感神経刺激は消化管運動性を低下させる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副交感は亢進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副交感神経刺激は唾液分泌を抑制する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副交感神経刺激は縮瞳を引き起こす</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正しい（瞳孔括約筋収縮）</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縮瞳＝動眼神経（副交感）→ 瞳孔括約筋。</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副交感神経が交感神経より優位に働いたときの反応はどれか。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排尿筋弛緩</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心拍数増加</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筋内血管拡張</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副交感神経が交感神経より優位に働いたときの反応はどれか。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排尿筋弛緩</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心拍数増加</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筋内血管拡張</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交感（β2）</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交感神経の興奮によって生じるのはどれか。２つ選べ。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筋血管の収縮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皮膚血管の収縮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涙腺分泌の亢進</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消化腺分泌の亢進</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交感神経の興奮によって生じるのはどれか。２つ選べ。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気管支の拡張</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筋血管の収縮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骨格筋の血管は拡張（β2）</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皮膚血管の収縮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○（α1）</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涙腺分泌の亢進</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消化腺分泌の亢進</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交感神経：皮膚・内臓の血管は収縮、骨格筋の血管は拡張 → 血液を筋へ。</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興奮は不随意である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精神的因子は関与しない</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体性内臓反射の求心路である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副交感神経の節後線維は交感神経に比べて長い</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交感神経節前線維の伝達物質はノルアドレナリンである</a:t>
            </a:r>
            <a:endParaRPr lang="en-US" sz="15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興奮は不随意である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精神的因子は関与しない</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情動・ストレスで変化する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体性内臓反射の求心路である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体性内臓反射の遠心路</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副交感神経の節後線維は交感神経に比べて長い</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副交感の節後線維は短い（神経節が効果器の近く）</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交感神経節前線維の伝達物質はノルアドレナリンである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節前線維はアセチルコリン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交感：節前短・節後長、副交感：節前長・節後短。</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副交感神経の興奮によるものはどれか。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胆嚢弛緩</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消化管蠕動抑制</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気管支平滑筋収縮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外生殖器血管収縮</a:t>
            </a:r>
            <a:endParaRPr lang="en-US" sz="15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副交感神経の興奮によるものはどれか。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胆嚢弛緩</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副交感は胆嚢収縮</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消化管蠕動抑制</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気管支平滑筋収縮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外生殖器血管収縮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副交感は血管拡張（勃起）</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副交感神経が優位に働いたときの反応はどれか。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散瞳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皮膚血管収縮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膀胱括約筋収縮</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副交感神経が優位に働いたときの反応はどれか。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散瞳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皮膚血管収縮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膀胱括約筋収縮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副交感神経の作用で正しいのはどれか。２つ選べ。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涙液分泌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筋血管拡張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副交感神経の作用で正しいのはどれか。２つ選べ。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涙液分泌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筋血管拡張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2・5</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副交感神経作用があるのはどれか。２つ選べ。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嗅神経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副交感神経作用があるのはどれか。２つ選べ。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嗅神経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Ⅲ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感覚・運動（副交感線維を含まない）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顔面神経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Ⅶ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Ⅲ・Ⅶ・Ⅸ・Ⅹの4つを確実に覚える。</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副交感神経優位時の臓器とその働きとの組合せで誤っているのはどれか。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眼 ― 縮瞳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心臓 ― 心拍数減少</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 ― グリコーゲン分解</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膵臓 ― 膵液分泌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 ― 排尿筋収縮</a:t>
            </a:r>
            <a:endParaRPr lang="en-US" sz="15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副交感神経優位時の臓器とその働きとの組合せで誤っているのはどれか。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眼 ― 縮瞳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心臓 ― 心拍数減少</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肝臓 ― グリコーゲン分解</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グリコーゲン分解は交感神経 → 誤り（副交感は合成）</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膵臓 ― 膵液分泌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 ― 排尿筋収縮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脳神経の中で副交感神経線維を含まないのはどれか。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舌咽神経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脳神経の中で副交感神経線維を含まないのはどれか。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三叉神経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含まない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舌咽神経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迷走神経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交感神経が優位に働いたときの反応で誤っているのはどれか。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瞳孔の散大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収縮期血圧の上昇</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皮膚動脈の収縮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排尿筋の収縮</a:t>
            </a:r>
            <a:endParaRPr lang="en-US" sz="15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交感神経が優位に働いたときの反応で誤っているのはどれか。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瞳孔の散大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収縮期血圧の上昇</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皮膚動脈の収縮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排尿筋の収縮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排尿筋は弛緩 → 誤り</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受容体がムスカリン受容体であるのはどれか。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交感神経節前線維</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交感神経節後線維</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副交感神経節前線維</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副交感神経節後線維</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運動神経神経筋接合部</a:t>
            </a:r>
            <a:endParaRPr lang="en-US" sz="15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受容体がムスカリン受容体であるのはどれか。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交感神経節前線維</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節後ニューロンのニコチン受容体</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交感神経節後線維</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効果器のアドレナリン受容体（α・β）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副交感神経節前線維</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節後ニューロンのニコチン受容体</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副交感神経節後線維</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効果器のムスカリン受容体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運動神経神経筋接合部</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ニコチン受容体（NM）</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神経節・神経筋接合部＝ニコチン受容体、副交感の効果器＝ムスカリン受容体。</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正答一覧</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テーマ 04　交感神経・副交感神経</a:t>
            </a:r>
            <a:endParaRPr lang="en-US" sz="11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822960"/>
                <a:gridCol w="822960"/>
                <a:gridCol w="822960"/>
                <a:gridCol w="822960"/>
                <a:gridCol w="822960"/>
                <a:gridCol w="822960"/>
                <a:gridCol w="822960"/>
                <a:gridCol w="822960"/>
                <a:gridCol w="822960"/>
                <a:gridCol w="822960"/>
              </a:tblGrid>
              <a:tr h="457200">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5</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[7]</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5</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[13]</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4</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[19]</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5</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[25]</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2・5</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457200">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5</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[8]</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4</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[14]</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1・4</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[20]</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3</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[26]</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3・5</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457200">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3・4</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[9]</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2</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[15]</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2</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[21]</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1・3</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[27]</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3</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457200">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5</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[10]</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4</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[16]</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4</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[22]</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1</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[28]</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2</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457200">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[5]</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2・3</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[11]</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4</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[17]</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3</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[23]</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4</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[29]</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5</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457200">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[6]</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2</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[12]</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3</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[18]</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1</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[24]</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3</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[30]</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300" b="1" dirty="0">
                          <a:solidFill>
                            <a:srgbClr val="D9534F"/>
                          </a:solidFill>
                          <a:latin typeface="Meiryo" pitchFamily="34" charset="0"/>
                          <a:ea typeface="Meiryo" pitchFamily="34" charset="-122"/>
                          <a:cs typeface="Meiryo" pitchFamily="34" charset="-120"/>
                        </a:rPr>
                        <a:t>4</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04 交感神経・副交感神経 解説</dc:title>
  <dc:subject>PptxGenJS Presentation</dc:subject>
  <dc:creator>PptxGenJS</dc:creator>
  <cp:lastModifiedBy>PptxGenJS</cp:lastModifiedBy>
  <cp:revision>1</cp:revision>
  <dcterms:created xsi:type="dcterms:W3CDTF">2026-09-30T06:43:58Z</dcterms:created>
  <dcterms:modified xsi:type="dcterms:W3CDTF">2026-09-30T06:43:58Z</dcterms:modified>
</cp:coreProperties>
</file>