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Lst>
  <p:notesMasterIdLst>
    <p:notesMasterId r:id="rId6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notesMaster" Target="notesMasters/notesMaster1.xml"/><Relationship Id="rId67" Type="http://schemas.openxmlformats.org/officeDocument/2006/relationships/presProps" Target="presProps.xml"/><Relationship Id="rId68" Type="http://schemas.openxmlformats.org/officeDocument/2006/relationships/viewProps" Target="viewProps.xml"/><Relationship Id="rId69" Type="http://schemas.openxmlformats.org/officeDocument/2006/relationships/theme" Target="theme/theme1.xml"/><Relationship Id="rId7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7324D"/>
        </a:solidFill>
      </p:bgPr>
    </p:bg>
    <p:spTree>
      <p:nvGrpSpPr>
        <p:cNvPr id="1" name=""/>
        <p:cNvGrpSpPr/>
        <p:nvPr/>
      </p:nvGrpSpPr>
      <p:grpSpPr>
        <a:xfrm>
          <a:off x="0" y="0"/>
          <a:ext cx="0" cy="0"/>
          <a:chOff x="0" y="0"/>
          <a:chExt cx="0" cy="0"/>
        </a:xfrm>
      </p:grpSpPr>
      <p:sp>
        <p:nvSpPr>
          <p:cNvPr id="2" name="Shape 0"/>
          <p:cNvSpPr/>
          <p:nvPr/>
        </p:nvSpPr>
        <p:spPr>
          <a:xfrm>
            <a:off x="6035040" y="-1097280"/>
            <a:ext cx="4572000" cy="4572000"/>
          </a:xfrm>
          <a:prstGeom prst="ellipse">
            <a:avLst/>
          </a:prstGeom>
          <a:solidFill>
            <a:srgbClr val="2A7F9E">
              <a:alpha val="45000"/>
            </a:srgbClr>
          </a:solidFill>
          <a:ln/>
        </p:spPr>
      </p:sp>
      <p:sp>
        <p:nvSpPr>
          <p:cNvPr id="3" name="Shape 1"/>
          <p:cNvSpPr/>
          <p:nvPr/>
        </p:nvSpPr>
        <p:spPr>
          <a:xfrm>
            <a:off x="7132320" y="2743200"/>
            <a:ext cx="2926080" cy="2926080"/>
          </a:xfrm>
          <a:prstGeom prst="ellipse">
            <a:avLst/>
          </a:prstGeom>
          <a:solidFill>
            <a:srgbClr val="2A7F9E">
              <a:alpha val="25000"/>
            </a:srgbClr>
          </a:solidFill>
          <a:ln/>
        </p:spPr>
      </p:sp>
      <p:sp>
        <p:nvSpPr>
          <p:cNvPr id="4" name="Text 2"/>
          <p:cNvSpPr txBox="1"/>
          <p:nvPr/>
        </p:nvSpPr>
        <p:spPr>
          <a:xfrm>
            <a:off x="548640" y="1097280"/>
            <a:ext cx="7315200" cy="365760"/>
          </a:xfrm>
          <a:prstGeom prst="rect">
            <a:avLst/>
          </a:prstGeom>
          <a:noFill/>
          <a:ln/>
        </p:spPr>
        <p:txBody>
          <a:bodyPr wrap="square" lIns="0" tIns="0" rIns="0" bIns="0" rtlCol="0" anchor="ctr"/>
          <a:lstStyle/>
          <a:p>
            <a:pPr indent="0" marL="0">
              <a:buNone/>
            </a:pPr>
            <a:r>
              <a:rPr lang="en-US" sz="1400" dirty="0">
                <a:solidFill>
                  <a:srgbClr val="BFD7EA"/>
                </a:solidFill>
                <a:latin typeface="Meiryo" pitchFamily="34" charset="0"/>
                <a:ea typeface="Meiryo" pitchFamily="34" charset="-122"/>
                <a:cs typeface="Meiryo" pitchFamily="34" charset="-120"/>
              </a:rPr>
              <a:t>作業療法士国家試験対策　基礎医学（神経系）</a:t>
            </a:r>
            <a:endParaRPr lang="en-US" sz="1400" dirty="0"/>
          </a:p>
        </p:txBody>
      </p:sp>
      <p:sp>
        <p:nvSpPr>
          <p:cNvPr id="5" name="Text 3"/>
          <p:cNvSpPr txBox="1"/>
          <p:nvPr/>
        </p:nvSpPr>
        <p:spPr>
          <a:xfrm>
            <a:off x="548640" y="1645920"/>
            <a:ext cx="7315200" cy="457200"/>
          </a:xfrm>
          <a:prstGeom prst="rect">
            <a:avLst/>
          </a:prstGeom>
          <a:noFill/>
          <a:ln/>
        </p:spPr>
        <p:txBody>
          <a:bodyPr wrap="square" lIns="0" tIns="0" rIns="0" bIns="0" rtlCol="0" anchor="ctr"/>
          <a:lstStyle/>
          <a:p>
            <a:pPr indent="0" marL="0">
              <a:buNone/>
            </a:pPr>
            <a:r>
              <a:rPr lang="en-US" sz="2000" b="1" dirty="0">
                <a:solidFill>
                  <a:srgbClr val="FFFFFF"/>
                </a:solidFill>
                <a:latin typeface="Meiryo" pitchFamily="34" charset="0"/>
                <a:ea typeface="Meiryo" pitchFamily="34" charset="-122"/>
                <a:cs typeface="Meiryo" pitchFamily="34" charset="-120"/>
              </a:rPr>
              <a:t>テーマ 04</a:t>
            </a:r>
            <a:endParaRPr lang="en-US" sz="2000" dirty="0"/>
          </a:p>
        </p:txBody>
      </p:sp>
      <p:sp>
        <p:nvSpPr>
          <p:cNvPr id="6" name="Text 4"/>
          <p:cNvSpPr txBox="1"/>
          <p:nvPr/>
        </p:nvSpPr>
        <p:spPr>
          <a:xfrm>
            <a:off x="548640" y="2103120"/>
            <a:ext cx="7772400" cy="914400"/>
          </a:xfrm>
          <a:prstGeom prst="rect">
            <a:avLst/>
          </a:prstGeom>
          <a:noFill/>
          <a:ln/>
        </p:spPr>
        <p:txBody>
          <a:bodyPr wrap="square" lIns="0" tIns="0" rIns="0" bIns="0" rtlCol="0" anchor="ctr"/>
          <a:lstStyle/>
          <a:p>
            <a:pPr indent="0" marL="0">
              <a:buNone/>
            </a:pPr>
            <a:r>
              <a:rPr lang="en-US" sz="4000" b="1" dirty="0">
                <a:solidFill>
                  <a:srgbClr val="FFFFFF"/>
                </a:solidFill>
                <a:latin typeface="Meiryo" pitchFamily="34" charset="0"/>
                <a:ea typeface="Meiryo" pitchFamily="34" charset="-122"/>
                <a:cs typeface="Meiryo" pitchFamily="34" charset="-120"/>
              </a:rPr>
              <a:t>交感神経・副交感神経</a:t>
            </a:r>
            <a:endParaRPr lang="en-US" sz="4000" dirty="0"/>
          </a:p>
        </p:txBody>
      </p:sp>
      <p:sp>
        <p:nvSpPr>
          <p:cNvPr id="7" name="Text 5"/>
          <p:cNvSpPr txBox="1"/>
          <p:nvPr/>
        </p:nvSpPr>
        <p:spPr>
          <a:xfrm>
            <a:off x="548640" y="3200400"/>
            <a:ext cx="7315200" cy="365760"/>
          </a:xfrm>
          <a:prstGeom prst="rect">
            <a:avLst/>
          </a:prstGeom>
          <a:noFill/>
          <a:ln/>
        </p:spPr>
        <p:txBody>
          <a:bodyPr wrap="square" lIns="0" tIns="0" rIns="0" bIns="0" rtlCol="0" anchor="ctr"/>
          <a:lstStyle/>
          <a:p>
            <a:pPr indent="0" marL="0">
              <a:buNone/>
            </a:pPr>
            <a:r>
              <a:rPr lang="en-US" sz="1600" dirty="0">
                <a:solidFill>
                  <a:srgbClr val="BFD7EA"/>
                </a:solidFill>
                <a:latin typeface="Meiryo" pitchFamily="34" charset="0"/>
                <a:ea typeface="Meiryo" pitchFamily="34" charset="-122"/>
                <a:cs typeface="Meiryo" pitchFamily="34" charset="-120"/>
              </a:rPr>
              <a:t>解説スライド　全30問</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28600"/>
            <a:ext cx="8229600" cy="548640"/>
          </a:xfrm>
          <a:prstGeom prst="rect">
            <a:avLst/>
          </a:prstGeom>
          <a:noFill/>
          <a:ln/>
        </p:spPr>
        <p:txBody>
          <a:bodyPr wrap="square" lIns="0" tIns="0" rIns="0" bIns="0" rtlCol="0" anchor="ctr"/>
          <a:lstStyle/>
          <a:p>
            <a:pPr indent="0" marL="0">
              <a:buNone/>
            </a:pPr>
            <a:r>
              <a:rPr lang="en-US" sz="2400" b="1" dirty="0">
                <a:solidFill>
                  <a:srgbClr val="17324D"/>
                </a:solidFill>
                <a:latin typeface="Meiryo" pitchFamily="34" charset="0"/>
                <a:ea typeface="Meiryo" pitchFamily="34" charset="-122"/>
                <a:cs typeface="Meiryo" pitchFamily="34" charset="-120"/>
              </a:rPr>
              <a:t>要点まとめ：交感神経と副交感神経の構造</a:t>
            </a:r>
            <a:endParaRPr lang="en-US" sz="2400" dirty="0"/>
          </a:p>
        </p:txBody>
      </p:sp>
      <p:sp>
        <p:nvSpPr>
          <p:cNvPr id="3" name="Text 1"/>
          <p:cNvSpPr txBox="1"/>
          <p:nvPr/>
        </p:nvSpPr>
        <p:spPr>
          <a:xfrm>
            <a:off x="457200" y="749808"/>
            <a:ext cx="8229600" cy="27432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節前線維はすべてアセチルコリン（ニコチン受容体）</a:t>
            </a:r>
            <a:endParaRPr lang="en-US" sz="11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914400"/>
        </p:xfrm>
        <a:graphic>
          <a:graphicData uri="http://schemas.openxmlformats.org/drawingml/2006/table">
            <a:tbl>
              <a:tblPr/>
              <a:tblGrid>
                <a:gridCol w="2011680"/>
                <a:gridCol w="3108960"/>
                <a:gridCol w="3108960"/>
              </a:tblGrid>
              <a:tr h="329184">
                <a:tc>
                  <a:txBody>
                    <a:bodyPr/>
                    <a:lstStyle/>
                    <a:p>
                      <a:pPr algn="ctr" indent="0" marL="0">
                        <a:buNone/>
                      </a:pPr>
                      <a:endParaRPr lang="en-US" sz="1100" dirty="0">
                        <a:latin typeface="Meiryo" charset="0"/>
                        <a:ea typeface="Meiryo" charset="0"/>
                        <a:cs typeface="Meiryo" charset="0"/>
                      </a:endParaRPr>
                    </a:p>
                  </a:txBody>
                  <a:tcPr marL="36576" marR="36576" marT="36576" marB="36576"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17324D"/>
                    </a:solidFill>
                  </a:tcPr>
                </a:tc>
                <a:tc>
                  <a:txBody>
                    <a:bodyPr/>
                    <a:lstStyle/>
                    <a:p>
                      <a:pPr algn="ctr" indent="0" marL="0">
                        <a:buNone/>
                      </a:pPr>
                      <a:r>
                        <a:rPr lang="en-US" sz="1100" b="1" dirty="0">
                          <a:solidFill>
                            <a:srgbClr val="FFFFFF"/>
                          </a:solidFill>
                          <a:latin typeface="Meiryo" pitchFamily="34" charset="0"/>
                          <a:ea typeface="Meiryo" pitchFamily="34" charset="-122"/>
                          <a:cs typeface="Meiryo" pitchFamily="34" charset="-120"/>
                        </a:rPr>
                        <a:t>交感神経</a:t>
                      </a:r>
                      <a:endParaRPr lang="en-US" sz="1100" dirty="0">
                        <a:latin typeface="Meiryo" charset="0"/>
                        <a:ea typeface="Meiryo" charset="0"/>
                        <a:cs typeface="Meiryo" charset="0"/>
                      </a:endParaRPr>
                    </a:p>
                  </a:txBody>
                  <a:tcPr marL="36576" marR="36576" marT="36576" marB="36576"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17324D"/>
                    </a:solidFill>
                  </a:tcPr>
                </a:tc>
                <a:tc>
                  <a:txBody>
                    <a:bodyPr/>
                    <a:lstStyle/>
                    <a:p>
                      <a:pPr algn="ctr" indent="0" marL="0">
                        <a:buNone/>
                      </a:pPr>
                      <a:r>
                        <a:rPr lang="en-US" sz="1100" b="1" dirty="0">
                          <a:solidFill>
                            <a:srgbClr val="FFFFFF"/>
                          </a:solidFill>
                          <a:latin typeface="Meiryo" pitchFamily="34" charset="0"/>
                          <a:ea typeface="Meiryo" pitchFamily="34" charset="-122"/>
                          <a:cs typeface="Meiryo" pitchFamily="34" charset="-120"/>
                        </a:rPr>
                        <a:t>副交感神経</a:t>
                      </a:r>
                      <a:endParaRPr lang="en-US" sz="1100" dirty="0">
                        <a:latin typeface="Meiryo" charset="0"/>
                        <a:ea typeface="Meiryo" charset="0"/>
                        <a:cs typeface="Meiryo" charset="0"/>
                      </a:endParaRPr>
                    </a:p>
                  </a:txBody>
                  <a:tcPr marL="36576" marR="36576" marT="36576" marB="36576"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17324D"/>
                    </a:solidFill>
                  </a:tcPr>
                </a:tc>
              </a:tr>
              <a:tr h="329184">
                <a:tc>
                  <a:txBody>
                    <a:bodyPr/>
                    <a:lstStyle/>
                    <a:p>
                      <a:pPr indent="0" marL="0">
                        <a:buNone/>
                      </a:pPr>
                      <a:r>
                        <a:rPr lang="en-US" sz="1100" b="1" dirty="0">
                          <a:solidFill>
                            <a:srgbClr val="17324D"/>
                          </a:solidFill>
                          <a:latin typeface="Meiryo" pitchFamily="34" charset="0"/>
                          <a:ea typeface="Meiryo" pitchFamily="34" charset="-122"/>
                          <a:cs typeface="Meiryo" pitchFamily="34" charset="-120"/>
                        </a:rPr>
                        <a:t>節前ニューロンの起始</a:t>
                      </a:r>
                      <a:endParaRPr lang="en-US" sz="1100" dirty="0">
                        <a:latin typeface="Meiryo" charset="0"/>
                        <a:ea typeface="Meiryo" charset="0"/>
                        <a:cs typeface="Meiryo" charset="0"/>
                      </a:endParaRPr>
                    </a:p>
                  </a:txBody>
                  <a:tcPr marL="36576" marR="36576" marT="36576" marB="36576"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EAF2F8"/>
                    </a:solidFill>
                  </a:tcPr>
                </a:tc>
                <a:tc>
                  <a:txBody>
                    <a:bodyPr/>
                    <a:lstStyle/>
                    <a:p>
                      <a:pPr indent="0" marL="0">
                        <a:buNone/>
                      </a:pPr>
                      <a:r>
                        <a:rPr lang="en-US" sz="1100" dirty="0">
                          <a:solidFill>
                            <a:srgbClr val="222222"/>
                          </a:solidFill>
                          <a:latin typeface="Meiryo" pitchFamily="34" charset="0"/>
                          <a:ea typeface="Meiryo" pitchFamily="34" charset="-122"/>
                          <a:cs typeface="Meiryo" pitchFamily="34" charset="-120"/>
                        </a:rPr>
                        <a:t>胸髄〜腰髄（T1〜L2）の側角</a:t>
                      </a:r>
                      <a:endParaRPr lang="en-US" sz="1100" dirty="0">
                        <a:latin typeface="Meiryo" charset="0"/>
                        <a:ea typeface="Meiryo" charset="0"/>
                        <a:cs typeface="Meiryo" charset="0"/>
                      </a:endParaRPr>
                    </a:p>
                  </a:txBody>
                  <a:tcPr marL="36576" marR="36576" marT="36576" marB="36576"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EAF2F8"/>
                    </a:solidFill>
                  </a:tcPr>
                </a:tc>
                <a:tc>
                  <a:txBody>
                    <a:bodyPr/>
                    <a:lstStyle/>
                    <a:p>
                      <a:pPr indent="0" marL="0">
                        <a:buNone/>
                      </a:pPr>
                      <a:r>
                        <a:rPr lang="en-US" sz="1100" dirty="0">
                          <a:solidFill>
                            <a:srgbClr val="222222"/>
                          </a:solidFill>
                          <a:latin typeface="Meiryo" pitchFamily="34" charset="0"/>
                          <a:ea typeface="Meiryo" pitchFamily="34" charset="-122"/>
                          <a:cs typeface="Meiryo" pitchFamily="34" charset="-120"/>
                        </a:rPr>
                        <a:t>脳幹（Ⅲ・Ⅶ・Ⅸ・Ⅹ）＋仙髄（S2〜S4）</a:t>
                      </a:r>
                      <a:endParaRPr lang="en-US" sz="1100" dirty="0">
                        <a:latin typeface="Meiryo" charset="0"/>
                        <a:ea typeface="Meiryo" charset="0"/>
                        <a:cs typeface="Meiryo" charset="0"/>
                      </a:endParaRPr>
                    </a:p>
                  </a:txBody>
                  <a:tcPr marL="36576" marR="36576" marT="36576" marB="36576"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EAF2F8"/>
                    </a:solidFill>
                  </a:tcPr>
                </a:tc>
              </a:tr>
              <a:tr h="329184">
                <a:tc>
                  <a:txBody>
                    <a:bodyPr/>
                    <a:lstStyle/>
                    <a:p>
                      <a:pPr indent="0" marL="0">
                        <a:buNone/>
                      </a:pPr>
                      <a:r>
                        <a:rPr lang="en-US" sz="1100" b="1" dirty="0">
                          <a:solidFill>
                            <a:srgbClr val="17324D"/>
                          </a:solidFill>
                          <a:latin typeface="Meiryo" pitchFamily="34" charset="0"/>
                          <a:ea typeface="Meiryo" pitchFamily="34" charset="-122"/>
                          <a:cs typeface="Meiryo" pitchFamily="34" charset="-120"/>
                        </a:rPr>
                        <a:t>神経節の位置</a:t>
                      </a:r>
                      <a:endParaRPr lang="en-US" sz="1100" dirty="0">
                        <a:latin typeface="Meiryo" charset="0"/>
                        <a:ea typeface="Meiryo" charset="0"/>
                        <a:cs typeface="Meiryo" charset="0"/>
                      </a:endParaRPr>
                    </a:p>
                  </a:txBody>
                  <a:tcPr marL="36576" marR="36576" marT="36576" marB="36576"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FFFFFF"/>
                    </a:solidFill>
                  </a:tcPr>
                </a:tc>
                <a:tc>
                  <a:txBody>
                    <a:bodyPr/>
                    <a:lstStyle/>
                    <a:p>
                      <a:pPr indent="0" marL="0">
                        <a:buNone/>
                      </a:pPr>
                      <a:r>
                        <a:rPr lang="en-US" sz="1100" dirty="0">
                          <a:solidFill>
                            <a:srgbClr val="222222"/>
                          </a:solidFill>
                          <a:latin typeface="Meiryo" pitchFamily="34" charset="0"/>
                          <a:ea typeface="Meiryo" pitchFamily="34" charset="-122"/>
                          <a:cs typeface="Meiryo" pitchFamily="34" charset="-120"/>
                        </a:rPr>
                        <a:t>脊柱の近く（交感神経幹）</a:t>
                      </a:r>
                      <a:endParaRPr lang="en-US" sz="1100" dirty="0">
                        <a:latin typeface="Meiryo" charset="0"/>
                        <a:ea typeface="Meiryo" charset="0"/>
                        <a:cs typeface="Meiryo" charset="0"/>
                      </a:endParaRPr>
                    </a:p>
                  </a:txBody>
                  <a:tcPr marL="36576" marR="36576" marT="36576" marB="36576"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FFFFFF"/>
                    </a:solidFill>
                  </a:tcPr>
                </a:tc>
                <a:tc>
                  <a:txBody>
                    <a:bodyPr/>
                    <a:lstStyle/>
                    <a:p>
                      <a:pPr indent="0" marL="0">
                        <a:buNone/>
                      </a:pPr>
                      <a:r>
                        <a:rPr lang="en-US" sz="1100" dirty="0">
                          <a:solidFill>
                            <a:srgbClr val="222222"/>
                          </a:solidFill>
                          <a:latin typeface="Meiryo" pitchFamily="34" charset="0"/>
                          <a:ea typeface="Meiryo" pitchFamily="34" charset="-122"/>
                          <a:cs typeface="Meiryo" pitchFamily="34" charset="-120"/>
                        </a:rPr>
                        <a:t>効果器の近く・壁内</a:t>
                      </a:r>
                      <a:endParaRPr lang="en-US" sz="1100" dirty="0">
                        <a:latin typeface="Meiryo" charset="0"/>
                        <a:ea typeface="Meiryo" charset="0"/>
                        <a:cs typeface="Meiryo" charset="0"/>
                      </a:endParaRPr>
                    </a:p>
                  </a:txBody>
                  <a:tcPr marL="36576" marR="36576" marT="36576" marB="36576"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FFFFFF"/>
                    </a:solidFill>
                  </a:tcPr>
                </a:tc>
              </a:tr>
              <a:tr h="329184">
                <a:tc>
                  <a:txBody>
                    <a:bodyPr/>
                    <a:lstStyle/>
                    <a:p>
                      <a:pPr indent="0" marL="0">
                        <a:buNone/>
                      </a:pPr>
                      <a:r>
                        <a:rPr lang="en-US" sz="1100" b="1" dirty="0">
                          <a:solidFill>
                            <a:srgbClr val="17324D"/>
                          </a:solidFill>
                          <a:latin typeface="Meiryo" pitchFamily="34" charset="0"/>
                          <a:ea typeface="Meiryo" pitchFamily="34" charset="-122"/>
                          <a:cs typeface="Meiryo" pitchFamily="34" charset="-120"/>
                        </a:rPr>
                        <a:t>線維の長さ</a:t>
                      </a:r>
                      <a:endParaRPr lang="en-US" sz="1100" dirty="0">
                        <a:latin typeface="Meiryo" charset="0"/>
                        <a:ea typeface="Meiryo" charset="0"/>
                        <a:cs typeface="Meiryo" charset="0"/>
                      </a:endParaRPr>
                    </a:p>
                  </a:txBody>
                  <a:tcPr marL="36576" marR="36576" marT="36576" marB="36576"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EAF2F8"/>
                    </a:solidFill>
                  </a:tcPr>
                </a:tc>
                <a:tc>
                  <a:txBody>
                    <a:bodyPr/>
                    <a:lstStyle/>
                    <a:p>
                      <a:pPr indent="0" marL="0">
                        <a:buNone/>
                      </a:pPr>
                      <a:r>
                        <a:rPr lang="en-US" sz="1100" dirty="0">
                          <a:solidFill>
                            <a:srgbClr val="222222"/>
                          </a:solidFill>
                          <a:latin typeface="Meiryo" pitchFamily="34" charset="0"/>
                          <a:ea typeface="Meiryo" pitchFamily="34" charset="-122"/>
                          <a:cs typeface="Meiryo" pitchFamily="34" charset="-120"/>
                        </a:rPr>
                        <a:t>節前：短い／節後：長い</a:t>
                      </a:r>
                      <a:endParaRPr lang="en-US" sz="1100" dirty="0">
                        <a:latin typeface="Meiryo" charset="0"/>
                        <a:ea typeface="Meiryo" charset="0"/>
                        <a:cs typeface="Meiryo" charset="0"/>
                      </a:endParaRPr>
                    </a:p>
                  </a:txBody>
                  <a:tcPr marL="36576" marR="36576" marT="36576" marB="36576"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EAF2F8"/>
                    </a:solidFill>
                  </a:tcPr>
                </a:tc>
                <a:tc>
                  <a:txBody>
                    <a:bodyPr/>
                    <a:lstStyle/>
                    <a:p>
                      <a:pPr indent="0" marL="0">
                        <a:buNone/>
                      </a:pPr>
                      <a:r>
                        <a:rPr lang="en-US" sz="1100" dirty="0">
                          <a:solidFill>
                            <a:srgbClr val="222222"/>
                          </a:solidFill>
                          <a:latin typeface="Meiryo" pitchFamily="34" charset="0"/>
                          <a:ea typeface="Meiryo" pitchFamily="34" charset="-122"/>
                          <a:cs typeface="Meiryo" pitchFamily="34" charset="-120"/>
                        </a:rPr>
                        <a:t>節前：長い／節後：短い</a:t>
                      </a:r>
                      <a:endParaRPr lang="en-US" sz="1100" dirty="0">
                        <a:latin typeface="Meiryo" charset="0"/>
                        <a:ea typeface="Meiryo" charset="0"/>
                        <a:cs typeface="Meiryo" charset="0"/>
                      </a:endParaRPr>
                    </a:p>
                  </a:txBody>
                  <a:tcPr marL="36576" marR="36576" marT="36576" marB="36576"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EAF2F8"/>
                    </a:solidFill>
                  </a:tcPr>
                </a:tc>
              </a:tr>
              <a:tr h="329184">
                <a:tc>
                  <a:txBody>
                    <a:bodyPr/>
                    <a:lstStyle/>
                    <a:p>
                      <a:pPr indent="0" marL="0">
                        <a:buNone/>
                      </a:pPr>
                      <a:r>
                        <a:rPr lang="en-US" sz="1100" b="1" dirty="0">
                          <a:solidFill>
                            <a:srgbClr val="17324D"/>
                          </a:solidFill>
                          <a:latin typeface="Meiryo" pitchFamily="34" charset="0"/>
                          <a:ea typeface="Meiryo" pitchFamily="34" charset="-122"/>
                          <a:cs typeface="Meiryo" pitchFamily="34" charset="-120"/>
                        </a:rPr>
                        <a:t>節前線維の伝達物質</a:t>
                      </a:r>
                      <a:endParaRPr lang="en-US" sz="1100" dirty="0">
                        <a:latin typeface="Meiryo" charset="0"/>
                        <a:ea typeface="Meiryo" charset="0"/>
                        <a:cs typeface="Meiryo" charset="0"/>
                      </a:endParaRPr>
                    </a:p>
                  </a:txBody>
                  <a:tcPr marL="36576" marR="36576" marT="36576" marB="36576"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FFFFFF"/>
                    </a:solidFill>
                  </a:tcPr>
                </a:tc>
                <a:tc>
                  <a:txBody>
                    <a:bodyPr/>
                    <a:lstStyle/>
                    <a:p>
                      <a:pPr indent="0" marL="0">
                        <a:buNone/>
                      </a:pPr>
                      <a:r>
                        <a:rPr lang="en-US" sz="1100" dirty="0">
                          <a:solidFill>
                            <a:srgbClr val="222222"/>
                          </a:solidFill>
                          <a:latin typeface="Meiryo" pitchFamily="34" charset="0"/>
                          <a:ea typeface="Meiryo" pitchFamily="34" charset="-122"/>
                          <a:cs typeface="Meiryo" pitchFamily="34" charset="-120"/>
                        </a:rPr>
                        <a:t>アセチルコリン</a:t>
                      </a:r>
                      <a:endParaRPr lang="en-US" sz="1100" dirty="0">
                        <a:latin typeface="Meiryo" charset="0"/>
                        <a:ea typeface="Meiryo" charset="0"/>
                        <a:cs typeface="Meiryo" charset="0"/>
                      </a:endParaRPr>
                    </a:p>
                  </a:txBody>
                  <a:tcPr marL="36576" marR="36576" marT="36576" marB="36576"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FFFFFF"/>
                    </a:solidFill>
                  </a:tcPr>
                </a:tc>
                <a:tc>
                  <a:txBody>
                    <a:bodyPr/>
                    <a:lstStyle/>
                    <a:p>
                      <a:pPr indent="0" marL="0">
                        <a:buNone/>
                      </a:pPr>
                      <a:r>
                        <a:rPr lang="en-US" sz="1100" dirty="0">
                          <a:solidFill>
                            <a:srgbClr val="222222"/>
                          </a:solidFill>
                          <a:latin typeface="Meiryo" pitchFamily="34" charset="0"/>
                          <a:ea typeface="Meiryo" pitchFamily="34" charset="-122"/>
                          <a:cs typeface="Meiryo" pitchFamily="34" charset="-120"/>
                        </a:rPr>
                        <a:t>アセチルコリン</a:t>
                      </a:r>
                      <a:endParaRPr lang="en-US" sz="1100" dirty="0">
                        <a:latin typeface="Meiryo" charset="0"/>
                        <a:ea typeface="Meiryo" charset="0"/>
                        <a:cs typeface="Meiryo" charset="0"/>
                      </a:endParaRPr>
                    </a:p>
                  </a:txBody>
                  <a:tcPr marL="36576" marR="36576" marT="36576" marB="36576"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FFFFFF"/>
                    </a:solidFill>
                  </a:tcPr>
                </a:tc>
              </a:tr>
              <a:tr h="329184">
                <a:tc>
                  <a:txBody>
                    <a:bodyPr/>
                    <a:lstStyle/>
                    <a:p>
                      <a:pPr indent="0" marL="0">
                        <a:buNone/>
                      </a:pPr>
                      <a:r>
                        <a:rPr lang="en-US" sz="1100" b="1" dirty="0">
                          <a:solidFill>
                            <a:srgbClr val="17324D"/>
                          </a:solidFill>
                          <a:latin typeface="Meiryo" pitchFamily="34" charset="0"/>
                          <a:ea typeface="Meiryo" pitchFamily="34" charset="-122"/>
                          <a:cs typeface="Meiryo" pitchFamily="34" charset="-120"/>
                        </a:rPr>
                        <a:t>節後線維の伝達物質</a:t>
                      </a:r>
                      <a:endParaRPr lang="en-US" sz="1100" dirty="0">
                        <a:latin typeface="Meiryo" charset="0"/>
                        <a:ea typeface="Meiryo" charset="0"/>
                        <a:cs typeface="Meiryo" charset="0"/>
                      </a:endParaRPr>
                    </a:p>
                  </a:txBody>
                  <a:tcPr marL="36576" marR="36576" marT="36576" marB="36576"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EAF2F8"/>
                    </a:solidFill>
                  </a:tcPr>
                </a:tc>
                <a:tc>
                  <a:txBody>
                    <a:bodyPr/>
                    <a:lstStyle/>
                    <a:p>
                      <a:pPr indent="0" marL="0">
                        <a:buNone/>
                      </a:pPr>
                      <a:r>
                        <a:rPr lang="en-US" sz="1100" dirty="0">
                          <a:solidFill>
                            <a:srgbClr val="222222"/>
                          </a:solidFill>
                          <a:latin typeface="Meiryo" pitchFamily="34" charset="0"/>
                          <a:ea typeface="Meiryo" pitchFamily="34" charset="-122"/>
                          <a:cs typeface="Meiryo" pitchFamily="34" charset="-120"/>
                        </a:rPr>
                        <a:t>ノルアドレナリン（汗腺はACh）</a:t>
                      </a:r>
                      <a:endParaRPr lang="en-US" sz="1100" dirty="0">
                        <a:latin typeface="Meiryo" charset="0"/>
                        <a:ea typeface="Meiryo" charset="0"/>
                        <a:cs typeface="Meiryo" charset="0"/>
                      </a:endParaRPr>
                    </a:p>
                  </a:txBody>
                  <a:tcPr marL="36576" marR="36576" marT="36576" marB="36576"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EAF2F8"/>
                    </a:solidFill>
                  </a:tcPr>
                </a:tc>
                <a:tc>
                  <a:txBody>
                    <a:bodyPr/>
                    <a:lstStyle/>
                    <a:p>
                      <a:pPr indent="0" marL="0">
                        <a:buNone/>
                      </a:pPr>
                      <a:r>
                        <a:rPr lang="en-US" sz="1100" dirty="0">
                          <a:solidFill>
                            <a:srgbClr val="222222"/>
                          </a:solidFill>
                          <a:latin typeface="Meiryo" pitchFamily="34" charset="0"/>
                          <a:ea typeface="Meiryo" pitchFamily="34" charset="-122"/>
                          <a:cs typeface="Meiryo" pitchFamily="34" charset="-120"/>
                        </a:rPr>
                        <a:t>アセチルコリン</a:t>
                      </a:r>
                      <a:endParaRPr lang="en-US" sz="1100" dirty="0">
                        <a:latin typeface="Meiryo" charset="0"/>
                        <a:ea typeface="Meiryo" charset="0"/>
                        <a:cs typeface="Meiryo" charset="0"/>
                      </a:endParaRPr>
                    </a:p>
                  </a:txBody>
                  <a:tcPr marL="36576" marR="36576" marT="36576" marB="36576"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EAF2F8"/>
                    </a:solidFill>
                  </a:tcPr>
                </a:tc>
              </a:tr>
              <a:tr h="329184">
                <a:tc>
                  <a:txBody>
                    <a:bodyPr/>
                    <a:lstStyle/>
                    <a:p>
                      <a:pPr indent="0" marL="0">
                        <a:buNone/>
                      </a:pPr>
                      <a:r>
                        <a:rPr lang="en-US" sz="1100" b="1" dirty="0">
                          <a:solidFill>
                            <a:srgbClr val="17324D"/>
                          </a:solidFill>
                          <a:latin typeface="Meiryo" pitchFamily="34" charset="0"/>
                          <a:ea typeface="Meiryo" pitchFamily="34" charset="-122"/>
                          <a:cs typeface="Meiryo" pitchFamily="34" charset="-120"/>
                        </a:rPr>
                        <a:t>効果器の受容体</a:t>
                      </a:r>
                      <a:endParaRPr lang="en-US" sz="1100" dirty="0">
                        <a:latin typeface="Meiryo" charset="0"/>
                        <a:ea typeface="Meiryo" charset="0"/>
                        <a:cs typeface="Meiryo" charset="0"/>
                      </a:endParaRPr>
                    </a:p>
                  </a:txBody>
                  <a:tcPr marL="36576" marR="36576" marT="36576" marB="36576"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FFFFFF"/>
                    </a:solidFill>
                  </a:tcPr>
                </a:tc>
                <a:tc>
                  <a:txBody>
                    <a:bodyPr/>
                    <a:lstStyle/>
                    <a:p>
                      <a:pPr indent="0" marL="0">
                        <a:buNone/>
                      </a:pPr>
                      <a:r>
                        <a:rPr lang="en-US" sz="1100" dirty="0">
                          <a:solidFill>
                            <a:srgbClr val="222222"/>
                          </a:solidFill>
                          <a:latin typeface="Meiryo" pitchFamily="34" charset="0"/>
                          <a:ea typeface="Meiryo" pitchFamily="34" charset="-122"/>
                          <a:cs typeface="Meiryo" pitchFamily="34" charset="-120"/>
                        </a:rPr>
                        <a:t>α・β受容体</a:t>
                      </a:r>
                      <a:endParaRPr lang="en-US" sz="1100" dirty="0">
                        <a:latin typeface="Meiryo" charset="0"/>
                        <a:ea typeface="Meiryo" charset="0"/>
                        <a:cs typeface="Meiryo" charset="0"/>
                      </a:endParaRPr>
                    </a:p>
                  </a:txBody>
                  <a:tcPr marL="36576" marR="36576" marT="36576" marB="36576"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FFFFFF"/>
                    </a:solidFill>
                  </a:tcPr>
                </a:tc>
                <a:tc>
                  <a:txBody>
                    <a:bodyPr/>
                    <a:lstStyle/>
                    <a:p>
                      <a:pPr indent="0" marL="0">
                        <a:buNone/>
                      </a:pPr>
                      <a:r>
                        <a:rPr lang="en-US" sz="1100" dirty="0">
                          <a:solidFill>
                            <a:srgbClr val="222222"/>
                          </a:solidFill>
                          <a:latin typeface="Meiryo" pitchFamily="34" charset="0"/>
                          <a:ea typeface="Meiryo" pitchFamily="34" charset="-122"/>
                          <a:cs typeface="Meiryo" pitchFamily="34" charset="-120"/>
                        </a:rPr>
                        <a:t>ムスカリン受容体</a:t>
                      </a:r>
                      <a:endParaRPr lang="en-US" sz="1100" dirty="0">
                        <a:latin typeface="Meiryo" charset="0"/>
                        <a:ea typeface="Meiryo" charset="0"/>
                        <a:cs typeface="Meiryo" charset="0"/>
                      </a:endParaRPr>
                    </a:p>
                  </a:txBody>
                  <a:tcPr marL="36576" marR="36576" marT="36576" marB="36576"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FFFFFF"/>
                    </a:solidFill>
                  </a:tcPr>
                </a:tc>
              </a:tr>
              <a:tr h="329184">
                <a:tc>
                  <a:txBody>
                    <a:bodyPr/>
                    <a:lstStyle/>
                    <a:p>
                      <a:pPr indent="0" marL="0">
                        <a:buNone/>
                      </a:pPr>
                      <a:r>
                        <a:rPr lang="en-US" sz="1100" b="1" dirty="0">
                          <a:solidFill>
                            <a:srgbClr val="17324D"/>
                          </a:solidFill>
                          <a:latin typeface="Meiryo" pitchFamily="34" charset="0"/>
                          <a:ea typeface="Meiryo" pitchFamily="34" charset="-122"/>
                          <a:cs typeface="Meiryo" pitchFamily="34" charset="-120"/>
                        </a:rPr>
                        <a:t>線維</a:t>
                      </a:r>
                      <a:endParaRPr lang="en-US" sz="1100" dirty="0">
                        <a:latin typeface="Meiryo" charset="0"/>
                        <a:ea typeface="Meiryo" charset="0"/>
                        <a:cs typeface="Meiryo" charset="0"/>
                      </a:endParaRPr>
                    </a:p>
                  </a:txBody>
                  <a:tcPr marL="36576" marR="36576" marT="36576" marB="36576"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EAF2F8"/>
                    </a:solidFill>
                  </a:tcPr>
                </a:tc>
                <a:tc>
                  <a:txBody>
                    <a:bodyPr/>
                    <a:lstStyle/>
                    <a:p>
                      <a:pPr indent="0" marL="0">
                        <a:buNone/>
                      </a:pPr>
                      <a:r>
                        <a:rPr lang="en-US" sz="1100" dirty="0">
                          <a:solidFill>
                            <a:srgbClr val="222222"/>
                          </a:solidFill>
                          <a:latin typeface="Meiryo" pitchFamily="34" charset="0"/>
                          <a:ea typeface="Meiryo" pitchFamily="34" charset="-122"/>
                          <a:cs typeface="Meiryo" pitchFamily="34" charset="-120"/>
                        </a:rPr>
                        <a:t>節前：有髄（B）／節後：無髄（C）</a:t>
                      </a:r>
                      <a:endParaRPr lang="en-US" sz="1100" dirty="0">
                        <a:latin typeface="Meiryo" charset="0"/>
                        <a:ea typeface="Meiryo" charset="0"/>
                        <a:cs typeface="Meiryo" charset="0"/>
                      </a:endParaRPr>
                    </a:p>
                  </a:txBody>
                  <a:tcPr marL="36576" marR="36576" marT="36576" marB="36576"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EAF2F8"/>
                    </a:solidFill>
                  </a:tcPr>
                </a:tc>
                <a:tc>
                  <a:txBody>
                    <a:bodyPr/>
                    <a:lstStyle/>
                    <a:p>
                      <a:pPr indent="0" marL="0">
                        <a:buNone/>
                      </a:pPr>
                      <a:r>
                        <a:rPr lang="en-US" sz="1100" dirty="0">
                          <a:solidFill>
                            <a:srgbClr val="222222"/>
                          </a:solidFill>
                          <a:latin typeface="Meiryo" pitchFamily="34" charset="0"/>
                          <a:ea typeface="Meiryo" pitchFamily="34" charset="-122"/>
                          <a:cs typeface="Meiryo" pitchFamily="34" charset="-120"/>
                        </a:rPr>
                        <a:t>節前：有髄（B）／節後：無髄（C）</a:t>
                      </a:r>
                      <a:endParaRPr lang="en-US" sz="1100" dirty="0">
                        <a:latin typeface="Meiryo" charset="0"/>
                        <a:ea typeface="Meiryo" charset="0"/>
                        <a:cs typeface="Meiryo" charset="0"/>
                      </a:endParaRPr>
                    </a:p>
                  </a:txBody>
                  <a:tcPr marL="36576" marR="36576" marT="36576" marB="36576"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EAF2F8"/>
                    </a:solidFill>
                  </a:tcPr>
                </a:tc>
              </a:tr>
              <a:tr h="329184">
                <a:tc>
                  <a:txBody>
                    <a:bodyPr/>
                    <a:lstStyle/>
                    <a:p>
                      <a:pPr indent="0" marL="0">
                        <a:buNone/>
                      </a:pPr>
                      <a:r>
                        <a:rPr lang="en-US" sz="1100" b="1" dirty="0">
                          <a:solidFill>
                            <a:srgbClr val="17324D"/>
                          </a:solidFill>
                          <a:latin typeface="Meiryo" pitchFamily="34" charset="0"/>
                          <a:ea typeface="Meiryo" pitchFamily="34" charset="-122"/>
                          <a:cs typeface="Meiryo" pitchFamily="34" charset="-120"/>
                        </a:rPr>
                        <a:t>例外</a:t>
                      </a:r>
                      <a:endParaRPr lang="en-US" sz="1100" dirty="0">
                        <a:latin typeface="Meiryo" charset="0"/>
                        <a:ea typeface="Meiryo" charset="0"/>
                        <a:cs typeface="Meiryo" charset="0"/>
                      </a:endParaRPr>
                    </a:p>
                  </a:txBody>
                  <a:tcPr marL="36576" marR="36576" marT="36576" marB="36576"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FFFFFF"/>
                    </a:solidFill>
                  </a:tcPr>
                </a:tc>
                <a:tc>
                  <a:txBody>
                    <a:bodyPr/>
                    <a:lstStyle/>
                    <a:p>
                      <a:pPr indent="0" marL="0">
                        <a:buNone/>
                      </a:pPr>
                      <a:r>
                        <a:rPr lang="en-US" sz="1100" dirty="0">
                          <a:solidFill>
                            <a:srgbClr val="222222"/>
                          </a:solidFill>
                          <a:latin typeface="Meiryo" pitchFamily="34" charset="0"/>
                          <a:ea typeface="Meiryo" pitchFamily="34" charset="-122"/>
                          <a:cs typeface="Meiryo" pitchFamily="34" charset="-120"/>
                        </a:rPr>
                        <a:t>副腎髄質は節前線維が直接支配</a:t>
                      </a:r>
                      <a:endParaRPr lang="en-US" sz="1100" dirty="0">
                        <a:latin typeface="Meiryo" charset="0"/>
                        <a:ea typeface="Meiryo" charset="0"/>
                        <a:cs typeface="Meiryo" charset="0"/>
                      </a:endParaRPr>
                    </a:p>
                  </a:txBody>
                  <a:tcPr marL="36576" marR="36576" marT="36576" marB="36576"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FFFFFF"/>
                    </a:solidFill>
                  </a:tcPr>
                </a:tc>
                <a:tc>
                  <a:txBody>
                    <a:bodyPr/>
                    <a:lstStyle/>
                    <a:p>
                      <a:pPr indent="0" marL="0">
                        <a:buNone/>
                      </a:pPr>
                      <a:r>
                        <a:rPr lang="en-US" sz="1100" dirty="0">
                          <a:solidFill>
                            <a:srgbClr val="222222"/>
                          </a:solidFill>
                          <a:latin typeface="Meiryo" pitchFamily="34" charset="0"/>
                          <a:ea typeface="Meiryo" pitchFamily="34" charset="-122"/>
                          <a:cs typeface="Meiryo" pitchFamily="34" charset="-120"/>
                        </a:rPr>
                        <a:t>骨盤神経（S2〜S4）＝仙髄の副交感</a:t>
                      </a:r>
                      <a:endParaRPr lang="en-US" sz="1100" dirty="0">
                        <a:latin typeface="Meiryo" charset="0"/>
                        <a:ea typeface="Meiryo" charset="0"/>
                        <a:cs typeface="Meiryo" charset="0"/>
                      </a:endParaRPr>
                    </a:p>
                  </a:txBody>
                  <a:tcPr marL="36576" marR="36576" marT="36576" marB="36576"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457200" y="4617720"/>
            <a:ext cx="8229600" cy="320040"/>
          </a:xfrm>
          <a:prstGeom prst="rect">
            <a:avLst/>
          </a:prstGeom>
          <a:noFill/>
          <a:ln/>
        </p:spPr>
        <p:txBody>
          <a:bodyPr wrap="square" lIns="0" tIns="0" rIns="0" bIns="0" rtlCol="0" anchor="ctr"/>
          <a:lstStyle/>
          <a:p>
            <a:pPr indent="0" marL="0">
              <a:buNone/>
            </a:pPr>
            <a:r>
              <a:rPr lang="en-US" sz="1100" b="1" dirty="0">
                <a:solidFill>
                  <a:srgbClr val="D9534F"/>
                </a:solidFill>
                <a:latin typeface="Meiryo" pitchFamily="34" charset="0"/>
                <a:ea typeface="Meiryo" pitchFamily="34" charset="-122"/>
                <a:cs typeface="Meiryo" pitchFamily="34" charset="-120"/>
              </a:rPr>
              <a:t>副交感神経を含む脳神経：動眼（Ⅲ）・顔面（Ⅶ）・舌咽（Ⅸ）・迷走（Ⅹ）</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28600"/>
            <a:ext cx="8229600" cy="548640"/>
          </a:xfrm>
          <a:prstGeom prst="rect">
            <a:avLst/>
          </a:prstGeom>
          <a:noFill/>
          <a:ln/>
        </p:spPr>
        <p:txBody>
          <a:bodyPr wrap="square" lIns="0" tIns="0" rIns="0" bIns="0" rtlCol="0" anchor="ctr"/>
          <a:lstStyle/>
          <a:p>
            <a:pPr indent="0" marL="0">
              <a:buNone/>
            </a:pPr>
            <a:r>
              <a:rPr lang="en-US" sz="2400" b="1" dirty="0">
                <a:solidFill>
                  <a:srgbClr val="17324D"/>
                </a:solidFill>
                <a:latin typeface="Meiryo" pitchFamily="34" charset="0"/>
                <a:ea typeface="Meiryo" pitchFamily="34" charset="-122"/>
                <a:cs typeface="Meiryo" pitchFamily="34" charset="-120"/>
              </a:rPr>
              <a:t>要点まとめ：各臓器への作用</a:t>
            </a:r>
            <a:endParaRPr lang="en-US" sz="2400" dirty="0"/>
          </a:p>
        </p:txBody>
      </p:sp>
      <p:sp>
        <p:nvSpPr>
          <p:cNvPr id="3" name="Text 1"/>
          <p:cNvSpPr txBox="1"/>
          <p:nvPr/>
        </p:nvSpPr>
        <p:spPr>
          <a:xfrm>
            <a:off x="457200" y="749808"/>
            <a:ext cx="8229600" cy="27432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交感＝闘争か逃走（fight or flight）、副交感＝休息と消化（rest and digest）</a:t>
            </a:r>
            <a:endParaRPr lang="en-US" sz="11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914400"/>
        </p:xfrm>
        <a:graphic>
          <a:graphicData uri="http://schemas.openxmlformats.org/drawingml/2006/table">
            <a:tbl>
              <a:tblPr/>
              <a:tblGrid>
                <a:gridCol w="1828800"/>
                <a:gridCol w="3200400"/>
                <a:gridCol w="3200400"/>
              </a:tblGrid>
              <a:tr h="274320">
                <a:tc>
                  <a:txBody>
                    <a:bodyPr/>
                    <a:lstStyle/>
                    <a:p>
                      <a:pPr algn="ctr" indent="0" marL="0">
                        <a:buNone/>
                      </a:pPr>
                      <a:r>
                        <a:rPr lang="en-US" sz="1100" b="1" dirty="0">
                          <a:solidFill>
                            <a:srgbClr val="FFFFFF"/>
                          </a:solidFill>
                          <a:latin typeface="Meiryo" pitchFamily="34" charset="0"/>
                          <a:ea typeface="Meiryo" pitchFamily="34" charset="-122"/>
                          <a:cs typeface="Meiryo" pitchFamily="34" charset="-120"/>
                        </a:rPr>
                        <a:t>臓器</a:t>
                      </a:r>
                      <a:endParaRPr lang="en-US" sz="1100" dirty="0">
                        <a:latin typeface="Meiryo" charset="0"/>
                        <a:ea typeface="Meiryo" charset="0"/>
                        <a:cs typeface="Meiryo" charset="0"/>
                      </a:endParaRPr>
                    </a:p>
                  </a:txBody>
                  <a:tcPr marL="36576" marR="36576" marT="36576" marB="36576"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17324D"/>
                    </a:solidFill>
                  </a:tcPr>
                </a:tc>
                <a:tc>
                  <a:txBody>
                    <a:bodyPr/>
                    <a:lstStyle/>
                    <a:p>
                      <a:pPr algn="ctr" indent="0" marL="0">
                        <a:buNone/>
                      </a:pPr>
                      <a:r>
                        <a:rPr lang="en-US" sz="1100" b="1" dirty="0">
                          <a:solidFill>
                            <a:srgbClr val="FFFFFF"/>
                          </a:solidFill>
                          <a:latin typeface="Meiryo" pitchFamily="34" charset="0"/>
                          <a:ea typeface="Meiryo" pitchFamily="34" charset="-122"/>
                          <a:cs typeface="Meiryo" pitchFamily="34" charset="-120"/>
                        </a:rPr>
                        <a:t>交感神経</a:t>
                      </a:r>
                      <a:endParaRPr lang="en-US" sz="1100" dirty="0">
                        <a:latin typeface="Meiryo" charset="0"/>
                        <a:ea typeface="Meiryo" charset="0"/>
                        <a:cs typeface="Meiryo" charset="0"/>
                      </a:endParaRPr>
                    </a:p>
                  </a:txBody>
                  <a:tcPr marL="36576" marR="36576" marT="36576" marB="36576"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17324D"/>
                    </a:solidFill>
                  </a:tcPr>
                </a:tc>
                <a:tc>
                  <a:txBody>
                    <a:bodyPr/>
                    <a:lstStyle/>
                    <a:p>
                      <a:pPr algn="ctr" indent="0" marL="0">
                        <a:buNone/>
                      </a:pPr>
                      <a:r>
                        <a:rPr lang="en-US" sz="1100" b="1" dirty="0">
                          <a:solidFill>
                            <a:srgbClr val="FFFFFF"/>
                          </a:solidFill>
                          <a:latin typeface="Meiryo" pitchFamily="34" charset="0"/>
                          <a:ea typeface="Meiryo" pitchFamily="34" charset="-122"/>
                          <a:cs typeface="Meiryo" pitchFamily="34" charset="-120"/>
                        </a:rPr>
                        <a:t>副交感神経</a:t>
                      </a:r>
                      <a:endParaRPr lang="en-US" sz="1100" dirty="0">
                        <a:latin typeface="Meiryo" charset="0"/>
                        <a:ea typeface="Meiryo" charset="0"/>
                        <a:cs typeface="Meiryo" charset="0"/>
                      </a:endParaRPr>
                    </a:p>
                  </a:txBody>
                  <a:tcPr marL="36576" marR="36576" marT="36576" marB="36576"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17324D"/>
                    </a:solidFill>
                  </a:tcPr>
                </a:tc>
              </a:tr>
              <a:tr h="274320">
                <a:tc>
                  <a:txBody>
                    <a:bodyPr/>
                    <a:lstStyle/>
                    <a:p>
                      <a:pPr indent="0" marL="0">
                        <a:buNone/>
                      </a:pPr>
                      <a:r>
                        <a:rPr lang="en-US" sz="1100" b="1" dirty="0">
                          <a:solidFill>
                            <a:srgbClr val="17324D"/>
                          </a:solidFill>
                          <a:latin typeface="Meiryo" pitchFamily="34" charset="0"/>
                          <a:ea typeface="Meiryo" pitchFamily="34" charset="-122"/>
                          <a:cs typeface="Meiryo" pitchFamily="34" charset="-120"/>
                        </a:rPr>
                        <a:t>瞳孔</a:t>
                      </a:r>
                      <a:endParaRPr lang="en-US" sz="1100" dirty="0">
                        <a:latin typeface="Meiryo" charset="0"/>
                        <a:ea typeface="Meiryo" charset="0"/>
                        <a:cs typeface="Meiryo" charset="0"/>
                      </a:endParaRPr>
                    </a:p>
                  </a:txBody>
                  <a:tcPr marL="36576" marR="36576" marT="36576" marB="36576"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EAF2F8"/>
                    </a:solidFill>
                  </a:tcPr>
                </a:tc>
                <a:tc>
                  <a:txBody>
                    <a:bodyPr/>
                    <a:lstStyle/>
                    <a:p>
                      <a:pPr indent="0" marL="0">
                        <a:buNone/>
                      </a:pPr>
                      <a:r>
                        <a:rPr lang="en-US" sz="1100" dirty="0">
                          <a:solidFill>
                            <a:srgbClr val="222222"/>
                          </a:solidFill>
                          <a:latin typeface="Meiryo" pitchFamily="34" charset="0"/>
                          <a:ea typeface="Meiryo" pitchFamily="34" charset="-122"/>
                          <a:cs typeface="Meiryo" pitchFamily="34" charset="-120"/>
                        </a:rPr>
                        <a:t>散瞳（瞳孔散大筋）</a:t>
                      </a:r>
                      <a:endParaRPr lang="en-US" sz="1100" dirty="0">
                        <a:latin typeface="Meiryo" charset="0"/>
                        <a:ea typeface="Meiryo" charset="0"/>
                        <a:cs typeface="Meiryo" charset="0"/>
                      </a:endParaRPr>
                    </a:p>
                  </a:txBody>
                  <a:tcPr marL="36576" marR="36576" marT="36576" marB="36576"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EAF2F8"/>
                    </a:solidFill>
                  </a:tcPr>
                </a:tc>
                <a:tc>
                  <a:txBody>
                    <a:bodyPr/>
                    <a:lstStyle/>
                    <a:p>
                      <a:pPr indent="0" marL="0">
                        <a:buNone/>
                      </a:pPr>
                      <a:r>
                        <a:rPr lang="en-US" sz="1100" dirty="0">
                          <a:solidFill>
                            <a:srgbClr val="222222"/>
                          </a:solidFill>
                          <a:latin typeface="Meiryo" pitchFamily="34" charset="0"/>
                          <a:ea typeface="Meiryo" pitchFamily="34" charset="-122"/>
                          <a:cs typeface="Meiryo" pitchFamily="34" charset="-120"/>
                        </a:rPr>
                        <a:t>縮瞳（瞳孔括約筋）</a:t>
                      </a:r>
                      <a:endParaRPr lang="en-US" sz="1100" dirty="0">
                        <a:latin typeface="Meiryo" charset="0"/>
                        <a:ea typeface="Meiryo" charset="0"/>
                        <a:cs typeface="Meiryo" charset="0"/>
                      </a:endParaRPr>
                    </a:p>
                  </a:txBody>
                  <a:tcPr marL="36576" marR="36576" marT="36576" marB="36576"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EAF2F8"/>
                    </a:solidFill>
                  </a:tcPr>
                </a:tc>
              </a:tr>
              <a:tr h="274320">
                <a:tc>
                  <a:txBody>
                    <a:bodyPr/>
                    <a:lstStyle/>
                    <a:p>
                      <a:pPr indent="0" marL="0">
                        <a:buNone/>
                      </a:pPr>
                      <a:r>
                        <a:rPr lang="en-US" sz="1100" b="1" dirty="0">
                          <a:solidFill>
                            <a:srgbClr val="17324D"/>
                          </a:solidFill>
                          <a:latin typeface="Meiryo" pitchFamily="34" charset="0"/>
                          <a:ea typeface="Meiryo" pitchFamily="34" charset="-122"/>
                          <a:cs typeface="Meiryo" pitchFamily="34" charset="-120"/>
                        </a:rPr>
                        <a:t>水晶体</a:t>
                      </a:r>
                      <a:endParaRPr lang="en-US" sz="1100" dirty="0">
                        <a:latin typeface="Meiryo" charset="0"/>
                        <a:ea typeface="Meiryo" charset="0"/>
                        <a:cs typeface="Meiryo" charset="0"/>
                      </a:endParaRPr>
                    </a:p>
                  </a:txBody>
                  <a:tcPr marL="36576" marR="36576" marT="36576" marB="36576"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FFFFFF"/>
                    </a:solidFill>
                  </a:tcPr>
                </a:tc>
                <a:tc>
                  <a:txBody>
                    <a:bodyPr/>
                    <a:lstStyle/>
                    <a:p>
                      <a:pPr indent="0" marL="0">
                        <a:buNone/>
                      </a:pPr>
                      <a:r>
                        <a:rPr lang="en-US" sz="1100" dirty="0">
                          <a:solidFill>
                            <a:srgbClr val="222222"/>
                          </a:solidFill>
                          <a:latin typeface="Meiryo" pitchFamily="34" charset="0"/>
                          <a:ea typeface="Meiryo" pitchFamily="34" charset="-122"/>
                          <a:cs typeface="Meiryo" pitchFamily="34" charset="-120"/>
                        </a:rPr>
                        <a:t>薄くなる（遠方視）</a:t>
                      </a:r>
                      <a:endParaRPr lang="en-US" sz="1100" dirty="0">
                        <a:latin typeface="Meiryo" charset="0"/>
                        <a:ea typeface="Meiryo" charset="0"/>
                        <a:cs typeface="Meiryo" charset="0"/>
                      </a:endParaRPr>
                    </a:p>
                  </a:txBody>
                  <a:tcPr marL="36576" marR="36576" marT="36576" marB="36576"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FFFFFF"/>
                    </a:solidFill>
                  </a:tcPr>
                </a:tc>
                <a:tc>
                  <a:txBody>
                    <a:bodyPr/>
                    <a:lstStyle/>
                    <a:p>
                      <a:pPr indent="0" marL="0">
                        <a:buNone/>
                      </a:pPr>
                      <a:r>
                        <a:rPr lang="en-US" sz="1100" dirty="0">
                          <a:solidFill>
                            <a:srgbClr val="222222"/>
                          </a:solidFill>
                          <a:latin typeface="Meiryo" pitchFamily="34" charset="0"/>
                          <a:ea typeface="Meiryo" pitchFamily="34" charset="-122"/>
                          <a:cs typeface="Meiryo" pitchFamily="34" charset="-120"/>
                        </a:rPr>
                        <a:t>厚くなる（近方視）</a:t>
                      </a:r>
                      <a:endParaRPr lang="en-US" sz="1100" dirty="0">
                        <a:latin typeface="Meiryo" charset="0"/>
                        <a:ea typeface="Meiryo" charset="0"/>
                        <a:cs typeface="Meiryo" charset="0"/>
                      </a:endParaRPr>
                    </a:p>
                  </a:txBody>
                  <a:tcPr marL="36576" marR="36576" marT="36576" marB="36576"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FFFFFF"/>
                    </a:solidFill>
                  </a:tcPr>
                </a:tc>
              </a:tr>
              <a:tr h="274320">
                <a:tc>
                  <a:txBody>
                    <a:bodyPr/>
                    <a:lstStyle/>
                    <a:p>
                      <a:pPr indent="0" marL="0">
                        <a:buNone/>
                      </a:pPr>
                      <a:r>
                        <a:rPr lang="en-US" sz="1100" b="1" dirty="0">
                          <a:solidFill>
                            <a:srgbClr val="17324D"/>
                          </a:solidFill>
                          <a:latin typeface="Meiryo" pitchFamily="34" charset="0"/>
                          <a:ea typeface="Meiryo" pitchFamily="34" charset="-122"/>
                          <a:cs typeface="Meiryo" pitchFamily="34" charset="-120"/>
                        </a:rPr>
                        <a:t>涙腺・唾液腺</a:t>
                      </a:r>
                      <a:endParaRPr lang="en-US" sz="1100" dirty="0">
                        <a:latin typeface="Meiryo" charset="0"/>
                        <a:ea typeface="Meiryo" charset="0"/>
                        <a:cs typeface="Meiryo" charset="0"/>
                      </a:endParaRPr>
                    </a:p>
                  </a:txBody>
                  <a:tcPr marL="36576" marR="36576" marT="36576" marB="36576"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EAF2F8"/>
                    </a:solidFill>
                  </a:tcPr>
                </a:tc>
                <a:tc>
                  <a:txBody>
                    <a:bodyPr/>
                    <a:lstStyle/>
                    <a:p>
                      <a:pPr indent="0" marL="0">
                        <a:buNone/>
                      </a:pPr>
                      <a:r>
                        <a:rPr lang="en-US" sz="1100" dirty="0">
                          <a:solidFill>
                            <a:srgbClr val="222222"/>
                          </a:solidFill>
                          <a:latin typeface="Meiryo" pitchFamily="34" charset="0"/>
                          <a:ea typeface="Meiryo" pitchFamily="34" charset="-122"/>
                          <a:cs typeface="Meiryo" pitchFamily="34" charset="-120"/>
                        </a:rPr>
                        <a:t>唾液：粘稠な分泌（促進）</a:t>
                      </a:r>
                      <a:endParaRPr lang="en-US" sz="1100" dirty="0">
                        <a:latin typeface="Meiryo" charset="0"/>
                        <a:ea typeface="Meiryo" charset="0"/>
                        <a:cs typeface="Meiryo" charset="0"/>
                      </a:endParaRPr>
                    </a:p>
                  </a:txBody>
                  <a:tcPr marL="36576" marR="36576" marT="36576" marB="36576"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EAF2F8"/>
                    </a:solidFill>
                  </a:tcPr>
                </a:tc>
                <a:tc>
                  <a:txBody>
                    <a:bodyPr/>
                    <a:lstStyle/>
                    <a:p>
                      <a:pPr indent="0" marL="0">
                        <a:buNone/>
                      </a:pPr>
                      <a:r>
                        <a:rPr lang="en-US" sz="1100" dirty="0">
                          <a:solidFill>
                            <a:srgbClr val="222222"/>
                          </a:solidFill>
                          <a:latin typeface="Meiryo" pitchFamily="34" charset="0"/>
                          <a:ea typeface="Meiryo" pitchFamily="34" charset="-122"/>
                          <a:cs typeface="Meiryo" pitchFamily="34" charset="-120"/>
                        </a:rPr>
                        <a:t>涙液・漿液性唾液の分泌促進</a:t>
                      </a:r>
                      <a:endParaRPr lang="en-US" sz="1100" dirty="0">
                        <a:latin typeface="Meiryo" charset="0"/>
                        <a:ea typeface="Meiryo" charset="0"/>
                        <a:cs typeface="Meiryo" charset="0"/>
                      </a:endParaRPr>
                    </a:p>
                  </a:txBody>
                  <a:tcPr marL="36576" marR="36576" marT="36576" marB="36576"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EAF2F8"/>
                    </a:solidFill>
                  </a:tcPr>
                </a:tc>
              </a:tr>
              <a:tr h="274320">
                <a:tc>
                  <a:txBody>
                    <a:bodyPr/>
                    <a:lstStyle/>
                    <a:p>
                      <a:pPr indent="0" marL="0">
                        <a:buNone/>
                      </a:pPr>
                      <a:r>
                        <a:rPr lang="en-US" sz="1100" b="1" dirty="0">
                          <a:solidFill>
                            <a:srgbClr val="17324D"/>
                          </a:solidFill>
                          <a:latin typeface="Meiryo" pitchFamily="34" charset="0"/>
                          <a:ea typeface="Meiryo" pitchFamily="34" charset="-122"/>
                          <a:cs typeface="Meiryo" pitchFamily="34" charset="-120"/>
                        </a:rPr>
                        <a:t>心臓</a:t>
                      </a:r>
                      <a:endParaRPr lang="en-US" sz="1100" dirty="0">
                        <a:latin typeface="Meiryo" charset="0"/>
                        <a:ea typeface="Meiryo" charset="0"/>
                        <a:cs typeface="Meiryo" charset="0"/>
                      </a:endParaRPr>
                    </a:p>
                  </a:txBody>
                  <a:tcPr marL="36576" marR="36576" marT="36576" marB="36576"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FFFFFF"/>
                    </a:solidFill>
                  </a:tcPr>
                </a:tc>
                <a:tc>
                  <a:txBody>
                    <a:bodyPr/>
                    <a:lstStyle/>
                    <a:p>
                      <a:pPr indent="0" marL="0">
                        <a:buNone/>
                      </a:pPr>
                      <a:r>
                        <a:rPr lang="en-US" sz="1100" dirty="0">
                          <a:solidFill>
                            <a:srgbClr val="222222"/>
                          </a:solidFill>
                          <a:latin typeface="Meiryo" pitchFamily="34" charset="0"/>
                          <a:ea typeface="Meiryo" pitchFamily="34" charset="-122"/>
                          <a:cs typeface="Meiryo" pitchFamily="34" charset="-120"/>
                        </a:rPr>
                        <a:t>心拍数↑・収縮力↑</a:t>
                      </a:r>
                      <a:endParaRPr lang="en-US" sz="1100" dirty="0">
                        <a:latin typeface="Meiryo" charset="0"/>
                        <a:ea typeface="Meiryo" charset="0"/>
                        <a:cs typeface="Meiryo" charset="0"/>
                      </a:endParaRPr>
                    </a:p>
                  </a:txBody>
                  <a:tcPr marL="36576" marR="36576" marT="36576" marB="36576"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FFFFFF"/>
                    </a:solidFill>
                  </a:tcPr>
                </a:tc>
                <a:tc>
                  <a:txBody>
                    <a:bodyPr/>
                    <a:lstStyle/>
                    <a:p>
                      <a:pPr indent="0" marL="0">
                        <a:buNone/>
                      </a:pPr>
                      <a:r>
                        <a:rPr lang="en-US" sz="1100" dirty="0">
                          <a:solidFill>
                            <a:srgbClr val="222222"/>
                          </a:solidFill>
                          <a:latin typeface="Meiryo" pitchFamily="34" charset="0"/>
                          <a:ea typeface="Meiryo" pitchFamily="34" charset="-122"/>
                          <a:cs typeface="Meiryo" pitchFamily="34" charset="-120"/>
                        </a:rPr>
                        <a:t>心拍数↓</a:t>
                      </a:r>
                      <a:endParaRPr lang="en-US" sz="1100" dirty="0">
                        <a:latin typeface="Meiryo" charset="0"/>
                        <a:ea typeface="Meiryo" charset="0"/>
                        <a:cs typeface="Meiryo" charset="0"/>
                      </a:endParaRPr>
                    </a:p>
                  </a:txBody>
                  <a:tcPr marL="36576" marR="36576" marT="36576" marB="36576"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FFFFFF"/>
                    </a:solidFill>
                  </a:tcPr>
                </a:tc>
              </a:tr>
              <a:tr h="274320">
                <a:tc>
                  <a:txBody>
                    <a:bodyPr/>
                    <a:lstStyle/>
                    <a:p>
                      <a:pPr indent="0" marL="0">
                        <a:buNone/>
                      </a:pPr>
                      <a:r>
                        <a:rPr lang="en-US" sz="1100" b="1" dirty="0">
                          <a:solidFill>
                            <a:srgbClr val="17324D"/>
                          </a:solidFill>
                          <a:latin typeface="Meiryo" pitchFamily="34" charset="0"/>
                          <a:ea typeface="Meiryo" pitchFamily="34" charset="-122"/>
                          <a:cs typeface="Meiryo" pitchFamily="34" charset="-120"/>
                        </a:rPr>
                        <a:t>気管支</a:t>
                      </a:r>
                      <a:endParaRPr lang="en-US" sz="1100" dirty="0">
                        <a:latin typeface="Meiryo" charset="0"/>
                        <a:ea typeface="Meiryo" charset="0"/>
                        <a:cs typeface="Meiryo" charset="0"/>
                      </a:endParaRPr>
                    </a:p>
                  </a:txBody>
                  <a:tcPr marL="36576" marR="36576" marT="36576" marB="36576"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EAF2F8"/>
                    </a:solidFill>
                  </a:tcPr>
                </a:tc>
                <a:tc>
                  <a:txBody>
                    <a:bodyPr/>
                    <a:lstStyle/>
                    <a:p>
                      <a:pPr indent="0" marL="0">
                        <a:buNone/>
                      </a:pPr>
                      <a:r>
                        <a:rPr lang="en-US" sz="1100" dirty="0">
                          <a:solidFill>
                            <a:srgbClr val="222222"/>
                          </a:solidFill>
                          <a:latin typeface="Meiryo" pitchFamily="34" charset="0"/>
                          <a:ea typeface="Meiryo" pitchFamily="34" charset="-122"/>
                          <a:cs typeface="Meiryo" pitchFamily="34" charset="-120"/>
                        </a:rPr>
                        <a:t>拡張</a:t>
                      </a:r>
                      <a:endParaRPr lang="en-US" sz="1100" dirty="0">
                        <a:latin typeface="Meiryo" charset="0"/>
                        <a:ea typeface="Meiryo" charset="0"/>
                        <a:cs typeface="Meiryo" charset="0"/>
                      </a:endParaRPr>
                    </a:p>
                  </a:txBody>
                  <a:tcPr marL="36576" marR="36576" marT="36576" marB="36576"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EAF2F8"/>
                    </a:solidFill>
                  </a:tcPr>
                </a:tc>
                <a:tc>
                  <a:txBody>
                    <a:bodyPr/>
                    <a:lstStyle/>
                    <a:p>
                      <a:pPr indent="0" marL="0">
                        <a:buNone/>
                      </a:pPr>
                      <a:r>
                        <a:rPr lang="en-US" sz="1100" dirty="0">
                          <a:solidFill>
                            <a:srgbClr val="222222"/>
                          </a:solidFill>
                          <a:latin typeface="Meiryo" pitchFamily="34" charset="0"/>
                          <a:ea typeface="Meiryo" pitchFamily="34" charset="-122"/>
                          <a:cs typeface="Meiryo" pitchFamily="34" charset="-120"/>
                        </a:rPr>
                        <a:t>収縮</a:t>
                      </a:r>
                      <a:endParaRPr lang="en-US" sz="1100" dirty="0">
                        <a:latin typeface="Meiryo" charset="0"/>
                        <a:ea typeface="Meiryo" charset="0"/>
                        <a:cs typeface="Meiryo" charset="0"/>
                      </a:endParaRPr>
                    </a:p>
                  </a:txBody>
                  <a:tcPr marL="36576" marR="36576" marT="36576" marB="36576"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EAF2F8"/>
                    </a:solidFill>
                  </a:tcPr>
                </a:tc>
              </a:tr>
              <a:tr h="274320">
                <a:tc>
                  <a:txBody>
                    <a:bodyPr/>
                    <a:lstStyle/>
                    <a:p>
                      <a:pPr indent="0" marL="0">
                        <a:buNone/>
                      </a:pPr>
                      <a:r>
                        <a:rPr lang="en-US" sz="1100" b="1" dirty="0">
                          <a:solidFill>
                            <a:srgbClr val="17324D"/>
                          </a:solidFill>
                          <a:latin typeface="Meiryo" pitchFamily="34" charset="0"/>
                          <a:ea typeface="Meiryo" pitchFamily="34" charset="-122"/>
                          <a:cs typeface="Meiryo" pitchFamily="34" charset="-120"/>
                        </a:rPr>
                        <a:t>消化管</a:t>
                      </a:r>
                      <a:endParaRPr lang="en-US" sz="1100" dirty="0">
                        <a:latin typeface="Meiryo" charset="0"/>
                        <a:ea typeface="Meiryo" charset="0"/>
                        <a:cs typeface="Meiryo" charset="0"/>
                      </a:endParaRPr>
                    </a:p>
                  </a:txBody>
                  <a:tcPr marL="36576" marR="36576" marT="36576" marB="36576"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FFFFFF"/>
                    </a:solidFill>
                  </a:tcPr>
                </a:tc>
                <a:tc>
                  <a:txBody>
                    <a:bodyPr/>
                    <a:lstStyle/>
                    <a:p>
                      <a:pPr indent="0" marL="0">
                        <a:buNone/>
                      </a:pPr>
                      <a:r>
                        <a:rPr lang="en-US" sz="1100" dirty="0">
                          <a:solidFill>
                            <a:srgbClr val="222222"/>
                          </a:solidFill>
                          <a:latin typeface="Meiryo" pitchFamily="34" charset="0"/>
                          <a:ea typeface="Meiryo" pitchFamily="34" charset="-122"/>
                          <a:cs typeface="Meiryo" pitchFamily="34" charset="-120"/>
                        </a:rPr>
                        <a:t>蠕動抑制・分泌抑制</a:t>
                      </a:r>
                      <a:endParaRPr lang="en-US" sz="1100" dirty="0">
                        <a:latin typeface="Meiryo" charset="0"/>
                        <a:ea typeface="Meiryo" charset="0"/>
                        <a:cs typeface="Meiryo" charset="0"/>
                      </a:endParaRPr>
                    </a:p>
                  </a:txBody>
                  <a:tcPr marL="36576" marR="36576" marT="36576" marB="36576"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FFFFFF"/>
                    </a:solidFill>
                  </a:tcPr>
                </a:tc>
                <a:tc>
                  <a:txBody>
                    <a:bodyPr/>
                    <a:lstStyle/>
                    <a:p>
                      <a:pPr indent="0" marL="0">
                        <a:buNone/>
                      </a:pPr>
                      <a:r>
                        <a:rPr lang="en-US" sz="1100" dirty="0">
                          <a:solidFill>
                            <a:srgbClr val="222222"/>
                          </a:solidFill>
                          <a:latin typeface="Meiryo" pitchFamily="34" charset="0"/>
                          <a:ea typeface="Meiryo" pitchFamily="34" charset="-122"/>
                          <a:cs typeface="Meiryo" pitchFamily="34" charset="-120"/>
                        </a:rPr>
                        <a:t>蠕動促進・分泌促進（膵液など）</a:t>
                      </a:r>
                      <a:endParaRPr lang="en-US" sz="1100" dirty="0">
                        <a:latin typeface="Meiryo" charset="0"/>
                        <a:ea typeface="Meiryo" charset="0"/>
                        <a:cs typeface="Meiryo" charset="0"/>
                      </a:endParaRPr>
                    </a:p>
                  </a:txBody>
                  <a:tcPr marL="36576" marR="36576" marT="36576" marB="36576"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FFFFFF"/>
                    </a:solidFill>
                  </a:tcPr>
                </a:tc>
              </a:tr>
              <a:tr h="274320">
                <a:tc>
                  <a:txBody>
                    <a:bodyPr/>
                    <a:lstStyle/>
                    <a:p>
                      <a:pPr indent="0" marL="0">
                        <a:buNone/>
                      </a:pPr>
                      <a:r>
                        <a:rPr lang="en-US" sz="1100" b="1" dirty="0">
                          <a:solidFill>
                            <a:srgbClr val="17324D"/>
                          </a:solidFill>
                          <a:latin typeface="Meiryo" pitchFamily="34" charset="0"/>
                          <a:ea typeface="Meiryo" pitchFamily="34" charset="-122"/>
                          <a:cs typeface="Meiryo" pitchFamily="34" charset="-120"/>
                        </a:rPr>
                        <a:t>肝臓</a:t>
                      </a:r>
                      <a:endParaRPr lang="en-US" sz="1100" dirty="0">
                        <a:latin typeface="Meiryo" charset="0"/>
                        <a:ea typeface="Meiryo" charset="0"/>
                        <a:cs typeface="Meiryo" charset="0"/>
                      </a:endParaRPr>
                    </a:p>
                  </a:txBody>
                  <a:tcPr marL="36576" marR="36576" marT="36576" marB="36576"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EAF2F8"/>
                    </a:solidFill>
                  </a:tcPr>
                </a:tc>
                <a:tc>
                  <a:txBody>
                    <a:bodyPr/>
                    <a:lstStyle/>
                    <a:p>
                      <a:pPr indent="0" marL="0">
                        <a:buNone/>
                      </a:pPr>
                      <a:r>
                        <a:rPr lang="en-US" sz="1100" dirty="0">
                          <a:solidFill>
                            <a:srgbClr val="222222"/>
                          </a:solidFill>
                          <a:latin typeface="Meiryo" pitchFamily="34" charset="0"/>
                          <a:ea typeface="Meiryo" pitchFamily="34" charset="-122"/>
                          <a:cs typeface="Meiryo" pitchFamily="34" charset="-120"/>
                        </a:rPr>
                        <a:t>グリコーゲン分解</a:t>
                      </a:r>
                      <a:endParaRPr lang="en-US" sz="1100" dirty="0">
                        <a:latin typeface="Meiryo" charset="0"/>
                        <a:ea typeface="Meiryo" charset="0"/>
                        <a:cs typeface="Meiryo" charset="0"/>
                      </a:endParaRPr>
                    </a:p>
                  </a:txBody>
                  <a:tcPr marL="36576" marR="36576" marT="36576" marB="36576"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EAF2F8"/>
                    </a:solidFill>
                  </a:tcPr>
                </a:tc>
                <a:tc>
                  <a:txBody>
                    <a:bodyPr/>
                    <a:lstStyle/>
                    <a:p>
                      <a:pPr indent="0" marL="0">
                        <a:buNone/>
                      </a:pPr>
                      <a:r>
                        <a:rPr lang="en-US" sz="1100" dirty="0">
                          <a:solidFill>
                            <a:srgbClr val="222222"/>
                          </a:solidFill>
                          <a:latin typeface="Meiryo" pitchFamily="34" charset="0"/>
                          <a:ea typeface="Meiryo" pitchFamily="34" charset="-122"/>
                          <a:cs typeface="Meiryo" pitchFamily="34" charset="-120"/>
                        </a:rPr>
                        <a:t>グリコーゲン合成</a:t>
                      </a:r>
                      <a:endParaRPr lang="en-US" sz="1100" dirty="0">
                        <a:latin typeface="Meiryo" charset="0"/>
                        <a:ea typeface="Meiryo" charset="0"/>
                        <a:cs typeface="Meiryo" charset="0"/>
                      </a:endParaRPr>
                    </a:p>
                  </a:txBody>
                  <a:tcPr marL="36576" marR="36576" marT="36576" marB="36576"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EAF2F8"/>
                    </a:solidFill>
                  </a:tcPr>
                </a:tc>
              </a:tr>
              <a:tr h="274320">
                <a:tc>
                  <a:txBody>
                    <a:bodyPr/>
                    <a:lstStyle/>
                    <a:p>
                      <a:pPr indent="0" marL="0">
                        <a:buNone/>
                      </a:pPr>
                      <a:r>
                        <a:rPr lang="en-US" sz="1100" b="1" dirty="0">
                          <a:solidFill>
                            <a:srgbClr val="17324D"/>
                          </a:solidFill>
                          <a:latin typeface="Meiryo" pitchFamily="34" charset="0"/>
                          <a:ea typeface="Meiryo" pitchFamily="34" charset="-122"/>
                          <a:cs typeface="Meiryo" pitchFamily="34" charset="-120"/>
                        </a:rPr>
                        <a:t>膀胱</a:t>
                      </a:r>
                      <a:endParaRPr lang="en-US" sz="1100" dirty="0">
                        <a:latin typeface="Meiryo" charset="0"/>
                        <a:ea typeface="Meiryo" charset="0"/>
                        <a:cs typeface="Meiryo" charset="0"/>
                      </a:endParaRPr>
                    </a:p>
                  </a:txBody>
                  <a:tcPr marL="36576" marR="36576" marT="36576" marB="36576"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FFFFFF"/>
                    </a:solidFill>
                  </a:tcPr>
                </a:tc>
                <a:tc>
                  <a:txBody>
                    <a:bodyPr/>
                    <a:lstStyle/>
                    <a:p>
                      <a:pPr indent="0" marL="0">
                        <a:buNone/>
                      </a:pPr>
                      <a:r>
                        <a:rPr lang="en-US" sz="1100" dirty="0">
                          <a:solidFill>
                            <a:srgbClr val="222222"/>
                          </a:solidFill>
                          <a:latin typeface="Meiryo" pitchFamily="34" charset="0"/>
                          <a:ea typeface="Meiryo" pitchFamily="34" charset="-122"/>
                          <a:cs typeface="Meiryo" pitchFamily="34" charset="-120"/>
                        </a:rPr>
                        <a:t>排尿筋弛緩・内尿道括約筋収縮（蓄尿）</a:t>
                      </a:r>
                      <a:endParaRPr lang="en-US" sz="1100" dirty="0">
                        <a:latin typeface="Meiryo" charset="0"/>
                        <a:ea typeface="Meiryo" charset="0"/>
                        <a:cs typeface="Meiryo" charset="0"/>
                      </a:endParaRPr>
                    </a:p>
                  </a:txBody>
                  <a:tcPr marL="36576" marR="36576" marT="36576" marB="36576"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FFFFFF"/>
                    </a:solidFill>
                  </a:tcPr>
                </a:tc>
                <a:tc>
                  <a:txBody>
                    <a:bodyPr/>
                    <a:lstStyle/>
                    <a:p>
                      <a:pPr indent="0" marL="0">
                        <a:buNone/>
                      </a:pPr>
                      <a:r>
                        <a:rPr lang="en-US" sz="1100" dirty="0">
                          <a:solidFill>
                            <a:srgbClr val="222222"/>
                          </a:solidFill>
                          <a:latin typeface="Meiryo" pitchFamily="34" charset="0"/>
                          <a:ea typeface="Meiryo" pitchFamily="34" charset="-122"/>
                          <a:cs typeface="Meiryo" pitchFamily="34" charset="-120"/>
                        </a:rPr>
                        <a:t>排尿筋収縮（排尿）</a:t>
                      </a:r>
                      <a:endParaRPr lang="en-US" sz="1100" dirty="0">
                        <a:latin typeface="Meiryo" charset="0"/>
                        <a:ea typeface="Meiryo" charset="0"/>
                        <a:cs typeface="Meiryo" charset="0"/>
                      </a:endParaRPr>
                    </a:p>
                  </a:txBody>
                  <a:tcPr marL="36576" marR="36576" marT="36576" marB="36576"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FFFFFF"/>
                    </a:solidFill>
                  </a:tcPr>
                </a:tc>
              </a:tr>
              <a:tr h="274320">
                <a:tc>
                  <a:txBody>
                    <a:bodyPr/>
                    <a:lstStyle/>
                    <a:p>
                      <a:pPr indent="0" marL="0">
                        <a:buNone/>
                      </a:pPr>
                      <a:r>
                        <a:rPr lang="en-US" sz="1100" b="1" dirty="0">
                          <a:solidFill>
                            <a:srgbClr val="17324D"/>
                          </a:solidFill>
                          <a:latin typeface="Meiryo" pitchFamily="34" charset="0"/>
                          <a:ea typeface="Meiryo" pitchFamily="34" charset="-122"/>
                          <a:cs typeface="Meiryo" pitchFamily="34" charset="-120"/>
                        </a:rPr>
                        <a:t>血管</a:t>
                      </a:r>
                      <a:endParaRPr lang="en-US" sz="1100" dirty="0">
                        <a:latin typeface="Meiryo" charset="0"/>
                        <a:ea typeface="Meiryo" charset="0"/>
                        <a:cs typeface="Meiryo" charset="0"/>
                      </a:endParaRPr>
                    </a:p>
                  </a:txBody>
                  <a:tcPr marL="36576" marR="36576" marT="36576" marB="36576"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EAF2F8"/>
                    </a:solidFill>
                  </a:tcPr>
                </a:tc>
                <a:tc>
                  <a:txBody>
                    <a:bodyPr/>
                    <a:lstStyle/>
                    <a:p>
                      <a:pPr indent="0" marL="0">
                        <a:buNone/>
                      </a:pPr>
                      <a:r>
                        <a:rPr lang="en-US" sz="1100" dirty="0">
                          <a:solidFill>
                            <a:srgbClr val="222222"/>
                          </a:solidFill>
                          <a:latin typeface="Meiryo" pitchFamily="34" charset="0"/>
                          <a:ea typeface="Meiryo" pitchFamily="34" charset="-122"/>
                          <a:cs typeface="Meiryo" pitchFamily="34" charset="-120"/>
                        </a:rPr>
                        <a:t>皮膚・内臓：収縮／骨格筋：拡張</a:t>
                      </a:r>
                      <a:endParaRPr lang="en-US" sz="1100" dirty="0">
                        <a:latin typeface="Meiryo" charset="0"/>
                        <a:ea typeface="Meiryo" charset="0"/>
                        <a:cs typeface="Meiryo" charset="0"/>
                      </a:endParaRPr>
                    </a:p>
                  </a:txBody>
                  <a:tcPr marL="36576" marR="36576" marT="36576" marB="36576"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EAF2F8"/>
                    </a:solidFill>
                  </a:tcPr>
                </a:tc>
                <a:tc>
                  <a:txBody>
                    <a:bodyPr/>
                    <a:lstStyle/>
                    <a:p>
                      <a:pPr indent="0" marL="0">
                        <a:buNone/>
                      </a:pPr>
                      <a:r>
                        <a:rPr lang="en-US" sz="1100" dirty="0">
                          <a:solidFill>
                            <a:srgbClr val="222222"/>
                          </a:solidFill>
                          <a:latin typeface="Meiryo" pitchFamily="34" charset="0"/>
                          <a:ea typeface="Meiryo" pitchFamily="34" charset="-122"/>
                          <a:cs typeface="Meiryo" pitchFamily="34" charset="-120"/>
                        </a:rPr>
                        <a:t>外生殖器：拡張</a:t>
                      </a:r>
                      <a:endParaRPr lang="en-US" sz="1100" dirty="0">
                        <a:latin typeface="Meiryo" charset="0"/>
                        <a:ea typeface="Meiryo" charset="0"/>
                        <a:cs typeface="Meiryo" charset="0"/>
                      </a:endParaRPr>
                    </a:p>
                  </a:txBody>
                  <a:tcPr marL="36576" marR="36576" marT="36576" marB="36576"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EAF2F8"/>
                    </a:solidFill>
                  </a:tcPr>
                </a:tc>
              </a:tr>
              <a:tr h="274320">
                <a:tc>
                  <a:txBody>
                    <a:bodyPr/>
                    <a:lstStyle/>
                    <a:p>
                      <a:pPr indent="0" marL="0">
                        <a:buNone/>
                      </a:pPr>
                      <a:r>
                        <a:rPr lang="en-US" sz="1100" b="1" dirty="0">
                          <a:solidFill>
                            <a:srgbClr val="17324D"/>
                          </a:solidFill>
                          <a:latin typeface="Meiryo" pitchFamily="34" charset="0"/>
                          <a:ea typeface="Meiryo" pitchFamily="34" charset="-122"/>
                          <a:cs typeface="Meiryo" pitchFamily="34" charset="-120"/>
                        </a:rPr>
                        <a:t>汗腺・立毛筋</a:t>
                      </a:r>
                      <a:endParaRPr lang="en-US" sz="1100" dirty="0">
                        <a:latin typeface="Meiryo" charset="0"/>
                        <a:ea typeface="Meiryo" charset="0"/>
                        <a:cs typeface="Meiryo" charset="0"/>
                      </a:endParaRPr>
                    </a:p>
                  </a:txBody>
                  <a:tcPr marL="36576" marR="36576" marT="36576" marB="36576"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FFFFFF"/>
                    </a:solidFill>
                  </a:tcPr>
                </a:tc>
                <a:tc>
                  <a:txBody>
                    <a:bodyPr/>
                    <a:lstStyle/>
                    <a:p>
                      <a:pPr indent="0" marL="0">
                        <a:buNone/>
                      </a:pPr>
                      <a:r>
                        <a:rPr lang="en-US" sz="1100" dirty="0">
                          <a:solidFill>
                            <a:srgbClr val="222222"/>
                          </a:solidFill>
                          <a:latin typeface="Meiryo" pitchFamily="34" charset="0"/>
                          <a:ea typeface="Meiryo" pitchFamily="34" charset="-122"/>
                          <a:cs typeface="Meiryo" pitchFamily="34" charset="-120"/>
                        </a:rPr>
                        <a:t>発汗・立毛（交感神経のみ）</a:t>
                      </a:r>
                      <a:endParaRPr lang="en-US" sz="1100" dirty="0">
                        <a:latin typeface="Meiryo" charset="0"/>
                        <a:ea typeface="Meiryo" charset="0"/>
                        <a:cs typeface="Meiryo" charset="0"/>
                      </a:endParaRPr>
                    </a:p>
                  </a:txBody>
                  <a:tcPr marL="36576" marR="36576" marT="36576" marB="36576"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FFFFFF"/>
                    </a:solidFill>
                  </a:tcPr>
                </a:tc>
                <a:tc>
                  <a:txBody>
                    <a:bodyPr/>
                    <a:lstStyle/>
                    <a:p>
                      <a:pPr indent="0" marL="0">
                        <a:buNone/>
                      </a:pPr>
                      <a:r>
                        <a:rPr lang="en-US" sz="1100" dirty="0">
                          <a:solidFill>
                            <a:srgbClr val="222222"/>
                          </a:solidFill>
                          <a:latin typeface="Meiryo" pitchFamily="34" charset="0"/>
                          <a:ea typeface="Meiryo" pitchFamily="34" charset="-122"/>
                          <a:cs typeface="Meiryo" pitchFamily="34" charset="-120"/>
                        </a:rPr>
                        <a:t>支配なし</a:t>
                      </a:r>
                      <a:endParaRPr lang="en-US" sz="1100" dirty="0">
                        <a:latin typeface="Meiryo" charset="0"/>
                        <a:ea typeface="Meiryo" charset="0"/>
                        <a:cs typeface="Meiryo" charset="0"/>
                      </a:endParaRPr>
                    </a:p>
                  </a:txBody>
                  <a:tcPr marL="36576" marR="36576" marT="36576" marB="36576"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457200" y="4617720"/>
            <a:ext cx="8229600" cy="320040"/>
          </a:xfrm>
          <a:prstGeom prst="rect">
            <a:avLst/>
          </a:prstGeom>
          <a:noFill/>
          <a:ln/>
        </p:spPr>
        <p:txBody>
          <a:bodyPr wrap="square" lIns="0" tIns="0" rIns="0" bIns="0" rtlCol="0" anchor="ctr"/>
          <a:lstStyle/>
          <a:p>
            <a:pPr indent="0" marL="0">
              <a:buNone/>
            </a:pPr>
            <a:r>
              <a:rPr lang="en-US" sz="1100" b="1" dirty="0">
                <a:solidFill>
                  <a:srgbClr val="D9534F"/>
                </a:solidFill>
                <a:latin typeface="Meiryo" pitchFamily="34" charset="0"/>
                <a:ea typeface="Meiryo" pitchFamily="34" charset="-122"/>
                <a:cs typeface="Meiryo" pitchFamily="34" charset="-120"/>
              </a:rPr>
              <a:t>二重支配でない（交感のみ）：汗腺・立毛筋・副腎髄質・大部分の血管・脾臓</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74320"/>
            <a:ext cx="868680" cy="384048"/>
          </a:xfrm>
          <a:prstGeom prst="roundRect">
            <a:avLst>
              <a:gd name="adj" fmla="val 19048"/>
            </a:avLst>
          </a:prstGeom>
          <a:solidFill>
            <a:srgbClr val="17324D"/>
          </a:solidFill>
          <a:ln/>
        </p:spPr>
      </p:sp>
      <p:sp>
        <p:nvSpPr>
          <p:cNvPr id="3" name="Text 1"/>
          <p:cNvSpPr txBox="1"/>
          <p:nvPr/>
        </p:nvSpPr>
        <p:spPr>
          <a:xfrm>
            <a:off x="457200" y="274320"/>
            <a:ext cx="86868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問題</a:t>
            </a:r>
            <a:endParaRPr lang="en-US" sz="1300" dirty="0"/>
          </a:p>
        </p:txBody>
      </p:sp>
      <p:sp>
        <p:nvSpPr>
          <p:cNvPr id="4" name="Text 2"/>
          <p:cNvSpPr txBox="1"/>
          <p:nvPr/>
        </p:nvSpPr>
        <p:spPr>
          <a:xfrm>
            <a:off x="1417320" y="274320"/>
            <a:ext cx="731520" cy="384048"/>
          </a:xfrm>
          <a:prstGeom prst="rect">
            <a:avLst/>
          </a:prstGeom>
          <a:noFill/>
          <a:ln/>
        </p:spPr>
        <p:txBody>
          <a:bodyPr wrap="square" lIns="0" tIns="0" rIns="0" bIns="0" rtlCol="0" anchor="ctr"/>
          <a:lstStyle/>
          <a:p>
            <a:pPr indent="0" marL="0">
              <a:buNone/>
            </a:pPr>
            <a:r>
              <a:rPr lang="en-US" sz="2000" b="1" dirty="0">
                <a:solidFill>
                  <a:srgbClr val="17324D"/>
                </a:solidFill>
                <a:latin typeface="Arial" pitchFamily="34" charset="0"/>
                <a:ea typeface="Arial" pitchFamily="34" charset="-122"/>
                <a:cs typeface="Arial" pitchFamily="34" charset="-120"/>
              </a:rPr>
              <a:t>[1]</a:t>
            </a:r>
            <a:endParaRPr lang="en-US" sz="2000" dirty="0"/>
          </a:p>
        </p:txBody>
      </p:sp>
      <p:sp>
        <p:nvSpPr>
          <p:cNvPr id="5" name="Text 3"/>
          <p:cNvSpPr txBox="1"/>
          <p:nvPr/>
        </p:nvSpPr>
        <p:spPr>
          <a:xfrm>
            <a:off x="5943600" y="274320"/>
            <a:ext cx="2743200" cy="384048"/>
          </a:xfrm>
          <a:prstGeom prst="rect">
            <a:avLst/>
          </a:prstGeom>
          <a:noFill/>
          <a:ln/>
        </p:spPr>
        <p:txBody>
          <a:bodyPr wrap="square" lIns="0" tIns="0" rIns="0" bIns="0" rtlCol="0" anchor="ctr"/>
          <a:lstStyle/>
          <a:p>
            <a:pPr algn="r" indent="0" marL="0">
              <a:buNone/>
            </a:pPr>
            <a:r>
              <a:rPr lang="en-US" sz="1100" dirty="0">
                <a:solidFill>
                  <a:srgbClr val="5F6B76"/>
                </a:solidFill>
                <a:latin typeface="Meiryo" pitchFamily="34" charset="0"/>
                <a:ea typeface="Meiryo" pitchFamily="34" charset="-122"/>
                <a:cs typeface="Meiryo" pitchFamily="34" charset="-120"/>
              </a:rPr>
              <a:t>61回午前64</a:t>
            </a:r>
            <a:endParaRPr lang="en-US" sz="1100" dirty="0"/>
          </a:p>
        </p:txBody>
      </p:sp>
      <p:sp>
        <p:nvSpPr>
          <p:cNvPr id="6" name="Text 4"/>
          <p:cNvSpPr txBox="1"/>
          <p:nvPr/>
        </p:nvSpPr>
        <p:spPr>
          <a:xfrm>
            <a:off x="457200" y="731520"/>
            <a:ext cx="8229600" cy="594360"/>
          </a:xfrm>
          <a:prstGeom prst="rect">
            <a:avLst/>
          </a:prstGeom>
          <a:noFill/>
          <a:ln/>
        </p:spPr>
        <p:txBody>
          <a:bodyPr wrap="square" lIns="0" tIns="0" rIns="0" bIns="0" rtlCol="0" anchor="t"/>
          <a:lstStyle/>
          <a:p>
            <a:pPr indent="0" marL="0">
              <a:buNone/>
            </a:pPr>
            <a:r>
              <a:rPr lang="en-US" sz="1700" b="1" dirty="0">
                <a:solidFill>
                  <a:srgbClr val="222222"/>
                </a:solidFill>
                <a:latin typeface="Meiryo" pitchFamily="34" charset="0"/>
                <a:ea typeface="Meiryo" pitchFamily="34" charset="-122"/>
                <a:cs typeface="Meiryo" pitchFamily="34" charset="-120"/>
              </a:rPr>
              <a:t>交感神経で正しいのはどれか。</a:t>
            </a:r>
            <a:endParaRPr lang="en-US" sz="1700" dirty="0"/>
          </a:p>
        </p:txBody>
      </p:sp>
      <p:sp>
        <p:nvSpPr>
          <p:cNvPr id="7" name="Shape 5"/>
          <p:cNvSpPr/>
          <p:nvPr/>
        </p:nvSpPr>
        <p:spPr>
          <a:xfrm>
            <a:off x="457200" y="1508760"/>
            <a:ext cx="8229600" cy="493776"/>
          </a:xfrm>
          <a:prstGeom prst="roundRect">
            <a:avLst>
              <a:gd name="adj" fmla="val 14815"/>
            </a:avLst>
          </a:prstGeom>
          <a:solidFill>
            <a:srgbClr val="EAF2F8"/>
          </a:solidFill>
          <a:ln/>
        </p:spPr>
      </p:sp>
      <p:sp>
        <p:nvSpPr>
          <p:cNvPr id="8" name="Shape 6"/>
          <p:cNvSpPr/>
          <p:nvPr/>
        </p:nvSpPr>
        <p:spPr>
          <a:xfrm>
            <a:off x="566928" y="1572768"/>
            <a:ext cx="365760" cy="365760"/>
          </a:xfrm>
          <a:prstGeom prst="ellipse">
            <a:avLst/>
          </a:prstGeom>
          <a:solidFill>
            <a:srgbClr val="FFFFFF"/>
          </a:solidFill>
          <a:ln w="15875">
            <a:solidFill>
              <a:srgbClr val="17324D"/>
            </a:solidFill>
            <a:prstDash val="solid"/>
          </a:ln>
        </p:spPr>
      </p:sp>
      <p:sp>
        <p:nvSpPr>
          <p:cNvPr id="9" name="Text 7"/>
          <p:cNvSpPr txBox="1"/>
          <p:nvPr/>
        </p:nvSpPr>
        <p:spPr>
          <a:xfrm>
            <a:off x="566928" y="1572768"/>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1</a:t>
            </a:r>
            <a:endParaRPr lang="en-US" sz="1400" dirty="0"/>
          </a:p>
        </p:txBody>
      </p:sp>
      <p:sp>
        <p:nvSpPr>
          <p:cNvPr id="10" name="Text 8"/>
          <p:cNvSpPr txBox="1"/>
          <p:nvPr/>
        </p:nvSpPr>
        <p:spPr>
          <a:xfrm>
            <a:off x="1051560" y="1508760"/>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排尿筋が収縮する</a:t>
            </a:r>
            <a:endParaRPr lang="en-US" sz="1500" dirty="0"/>
          </a:p>
        </p:txBody>
      </p:sp>
      <p:sp>
        <p:nvSpPr>
          <p:cNvPr id="11" name="Shape 9"/>
          <p:cNvSpPr/>
          <p:nvPr/>
        </p:nvSpPr>
        <p:spPr>
          <a:xfrm>
            <a:off x="457200" y="2112264"/>
            <a:ext cx="8229600" cy="493776"/>
          </a:xfrm>
          <a:prstGeom prst="roundRect">
            <a:avLst>
              <a:gd name="adj" fmla="val 14815"/>
            </a:avLst>
          </a:prstGeom>
          <a:solidFill>
            <a:srgbClr val="EAF2F8"/>
          </a:solidFill>
          <a:ln/>
        </p:spPr>
      </p:sp>
      <p:sp>
        <p:nvSpPr>
          <p:cNvPr id="12" name="Shape 10"/>
          <p:cNvSpPr/>
          <p:nvPr/>
        </p:nvSpPr>
        <p:spPr>
          <a:xfrm>
            <a:off x="566928" y="2176272"/>
            <a:ext cx="365760" cy="365760"/>
          </a:xfrm>
          <a:prstGeom prst="ellipse">
            <a:avLst/>
          </a:prstGeom>
          <a:solidFill>
            <a:srgbClr val="FFFFFF"/>
          </a:solidFill>
          <a:ln w="15875">
            <a:solidFill>
              <a:srgbClr val="17324D"/>
            </a:solidFill>
            <a:prstDash val="solid"/>
          </a:ln>
        </p:spPr>
      </p:sp>
      <p:sp>
        <p:nvSpPr>
          <p:cNvPr id="13" name="Text 11"/>
          <p:cNvSpPr txBox="1"/>
          <p:nvPr/>
        </p:nvSpPr>
        <p:spPr>
          <a:xfrm>
            <a:off x="566928" y="2176272"/>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2</a:t>
            </a:r>
            <a:endParaRPr lang="en-US" sz="1400" dirty="0"/>
          </a:p>
        </p:txBody>
      </p:sp>
      <p:sp>
        <p:nvSpPr>
          <p:cNvPr id="14" name="Text 12"/>
          <p:cNvSpPr txBox="1"/>
          <p:nvPr/>
        </p:nvSpPr>
        <p:spPr>
          <a:xfrm>
            <a:off x="1051560" y="2112264"/>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グリコーゲンの合成が促進される</a:t>
            </a:r>
            <a:endParaRPr lang="en-US" sz="1500" dirty="0"/>
          </a:p>
        </p:txBody>
      </p:sp>
      <p:sp>
        <p:nvSpPr>
          <p:cNvPr id="15" name="Shape 13"/>
          <p:cNvSpPr/>
          <p:nvPr/>
        </p:nvSpPr>
        <p:spPr>
          <a:xfrm>
            <a:off x="457200" y="2715768"/>
            <a:ext cx="8229600" cy="493776"/>
          </a:xfrm>
          <a:prstGeom prst="roundRect">
            <a:avLst>
              <a:gd name="adj" fmla="val 14815"/>
            </a:avLst>
          </a:prstGeom>
          <a:solidFill>
            <a:srgbClr val="EAF2F8"/>
          </a:solidFill>
          <a:ln/>
        </p:spPr>
      </p:sp>
      <p:sp>
        <p:nvSpPr>
          <p:cNvPr id="16" name="Shape 14"/>
          <p:cNvSpPr/>
          <p:nvPr/>
        </p:nvSpPr>
        <p:spPr>
          <a:xfrm>
            <a:off x="566928" y="2779776"/>
            <a:ext cx="365760" cy="365760"/>
          </a:xfrm>
          <a:prstGeom prst="ellipse">
            <a:avLst/>
          </a:prstGeom>
          <a:solidFill>
            <a:srgbClr val="FFFFFF"/>
          </a:solidFill>
          <a:ln w="15875">
            <a:solidFill>
              <a:srgbClr val="17324D"/>
            </a:solidFill>
            <a:prstDash val="solid"/>
          </a:ln>
        </p:spPr>
      </p:sp>
      <p:sp>
        <p:nvSpPr>
          <p:cNvPr id="17" name="Text 15"/>
          <p:cNvSpPr txBox="1"/>
          <p:nvPr/>
        </p:nvSpPr>
        <p:spPr>
          <a:xfrm>
            <a:off x="566928" y="2779776"/>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3</a:t>
            </a:r>
            <a:endParaRPr lang="en-US" sz="1400" dirty="0"/>
          </a:p>
        </p:txBody>
      </p:sp>
      <p:sp>
        <p:nvSpPr>
          <p:cNvPr id="18" name="Text 16"/>
          <p:cNvSpPr txBox="1"/>
          <p:nvPr/>
        </p:nvSpPr>
        <p:spPr>
          <a:xfrm>
            <a:off x="1051560" y="2715768"/>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第１腰髄から第２腰髄の後根を通る</a:t>
            </a:r>
            <a:endParaRPr lang="en-US" sz="1500" dirty="0"/>
          </a:p>
        </p:txBody>
      </p:sp>
      <p:sp>
        <p:nvSpPr>
          <p:cNvPr id="19" name="Shape 17"/>
          <p:cNvSpPr/>
          <p:nvPr/>
        </p:nvSpPr>
        <p:spPr>
          <a:xfrm>
            <a:off x="457200" y="3319272"/>
            <a:ext cx="8229600" cy="493776"/>
          </a:xfrm>
          <a:prstGeom prst="roundRect">
            <a:avLst>
              <a:gd name="adj" fmla="val 14815"/>
            </a:avLst>
          </a:prstGeom>
          <a:solidFill>
            <a:srgbClr val="EAF2F8"/>
          </a:solidFill>
          <a:ln/>
        </p:spPr>
      </p:sp>
      <p:sp>
        <p:nvSpPr>
          <p:cNvPr id="20" name="Shape 18"/>
          <p:cNvSpPr/>
          <p:nvPr/>
        </p:nvSpPr>
        <p:spPr>
          <a:xfrm>
            <a:off x="566928" y="3383280"/>
            <a:ext cx="365760" cy="365760"/>
          </a:xfrm>
          <a:prstGeom prst="ellipse">
            <a:avLst/>
          </a:prstGeom>
          <a:solidFill>
            <a:srgbClr val="FFFFFF"/>
          </a:solidFill>
          <a:ln w="15875">
            <a:solidFill>
              <a:srgbClr val="17324D"/>
            </a:solidFill>
            <a:prstDash val="solid"/>
          </a:ln>
        </p:spPr>
      </p:sp>
      <p:sp>
        <p:nvSpPr>
          <p:cNvPr id="21" name="Text 19"/>
          <p:cNvSpPr txBox="1"/>
          <p:nvPr/>
        </p:nvSpPr>
        <p:spPr>
          <a:xfrm>
            <a:off x="566928" y="3383280"/>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4</a:t>
            </a:r>
            <a:endParaRPr lang="en-US" sz="1400" dirty="0"/>
          </a:p>
        </p:txBody>
      </p:sp>
      <p:sp>
        <p:nvSpPr>
          <p:cNvPr id="22" name="Text 20"/>
          <p:cNvSpPr txBox="1"/>
          <p:nvPr/>
        </p:nvSpPr>
        <p:spPr>
          <a:xfrm>
            <a:off x="1051560" y="3319272"/>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副腎髄質は節後線維の直接支配を受ける</a:t>
            </a:r>
            <a:endParaRPr lang="en-US" sz="1500" dirty="0"/>
          </a:p>
        </p:txBody>
      </p:sp>
      <p:sp>
        <p:nvSpPr>
          <p:cNvPr id="23" name="Shape 21"/>
          <p:cNvSpPr/>
          <p:nvPr/>
        </p:nvSpPr>
        <p:spPr>
          <a:xfrm>
            <a:off x="457200" y="3922776"/>
            <a:ext cx="8229600" cy="493776"/>
          </a:xfrm>
          <a:prstGeom prst="roundRect">
            <a:avLst>
              <a:gd name="adj" fmla="val 14815"/>
            </a:avLst>
          </a:prstGeom>
          <a:solidFill>
            <a:srgbClr val="EAF2F8"/>
          </a:solidFill>
          <a:ln/>
        </p:spPr>
      </p:sp>
      <p:sp>
        <p:nvSpPr>
          <p:cNvPr id="24" name="Shape 22"/>
          <p:cNvSpPr/>
          <p:nvPr/>
        </p:nvSpPr>
        <p:spPr>
          <a:xfrm>
            <a:off x="566928" y="3986784"/>
            <a:ext cx="365760" cy="365760"/>
          </a:xfrm>
          <a:prstGeom prst="ellipse">
            <a:avLst/>
          </a:prstGeom>
          <a:solidFill>
            <a:srgbClr val="FFFFFF"/>
          </a:solidFill>
          <a:ln w="15875">
            <a:solidFill>
              <a:srgbClr val="17324D"/>
            </a:solidFill>
            <a:prstDash val="solid"/>
          </a:ln>
        </p:spPr>
      </p:sp>
      <p:sp>
        <p:nvSpPr>
          <p:cNvPr id="25" name="Text 23"/>
          <p:cNvSpPr txBox="1"/>
          <p:nvPr/>
        </p:nvSpPr>
        <p:spPr>
          <a:xfrm>
            <a:off x="566928" y="3986784"/>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5</a:t>
            </a:r>
            <a:endParaRPr lang="en-US" sz="1400" dirty="0"/>
          </a:p>
        </p:txBody>
      </p:sp>
      <p:sp>
        <p:nvSpPr>
          <p:cNvPr id="26" name="Text 24"/>
          <p:cNvSpPr txBox="1"/>
          <p:nvPr/>
        </p:nvSpPr>
        <p:spPr>
          <a:xfrm>
            <a:off x="1051560" y="3922776"/>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節前線維末端からアセチルコリンが放出される</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74320"/>
            <a:ext cx="868680" cy="384048"/>
          </a:xfrm>
          <a:prstGeom prst="roundRect">
            <a:avLst>
              <a:gd name="adj" fmla="val 19048"/>
            </a:avLst>
          </a:prstGeom>
          <a:solidFill>
            <a:srgbClr val="D9534F"/>
          </a:solidFill>
          <a:ln/>
        </p:spPr>
      </p:sp>
      <p:sp>
        <p:nvSpPr>
          <p:cNvPr id="3" name="Text 1"/>
          <p:cNvSpPr txBox="1"/>
          <p:nvPr/>
        </p:nvSpPr>
        <p:spPr>
          <a:xfrm>
            <a:off x="457200" y="274320"/>
            <a:ext cx="86868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解説</a:t>
            </a:r>
            <a:endParaRPr lang="en-US" sz="1300" dirty="0"/>
          </a:p>
        </p:txBody>
      </p:sp>
      <p:sp>
        <p:nvSpPr>
          <p:cNvPr id="4" name="Text 2"/>
          <p:cNvSpPr txBox="1"/>
          <p:nvPr/>
        </p:nvSpPr>
        <p:spPr>
          <a:xfrm>
            <a:off x="1417320" y="274320"/>
            <a:ext cx="731520" cy="384048"/>
          </a:xfrm>
          <a:prstGeom prst="rect">
            <a:avLst/>
          </a:prstGeom>
          <a:noFill/>
          <a:ln/>
        </p:spPr>
        <p:txBody>
          <a:bodyPr wrap="square" lIns="0" tIns="0" rIns="0" bIns="0" rtlCol="0" anchor="ctr"/>
          <a:lstStyle/>
          <a:p>
            <a:pPr indent="0" marL="0">
              <a:buNone/>
            </a:pPr>
            <a:r>
              <a:rPr lang="en-US" sz="2000" b="1" dirty="0">
                <a:solidFill>
                  <a:srgbClr val="17324D"/>
                </a:solidFill>
                <a:latin typeface="Arial" pitchFamily="34" charset="0"/>
                <a:ea typeface="Arial" pitchFamily="34" charset="-122"/>
                <a:cs typeface="Arial" pitchFamily="34" charset="-120"/>
              </a:rPr>
              <a:t>[1]</a:t>
            </a:r>
            <a:endParaRPr lang="en-US" sz="2000" dirty="0"/>
          </a:p>
        </p:txBody>
      </p:sp>
      <p:sp>
        <p:nvSpPr>
          <p:cNvPr id="5" name="Text 3"/>
          <p:cNvSpPr txBox="1"/>
          <p:nvPr/>
        </p:nvSpPr>
        <p:spPr>
          <a:xfrm>
            <a:off x="5943600" y="274320"/>
            <a:ext cx="2743200" cy="384048"/>
          </a:xfrm>
          <a:prstGeom prst="rect">
            <a:avLst/>
          </a:prstGeom>
          <a:noFill/>
          <a:ln/>
        </p:spPr>
        <p:txBody>
          <a:bodyPr wrap="square" lIns="0" tIns="0" rIns="0" bIns="0" rtlCol="0" anchor="ctr"/>
          <a:lstStyle/>
          <a:p>
            <a:pPr algn="r" indent="0" marL="0">
              <a:buNone/>
            </a:pPr>
            <a:r>
              <a:rPr lang="en-US" sz="1100" dirty="0">
                <a:solidFill>
                  <a:srgbClr val="5F6B76"/>
                </a:solidFill>
                <a:latin typeface="Meiryo" pitchFamily="34" charset="0"/>
                <a:ea typeface="Meiryo" pitchFamily="34" charset="-122"/>
                <a:cs typeface="Meiryo" pitchFamily="34" charset="-120"/>
              </a:rPr>
              <a:t>61回午前64</a:t>
            </a:r>
            <a:endParaRPr lang="en-US" sz="1100" dirty="0"/>
          </a:p>
        </p:txBody>
      </p:sp>
      <p:sp>
        <p:nvSpPr>
          <p:cNvPr id="6" name="Text 4"/>
          <p:cNvSpPr txBox="1"/>
          <p:nvPr/>
        </p:nvSpPr>
        <p:spPr>
          <a:xfrm>
            <a:off x="457200" y="731520"/>
            <a:ext cx="8229600" cy="594360"/>
          </a:xfrm>
          <a:prstGeom prst="rect">
            <a:avLst/>
          </a:prstGeom>
          <a:noFill/>
          <a:ln/>
        </p:spPr>
        <p:txBody>
          <a:bodyPr wrap="square" lIns="0" tIns="0" rIns="0" bIns="0" rtlCol="0" anchor="t"/>
          <a:lstStyle/>
          <a:p>
            <a:pPr indent="0" marL="0">
              <a:buNone/>
            </a:pPr>
            <a:r>
              <a:rPr lang="en-US" sz="1700" b="1" dirty="0">
                <a:solidFill>
                  <a:srgbClr val="222222"/>
                </a:solidFill>
                <a:latin typeface="Meiryo" pitchFamily="34" charset="0"/>
                <a:ea typeface="Meiryo" pitchFamily="34" charset="-122"/>
                <a:cs typeface="Meiryo" pitchFamily="34" charset="-120"/>
              </a:rPr>
              <a:t>交感神経で正しいのはどれか。</a:t>
            </a:r>
            <a:endParaRPr lang="en-US" sz="1700" dirty="0"/>
          </a:p>
        </p:txBody>
      </p:sp>
      <p:sp>
        <p:nvSpPr>
          <p:cNvPr id="7" name="Shape 5"/>
          <p:cNvSpPr/>
          <p:nvPr/>
        </p:nvSpPr>
        <p:spPr>
          <a:xfrm>
            <a:off x="457200" y="1417320"/>
            <a:ext cx="8229600" cy="457200"/>
          </a:xfrm>
          <a:prstGeom prst="roundRect">
            <a:avLst>
              <a:gd name="adj" fmla="val 16000"/>
            </a:avLst>
          </a:prstGeom>
          <a:solidFill>
            <a:srgbClr val="F4F6F8"/>
          </a:solidFill>
          <a:ln/>
        </p:spPr>
      </p:sp>
      <p:sp>
        <p:nvSpPr>
          <p:cNvPr id="8" name="Shape 6"/>
          <p:cNvSpPr/>
          <p:nvPr/>
        </p:nvSpPr>
        <p:spPr>
          <a:xfrm>
            <a:off x="548640" y="1481328"/>
            <a:ext cx="329184" cy="329184"/>
          </a:xfrm>
          <a:prstGeom prst="ellipse">
            <a:avLst/>
          </a:prstGeom>
          <a:solidFill>
            <a:srgbClr val="FFFFFF"/>
          </a:solidFill>
          <a:ln w="12700">
            <a:solidFill>
              <a:srgbClr val="8A96A3"/>
            </a:solidFill>
            <a:prstDash val="solid"/>
          </a:ln>
        </p:spPr>
      </p:sp>
      <p:sp>
        <p:nvSpPr>
          <p:cNvPr id="9" name="Text 7"/>
          <p:cNvSpPr txBox="1"/>
          <p:nvPr/>
        </p:nvSpPr>
        <p:spPr>
          <a:xfrm>
            <a:off x="548640" y="1481328"/>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1</a:t>
            </a:r>
            <a:endParaRPr lang="en-US" sz="1300" dirty="0"/>
          </a:p>
        </p:txBody>
      </p:sp>
      <p:sp>
        <p:nvSpPr>
          <p:cNvPr id="10" name="Text 8"/>
          <p:cNvSpPr txBox="1"/>
          <p:nvPr/>
        </p:nvSpPr>
        <p:spPr>
          <a:xfrm>
            <a:off x="987552" y="1417320"/>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排尿筋が収縮する</a:t>
            </a:r>
            <a:endParaRPr lang="en-US" sz="1200" dirty="0"/>
          </a:p>
        </p:txBody>
      </p:sp>
      <p:sp>
        <p:nvSpPr>
          <p:cNvPr id="11" name="Text 9"/>
          <p:cNvSpPr txBox="1"/>
          <p:nvPr/>
        </p:nvSpPr>
        <p:spPr>
          <a:xfrm>
            <a:off x="4096512" y="1417320"/>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排尿筋は弛緩（収縮は副交感）</a:t>
            </a:r>
            <a:endParaRPr lang="en-US" sz="1100" dirty="0"/>
          </a:p>
        </p:txBody>
      </p:sp>
      <p:sp>
        <p:nvSpPr>
          <p:cNvPr id="12" name="Shape 10"/>
          <p:cNvSpPr/>
          <p:nvPr/>
        </p:nvSpPr>
        <p:spPr>
          <a:xfrm>
            <a:off x="457200" y="1947672"/>
            <a:ext cx="8229600" cy="457200"/>
          </a:xfrm>
          <a:prstGeom prst="roundRect">
            <a:avLst>
              <a:gd name="adj" fmla="val 16000"/>
            </a:avLst>
          </a:prstGeom>
          <a:solidFill>
            <a:srgbClr val="F4F6F8"/>
          </a:solidFill>
          <a:ln/>
        </p:spPr>
      </p:sp>
      <p:sp>
        <p:nvSpPr>
          <p:cNvPr id="13" name="Shape 11"/>
          <p:cNvSpPr/>
          <p:nvPr/>
        </p:nvSpPr>
        <p:spPr>
          <a:xfrm>
            <a:off x="548640" y="2011680"/>
            <a:ext cx="329184" cy="329184"/>
          </a:xfrm>
          <a:prstGeom prst="ellipse">
            <a:avLst/>
          </a:prstGeom>
          <a:solidFill>
            <a:srgbClr val="FFFFFF"/>
          </a:solidFill>
          <a:ln w="12700">
            <a:solidFill>
              <a:srgbClr val="8A96A3"/>
            </a:solidFill>
            <a:prstDash val="solid"/>
          </a:ln>
        </p:spPr>
      </p:sp>
      <p:sp>
        <p:nvSpPr>
          <p:cNvPr id="14" name="Text 12"/>
          <p:cNvSpPr txBox="1"/>
          <p:nvPr/>
        </p:nvSpPr>
        <p:spPr>
          <a:xfrm>
            <a:off x="548640" y="2011680"/>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2</a:t>
            </a:r>
            <a:endParaRPr lang="en-US" sz="1300" dirty="0"/>
          </a:p>
        </p:txBody>
      </p:sp>
      <p:sp>
        <p:nvSpPr>
          <p:cNvPr id="15" name="Text 13"/>
          <p:cNvSpPr txBox="1"/>
          <p:nvPr/>
        </p:nvSpPr>
        <p:spPr>
          <a:xfrm>
            <a:off x="987552" y="1947672"/>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グリコーゲンの合成が促進される</a:t>
            </a:r>
            <a:endParaRPr lang="en-US" sz="1200" dirty="0"/>
          </a:p>
        </p:txBody>
      </p:sp>
      <p:sp>
        <p:nvSpPr>
          <p:cNvPr id="16" name="Text 14"/>
          <p:cNvSpPr txBox="1"/>
          <p:nvPr/>
        </p:nvSpPr>
        <p:spPr>
          <a:xfrm>
            <a:off x="4096512" y="1947672"/>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グリコーゲンは分解が促進</a:t>
            </a:r>
            <a:endParaRPr lang="en-US" sz="1100" dirty="0"/>
          </a:p>
        </p:txBody>
      </p:sp>
      <p:sp>
        <p:nvSpPr>
          <p:cNvPr id="17" name="Shape 15"/>
          <p:cNvSpPr/>
          <p:nvPr/>
        </p:nvSpPr>
        <p:spPr>
          <a:xfrm>
            <a:off x="457200" y="2478024"/>
            <a:ext cx="8229600" cy="457200"/>
          </a:xfrm>
          <a:prstGeom prst="roundRect">
            <a:avLst>
              <a:gd name="adj" fmla="val 16000"/>
            </a:avLst>
          </a:prstGeom>
          <a:solidFill>
            <a:srgbClr val="F4F6F8"/>
          </a:solidFill>
          <a:ln/>
        </p:spPr>
      </p:sp>
      <p:sp>
        <p:nvSpPr>
          <p:cNvPr id="18" name="Shape 16"/>
          <p:cNvSpPr/>
          <p:nvPr/>
        </p:nvSpPr>
        <p:spPr>
          <a:xfrm>
            <a:off x="548640" y="2542032"/>
            <a:ext cx="329184" cy="329184"/>
          </a:xfrm>
          <a:prstGeom prst="ellipse">
            <a:avLst/>
          </a:prstGeom>
          <a:solidFill>
            <a:srgbClr val="FFFFFF"/>
          </a:solidFill>
          <a:ln w="12700">
            <a:solidFill>
              <a:srgbClr val="8A96A3"/>
            </a:solidFill>
            <a:prstDash val="solid"/>
          </a:ln>
        </p:spPr>
      </p:sp>
      <p:sp>
        <p:nvSpPr>
          <p:cNvPr id="19" name="Text 17"/>
          <p:cNvSpPr txBox="1"/>
          <p:nvPr/>
        </p:nvSpPr>
        <p:spPr>
          <a:xfrm>
            <a:off x="548640" y="2542032"/>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3</a:t>
            </a:r>
            <a:endParaRPr lang="en-US" sz="1300" dirty="0"/>
          </a:p>
        </p:txBody>
      </p:sp>
      <p:sp>
        <p:nvSpPr>
          <p:cNvPr id="20" name="Text 18"/>
          <p:cNvSpPr txBox="1"/>
          <p:nvPr/>
        </p:nvSpPr>
        <p:spPr>
          <a:xfrm>
            <a:off x="987552" y="2478024"/>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第１腰髄から第２腰髄の後根を通る</a:t>
            </a:r>
            <a:endParaRPr lang="en-US" sz="1200" dirty="0"/>
          </a:p>
        </p:txBody>
      </p:sp>
      <p:sp>
        <p:nvSpPr>
          <p:cNvPr id="21" name="Text 19"/>
          <p:cNvSpPr txBox="1"/>
          <p:nvPr/>
        </p:nvSpPr>
        <p:spPr>
          <a:xfrm>
            <a:off x="4096512" y="2478024"/>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節前線維は前根を通る</a:t>
            </a:r>
            <a:endParaRPr lang="en-US" sz="1100" dirty="0"/>
          </a:p>
        </p:txBody>
      </p:sp>
      <p:sp>
        <p:nvSpPr>
          <p:cNvPr id="22" name="Shape 20"/>
          <p:cNvSpPr/>
          <p:nvPr/>
        </p:nvSpPr>
        <p:spPr>
          <a:xfrm>
            <a:off x="457200" y="3008376"/>
            <a:ext cx="8229600" cy="457200"/>
          </a:xfrm>
          <a:prstGeom prst="roundRect">
            <a:avLst>
              <a:gd name="adj" fmla="val 16000"/>
            </a:avLst>
          </a:prstGeom>
          <a:solidFill>
            <a:srgbClr val="F4F6F8"/>
          </a:solidFill>
          <a:ln/>
        </p:spPr>
      </p:sp>
      <p:sp>
        <p:nvSpPr>
          <p:cNvPr id="23" name="Shape 21"/>
          <p:cNvSpPr/>
          <p:nvPr/>
        </p:nvSpPr>
        <p:spPr>
          <a:xfrm>
            <a:off x="548640" y="3072384"/>
            <a:ext cx="329184" cy="329184"/>
          </a:xfrm>
          <a:prstGeom prst="ellipse">
            <a:avLst/>
          </a:prstGeom>
          <a:solidFill>
            <a:srgbClr val="FFFFFF"/>
          </a:solidFill>
          <a:ln w="12700">
            <a:solidFill>
              <a:srgbClr val="8A96A3"/>
            </a:solidFill>
            <a:prstDash val="solid"/>
          </a:ln>
        </p:spPr>
      </p:sp>
      <p:sp>
        <p:nvSpPr>
          <p:cNvPr id="24" name="Text 22"/>
          <p:cNvSpPr txBox="1"/>
          <p:nvPr/>
        </p:nvSpPr>
        <p:spPr>
          <a:xfrm>
            <a:off x="548640" y="3072384"/>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4</a:t>
            </a:r>
            <a:endParaRPr lang="en-US" sz="1300" dirty="0"/>
          </a:p>
        </p:txBody>
      </p:sp>
      <p:sp>
        <p:nvSpPr>
          <p:cNvPr id="25" name="Text 23"/>
          <p:cNvSpPr txBox="1"/>
          <p:nvPr/>
        </p:nvSpPr>
        <p:spPr>
          <a:xfrm>
            <a:off x="987552" y="3008376"/>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副腎髄質は節後線維の直接支配を受ける</a:t>
            </a:r>
            <a:endParaRPr lang="en-US" sz="1200" dirty="0"/>
          </a:p>
        </p:txBody>
      </p:sp>
      <p:sp>
        <p:nvSpPr>
          <p:cNvPr id="26" name="Text 24"/>
          <p:cNvSpPr txBox="1"/>
          <p:nvPr/>
        </p:nvSpPr>
        <p:spPr>
          <a:xfrm>
            <a:off x="4096512" y="3008376"/>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副腎髄質は節前線維の直接支配</a:t>
            </a:r>
            <a:endParaRPr lang="en-US" sz="1100" dirty="0"/>
          </a:p>
        </p:txBody>
      </p:sp>
      <p:sp>
        <p:nvSpPr>
          <p:cNvPr id="27" name="Shape 25"/>
          <p:cNvSpPr/>
          <p:nvPr/>
        </p:nvSpPr>
        <p:spPr>
          <a:xfrm>
            <a:off x="457200" y="3538728"/>
            <a:ext cx="8229600" cy="457200"/>
          </a:xfrm>
          <a:prstGeom prst="roundRect">
            <a:avLst>
              <a:gd name="adj" fmla="val 16000"/>
            </a:avLst>
          </a:prstGeom>
          <a:solidFill>
            <a:srgbClr val="FBE3E2"/>
          </a:solidFill>
          <a:ln w="19050">
            <a:solidFill>
              <a:srgbClr val="D9534F"/>
            </a:solidFill>
            <a:prstDash val="solid"/>
          </a:ln>
        </p:spPr>
      </p:sp>
      <p:sp>
        <p:nvSpPr>
          <p:cNvPr id="28" name="Shape 26"/>
          <p:cNvSpPr/>
          <p:nvPr/>
        </p:nvSpPr>
        <p:spPr>
          <a:xfrm>
            <a:off x="548640" y="3602736"/>
            <a:ext cx="329184" cy="329184"/>
          </a:xfrm>
          <a:prstGeom prst="ellipse">
            <a:avLst/>
          </a:prstGeom>
          <a:solidFill>
            <a:srgbClr val="D9534F"/>
          </a:solidFill>
          <a:ln w="12700">
            <a:solidFill>
              <a:srgbClr val="D9534F"/>
            </a:solidFill>
            <a:prstDash val="solid"/>
          </a:ln>
        </p:spPr>
      </p:sp>
      <p:sp>
        <p:nvSpPr>
          <p:cNvPr id="29" name="Text 27"/>
          <p:cNvSpPr txBox="1"/>
          <p:nvPr/>
        </p:nvSpPr>
        <p:spPr>
          <a:xfrm>
            <a:off x="548640" y="3602736"/>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5</a:t>
            </a:r>
            <a:endParaRPr lang="en-US" sz="1300" dirty="0"/>
          </a:p>
        </p:txBody>
      </p:sp>
      <p:sp>
        <p:nvSpPr>
          <p:cNvPr id="30" name="Text 28"/>
          <p:cNvSpPr txBox="1"/>
          <p:nvPr/>
        </p:nvSpPr>
        <p:spPr>
          <a:xfrm>
            <a:off x="987552" y="3538728"/>
            <a:ext cx="3017520" cy="457200"/>
          </a:xfrm>
          <a:prstGeom prst="rect">
            <a:avLst/>
          </a:prstGeom>
          <a:noFill/>
          <a:ln/>
        </p:spPr>
        <p:txBody>
          <a:bodyPr wrap="square" lIns="0" tIns="0" rIns="0" bIns="0" rtlCol="0" anchor="ctr"/>
          <a:lstStyle/>
          <a:p>
            <a:pPr indent="0" marL="0">
              <a:buNone/>
            </a:pPr>
            <a:r>
              <a:rPr lang="en-US" sz="1200" b="1" dirty="0">
                <a:solidFill>
                  <a:srgbClr val="D9534F"/>
                </a:solidFill>
                <a:latin typeface="Meiryo" pitchFamily="34" charset="0"/>
                <a:ea typeface="Meiryo" pitchFamily="34" charset="-122"/>
                <a:cs typeface="Meiryo" pitchFamily="34" charset="-120"/>
              </a:rPr>
              <a:t>節前線維末端からアセチルコリンが放出される</a:t>
            </a:r>
            <a:endParaRPr lang="en-US" sz="1200" dirty="0"/>
          </a:p>
        </p:txBody>
      </p:sp>
      <p:sp>
        <p:nvSpPr>
          <p:cNvPr id="31" name="Text 29"/>
          <p:cNvSpPr txBox="1"/>
          <p:nvPr/>
        </p:nvSpPr>
        <p:spPr>
          <a:xfrm>
            <a:off x="4096512" y="3538728"/>
            <a:ext cx="4526280" cy="457200"/>
          </a:xfrm>
          <a:prstGeom prst="rect">
            <a:avLst/>
          </a:prstGeom>
          <a:noFill/>
          <a:ln/>
        </p:spPr>
        <p:txBody>
          <a:bodyPr wrap="square" lIns="0" tIns="0" rIns="0" bIns="0" rtlCol="0" anchor="ctr"/>
          <a:lstStyle/>
          <a:p>
            <a:pPr indent="0" marL="0">
              <a:buNone/>
            </a:pPr>
            <a:r>
              <a:rPr lang="en-US" sz="1100" dirty="0">
                <a:solidFill>
                  <a:srgbClr val="222222"/>
                </a:solidFill>
                <a:latin typeface="Meiryo" pitchFamily="34" charset="0"/>
                <a:ea typeface="Meiryo" pitchFamily="34" charset="-122"/>
                <a:cs typeface="Meiryo" pitchFamily="34" charset="-120"/>
              </a:rPr>
              <a:t>節前線維はコリン作動性 ○</a:t>
            </a:r>
            <a:endParaRPr lang="en-US" sz="1100" dirty="0"/>
          </a:p>
        </p:txBody>
      </p:sp>
      <p:sp>
        <p:nvSpPr>
          <p:cNvPr id="32" name="Shape 30"/>
          <p:cNvSpPr/>
          <p:nvPr/>
        </p:nvSpPr>
        <p:spPr>
          <a:xfrm>
            <a:off x="457200" y="4160520"/>
            <a:ext cx="1463040" cy="685800"/>
          </a:xfrm>
          <a:prstGeom prst="roundRect">
            <a:avLst>
              <a:gd name="adj" fmla="val 10667"/>
            </a:avLst>
          </a:prstGeom>
          <a:solidFill>
            <a:srgbClr val="D9534F"/>
          </a:solidFill>
          <a:ln/>
        </p:spPr>
      </p:sp>
      <p:sp>
        <p:nvSpPr>
          <p:cNvPr id="33" name="Text 31"/>
          <p:cNvSpPr txBox="1"/>
          <p:nvPr/>
        </p:nvSpPr>
        <p:spPr>
          <a:xfrm>
            <a:off x="457200" y="4160520"/>
            <a:ext cx="1463040" cy="685800"/>
          </a:xfrm>
          <a:prstGeom prst="rect">
            <a:avLst/>
          </a:prstGeom>
          <a:noFill/>
          <a:ln/>
        </p:spPr>
        <p:txBody>
          <a:bodyPr wrap="square" lIns="0" tIns="0" rIns="0" bIns="0" rtlCol="0" anchor="ctr"/>
          <a:lstStyle/>
          <a:p>
            <a:pPr algn="ctr" indent="0" marL="0">
              <a:buNone/>
            </a:pPr>
            <a:r>
              <a:rPr lang="en-US" sz="1100" dirty="0">
                <a:solidFill>
                  <a:srgbClr val="FFFFFF"/>
                </a:solidFill>
                <a:latin typeface="Meiryo" pitchFamily="34" charset="0"/>
                <a:ea typeface="Meiryo" pitchFamily="34" charset="-122"/>
                <a:cs typeface="Meiryo" pitchFamily="34" charset="-120"/>
              </a:rPr>
              <a:t>正解</a:t>
            </a:r>
            <a:endParaRPr lang="en-US" sz="1100" dirty="0"/>
          </a:p>
          <a:p>
            <a:pPr algn="ctr" indent="0" marL="0">
              <a:buNone/>
            </a:pPr>
            <a:r>
              <a:rPr lang="en-US" sz="2200" b="1" dirty="0">
                <a:solidFill>
                  <a:srgbClr val="FFFFFF"/>
                </a:solidFill>
                <a:latin typeface="Meiryo" pitchFamily="34" charset="0"/>
                <a:ea typeface="Meiryo" pitchFamily="34" charset="-122"/>
                <a:cs typeface="Meiryo" pitchFamily="34" charset="-120"/>
              </a:rPr>
              <a:t>5</a:t>
            </a:r>
            <a:endParaRPr lang="en-US" sz="1100" dirty="0"/>
          </a:p>
        </p:txBody>
      </p:sp>
      <p:sp>
        <p:nvSpPr>
          <p:cNvPr id="34" name="Shape 32"/>
          <p:cNvSpPr/>
          <p:nvPr/>
        </p:nvSpPr>
        <p:spPr>
          <a:xfrm>
            <a:off x="2057400" y="4160520"/>
            <a:ext cx="6629400" cy="685800"/>
          </a:xfrm>
          <a:prstGeom prst="roundRect">
            <a:avLst>
              <a:gd name="adj" fmla="val 10667"/>
            </a:avLst>
          </a:prstGeom>
          <a:solidFill>
            <a:srgbClr val="EAF2F8"/>
          </a:solidFill>
          <a:ln/>
        </p:spPr>
      </p:sp>
      <p:sp>
        <p:nvSpPr>
          <p:cNvPr id="35" name="Text 33"/>
          <p:cNvSpPr txBox="1"/>
          <p:nvPr/>
        </p:nvSpPr>
        <p:spPr>
          <a:xfrm>
            <a:off x="2194560" y="4160520"/>
            <a:ext cx="6400800" cy="685800"/>
          </a:xfrm>
          <a:prstGeom prst="rect">
            <a:avLst/>
          </a:prstGeom>
          <a:noFill/>
          <a:ln/>
        </p:spPr>
        <p:txBody>
          <a:bodyPr wrap="square" lIns="0" tIns="0" rIns="0" bIns="0" rtlCol="0" anchor="ctr"/>
          <a:lstStyle/>
          <a:p>
            <a:pPr indent="0" marL="0">
              <a:buNone/>
            </a:pPr>
            <a:r>
              <a:rPr lang="en-US" sz="1200" b="1" dirty="0">
                <a:solidFill>
                  <a:srgbClr val="2A7F9E"/>
                </a:solidFill>
                <a:latin typeface="Meiryo" pitchFamily="34" charset="0"/>
                <a:ea typeface="Meiryo" pitchFamily="34" charset="-122"/>
                <a:cs typeface="Meiryo" pitchFamily="34" charset="-120"/>
              </a:rPr>
              <a:t>POINT　</a:t>
            </a:r>
            <a:pPr indent="0" marL="0">
              <a:buNone/>
            </a:pPr>
            <a:r>
              <a:rPr lang="en-US" sz="1200" dirty="0">
                <a:solidFill>
                  <a:srgbClr val="222222"/>
                </a:solidFill>
                <a:latin typeface="Meiryo" pitchFamily="34" charset="0"/>
                <a:ea typeface="Meiryo" pitchFamily="34" charset="-122"/>
                <a:cs typeface="Meiryo" pitchFamily="34" charset="-120"/>
              </a:rPr>
              <a:t>自律神経の節前線維はすべてアセチルコリン。</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74320"/>
            <a:ext cx="868680" cy="384048"/>
          </a:xfrm>
          <a:prstGeom prst="roundRect">
            <a:avLst>
              <a:gd name="adj" fmla="val 19048"/>
            </a:avLst>
          </a:prstGeom>
          <a:solidFill>
            <a:srgbClr val="17324D"/>
          </a:solidFill>
          <a:ln/>
        </p:spPr>
      </p:sp>
      <p:sp>
        <p:nvSpPr>
          <p:cNvPr id="3" name="Text 1"/>
          <p:cNvSpPr txBox="1"/>
          <p:nvPr/>
        </p:nvSpPr>
        <p:spPr>
          <a:xfrm>
            <a:off x="457200" y="274320"/>
            <a:ext cx="86868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問題</a:t>
            </a:r>
            <a:endParaRPr lang="en-US" sz="1300" dirty="0"/>
          </a:p>
        </p:txBody>
      </p:sp>
      <p:sp>
        <p:nvSpPr>
          <p:cNvPr id="4" name="Text 2"/>
          <p:cNvSpPr txBox="1"/>
          <p:nvPr/>
        </p:nvSpPr>
        <p:spPr>
          <a:xfrm>
            <a:off x="1417320" y="274320"/>
            <a:ext cx="731520" cy="384048"/>
          </a:xfrm>
          <a:prstGeom prst="rect">
            <a:avLst/>
          </a:prstGeom>
          <a:noFill/>
          <a:ln/>
        </p:spPr>
        <p:txBody>
          <a:bodyPr wrap="square" lIns="0" tIns="0" rIns="0" bIns="0" rtlCol="0" anchor="ctr"/>
          <a:lstStyle/>
          <a:p>
            <a:pPr indent="0" marL="0">
              <a:buNone/>
            </a:pPr>
            <a:r>
              <a:rPr lang="en-US" sz="2000" b="1" dirty="0">
                <a:solidFill>
                  <a:srgbClr val="17324D"/>
                </a:solidFill>
                <a:latin typeface="Arial" pitchFamily="34" charset="0"/>
                <a:ea typeface="Arial" pitchFamily="34" charset="-122"/>
                <a:cs typeface="Arial" pitchFamily="34" charset="-120"/>
              </a:rPr>
              <a:t>[2]</a:t>
            </a:r>
            <a:endParaRPr lang="en-US" sz="2000" dirty="0"/>
          </a:p>
        </p:txBody>
      </p:sp>
      <p:sp>
        <p:nvSpPr>
          <p:cNvPr id="5" name="Text 3"/>
          <p:cNvSpPr txBox="1"/>
          <p:nvPr/>
        </p:nvSpPr>
        <p:spPr>
          <a:xfrm>
            <a:off x="5943600" y="274320"/>
            <a:ext cx="2743200" cy="384048"/>
          </a:xfrm>
          <a:prstGeom prst="rect">
            <a:avLst/>
          </a:prstGeom>
          <a:noFill/>
          <a:ln/>
        </p:spPr>
        <p:txBody>
          <a:bodyPr wrap="square" lIns="0" tIns="0" rIns="0" bIns="0" rtlCol="0" anchor="ctr"/>
          <a:lstStyle/>
          <a:p>
            <a:pPr algn="r" indent="0" marL="0">
              <a:buNone/>
            </a:pPr>
            <a:r>
              <a:rPr lang="en-US" sz="1100" dirty="0">
                <a:solidFill>
                  <a:srgbClr val="5F6B76"/>
                </a:solidFill>
                <a:latin typeface="Meiryo" pitchFamily="34" charset="0"/>
                <a:ea typeface="Meiryo" pitchFamily="34" charset="-122"/>
                <a:cs typeface="Meiryo" pitchFamily="34" charset="-120"/>
              </a:rPr>
              <a:t>61回午後63</a:t>
            </a:r>
            <a:endParaRPr lang="en-US" sz="1100" dirty="0"/>
          </a:p>
        </p:txBody>
      </p:sp>
      <p:sp>
        <p:nvSpPr>
          <p:cNvPr id="6" name="Text 4"/>
          <p:cNvSpPr txBox="1"/>
          <p:nvPr/>
        </p:nvSpPr>
        <p:spPr>
          <a:xfrm>
            <a:off x="457200" y="731520"/>
            <a:ext cx="8229600" cy="594360"/>
          </a:xfrm>
          <a:prstGeom prst="rect">
            <a:avLst/>
          </a:prstGeom>
          <a:noFill/>
          <a:ln/>
        </p:spPr>
        <p:txBody>
          <a:bodyPr wrap="square" lIns="0" tIns="0" rIns="0" bIns="0" rtlCol="0" anchor="t"/>
          <a:lstStyle/>
          <a:p>
            <a:pPr indent="0" marL="0">
              <a:buNone/>
            </a:pPr>
            <a:r>
              <a:rPr lang="en-US" sz="1700" b="1" dirty="0">
                <a:solidFill>
                  <a:srgbClr val="222222"/>
                </a:solidFill>
                <a:latin typeface="Meiryo" pitchFamily="34" charset="0"/>
                <a:ea typeface="Meiryo" pitchFamily="34" charset="-122"/>
                <a:cs typeface="Meiryo" pitchFamily="34" charset="-120"/>
              </a:rPr>
              <a:t>刺激と反応の組合せで正しいのはどれか。</a:t>
            </a:r>
            <a:endParaRPr lang="en-US" sz="1700" dirty="0"/>
          </a:p>
        </p:txBody>
      </p:sp>
      <p:sp>
        <p:nvSpPr>
          <p:cNvPr id="7" name="Shape 5"/>
          <p:cNvSpPr/>
          <p:nvPr/>
        </p:nvSpPr>
        <p:spPr>
          <a:xfrm>
            <a:off x="457200" y="1508760"/>
            <a:ext cx="8229600" cy="493776"/>
          </a:xfrm>
          <a:prstGeom prst="roundRect">
            <a:avLst>
              <a:gd name="adj" fmla="val 14815"/>
            </a:avLst>
          </a:prstGeom>
          <a:solidFill>
            <a:srgbClr val="EAF2F8"/>
          </a:solidFill>
          <a:ln/>
        </p:spPr>
      </p:sp>
      <p:sp>
        <p:nvSpPr>
          <p:cNvPr id="8" name="Shape 6"/>
          <p:cNvSpPr/>
          <p:nvPr/>
        </p:nvSpPr>
        <p:spPr>
          <a:xfrm>
            <a:off x="566928" y="1572768"/>
            <a:ext cx="365760" cy="365760"/>
          </a:xfrm>
          <a:prstGeom prst="ellipse">
            <a:avLst/>
          </a:prstGeom>
          <a:solidFill>
            <a:srgbClr val="FFFFFF"/>
          </a:solidFill>
          <a:ln w="15875">
            <a:solidFill>
              <a:srgbClr val="17324D"/>
            </a:solidFill>
            <a:prstDash val="solid"/>
          </a:ln>
        </p:spPr>
      </p:sp>
      <p:sp>
        <p:nvSpPr>
          <p:cNvPr id="9" name="Text 7"/>
          <p:cNvSpPr txBox="1"/>
          <p:nvPr/>
        </p:nvSpPr>
        <p:spPr>
          <a:xfrm>
            <a:off x="566928" y="1572768"/>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1</a:t>
            </a:r>
            <a:endParaRPr lang="en-US" sz="1400" dirty="0"/>
          </a:p>
        </p:txBody>
      </p:sp>
      <p:sp>
        <p:nvSpPr>
          <p:cNvPr id="10" name="Text 8"/>
          <p:cNvSpPr txBox="1"/>
          <p:nvPr/>
        </p:nvSpPr>
        <p:spPr>
          <a:xfrm>
            <a:off x="1051560" y="1508760"/>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交感神経 ― 縮瞳</a:t>
            </a:r>
            <a:endParaRPr lang="en-US" sz="1500" dirty="0"/>
          </a:p>
        </p:txBody>
      </p:sp>
      <p:sp>
        <p:nvSpPr>
          <p:cNvPr id="11" name="Shape 9"/>
          <p:cNvSpPr/>
          <p:nvPr/>
        </p:nvSpPr>
        <p:spPr>
          <a:xfrm>
            <a:off x="457200" y="2112264"/>
            <a:ext cx="8229600" cy="493776"/>
          </a:xfrm>
          <a:prstGeom prst="roundRect">
            <a:avLst>
              <a:gd name="adj" fmla="val 14815"/>
            </a:avLst>
          </a:prstGeom>
          <a:solidFill>
            <a:srgbClr val="EAF2F8"/>
          </a:solidFill>
          <a:ln/>
        </p:spPr>
      </p:sp>
      <p:sp>
        <p:nvSpPr>
          <p:cNvPr id="12" name="Shape 10"/>
          <p:cNvSpPr/>
          <p:nvPr/>
        </p:nvSpPr>
        <p:spPr>
          <a:xfrm>
            <a:off x="566928" y="2176272"/>
            <a:ext cx="365760" cy="365760"/>
          </a:xfrm>
          <a:prstGeom prst="ellipse">
            <a:avLst/>
          </a:prstGeom>
          <a:solidFill>
            <a:srgbClr val="FFFFFF"/>
          </a:solidFill>
          <a:ln w="15875">
            <a:solidFill>
              <a:srgbClr val="17324D"/>
            </a:solidFill>
            <a:prstDash val="solid"/>
          </a:ln>
        </p:spPr>
      </p:sp>
      <p:sp>
        <p:nvSpPr>
          <p:cNvPr id="13" name="Text 11"/>
          <p:cNvSpPr txBox="1"/>
          <p:nvPr/>
        </p:nvSpPr>
        <p:spPr>
          <a:xfrm>
            <a:off x="566928" y="2176272"/>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2</a:t>
            </a:r>
            <a:endParaRPr lang="en-US" sz="1400" dirty="0"/>
          </a:p>
        </p:txBody>
      </p:sp>
      <p:sp>
        <p:nvSpPr>
          <p:cNvPr id="14" name="Text 12"/>
          <p:cNvSpPr txBox="1"/>
          <p:nvPr/>
        </p:nvSpPr>
        <p:spPr>
          <a:xfrm>
            <a:off x="1051560" y="2112264"/>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交感神経 ― 気管支の収縮</a:t>
            </a:r>
            <a:endParaRPr lang="en-US" sz="1500" dirty="0"/>
          </a:p>
        </p:txBody>
      </p:sp>
      <p:sp>
        <p:nvSpPr>
          <p:cNvPr id="15" name="Shape 13"/>
          <p:cNvSpPr/>
          <p:nvPr/>
        </p:nvSpPr>
        <p:spPr>
          <a:xfrm>
            <a:off x="457200" y="2715768"/>
            <a:ext cx="8229600" cy="493776"/>
          </a:xfrm>
          <a:prstGeom prst="roundRect">
            <a:avLst>
              <a:gd name="adj" fmla="val 14815"/>
            </a:avLst>
          </a:prstGeom>
          <a:solidFill>
            <a:srgbClr val="EAF2F8"/>
          </a:solidFill>
          <a:ln/>
        </p:spPr>
      </p:sp>
      <p:sp>
        <p:nvSpPr>
          <p:cNvPr id="16" name="Shape 14"/>
          <p:cNvSpPr/>
          <p:nvPr/>
        </p:nvSpPr>
        <p:spPr>
          <a:xfrm>
            <a:off x="566928" y="2779776"/>
            <a:ext cx="365760" cy="365760"/>
          </a:xfrm>
          <a:prstGeom prst="ellipse">
            <a:avLst/>
          </a:prstGeom>
          <a:solidFill>
            <a:srgbClr val="FFFFFF"/>
          </a:solidFill>
          <a:ln w="15875">
            <a:solidFill>
              <a:srgbClr val="17324D"/>
            </a:solidFill>
            <a:prstDash val="solid"/>
          </a:ln>
        </p:spPr>
      </p:sp>
      <p:sp>
        <p:nvSpPr>
          <p:cNvPr id="17" name="Text 15"/>
          <p:cNvSpPr txBox="1"/>
          <p:nvPr/>
        </p:nvSpPr>
        <p:spPr>
          <a:xfrm>
            <a:off x="566928" y="2779776"/>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3</a:t>
            </a:r>
            <a:endParaRPr lang="en-US" sz="1400" dirty="0"/>
          </a:p>
        </p:txBody>
      </p:sp>
      <p:sp>
        <p:nvSpPr>
          <p:cNvPr id="18" name="Text 16"/>
          <p:cNvSpPr txBox="1"/>
          <p:nvPr/>
        </p:nvSpPr>
        <p:spPr>
          <a:xfrm>
            <a:off x="1051560" y="2715768"/>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交感神経 ― 心拍数の減少</a:t>
            </a:r>
            <a:endParaRPr lang="en-US" sz="1500" dirty="0"/>
          </a:p>
        </p:txBody>
      </p:sp>
      <p:sp>
        <p:nvSpPr>
          <p:cNvPr id="19" name="Shape 17"/>
          <p:cNvSpPr/>
          <p:nvPr/>
        </p:nvSpPr>
        <p:spPr>
          <a:xfrm>
            <a:off x="457200" y="3319272"/>
            <a:ext cx="8229600" cy="493776"/>
          </a:xfrm>
          <a:prstGeom prst="roundRect">
            <a:avLst>
              <a:gd name="adj" fmla="val 14815"/>
            </a:avLst>
          </a:prstGeom>
          <a:solidFill>
            <a:srgbClr val="EAF2F8"/>
          </a:solidFill>
          <a:ln/>
        </p:spPr>
      </p:sp>
      <p:sp>
        <p:nvSpPr>
          <p:cNvPr id="20" name="Shape 18"/>
          <p:cNvSpPr/>
          <p:nvPr/>
        </p:nvSpPr>
        <p:spPr>
          <a:xfrm>
            <a:off x="566928" y="3383280"/>
            <a:ext cx="365760" cy="365760"/>
          </a:xfrm>
          <a:prstGeom prst="ellipse">
            <a:avLst/>
          </a:prstGeom>
          <a:solidFill>
            <a:srgbClr val="FFFFFF"/>
          </a:solidFill>
          <a:ln w="15875">
            <a:solidFill>
              <a:srgbClr val="17324D"/>
            </a:solidFill>
            <a:prstDash val="solid"/>
          </a:ln>
        </p:spPr>
      </p:sp>
      <p:sp>
        <p:nvSpPr>
          <p:cNvPr id="21" name="Text 19"/>
          <p:cNvSpPr txBox="1"/>
          <p:nvPr/>
        </p:nvSpPr>
        <p:spPr>
          <a:xfrm>
            <a:off x="566928" y="3383280"/>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4</a:t>
            </a:r>
            <a:endParaRPr lang="en-US" sz="1400" dirty="0"/>
          </a:p>
        </p:txBody>
      </p:sp>
      <p:sp>
        <p:nvSpPr>
          <p:cNvPr id="22" name="Text 20"/>
          <p:cNvSpPr txBox="1"/>
          <p:nvPr/>
        </p:nvSpPr>
        <p:spPr>
          <a:xfrm>
            <a:off x="1051560" y="3319272"/>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副交感神経 ― 立毛筋の収縮</a:t>
            </a:r>
            <a:endParaRPr lang="en-US" sz="1500" dirty="0"/>
          </a:p>
        </p:txBody>
      </p:sp>
      <p:sp>
        <p:nvSpPr>
          <p:cNvPr id="23" name="Shape 21"/>
          <p:cNvSpPr/>
          <p:nvPr/>
        </p:nvSpPr>
        <p:spPr>
          <a:xfrm>
            <a:off x="457200" y="3922776"/>
            <a:ext cx="8229600" cy="493776"/>
          </a:xfrm>
          <a:prstGeom prst="roundRect">
            <a:avLst>
              <a:gd name="adj" fmla="val 14815"/>
            </a:avLst>
          </a:prstGeom>
          <a:solidFill>
            <a:srgbClr val="EAF2F8"/>
          </a:solidFill>
          <a:ln/>
        </p:spPr>
      </p:sp>
      <p:sp>
        <p:nvSpPr>
          <p:cNvPr id="24" name="Shape 22"/>
          <p:cNvSpPr/>
          <p:nvPr/>
        </p:nvSpPr>
        <p:spPr>
          <a:xfrm>
            <a:off x="566928" y="3986784"/>
            <a:ext cx="365760" cy="365760"/>
          </a:xfrm>
          <a:prstGeom prst="ellipse">
            <a:avLst/>
          </a:prstGeom>
          <a:solidFill>
            <a:srgbClr val="FFFFFF"/>
          </a:solidFill>
          <a:ln w="15875">
            <a:solidFill>
              <a:srgbClr val="17324D"/>
            </a:solidFill>
            <a:prstDash val="solid"/>
          </a:ln>
        </p:spPr>
      </p:sp>
      <p:sp>
        <p:nvSpPr>
          <p:cNvPr id="25" name="Text 23"/>
          <p:cNvSpPr txBox="1"/>
          <p:nvPr/>
        </p:nvSpPr>
        <p:spPr>
          <a:xfrm>
            <a:off x="566928" y="3986784"/>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5</a:t>
            </a:r>
            <a:endParaRPr lang="en-US" sz="1400" dirty="0"/>
          </a:p>
        </p:txBody>
      </p:sp>
      <p:sp>
        <p:nvSpPr>
          <p:cNvPr id="26" name="Text 24"/>
          <p:cNvSpPr txBox="1"/>
          <p:nvPr/>
        </p:nvSpPr>
        <p:spPr>
          <a:xfrm>
            <a:off x="1051560" y="3922776"/>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副交感神経 ― 直腸平滑筋の収縮</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74320"/>
            <a:ext cx="868680" cy="384048"/>
          </a:xfrm>
          <a:prstGeom prst="roundRect">
            <a:avLst>
              <a:gd name="adj" fmla="val 19048"/>
            </a:avLst>
          </a:prstGeom>
          <a:solidFill>
            <a:srgbClr val="D9534F"/>
          </a:solidFill>
          <a:ln/>
        </p:spPr>
      </p:sp>
      <p:sp>
        <p:nvSpPr>
          <p:cNvPr id="3" name="Text 1"/>
          <p:cNvSpPr txBox="1"/>
          <p:nvPr/>
        </p:nvSpPr>
        <p:spPr>
          <a:xfrm>
            <a:off x="457200" y="274320"/>
            <a:ext cx="86868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解説</a:t>
            </a:r>
            <a:endParaRPr lang="en-US" sz="1300" dirty="0"/>
          </a:p>
        </p:txBody>
      </p:sp>
      <p:sp>
        <p:nvSpPr>
          <p:cNvPr id="4" name="Text 2"/>
          <p:cNvSpPr txBox="1"/>
          <p:nvPr/>
        </p:nvSpPr>
        <p:spPr>
          <a:xfrm>
            <a:off x="1417320" y="274320"/>
            <a:ext cx="731520" cy="384048"/>
          </a:xfrm>
          <a:prstGeom prst="rect">
            <a:avLst/>
          </a:prstGeom>
          <a:noFill/>
          <a:ln/>
        </p:spPr>
        <p:txBody>
          <a:bodyPr wrap="square" lIns="0" tIns="0" rIns="0" bIns="0" rtlCol="0" anchor="ctr"/>
          <a:lstStyle/>
          <a:p>
            <a:pPr indent="0" marL="0">
              <a:buNone/>
            </a:pPr>
            <a:r>
              <a:rPr lang="en-US" sz="2000" b="1" dirty="0">
                <a:solidFill>
                  <a:srgbClr val="17324D"/>
                </a:solidFill>
                <a:latin typeface="Arial" pitchFamily="34" charset="0"/>
                <a:ea typeface="Arial" pitchFamily="34" charset="-122"/>
                <a:cs typeface="Arial" pitchFamily="34" charset="-120"/>
              </a:rPr>
              <a:t>[2]</a:t>
            </a:r>
            <a:endParaRPr lang="en-US" sz="2000" dirty="0"/>
          </a:p>
        </p:txBody>
      </p:sp>
      <p:sp>
        <p:nvSpPr>
          <p:cNvPr id="5" name="Text 3"/>
          <p:cNvSpPr txBox="1"/>
          <p:nvPr/>
        </p:nvSpPr>
        <p:spPr>
          <a:xfrm>
            <a:off x="5943600" y="274320"/>
            <a:ext cx="2743200" cy="384048"/>
          </a:xfrm>
          <a:prstGeom prst="rect">
            <a:avLst/>
          </a:prstGeom>
          <a:noFill/>
          <a:ln/>
        </p:spPr>
        <p:txBody>
          <a:bodyPr wrap="square" lIns="0" tIns="0" rIns="0" bIns="0" rtlCol="0" anchor="ctr"/>
          <a:lstStyle/>
          <a:p>
            <a:pPr algn="r" indent="0" marL="0">
              <a:buNone/>
            </a:pPr>
            <a:r>
              <a:rPr lang="en-US" sz="1100" dirty="0">
                <a:solidFill>
                  <a:srgbClr val="5F6B76"/>
                </a:solidFill>
                <a:latin typeface="Meiryo" pitchFamily="34" charset="0"/>
                <a:ea typeface="Meiryo" pitchFamily="34" charset="-122"/>
                <a:cs typeface="Meiryo" pitchFamily="34" charset="-120"/>
              </a:rPr>
              <a:t>61回午後63</a:t>
            </a:r>
            <a:endParaRPr lang="en-US" sz="1100" dirty="0"/>
          </a:p>
        </p:txBody>
      </p:sp>
      <p:sp>
        <p:nvSpPr>
          <p:cNvPr id="6" name="Text 4"/>
          <p:cNvSpPr txBox="1"/>
          <p:nvPr/>
        </p:nvSpPr>
        <p:spPr>
          <a:xfrm>
            <a:off x="457200" y="731520"/>
            <a:ext cx="8229600" cy="594360"/>
          </a:xfrm>
          <a:prstGeom prst="rect">
            <a:avLst/>
          </a:prstGeom>
          <a:noFill/>
          <a:ln/>
        </p:spPr>
        <p:txBody>
          <a:bodyPr wrap="square" lIns="0" tIns="0" rIns="0" bIns="0" rtlCol="0" anchor="t"/>
          <a:lstStyle/>
          <a:p>
            <a:pPr indent="0" marL="0">
              <a:buNone/>
            </a:pPr>
            <a:r>
              <a:rPr lang="en-US" sz="1700" b="1" dirty="0">
                <a:solidFill>
                  <a:srgbClr val="222222"/>
                </a:solidFill>
                <a:latin typeface="Meiryo" pitchFamily="34" charset="0"/>
                <a:ea typeface="Meiryo" pitchFamily="34" charset="-122"/>
                <a:cs typeface="Meiryo" pitchFamily="34" charset="-120"/>
              </a:rPr>
              <a:t>刺激と反応の組合せで正しいのはどれか。</a:t>
            </a:r>
            <a:endParaRPr lang="en-US" sz="1700" dirty="0"/>
          </a:p>
        </p:txBody>
      </p:sp>
      <p:sp>
        <p:nvSpPr>
          <p:cNvPr id="7" name="Shape 5"/>
          <p:cNvSpPr/>
          <p:nvPr/>
        </p:nvSpPr>
        <p:spPr>
          <a:xfrm>
            <a:off x="457200" y="1417320"/>
            <a:ext cx="8229600" cy="457200"/>
          </a:xfrm>
          <a:prstGeom prst="roundRect">
            <a:avLst>
              <a:gd name="adj" fmla="val 16000"/>
            </a:avLst>
          </a:prstGeom>
          <a:solidFill>
            <a:srgbClr val="F4F6F8"/>
          </a:solidFill>
          <a:ln/>
        </p:spPr>
      </p:sp>
      <p:sp>
        <p:nvSpPr>
          <p:cNvPr id="8" name="Shape 6"/>
          <p:cNvSpPr/>
          <p:nvPr/>
        </p:nvSpPr>
        <p:spPr>
          <a:xfrm>
            <a:off x="548640" y="1481328"/>
            <a:ext cx="329184" cy="329184"/>
          </a:xfrm>
          <a:prstGeom prst="ellipse">
            <a:avLst/>
          </a:prstGeom>
          <a:solidFill>
            <a:srgbClr val="FFFFFF"/>
          </a:solidFill>
          <a:ln w="12700">
            <a:solidFill>
              <a:srgbClr val="8A96A3"/>
            </a:solidFill>
            <a:prstDash val="solid"/>
          </a:ln>
        </p:spPr>
      </p:sp>
      <p:sp>
        <p:nvSpPr>
          <p:cNvPr id="9" name="Text 7"/>
          <p:cNvSpPr txBox="1"/>
          <p:nvPr/>
        </p:nvSpPr>
        <p:spPr>
          <a:xfrm>
            <a:off x="548640" y="1481328"/>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1</a:t>
            </a:r>
            <a:endParaRPr lang="en-US" sz="1300" dirty="0"/>
          </a:p>
        </p:txBody>
      </p:sp>
      <p:sp>
        <p:nvSpPr>
          <p:cNvPr id="10" name="Text 8"/>
          <p:cNvSpPr txBox="1"/>
          <p:nvPr/>
        </p:nvSpPr>
        <p:spPr>
          <a:xfrm>
            <a:off x="987552" y="1417320"/>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交感神経 ― 縮瞳</a:t>
            </a:r>
            <a:endParaRPr lang="en-US" sz="1200" dirty="0"/>
          </a:p>
        </p:txBody>
      </p:sp>
      <p:sp>
        <p:nvSpPr>
          <p:cNvPr id="11" name="Text 9"/>
          <p:cNvSpPr txBox="1"/>
          <p:nvPr/>
        </p:nvSpPr>
        <p:spPr>
          <a:xfrm>
            <a:off x="4096512" y="1417320"/>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交感神経は散瞳</a:t>
            </a:r>
            <a:endParaRPr lang="en-US" sz="1100" dirty="0"/>
          </a:p>
        </p:txBody>
      </p:sp>
      <p:sp>
        <p:nvSpPr>
          <p:cNvPr id="12" name="Shape 10"/>
          <p:cNvSpPr/>
          <p:nvPr/>
        </p:nvSpPr>
        <p:spPr>
          <a:xfrm>
            <a:off x="457200" y="1947672"/>
            <a:ext cx="8229600" cy="457200"/>
          </a:xfrm>
          <a:prstGeom prst="roundRect">
            <a:avLst>
              <a:gd name="adj" fmla="val 16000"/>
            </a:avLst>
          </a:prstGeom>
          <a:solidFill>
            <a:srgbClr val="F4F6F8"/>
          </a:solidFill>
          <a:ln/>
        </p:spPr>
      </p:sp>
      <p:sp>
        <p:nvSpPr>
          <p:cNvPr id="13" name="Shape 11"/>
          <p:cNvSpPr/>
          <p:nvPr/>
        </p:nvSpPr>
        <p:spPr>
          <a:xfrm>
            <a:off x="548640" y="2011680"/>
            <a:ext cx="329184" cy="329184"/>
          </a:xfrm>
          <a:prstGeom prst="ellipse">
            <a:avLst/>
          </a:prstGeom>
          <a:solidFill>
            <a:srgbClr val="FFFFFF"/>
          </a:solidFill>
          <a:ln w="12700">
            <a:solidFill>
              <a:srgbClr val="8A96A3"/>
            </a:solidFill>
            <a:prstDash val="solid"/>
          </a:ln>
        </p:spPr>
      </p:sp>
      <p:sp>
        <p:nvSpPr>
          <p:cNvPr id="14" name="Text 12"/>
          <p:cNvSpPr txBox="1"/>
          <p:nvPr/>
        </p:nvSpPr>
        <p:spPr>
          <a:xfrm>
            <a:off x="548640" y="2011680"/>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2</a:t>
            </a:r>
            <a:endParaRPr lang="en-US" sz="1300" dirty="0"/>
          </a:p>
        </p:txBody>
      </p:sp>
      <p:sp>
        <p:nvSpPr>
          <p:cNvPr id="15" name="Text 13"/>
          <p:cNvSpPr txBox="1"/>
          <p:nvPr/>
        </p:nvSpPr>
        <p:spPr>
          <a:xfrm>
            <a:off x="987552" y="1947672"/>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交感神経 ― 気管支の収縮</a:t>
            </a:r>
            <a:endParaRPr lang="en-US" sz="1200" dirty="0"/>
          </a:p>
        </p:txBody>
      </p:sp>
      <p:sp>
        <p:nvSpPr>
          <p:cNvPr id="16" name="Text 14"/>
          <p:cNvSpPr txBox="1"/>
          <p:nvPr/>
        </p:nvSpPr>
        <p:spPr>
          <a:xfrm>
            <a:off x="4096512" y="1947672"/>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交感神経は気管支拡張</a:t>
            </a:r>
            <a:endParaRPr lang="en-US" sz="1100" dirty="0"/>
          </a:p>
        </p:txBody>
      </p:sp>
      <p:sp>
        <p:nvSpPr>
          <p:cNvPr id="17" name="Shape 15"/>
          <p:cNvSpPr/>
          <p:nvPr/>
        </p:nvSpPr>
        <p:spPr>
          <a:xfrm>
            <a:off x="457200" y="2478024"/>
            <a:ext cx="8229600" cy="457200"/>
          </a:xfrm>
          <a:prstGeom prst="roundRect">
            <a:avLst>
              <a:gd name="adj" fmla="val 16000"/>
            </a:avLst>
          </a:prstGeom>
          <a:solidFill>
            <a:srgbClr val="F4F6F8"/>
          </a:solidFill>
          <a:ln/>
        </p:spPr>
      </p:sp>
      <p:sp>
        <p:nvSpPr>
          <p:cNvPr id="18" name="Shape 16"/>
          <p:cNvSpPr/>
          <p:nvPr/>
        </p:nvSpPr>
        <p:spPr>
          <a:xfrm>
            <a:off x="548640" y="2542032"/>
            <a:ext cx="329184" cy="329184"/>
          </a:xfrm>
          <a:prstGeom prst="ellipse">
            <a:avLst/>
          </a:prstGeom>
          <a:solidFill>
            <a:srgbClr val="FFFFFF"/>
          </a:solidFill>
          <a:ln w="12700">
            <a:solidFill>
              <a:srgbClr val="8A96A3"/>
            </a:solidFill>
            <a:prstDash val="solid"/>
          </a:ln>
        </p:spPr>
      </p:sp>
      <p:sp>
        <p:nvSpPr>
          <p:cNvPr id="19" name="Text 17"/>
          <p:cNvSpPr txBox="1"/>
          <p:nvPr/>
        </p:nvSpPr>
        <p:spPr>
          <a:xfrm>
            <a:off x="548640" y="2542032"/>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3</a:t>
            </a:r>
            <a:endParaRPr lang="en-US" sz="1300" dirty="0"/>
          </a:p>
        </p:txBody>
      </p:sp>
      <p:sp>
        <p:nvSpPr>
          <p:cNvPr id="20" name="Text 18"/>
          <p:cNvSpPr txBox="1"/>
          <p:nvPr/>
        </p:nvSpPr>
        <p:spPr>
          <a:xfrm>
            <a:off x="987552" y="2478024"/>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交感神経 ― 心拍数の減少</a:t>
            </a:r>
            <a:endParaRPr lang="en-US" sz="1200" dirty="0"/>
          </a:p>
        </p:txBody>
      </p:sp>
      <p:sp>
        <p:nvSpPr>
          <p:cNvPr id="21" name="Text 19"/>
          <p:cNvSpPr txBox="1"/>
          <p:nvPr/>
        </p:nvSpPr>
        <p:spPr>
          <a:xfrm>
            <a:off x="4096512" y="2478024"/>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交感神経は心拍数増加</a:t>
            </a:r>
            <a:endParaRPr lang="en-US" sz="1100" dirty="0"/>
          </a:p>
        </p:txBody>
      </p:sp>
      <p:sp>
        <p:nvSpPr>
          <p:cNvPr id="22" name="Shape 20"/>
          <p:cNvSpPr/>
          <p:nvPr/>
        </p:nvSpPr>
        <p:spPr>
          <a:xfrm>
            <a:off x="457200" y="3008376"/>
            <a:ext cx="8229600" cy="457200"/>
          </a:xfrm>
          <a:prstGeom prst="roundRect">
            <a:avLst>
              <a:gd name="adj" fmla="val 16000"/>
            </a:avLst>
          </a:prstGeom>
          <a:solidFill>
            <a:srgbClr val="F4F6F8"/>
          </a:solidFill>
          <a:ln/>
        </p:spPr>
      </p:sp>
      <p:sp>
        <p:nvSpPr>
          <p:cNvPr id="23" name="Shape 21"/>
          <p:cNvSpPr/>
          <p:nvPr/>
        </p:nvSpPr>
        <p:spPr>
          <a:xfrm>
            <a:off x="548640" y="3072384"/>
            <a:ext cx="329184" cy="329184"/>
          </a:xfrm>
          <a:prstGeom prst="ellipse">
            <a:avLst/>
          </a:prstGeom>
          <a:solidFill>
            <a:srgbClr val="FFFFFF"/>
          </a:solidFill>
          <a:ln w="12700">
            <a:solidFill>
              <a:srgbClr val="8A96A3"/>
            </a:solidFill>
            <a:prstDash val="solid"/>
          </a:ln>
        </p:spPr>
      </p:sp>
      <p:sp>
        <p:nvSpPr>
          <p:cNvPr id="24" name="Text 22"/>
          <p:cNvSpPr txBox="1"/>
          <p:nvPr/>
        </p:nvSpPr>
        <p:spPr>
          <a:xfrm>
            <a:off x="548640" y="3072384"/>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4</a:t>
            </a:r>
            <a:endParaRPr lang="en-US" sz="1300" dirty="0"/>
          </a:p>
        </p:txBody>
      </p:sp>
      <p:sp>
        <p:nvSpPr>
          <p:cNvPr id="25" name="Text 23"/>
          <p:cNvSpPr txBox="1"/>
          <p:nvPr/>
        </p:nvSpPr>
        <p:spPr>
          <a:xfrm>
            <a:off x="987552" y="3008376"/>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副交感神経 ― 立毛筋の収縮</a:t>
            </a:r>
            <a:endParaRPr lang="en-US" sz="1200" dirty="0"/>
          </a:p>
        </p:txBody>
      </p:sp>
      <p:sp>
        <p:nvSpPr>
          <p:cNvPr id="26" name="Text 24"/>
          <p:cNvSpPr txBox="1"/>
          <p:nvPr/>
        </p:nvSpPr>
        <p:spPr>
          <a:xfrm>
            <a:off x="4096512" y="3008376"/>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立毛筋は交感神経のみ</a:t>
            </a:r>
            <a:endParaRPr lang="en-US" sz="1100" dirty="0"/>
          </a:p>
        </p:txBody>
      </p:sp>
      <p:sp>
        <p:nvSpPr>
          <p:cNvPr id="27" name="Shape 25"/>
          <p:cNvSpPr/>
          <p:nvPr/>
        </p:nvSpPr>
        <p:spPr>
          <a:xfrm>
            <a:off x="457200" y="3538728"/>
            <a:ext cx="8229600" cy="457200"/>
          </a:xfrm>
          <a:prstGeom prst="roundRect">
            <a:avLst>
              <a:gd name="adj" fmla="val 16000"/>
            </a:avLst>
          </a:prstGeom>
          <a:solidFill>
            <a:srgbClr val="FBE3E2"/>
          </a:solidFill>
          <a:ln w="19050">
            <a:solidFill>
              <a:srgbClr val="D9534F"/>
            </a:solidFill>
            <a:prstDash val="solid"/>
          </a:ln>
        </p:spPr>
      </p:sp>
      <p:sp>
        <p:nvSpPr>
          <p:cNvPr id="28" name="Shape 26"/>
          <p:cNvSpPr/>
          <p:nvPr/>
        </p:nvSpPr>
        <p:spPr>
          <a:xfrm>
            <a:off x="548640" y="3602736"/>
            <a:ext cx="329184" cy="329184"/>
          </a:xfrm>
          <a:prstGeom prst="ellipse">
            <a:avLst/>
          </a:prstGeom>
          <a:solidFill>
            <a:srgbClr val="D9534F"/>
          </a:solidFill>
          <a:ln w="12700">
            <a:solidFill>
              <a:srgbClr val="D9534F"/>
            </a:solidFill>
            <a:prstDash val="solid"/>
          </a:ln>
        </p:spPr>
      </p:sp>
      <p:sp>
        <p:nvSpPr>
          <p:cNvPr id="29" name="Text 27"/>
          <p:cNvSpPr txBox="1"/>
          <p:nvPr/>
        </p:nvSpPr>
        <p:spPr>
          <a:xfrm>
            <a:off x="548640" y="3602736"/>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5</a:t>
            </a:r>
            <a:endParaRPr lang="en-US" sz="1300" dirty="0"/>
          </a:p>
        </p:txBody>
      </p:sp>
      <p:sp>
        <p:nvSpPr>
          <p:cNvPr id="30" name="Text 28"/>
          <p:cNvSpPr txBox="1"/>
          <p:nvPr/>
        </p:nvSpPr>
        <p:spPr>
          <a:xfrm>
            <a:off x="987552" y="3538728"/>
            <a:ext cx="3017520" cy="457200"/>
          </a:xfrm>
          <a:prstGeom prst="rect">
            <a:avLst/>
          </a:prstGeom>
          <a:noFill/>
          <a:ln/>
        </p:spPr>
        <p:txBody>
          <a:bodyPr wrap="square" lIns="0" tIns="0" rIns="0" bIns="0" rtlCol="0" anchor="ctr"/>
          <a:lstStyle/>
          <a:p>
            <a:pPr indent="0" marL="0">
              <a:buNone/>
            </a:pPr>
            <a:r>
              <a:rPr lang="en-US" sz="1200" b="1" dirty="0">
                <a:solidFill>
                  <a:srgbClr val="D9534F"/>
                </a:solidFill>
                <a:latin typeface="Meiryo" pitchFamily="34" charset="0"/>
                <a:ea typeface="Meiryo" pitchFamily="34" charset="-122"/>
                <a:cs typeface="Meiryo" pitchFamily="34" charset="-120"/>
              </a:rPr>
              <a:t>副交感神経 ― 直腸平滑筋の収縮</a:t>
            </a:r>
            <a:endParaRPr lang="en-US" sz="1200" dirty="0"/>
          </a:p>
        </p:txBody>
      </p:sp>
      <p:sp>
        <p:nvSpPr>
          <p:cNvPr id="31" name="Text 29"/>
          <p:cNvSpPr txBox="1"/>
          <p:nvPr/>
        </p:nvSpPr>
        <p:spPr>
          <a:xfrm>
            <a:off x="4096512" y="3538728"/>
            <a:ext cx="4526280" cy="457200"/>
          </a:xfrm>
          <a:prstGeom prst="rect">
            <a:avLst/>
          </a:prstGeom>
          <a:noFill/>
          <a:ln/>
        </p:spPr>
        <p:txBody>
          <a:bodyPr wrap="square" lIns="0" tIns="0" rIns="0" bIns="0" rtlCol="0" anchor="ctr"/>
          <a:lstStyle/>
          <a:p>
            <a:pPr indent="0" marL="0">
              <a:buNone/>
            </a:pPr>
            <a:r>
              <a:rPr lang="en-US" sz="1100" dirty="0">
                <a:solidFill>
                  <a:srgbClr val="222222"/>
                </a:solidFill>
                <a:latin typeface="Meiryo" pitchFamily="34" charset="0"/>
                <a:ea typeface="Meiryo" pitchFamily="34" charset="-122"/>
                <a:cs typeface="Meiryo" pitchFamily="34" charset="-120"/>
              </a:rPr>
              <a:t>副交感神経は消化管運動・排便を促進 ○</a:t>
            </a:r>
            <a:endParaRPr lang="en-US" sz="1100" dirty="0"/>
          </a:p>
        </p:txBody>
      </p:sp>
      <p:sp>
        <p:nvSpPr>
          <p:cNvPr id="32" name="Shape 30"/>
          <p:cNvSpPr/>
          <p:nvPr/>
        </p:nvSpPr>
        <p:spPr>
          <a:xfrm>
            <a:off x="457200" y="4160520"/>
            <a:ext cx="1463040" cy="685800"/>
          </a:xfrm>
          <a:prstGeom prst="roundRect">
            <a:avLst>
              <a:gd name="adj" fmla="val 10667"/>
            </a:avLst>
          </a:prstGeom>
          <a:solidFill>
            <a:srgbClr val="D9534F"/>
          </a:solidFill>
          <a:ln/>
        </p:spPr>
      </p:sp>
      <p:sp>
        <p:nvSpPr>
          <p:cNvPr id="33" name="Text 31"/>
          <p:cNvSpPr txBox="1"/>
          <p:nvPr/>
        </p:nvSpPr>
        <p:spPr>
          <a:xfrm>
            <a:off x="457200" y="4160520"/>
            <a:ext cx="1463040" cy="685800"/>
          </a:xfrm>
          <a:prstGeom prst="rect">
            <a:avLst/>
          </a:prstGeom>
          <a:noFill/>
          <a:ln/>
        </p:spPr>
        <p:txBody>
          <a:bodyPr wrap="square" lIns="0" tIns="0" rIns="0" bIns="0" rtlCol="0" anchor="ctr"/>
          <a:lstStyle/>
          <a:p>
            <a:pPr algn="ctr" indent="0" marL="0">
              <a:buNone/>
            </a:pPr>
            <a:r>
              <a:rPr lang="en-US" sz="1100" dirty="0">
                <a:solidFill>
                  <a:srgbClr val="FFFFFF"/>
                </a:solidFill>
                <a:latin typeface="Meiryo" pitchFamily="34" charset="0"/>
                <a:ea typeface="Meiryo" pitchFamily="34" charset="-122"/>
                <a:cs typeface="Meiryo" pitchFamily="34" charset="-120"/>
              </a:rPr>
              <a:t>正解</a:t>
            </a:r>
            <a:endParaRPr lang="en-US" sz="1100" dirty="0"/>
          </a:p>
          <a:p>
            <a:pPr algn="ctr" indent="0" marL="0">
              <a:buNone/>
            </a:pPr>
            <a:r>
              <a:rPr lang="en-US" sz="2200" b="1" dirty="0">
                <a:solidFill>
                  <a:srgbClr val="FFFFFF"/>
                </a:solidFill>
                <a:latin typeface="Meiryo" pitchFamily="34" charset="0"/>
                <a:ea typeface="Meiryo" pitchFamily="34" charset="-122"/>
                <a:cs typeface="Meiryo" pitchFamily="34" charset="-120"/>
              </a:rPr>
              <a:t>5</a:t>
            </a:r>
            <a:endParaRPr lang="en-US" sz="1100" dirty="0"/>
          </a:p>
        </p:txBody>
      </p:sp>
      <p:sp>
        <p:nvSpPr>
          <p:cNvPr id="34" name="Shape 32"/>
          <p:cNvSpPr/>
          <p:nvPr/>
        </p:nvSpPr>
        <p:spPr>
          <a:xfrm>
            <a:off x="2057400" y="4160520"/>
            <a:ext cx="6629400" cy="685800"/>
          </a:xfrm>
          <a:prstGeom prst="roundRect">
            <a:avLst>
              <a:gd name="adj" fmla="val 10667"/>
            </a:avLst>
          </a:prstGeom>
          <a:solidFill>
            <a:srgbClr val="EAF2F8"/>
          </a:solidFill>
          <a:ln/>
        </p:spPr>
      </p:sp>
      <p:sp>
        <p:nvSpPr>
          <p:cNvPr id="35" name="Text 33"/>
          <p:cNvSpPr txBox="1"/>
          <p:nvPr/>
        </p:nvSpPr>
        <p:spPr>
          <a:xfrm>
            <a:off x="2194560" y="4160520"/>
            <a:ext cx="6400800" cy="685800"/>
          </a:xfrm>
          <a:prstGeom prst="rect">
            <a:avLst/>
          </a:prstGeom>
          <a:noFill/>
          <a:ln/>
        </p:spPr>
        <p:txBody>
          <a:bodyPr wrap="square" lIns="0" tIns="0" rIns="0" bIns="0" rtlCol="0" anchor="ctr"/>
          <a:lstStyle/>
          <a:p>
            <a:pPr indent="0" marL="0">
              <a:buNone/>
            </a:pPr>
            <a:r>
              <a:rPr lang="en-US" sz="1200" b="1" dirty="0">
                <a:solidFill>
                  <a:srgbClr val="2A7F9E"/>
                </a:solidFill>
                <a:latin typeface="Meiryo" pitchFamily="34" charset="0"/>
                <a:ea typeface="Meiryo" pitchFamily="34" charset="-122"/>
                <a:cs typeface="Meiryo" pitchFamily="34" charset="-120"/>
              </a:rPr>
              <a:t>POINT　</a:t>
            </a:r>
            <a:pPr indent="0" marL="0">
              <a:buNone/>
            </a:pPr>
            <a:r>
              <a:rPr lang="en-US" sz="1200" dirty="0">
                <a:solidFill>
                  <a:srgbClr val="222222"/>
                </a:solidFill>
                <a:latin typeface="Meiryo" pitchFamily="34" charset="0"/>
                <a:ea typeface="Meiryo" pitchFamily="34" charset="-122"/>
                <a:cs typeface="Meiryo" pitchFamily="34" charset="-120"/>
              </a:rPr>
              <a:t>副交感神経＝休息・消化（rest and digest）。</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74320"/>
            <a:ext cx="868680" cy="384048"/>
          </a:xfrm>
          <a:prstGeom prst="roundRect">
            <a:avLst>
              <a:gd name="adj" fmla="val 19048"/>
            </a:avLst>
          </a:prstGeom>
          <a:solidFill>
            <a:srgbClr val="17324D"/>
          </a:solidFill>
          <a:ln/>
        </p:spPr>
      </p:sp>
      <p:sp>
        <p:nvSpPr>
          <p:cNvPr id="3" name="Text 1"/>
          <p:cNvSpPr txBox="1"/>
          <p:nvPr/>
        </p:nvSpPr>
        <p:spPr>
          <a:xfrm>
            <a:off x="457200" y="274320"/>
            <a:ext cx="86868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問題</a:t>
            </a:r>
            <a:endParaRPr lang="en-US" sz="1300" dirty="0"/>
          </a:p>
        </p:txBody>
      </p:sp>
      <p:sp>
        <p:nvSpPr>
          <p:cNvPr id="4" name="Text 2"/>
          <p:cNvSpPr txBox="1"/>
          <p:nvPr/>
        </p:nvSpPr>
        <p:spPr>
          <a:xfrm>
            <a:off x="1417320" y="274320"/>
            <a:ext cx="731520" cy="384048"/>
          </a:xfrm>
          <a:prstGeom prst="rect">
            <a:avLst/>
          </a:prstGeom>
          <a:noFill/>
          <a:ln/>
        </p:spPr>
        <p:txBody>
          <a:bodyPr wrap="square" lIns="0" tIns="0" rIns="0" bIns="0" rtlCol="0" anchor="ctr"/>
          <a:lstStyle/>
          <a:p>
            <a:pPr indent="0" marL="0">
              <a:buNone/>
            </a:pPr>
            <a:r>
              <a:rPr lang="en-US" sz="2000" b="1" dirty="0">
                <a:solidFill>
                  <a:srgbClr val="17324D"/>
                </a:solidFill>
                <a:latin typeface="Arial" pitchFamily="34" charset="0"/>
                <a:ea typeface="Arial" pitchFamily="34" charset="-122"/>
                <a:cs typeface="Arial" pitchFamily="34" charset="-120"/>
              </a:rPr>
              <a:t>[3]</a:t>
            </a:r>
            <a:endParaRPr lang="en-US" sz="2000" dirty="0"/>
          </a:p>
        </p:txBody>
      </p:sp>
      <p:sp>
        <p:nvSpPr>
          <p:cNvPr id="5" name="Text 3"/>
          <p:cNvSpPr txBox="1"/>
          <p:nvPr/>
        </p:nvSpPr>
        <p:spPr>
          <a:xfrm>
            <a:off x="5943600" y="274320"/>
            <a:ext cx="2743200" cy="384048"/>
          </a:xfrm>
          <a:prstGeom prst="rect">
            <a:avLst/>
          </a:prstGeom>
          <a:noFill/>
          <a:ln/>
        </p:spPr>
        <p:txBody>
          <a:bodyPr wrap="square" lIns="0" tIns="0" rIns="0" bIns="0" rtlCol="0" anchor="ctr"/>
          <a:lstStyle/>
          <a:p>
            <a:pPr algn="r" indent="0" marL="0">
              <a:buNone/>
            </a:pPr>
            <a:r>
              <a:rPr lang="en-US" sz="1100" dirty="0">
                <a:solidFill>
                  <a:srgbClr val="5F6B76"/>
                </a:solidFill>
                <a:latin typeface="Meiryo" pitchFamily="34" charset="0"/>
                <a:ea typeface="Meiryo" pitchFamily="34" charset="-122"/>
                <a:cs typeface="Meiryo" pitchFamily="34" charset="-120"/>
              </a:rPr>
              <a:t>60回午前47</a:t>
            </a:r>
            <a:endParaRPr lang="en-US" sz="1100" dirty="0"/>
          </a:p>
        </p:txBody>
      </p:sp>
      <p:sp>
        <p:nvSpPr>
          <p:cNvPr id="6" name="Text 4"/>
          <p:cNvSpPr txBox="1"/>
          <p:nvPr/>
        </p:nvSpPr>
        <p:spPr>
          <a:xfrm>
            <a:off x="457200" y="731520"/>
            <a:ext cx="8229600" cy="594360"/>
          </a:xfrm>
          <a:prstGeom prst="rect">
            <a:avLst/>
          </a:prstGeom>
          <a:noFill/>
          <a:ln/>
        </p:spPr>
        <p:txBody>
          <a:bodyPr wrap="square" lIns="0" tIns="0" rIns="0" bIns="0" rtlCol="0" anchor="t"/>
          <a:lstStyle/>
          <a:p>
            <a:pPr indent="0" marL="0">
              <a:buNone/>
            </a:pPr>
            <a:r>
              <a:rPr lang="en-US" sz="1700" b="1" dirty="0">
                <a:solidFill>
                  <a:srgbClr val="222222"/>
                </a:solidFill>
                <a:latin typeface="Meiryo" pitchFamily="34" charset="0"/>
                <a:ea typeface="Meiryo" pitchFamily="34" charset="-122"/>
                <a:cs typeface="Meiryo" pitchFamily="34" charset="-120"/>
              </a:rPr>
              <a:t>自律神経障害の症状はどれか。２つ選べ。</a:t>
            </a:r>
            <a:endParaRPr lang="en-US" sz="1700" dirty="0"/>
          </a:p>
        </p:txBody>
      </p:sp>
      <p:sp>
        <p:nvSpPr>
          <p:cNvPr id="7" name="Shape 5"/>
          <p:cNvSpPr/>
          <p:nvPr/>
        </p:nvSpPr>
        <p:spPr>
          <a:xfrm>
            <a:off x="457200" y="1508760"/>
            <a:ext cx="8229600" cy="493776"/>
          </a:xfrm>
          <a:prstGeom prst="roundRect">
            <a:avLst>
              <a:gd name="adj" fmla="val 14815"/>
            </a:avLst>
          </a:prstGeom>
          <a:solidFill>
            <a:srgbClr val="EAF2F8"/>
          </a:solidFill>
          <a:ln/>
        </p:spPr>
      </p:sp>
      <p:sp>
        <p:nvSpPr>
          <p:cNvPr id="8" name="Shape 6"/>
          <p:cNvSpPr/>
          <p:nvPr/>
        </p:nvSpPr>
        <p:spPr>
          <a:xfrm>
            <a:off x="566928" y="1572768"/>
            <a:ext cx="365760" cy="365760"/>
          </a:xfrm>
          <a:prstGeom prst="ellipse">
            <a:avLst/>
          </a:prstGeom>
          <a:solidFill>
            <a:srgbClr val="FFFFFF"/>
          </a:solidFill>
          <a:ln w="15875">
            <a:solidFill>
              <a:srgbClr val="17324D"/>
            </a:solidFill>
            <a:prstDash val="solid"/>
          </a:ln>
        </p:spPr>
      </p:sp>
      <p:sp>
        <p:nvSpPr>
          <p:cNvPr id="9" name="Text 7"/>
          <p:cNvSpPr txBox="1"/>
          <p:nvPr/>
        </p:nvSpPr>
        <p:spPr>
          <a:xfrm>
            <a:off x="566928" y="1572768"/>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1</a:t>
            </a:r>
            <a:endParaRPr lang="en-US" sz="1400" dirty="0"/>
          </a:p>
        </p:txBody>
      </p:sp>
      <p:sp>
        <p:nvSpPr>
          <p:cNvPr id="10" name="Text 8"/>
          <p:cNvSpPr txBox="1"/>
          <p:nvPr/>
        </p:nvSpPr>
        <p:spPr>
          <a:xfrm>
            <a:off x="1051560" y="1508760"/>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振戦</a:t>
            </a:r>
            <a:endParaRPr lang="en-US" sz="1500" dirty="0"/>
          </a:p>
        </p:txBody>
      </p:sp>
      <p:sp>
        <p:nvSpPr>
          <p:cNvPr id="11" name="Shape 9"/>
          <p:cNvSpPr/>
          <p:nvPr/>
        </p:nvSpPr>
        <p:spPr>
          <a:xfrm>
            <a:off x="457200" y="2112264"/>
            <a:ext cx="8229600" cy="493776"/>
          </a:xfrm>
          <a:prstGeom prst="roundRect">
            <a:avLst>
              <a:gd name="adj" fmla="val 14815"/>
            </a:avLst>
          </a:prstGeom>
          <a:solidFill>
            <a:srgbClr val="EAF2F8"/>
          </a:solidFill>
          <a:ln/>
        </p:spPr>
      </p:sp>
      <p:sp>
        <p:nvSpPr>
          <p:cNvPr id="12" name="Shape 10"/>
          <p:cNvSpPr/>
          <p:nvPr/>
        </p:nvSpPr>
        <p:spPr>
          <a:xfrm>
            <a:off x="566928" y="2176272"/>
            <a:ext cx="365760" cy="365760"/>
          </a:xfrm>
          <a:prstGeom prst="ellipse">
            <a:avLst/>
          </a:prstGeom>
          <a:solidFill>
            <a:srgbClr val="FFFFFF"/>
          </a:solidFill>
          <a:ln w="15875">
            <a:solidFill>
              <a:srgbClr val="17324D"/>
            </a:solidFill>
            <a:prstDash val="solid"/>
          </a:ln>
        </p:spPr>
      </p:sp>
      <p:sp>
        <p:nvSpPr>
          <p:cNvPr id="13" name="Text 11"/>
          <p:cNvSpPr txBox="1"/>
          <p:nvPr/>
        </p:nvSpPr>
        <p:spPr>
          <a:xfrm>
            <a:off x="566928" y="2176272"/>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2</a:t>
            </a:r>
            <a:endParaRPr lang="en-US" sz="1400" dirty="0"/>
          </a:p>
        </p:txBody>
      </p:sp>
      <p:sp>
        <p:nvSpPr>
          <p:cNvPr id="14" name="Text 12"/>
          <p:cNvSpPr txBox="1"/>
          <p:nvPr/>
        </p:nvSpPr>
        <p:spPr>
          <a:xfrm>
            <a:off x="1051560" y="2112264"/>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複視</a:t>
            </a:r>
            <a:endParaRPr lang="en-US" sz="1500" dirty="0"/>
          </a:p>
        </p:txBody>
      </p:sp>
      <p:sp>
        <p:nvSpPr>
          <p:cNvPr id="15" name="Shape 13"/>
          <p:cNvSpPr/>
          <p:nvPr/>
        </p:nvSpPr>
        <p:spPr>
          <a:xfrm>
            <a:off x="457200" y="2715768"/>
            <a:ext cx="8229600" cy="493776"/>
          </a:xfrm>
          <a:prstGeom prst="roundRect">
            <a:avLst>
              <a:gd name="adj" fmla="val 14815"/>
            </a:avLst>
          </a:prstGeom>
          <a:solidFill>
            <a:srgbClr val="EAF2F8"/>
          </a:solidFill>
          <a:ln/>
        </p:spPr>
      </p:sp>
      <p:sp>
        <p:nvSpPr>
          <p:cNvPr id="16" name="Shape 14"/>
          <p:cNvSpPr/>
          <p:nvPr/>
        </p:nvSpPr>
        <p:spPr>
          <a:xfrm>
            <a:off x="566928" y="2779776"/>
            <a:ext cx="365760" cy="365760"/>
          </a:xfrm>
          <a:prstGeom prst="ellipse">
            <a:avLst/>
          </a:prstGeom>
          <a:solidFill>
            <a:srgbClr val="FFFFFF"/>
          </a:solidFill>
          <a:ln w="15875">
            <a:solidFill>
              <a:srgbClr val="17324D"/>
            </a:solidFill>
            <a:prstDash val="solid"/>
          </a:ln>
        </p:spPr>
      </p:sp>
      <p:sp>
        <p:nvSpPr>
          <p:cNvPr id="17" name="Text 15"/>
          <p:cNvSpPr txBox="1"/>
          <p:nvPr/>
        </p:nvSpPr>
        <p:spPr>
          <a:xfrm>
            <a:off x="566928" y="2779776"/>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3</a:t>
            </a:r>
            <a:endParaRPr lang="en-US" sz="1400" dirty="0"/>
          </a:p>
        </p:txBody>
      </p:sp>
      <p:sp>
        <p:nvSpPr>
          <p:cNvPr id="18" name="Text 16"/>
          <p:cNvSpPr txBox="1"/>
          <p:nvPr/>
        </p:nvSpPr>
        <p:spPr>
          <a:xfrm>
            <a:off x="1051560" y="2715768"/>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不整脈</a:t>
            </a:r>
            <a:endParaRPr lang="en-US" sz="1500" dirty="0"/>
          </a:p>
        </p:txBody>
      </p:sp>
      <p:sp>
        <p:nvSpPr>
          <p:cNvPr id="19" name="Shape 17"/>
          <p:cNvSpPr/>
          <p:nvPr/>
        </p:nvSpPr>
        <p:spPr>
          <a:xfrm>
            <a:off x="457200" y="3319272"/>
            <a:ext cx="8229600" cy="493776"/>
          </a:xfrm>
          <a:prstGeom prst="roundRect">
            <a:avLst>
              <a:gd name="adj" fmla="val 14815"/>
            </a:avLst>
          </a:prstGeom>
          <a:solidFill>
            <a:srgbClr val="EAF2F8"/>
          </a:solidFill>
          <a:ln/>
        </p:spPr>
      </p:sp>
      <p:sp>
        <p:nvSpPr>
          <p:cNvPr id="20" name="Shape 18"/>
          <p:cNvSpPr/>
          <p:nvPr/>
        </p:nvSpPr>
        <p:spPr>
          <a:xfrm>
            <a:off x="566928" y="3383280"/>
            <a:ext cx="365760" cy="365760"/>
          </a:xfrm>
          <a:prstGeom prst="ellipse">
            <a:avLst/>
          </a:prstGeom>
          <a:solidFill>
            <a:srgbClr val="FFFFFF"/>
          </a:solidFill>
          <a:ln w="15875">
            <a:solidFill>
              <a:srgbClr val="17324D"/>
            </a:solidFill>
            <a:prstDash val="solid"/>
          </a:ln>
        </p:spPr>
      </p:sp>
      <p:sp>
        <p:nvSpPr>
          <p:cNvPr id="21" name="Text 19"/>
          <p:cNvSpPr txBox="1"/>
          <p:nvPr/>
        </p:nvSpPr>
        <p:spPr>
          <a:xfrm>
            <a:off x="566928" y="3383280"/>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4</a:t>
            </a:r>
            <a:endParaRPr lang="en-US" sz="1400" dirty="0"/>
          </a:p>
        </p:txBody>
      </p:sp>
      <p:sp>
        <p:nvSpPr>
          <p:cNvPr id="22" name="Text 20"/>
          <p:cNvSpPr txBox="1"/>
          <p:nvPr/>
        </p:nvSpPr>
        <p:spPr>
          <a:xfrm>
            <a:off x="1051560" y="3319272"/>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血圧低下</a:t>
            </a:r>
            <a:endParaRPr lang="en-US" sz="1500" dirty="0"/>
          </a:p>
        </p:txBody>
      </p:sp>
      <p:sp>
        <p:nvSpPr>
          <p:cNvPr id="23" name="Shape 21"/>
          <p:cNvSpPr/>
          <p:nvPr/>
        </p:nvSpPr>
        <p:spPr>
          <a:xfrm>
            <a:off x="457200" y="3922776"/>
            <a:ext cx="8229600" cy="493776"/>
          </a:xfrm>
          <a:prstGeom prst="roundRect">
            <a:avLst>
              <a:gd name="adj" fmla="val 14815"/>
            </a:avLst>
          </a:prstGeom>
          <a:solidFill>
            <a:srgbClr val="EAF2F8"/>
          </a:solidFill>
          <a:ln/>
        </p:spPr>
      </p:sp>
      <p:sp>
        <p:nvSpPr>
          <p:cNvPr id="24" name="Shape 22"/>
          <p:cNvSpPr/>
          <p:nvPr/>
        </p:nvSpPr>
        <p:spPr>
          <a:xfrm>
            <a:off x="566928" y="3986784"/>
            <a:ext cx="365760" cy="365760"/>
          </a:xfrm>
          <a:prstGeom prst="ellipse">
            <a:avLst/>
          </a:prstGeom>
          <a:solidFill>
            <a:srgbClr val="FFFFFF"/>
          </a:solidFill>
          <a:ln w="15875">
            <a:solidFill>
              <a:srgbClr val="17324D"/>
            </a:solidFill>
            <a:prstDash val="solid"/>
          </a:ln>
        </p:spPr>
      </p:sp>
      <p:sp>
        <p:nvSpPr>
          <p:cNvPr id="25" name="Text 23"/>
          <p:cNvSpPr txBox="1"/>
          <p:nvPr/>
        </p:nvSpPr>
        <p:spPr>
          <a:xfrm>
            <a:off x="566928" y="3986784"/>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5</a:t>
            </a:r>
            <a:endParaRPr lang="en-US" sz="1400" dirty="0"/>
          </a:p>
        </p:txBody>
      </p:sp>
      <p:sp>
        <p:nvSpPr>
          <p:cNvPr id="26" name="Text 24"/>
          <p:cNvSpPr txBox="1"/>
          <p:nvPr/>
        </p:nvSpPr>
        <p:spPr>
          <a:xfrm>
            <a:off x="1051560" y="3922776"/>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視力低下</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74320"/>
            <a:ext cx="868680" cy="384048"/>
          </a:xfrm>
          <a:prstGeom prst="roundRect">
            <a:avLst>
              <a:gd name="adj" fmla="val 19048"/>
            </a:avLst>
          </a:prstGeom>
          <a:solidFill>
            <a:srgbClr val="D9534F"/>
          </a:solidFill>
          <a:ln/>
        </p:spPr>
      </p:sp>
      <p:sp>
        <p:nvSpPr>
          <p:cNvPr id="3" name="Text 1"/>
          <p:cNvSpPr txBox="1"/>
          <p:nvPr/>
        </p:nvSpPr>
        <p:spPr>
          <a:xfrm>
            <a:off x="457200" y="274320"/>
            <a:ext cx="86868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解説</a:t>
            </a:r>
            <a:endParaRPr lang="en-US" sz="1300" dirty="0"/>
          </a:p>
        </p:txBody>
      </p:sp>
      <p:sp>
        <p:nvSpPr>
          <p:cNvPr id="4" name="Text 2"/>
          <p:cNvSpPr txBox="1"/>
          <p:nvPr/>
        </p:nvSpPr>
        <p:spPr>
          <a:xfrm>
            <a:off x="1417320" y="274320"/>
            <a:ext cx="731520" cy="384048"/>
          </a:xfrm>
          <a:prstGeom prst="rect">
            <a:avLst/>
          </a:prstGeom>
          <a:noFill/>
          <a:ln/>
        </p:spPr>
        <p:txBody>
          <a:bodyPr wrap="square" lIns="0" tIns="0" rIns="0" bIns="0" rtlCol="0" anchor="ctr"/>
          <a:lstStyle/>
          <a:p>
            <a:pPr indent="0" marL="0">
              <a:buNone/>
            </a:pPr>
            <a:r>
              <a:rPr lang="en-US" sz="2000" b="1" dirty="0">
                <a:solidFill>
                  <a:srgbClr val="17324D"/>
                </a:solidFill>
                <a:latin typeface="Arial" pitchFamily="34" charset="0"/>
                <a:ea typeface="Arial" pitchFamily="34" charset="-122"/>
                <a:cs typeface="Arial" pitchFamily="34" charset="-120"/>
              </a:rPr>
              <a:t>[3]</a:t>
            </a:r>
            <a:endParaRPr lang="en-US" sz="2000" dirty="0"/>
          </a:p>
        </p:txBody>
      </p:sp>
      <p:sp>
        <p:nvSpPr>
          <p:cNvPr id="5" name="Text 3"/>
          <p:cNvSpPr txBox="1"/>
          <p:nvPr/>
        </p:nvSpPr>
        <p:spPr>
          <a:xfrm>
            <a:off x="5943600" y="274320"/>
            <a:ext cx="2743200" cy="384048"/>
          </a:xfrm>
          <a:prstGeom prst="rect">
            <a:avLst/>
          </a:prstGeom>
          <a:noFill/>
          <a:ln/>
        </p:spPr>
        <p:txBody>
          <a:bodyPr wrap="square" lIns="0" tIns="0" rIns="0" bIns="0" rtlCol="0" anchor="ctr"/>
          <a:lstStyle/>
          <a:p>
            <a:pPr algn="r" indent="0" marL="0">
              <a:buNone/>
            </a:pPr>
            <a:r>
              <a:rPr lang="en-US" sz="1100" dirty="0">
                <a:solidFill>
                  <a:srgbClr val="5F6B76"/>
                </a:solidFill>
                <a:latin typeface="Meiryo" pitchFamily="34" charset="0"/>
                <a:ea typeface="Meiryo" pitchFamily="34" charset="-122"/>
                <a:cs typeface="Meiryo" pitchFamily="34" charset="-120"/>
              </a:rPr>
              <a:t>60回午前47</a:t>
            </a:r>
            <a:endParaRPr lang="en-US" sz="1100" dirty="0"/>
          </a:p>
        </p:txBody>
      </p:sp>
      <p:sp>
        <p:nvSpPr>
          <p:cNvPr id="6" name="Text 4"/>
          <p:cNvSpPr txBox="1"/>
          <p:nvPr/>
        </p:nvSpPr>
        <p:spPr>
          <a:xfrm>
            <a:off x="457200" y="731520"/>
            <a:ext cx="8229600" cy="594360"/>
          </a:xfrm>
          <a:prstGeom prst="rect">
            <a:avLst/>
          </a:prstGeom>
          <a:noFill/>
          <a:ln/>
        </p:spPr>
        <p:txBody>
          <a:bodyPr wrap="square" lIns="0" tIns="0" rIns="0" bIns="0" rtlCol="0" anchor="t"/>
          <a:lstStyle/>
          <a:p>
            <a:pPr indent="0" marL="0">
              <a:buNone/>
            </a:pPr>
            <a:r>
              <a:rPr lang="en-US" sz="1700" b="1" dirty="0">
                <a:solidFill>
                  <a:srgbClr val="222222"/>
                </a:solidFill>
                <a:latin typeface="Meiryo" pitchFamily="34" charset="0"/>
                <a:ea typeface="Meiryo" pitchFamily="34" charset="-122"/>
                <a:cs typeface="Meiryo" pitchFamily="34" charset="-120"/>
              </a:rPr>
              <a:t>自律神経障害の症状はどれか。２つ選べ。</a:t>
            </a:r>
            <a:endParaRPr lang="en-US" sz="1700" dirty="0"/>
          </a:p>
        </p:txBody>
      </p:sp>
      <p:sp>
        <p:nvSpPr>
          <p:cNvPr id="7" name="Shape 5"/>
          <p:cNvSpPr/>
          <p:nvPr/>
        </p:nvSpPr>
        <p:spPr>
          <a:xfrm>
            <a:off x="457200" y="1417320"/>
            <a:ext cx="8229600" cy="457200"/>
          </a:xfrm>
          <a:prstGeom prst="roundRect">
            <a:avLst>
              <a:gd name="adj" fmla="val 16000"/>
            </a:avLst>
          </a:prstGeom>
          <a:solidFill>
            <a:srgbClr val="F4F6F8"/>
          </a:solidFill>
          <a:ln/>
        </p:spPr>
      </p:sp>
      <p:sp>
        <p:nvSpPr>
          <p:cNvPr id="8" name="Shape 6"/>
          <p:cNvSpPr/>
          <p:nvPr/>
        </p:nvSpPr>
        <p:spPr>
          <a:xfrm>
            <a:off x="548640" y="1481328"/>
            <a:ext cx="329184" cy="329184"/>
          </a:xfrm>
          <a:prstGeom prst="ellipse">
            <a:avLst/>
          </a:prstGeom>
          <a:solidFill>
            <a:srgbClr val="FFFFFF"/>
          </a:solidFill>
          <a:ln w="12700">
            <a:solidFill>
              <a:srgbClr val="8A96A3"/>
            </a:solidFill>
            <a:prstDash val="solid"/>
          </a:ln>
        </p:spPr>
      </p:sp>
      <p:sp>
        <p:nvSpPr>
          <p:cNvPr id="9" name="Text 7"/>
          <p:cNvSpPr txBox="1"/>
          <p:nvPr/>
        </p:nvSpPr>
        <p:spPr>
          <a:xfrm>
            <a:off x="548640" y="1481328"/>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1</a:t>
            </a:r>
            <a:endParaRPr lang="en-US" sz="1300" dirty="0"/>
          </a:p>
        </p:txBody>
      </p:sp>
      <p:sp>
        <p:nvSpPr>
          <p:cNvPr id="10" name="Text 8"/>
          <p:cNvSpPr txBox="1"/>
          <p:nvPr/>
        </p:nvSpPr>
        <p:spPr>
          <a:xfrm>
            <a:off x="987552" y="1417320"/>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振戦</a:t>
            </a:r>
            <a:endParaRPr lang="en-US" sz="1200" dirty="0"/>
          </a:p>
        </p:txBody>
      </p:sp>
      <p:sp>
        <p:nvSpPr>
          <p:cNvPr id="11" name="Text 9"/>
          <p:cNvSpPr txBox="1"/>
          <p:nvPr/>
        </p:nvSpPr>
        <p:spPr>
          <a:xfrm>
            <a:off x="4096512" y="1417320"/>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錐体外路・小脳症状</a:t>
            </a:r>
            <a:endParaRPr lang="en-US" sz="1100" dirty="0"/>
          </a:p>
        </p:txBody>
      </p:sp>
      <p:sp>
        <p:nvSpPr>
          <p:cNvPr id="12" name="Shape 10"/>
          <p:cNvSpPr/>
          <p:nvPr/>
        </p:nvSpPr>
        <p:spPr>
          <a:xfrm>
            <a:off x="457200" y="1947672"/>
            <a:ext cx="8229600" cy="457200"/>
          </a:xfrm>
          <a:prstGeom prst="roundRect">
            <a:avLst>
              <a:gd name="adj" fmla="val 16000"/>
            </a:avLst>
          </a:prstGeom>
          <a:solidFill>
            <a:srgbClr val="F4F6F8"/>
          </a:solidFill>
          <a:ln/>
        </p:spPr>
      </p:sp>
      <p:sp>
        <p:nvSpPr>
          <p:cNvPr id="13" name="Shape 11"/>
          <p:cNvSpPr/>
          <p:nvPr/>
        </p:nvSpPr>
        <p:spPr>
          <a:xfrm>
            <a:off x="548640" y="2011680"/>
            <a:ext cx="329184" cy="329184"/>
          </a:xfrm>
          <a:prstGeom prst="ellipse">
            <a:avLst/>
          </a:prstGeom>
          <a:solidFill>
            <a:srgbClr val="FFFFFF"/>
          </a:solidFill>
          <a:ln w="12700">
            <a:solidFill>
              <a:srgbClr val="8A96A3"/>
            </a:solidFill>
            <a:prstDash val="solid"/>
          </a:ln>
        </p:spPr>
      </p:sp>
      <p:sp>
        <p:nvSpPr>
          <p:cNvPr id="14" name="Text 12"/>
          <p:cNvSpPr txBox="1"/>
          <p:nvPr/>
        </p:nvSpPr>
        <p:spPr>
          <a:xfrm>
            <a:off x="548640" y="2011680"/>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2</a:t>
            </a:r>
            <a:endParaRPr lang="en-US" sz="1300" dirty="0"/>
          </a:p>
        </p:txBody>
      </p:sp>
      <p:sp>
        <p:nvSpPr>
          <p:cNvPr id="15" name="Text 13"/>
          <p:cNvSpPr txBox="1"/>
          <p:nvPr/>
        </p:nvSpPr>
        <p:spPr>
          <a:xfrm>
            <a:off x="987552" y="1947672"/>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複視</a:t>
            </a:r>
            <a:endParaRPr lang="en-US" sz="1200" dirty="0"/>
          </a:p>
        </p:txBody>
      </p:sp>
      <p:sp>
        <p:nvSpPr>
          <p:cNvPr id="16" name="Text 14"/>
          <p:cNvSpPr txBox="1"/>
          <p:nvPr/>
        </p:nvSpPr>
        <p:spPr>
          <a:xfrm>
            <a:off x="4096512" y="1947672"/>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眼球運動障害（脳神経Ⅲ・Ⅳ・Ⅵ）</a:t>
            </a:r>
            <a:endParaRPr lang="en-US" sz="1100" dirty="0"/>
          </a:p>
        </p:txBody>
      </p:sp>
      <p:sp>
        <p:nvSpPr>
          <p:cNvPr id="17" name="Shape 15"/>
          <p:cNvSpPr/>
          <p:nvPr/>
        </p:nvSpPr>
        <p:spPr>
          <a:xfrm>
            <a:off x="457200" y="2478024"/>
            <a:ext cx="8229600" cy="457200"/>
          </a:xfrm>
          <a:prstGeom prst="roundRect">
            <a:avLst>
              <a:gd name="adj" fmla="val 16000"/>
            </a:avLst>
          </a:prstGeom>
          <a:solidFill>
            <a:srgbClr val="FBE3E2"/>
          </a:solidFill>
          <a:ln w="19050">
            <a:solidFill>
              <a:srgbClr val="D9534F"/>
            </a:solidFill>
            <a:prstDash val="solid"/>
          </a:ln>
        </p:spPr>
      </p:sp>
      <p:sp>
        <p:nvSpPr>
          <p:cNvPr id="18" name="Shape 16"/>
          <p:cNvSpPr/>
          <p:nvPr/>
        </p:nvSpPr>
        <p:spPr>
          <a:xfrm>
            <a:off x="548640" y="2542032"/>
            <a:ext cx="329184" cy="329184"/>
          </a:xfrm>
          <a:prstGeom prst="ellipse">
            <a:avLst/>
          </a:prstGeom>
          <a:solidFill>
            <a:srgbClr val="D9534F"/>
          </a:solidFill>
          <a:ln w="12700">
            <a:solidFill>
              <a:srgbClr val="D9534F"/>
            </a:solidFill>
            <a:prstDash val="solid"/>
          </a:ln>
        </p:spPr>
      </p:sp>
      <p:sp>
        <p:nvSpPr>
          <p:cNvPr id="19" name="Text 17"/>
          <p:cNvSpPr txBox="1"/>
          <p:nvPr/>
        </p:nvSpPr>
        <p:spPr>
          <a:xfrm>
            <a:off x="548640" y="254203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20" name="Text 18"/>
          <p:cNvSpPr txBox="1"/>
          <p:nvPr/>
        </p:nvSpPr>
        <p:spPr>
          <a:xfrm>
            <a:off x="987552" y="2478024"/>
            <a:ext cx="3017520" cy="457200"/>
          </a:xfrm>
          <a:prstGeom prst="rect">
            <a:avLst/>
          </a:prstGeom>
          <a:noFill/>
          <a:ln/>
        </p:spPr>
        <p:txBody>
          <a:bodyPr wrap="square" lIns="0" tIns="0" rIns="0" bIns="0" rtlCol="0" anchor="ctr"/>
          <a:lstStyle/>
          <a:p>
            <a:pPr indent="0" marL="0">
              <a:buNone/>
            </a:pPr>
            <a:r>
              <a:rPr lang="en-US" sz="1200" b="1" dirty="0">
                <a:solidFill>
                  <a:srgbClr val="D9534F"/>
                </a:solidFill>
                <a:latin typeface="Meiryo" pitchFamily="34" charset="0"/>
                <a:ea typeface="Meiryo" pitchFamily="34" charset="-122"/>
                <a:cs typeface="Meiryo" pitchFamily="34" charset="-120"/>
              </a:rPr>
              <a:t>不整脈</a:t>
            </a:r>
            <a:endParaRPr lang="en-US" sz="1200" dirty="0"/>
          </a:p>
        </p:txBody>
      </p:sp>
      <p:sp>
        <p:nvSpPr>
          <p:cNvPr id="21" name="Text 19"/>
          <p:cNvSpPr txBox="1"/>
          <p:nvPr/>
        </p:nvSpPr>
        <p:spPr>
          <a:xfrm>
            <a:off x="4096512" y="2478024"/>
            <a:ext cx="4526280" cy="457200"/>
          </a:xfrm>
          <a:prstGeom prst="rect">
            <a:avLst/>
          </a:prstGeom>
          <a:noFill/>
          <a:ln/>
        </p:spPr>
        <p:txBody>
          <a:bodyPr wrap="square" lIns="0" tIns="0" rIns="0" bIns="0" rtlCol="0" anchor="ctr"/>
          <a:lstStyle/>
          <a:p>
            <a:pPr indent="0" marL="0">
              <a:buNone/>
            </a:pPr>
            <a:r>
              <a:rPr lang="en-US" sz="1100" dirty="0">
                <a:solidFill>
                  <a:srgbClr val="222222"/>
                </a:solidFill>
                <a:latin typeface="Meiryo" pitchFamily="34" charset="0"/>
                <a:ea typeface="Meiryo" pitchFamily="34" charset="-122"/>
                <a:cs typeface="Meiryo" pitchFamily="34" charset="-120"/>
              </a:rPr>
              <a:t>心臓の自律神経調節障害 ○</a:t>
            </a:r>
            <a:endParaRPr lang="en-US" sz="1100" dirty="0"/>
          </a:p>
        </p:txBody>
      </p:sp>
      <p:sp>
        <p:nvSpPr>
          <p:cNvPr id="22" name="Shape 20"/>
          <p:cNvSpPr/>
          <p:nvPr/>
        </p:nvSpPr>
        <p:spPr>
          <a:xfrm>
            <a:off x="457200" y="3008376"/>
            <a:ext cx="8229600" cy="457200"/>
          </a:xfrm>
          <a:prstGeom prst="roundRect">
            <a:avLst>
              <a:gd name="adj" fmla="val 16000"/>
            </a:avLst>
          </a:prstGeom>
          <a:solidFill>
            <a:srgbClr val="FBE3E2"/>
          </a:solidFill>
          <a:ln w="19050">
            <a:solidFill>
              <a:srgbClr val="D9534F"/>
            </a:solidFill>
            <a:prstDash val="solid"/>
          </a:ln>
        </p:spPr>
      </p:sp>
      <p:sp>
        <p:nvSpPr>
          <p:cNvPr id="23" name="Shape 21"/>
          <p:cNvSpPr/>
          <p:nvPr/>
        </p:nvSpPr>
        <p:spPr>
          <a:xfrm>
            <a:off x="548640" y="3072384"/>
            <a:ext cx="329184" cy="329184"/>
          </a:xfrm>
          <a:prstGeom prst="ellipse">
            <a:avLst/>
          </a:prstGeom>
          <a:solidFill>
            <a:srgbClr val="D9534F"/>
          </a:solidFill>
          <a:ln w="12700">
            <a:solidFill>
              <a:srgbClr val="D9534F"/>
            </a:solidFill>
            <a:prstDash val="solid"/>
          </a:ln>
        </p:spPr>
      </p:sp>
      <p:sp>
        <p:nvSpPr>
          <p:cNvPr id="24" name="Text 22"/>
          <p:cNvSpPr txBox="1"/>
          <p:nvPr/>
        </p:nvSpPr>
        <p:spPr>
          <a:xfrm>
            <a:off x="548640" y="3072384"/>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4</a:t>
            </a:r>
            <a:endParaRPr lang="en-US" sz="1300" dirty="0"/>
          </a:p>
        </p:txBody>
      </p:sp>
      <p:sp>
        <p:nvSpPr>
          <p:cNvPr id="25" name="Text 23"/>
          <p:cNvSpPr txBox="1"/>
          <p:nvPr/>
        </p:nvSpPr>
        <p:spPr>
          <a:xfrm>
            <a:off x="987552" y="3008376"/>
            <a:ext cx="3017520" cy="457200"/>
          </a:xfrm>
          <a:prstGeom prst="rect">
            <a:avLst/>
          </a:prstGeom>
          <a:noFill/>
          <a:ln/>
        </p:spPr>
        <p:txBody>
          <a:bodyPr wrap="square" lIns="0" tIns="0" rIns="0" bIns="0" rtlCol="0" anchor="ctr"/>
          <a:lstStyle/>
          <a:p>
            <a:pPr indent="0" marL="0">
              <a:buNone/>
            </a:pPr>
            <a:r>
              <a:rPr lang="en-US" sz="1200" b="1" dirty="0">
                <a:solidFill>
                  <a:srgbClr val="D9534F"/>
                </a:solidFill>
                <a:latin typeface="Meiryo" pitchFamily="34" charset="0"/>
                <a:ea typeface="Meiryo" pitchFamily="34" charset="-122"/>
                <a:cs typeface="Meiryo" pitchFamily="34" charset="-120"/>
              </a:rPr>
              <a:t>血圧低下</a:t>
            </a:r>
            <a:endParaRPr lang="en-US" sz="1200" dirty="0"/>
          </a:p>
        </p:txBody>
      </p:sp>
      <p:sp>
        <p:nvSpPr>
          <p:cNvPr id="26" name="Text 24"/>
          <p:cNvSpPr txBox="1"/>
          <p:nvPr/>
        </p:nvSpPr>
        <p:spPr>
          <a:xfrm>
            <a:off x="4096512" y="3008376"/>
            <a:ext cx="4526280" cy="457200"/>
          </a:xfrm>
          <a:prstGeom prst="rect">
            <a:avLst/>
          </a:prstGeom>
          <a:noFill/>
          <a:ln/>
        </p:spPr>
        <p:txBody>
          <a:bodyPr wrap="square" lIns="0" tIns="0" rIns="0" bIns="0" rtlCol="0" anchor="ctr"/>
          <a:lstStyle/>
          <a:p>
            <a:pPr indent="0" marL="0">
              <a:buNone/>
            </a:pPr>
            <a:r>
              <a:rPr lang="en-US" sz="1100" dirty="0">
                <a:solidFill>
                  <a:srgbClr val="222222"/>
                </a:solidFill>
                <a:latin typeface="Meiryo" pitchFamily="34" charset="0"/>
                <a:ea typeface="Meiryo" pitchFamily="34" charset="-122"/>
                <a:cs typeface="Meiryo" pitchFamily="34" charset="-120"/>
              </a:rPr>
              <a:t>起立性低血圧 ○</a:t>
            </a:r>
            <a:endParaRPr lang="en-US" sz="1100" dirty="0"/>
          </a:p>
        </p:txBody>
      </p:sp>
      <p:sp>
        <p:nvSpPr>
          <p:cNvPr id="27" name="Shape 25"/>
          <p:cNvSpPr/>
          <p:nvPr/>
        </p:nvSpPr>
        <p:spPr>
          <a:xfrm>
            <a:off x="457200" y="3538728"/>
            <a:ext cx="8229600" cy="457200"/>
          </a:xfrm>
          <a:prstGeom prst="roundRect">
            <a:avLst>
              <a:gd name="adj" fmla="val 16000"/>
            </a:avLst>
          </a:prstGeom>
          <a:solidFill>
            <a:srgbClr val="F4F6F8"/>
          </a:solidFill>
          <a:ln/>
        </p:spPr>
      </p:sp>
      <p:sp>
        <p:nvSpPr>
          <p:cNvPr id="28" name="Shape 26"/>
          <p:cNvSpPr/>
          <p:nvPr/>
        </p:nvSpPr>
        <p:spPr>
          <a:xfrm>
            <a:off x="548640" y="3602736"/>
            <a:ext cx="329184" cy="329184"/>
          </a:xfrm>
          <a:prstGeom prst="ellipse">
            <a:avLst/>
          </a:prstGeom>
          <a:solidFill>
            <a:srgbClr val="FFFFFF"/>
          </a:solidFill>
          <a:ln w="12700">
            <a:solidFill>
              <a:srgbClr val="8A96A3"/>
            </a:solidFill>
            <a:prstDash val="solid"/>
          </a:ln>
        </p:spPr>
      </p:sp>
      <p:sp>
        <p:nvSpPr>
          <p:cNvPr id="29" name="Text 27"/>
          <p:cNvSpPr txBox="1"/>
          <p:nvPr/>
        </p:nvSpPr>
        <p:spPr>
          <a:xfrm>
            <a:off x="548640" y="3602736"/>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5</a:t>
            </a:r>
            <a:endParaRPr lang="en-US" sz="1300" dirty="0"/>
          </a:p>
        </p:txBody>
      </p:sp>
      <p:sp>
        <p:nvSpPr>
          <p:cNvPr id="30" name="Text 28"/>
          <p:cNvSpPr txBox="1"/>
          <p:nvPr/>
        </p:nvSpPr>
        <p:spPr>
          <a:xfrm>
            <a:off x="987552" y="3538728"/>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視力低下</a:t>
            </a:r>
            <a:endParaRPr lang="en-US" sz="1200" dirty="0"/>
          </a:p>
        </p:txBody>
      </p:sp>
      <p:sp>
        <p:nvSpPr>
          <p:cNvPr id="31" name="Text 29"/>
          <p:cNvSpPr txBox="1"/>
          <p:nvPr/>
        </p:nvSpPr>
        <p:spPr>
          <a:xfrm>
            <a:off x="4096512" y="3538728"/>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視覚路の障害</a:t>
            </a:r>
            <a:endParaRPr lang="en-US" sz="1100" dirty="0"/>
          </a:p>
        </p:txBody>
      </p:sp>
      <p:sp>
        <p:nvSpPr>
          <p:cNvPr id="32" name="Shape 30"/>
          <p:cNvSpPr/>
          <p:nvPr/>
        </p:nvSpPr>
        <p:spPr>
          <a:xfrm>
            <a:off x="457200" y="4160520"/>
            <a:ext cx="1463040" cy="685800"/>
          </a:xfrm>
          <a:prstGeom prst="roundRect">
            <a:avLst>
              <a:gd name="adj" fmla="val 10667"/>
            </a:avLst>
          </a:prstGeom>
          <a:solidFill>
            <a:srgbClr val="D9534F"/>
          </a:solidFill>
          <a:ln/>
        </p:spPr>
      </p:sp>
      <p:sp>
        <p:nvSpPr>
          <p:cNvPr id="33" name="Text 31"/>
          <p:cNvSpPr txBox="1"/>
          <p:nvPr/>
        </p:nvSpPr>
        <p:spPr>
          <a:xfrm>
            <a:off x="457200" y="4160520"/>
            <a:ext cx="1463040" cy="685800"/>
          </a:xfrm>
          <a:prstGeom prst="rect">
            <a:avLst/>
          </a:prstGeom>
          <a:noFill/>
          <a:ln/>
        </p:spPr>
        <p:txBody>
          <a:bodyPr wrap="square" lIns="0" tIns="0" rIns="0" bIns="0" rtlCol="0" anchor="ctr"/>
          <a:lstStyle/>
          <a:p>
            <a:pPr algn="ctr" indent="0" marL="0">
              <a:buNone/>
            </a:pPr>
            <a:r>
              <a:rPr lang="en-US" sz="1100" dirty="0">
                <a:solidFill>
                  <a:srgbClr val="FFFFFF"/>
                </a:solidFill>
                <a:latin typeface="Meiryo" pitchFamily="34" charset="0"/>
                <a:ea typeface="Meiryo" pitchFamily="34" charset="-122"/>
                <a:cs typeface="Meiryo" pitchFamily="34" charset="-120"/>
              </a:rPr>
              <a:t>正解</a:t>
            </a:r>
            <a:endParaRPr lang="en-US" sz="1100" dirty="0"/>
          </a:p>
          <a:p>
            <a:pPr algn="ctr" indent="0" marL="0">
              <a:buNone/>
            </a:pPr>
            <a:r>
              <a:rPr lang="en-US" sz="2200" b="1" dirty="0">
                <a:solidFill>
                  <a:srgbClr val="FFFFFF"/>
                </a:solidFill>
                <a:latin typeface="Meiryo" pitchFamily="34" charset="0"/>
                <a:ea typeface="Meiryo" pitchFamily="34" charset="-122"/>
                <a:cs typeface="Meiryo" pitchFamily="34" charset="-120"/>
              </a:rPr>
              <a:t>3・4</a:t>
            </a:r>
            <a:endParaRPr lang="en-US" sz="1100" dirty="0"/>
          </a:p>
        </p:txBody>
      </p:sp>
      <p:sp>
        <p:nvSpPr>
          <p:cNvPr id="34" name="Shape 32"/>
          <p:cNvSpPr/>
          <p:nvPr/>
        </p:nvSpPr>
        <p:spPr>
          <a:xfrm>
            <a:off x="2057400" y="4160520"/>
            <a:ext cx="6629400" cy="685800"/>
          </a:xfrm>
          <a:prstGeom prst="roundRect">
            <a:avLst>
              <a:gd name="adj" fmla="val 10667"/>
            </a:avLst>
          </a:prstGeom>
          <a:solidFill>
            <a:srgbClr val="EAF2F8"/>
          </a:solidFill>
          <a:ln/>
        </p:spPr>
      </p:sp>
      <p:sp>
        <p:nvSpPr>
          <p:cNvPr id="35" name="Text 33"/>
          <p:cNvSpPr txBox="1"/>
          <p:nvPr/>
        </p:nvSpPr>
        <p:spPr>
          <a:xfrm>
            <a:off x="2194560" y="4160520"/>
            <a:ext cx="6400800" cy="685800"/>
          </a:xfrm>
          <a:prstGeom prst="rect">
            <a:avLst/>
          </a:prstGeom>
          <a:noFill/>
          <a:ln/>
        </p:spPr>
        <p:txBody>
          <a:bodyPr wrap="square" lIns="0" tIns="0" rIns="0" bIns="0" rtlCol="0" anchor="ctr"/>
          <a:lstStyle/>
          <a:p>
            <a:pPr indent="0" marL="0">
              <a:buNone/>
            </a:pPr>
            <a:r>
              <a:rPr lang="en-US" sz="1200" b="1" dirty="0">
                <a:solidFill>
                  <a:srgbClr val="2A7F9E"/>
                </a:solidFill>
                <a:latin typeface="Meiryo" pitchFamily="34" charset="0"/>
                <a:ea typeface="Meiryo" pitchFamily="34" charset="-122"/>
                <a:cs typeface="Meiryo" pitchFamily="34" charset="-120"/>
              </a:rPr>
              <a:t>POINT　</a:t>
            </a:r>
            <a:pPr indent="0" marL="0">
              <a:buNone/>
            </a:pPr>
            <a:r>
              <a:rPr lang="en-US" sz="1200" dirty="0">
                <a:solidFill>
                  <a:srgbClr val="222222"/>
                </a:solidFill>
                <a:latin typeface="Meiryo" pitchFamily="34" charset="0"/>
                <a:ea typeface="Meiryo" pitchFamily="34" charset="-122"/>
                <a:cs typeface="Meiryo" pitchFamily="34" charset="-120"/>
              </a:rPr>
              <a:t>自律神経障害：起立性低血圧・不整脈・排尿障害・発汗異常・便秘など。</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74320"/>
            <a:ext cx="868680" cy="384048"/>
          </a:xfrm>
          <a:prstGeom prst="roundRect">
            <a:avLst>
              <a:gd name="adj" fmla="val 19048"/>
            </a:avLst>
          </a:prstGeom>
          <a:solidFill>
            <a:srgbClr val="17324D"/>
          </a:solidFill>
          <a:ln/>
        </p:spPr>
      </p:sp>
      <p:sp>
        <p:nvSpPr>
          <p:cNvPr id="3" name="Text 1"/>
          <p:cNvSpPr txBox="1"/>
          <p:nvPr/>
        </p:nvSpPr>
        <p:spPr>
          <a:xfrm>
            <a:off x="457200" y="274320"/>
            <a:ext cx="86868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問題</a:t>
            </a:r>
            <a:endParaRPr lang="en-US" sz="1300" dirty="0"/>
          </a:p>
        </p:txBody>
      </p:sp>
      <p:sp>
        <p:nvSpPr>
          <p:cNvPr id="4" name="Text 2"/>
          <p:cNvSpPr txBox="1"/>
          <p:nvPr/>
        </p:nvSpPr>
        <p:spPr>
          <a:xfrm>
            <a:off x="1417320" y="274320"/>
            <a:ext cx="731520" cy="384048"/>
          </a:xfrm>
          <a:prstGeom prst="rect">
            <a:avLst/>
          </a:prstGeom>
          <a:noFill/>
          <a:ln/>
        </p:spPr>
        <p:txBody>
          <a:bodyPr wrap="square" lIns="0" tIns="0" rIns="0" bIns="0" rtlCol="0" anchor="ctr"/>
          <a:lstStyle/>
          <a:p>
            <a:pPr indent="0" marL="0">
              <a:buNone/>
            </a:pPr>
            <a:r>
              <a:rPr lang="en-US" sz="2000" b="1" dirty="0">
                <a:solidFill>
                  <a:srgbClr val="17324D"/>
                </a:solidFill>
                <a:latin typeface="Arial" pitchFamily="34" charset="0"/>
                <a:ea typeface="Arial" pitchFamily="34" charset="-122"/>
                <a:cs typeface="Arial" pitchFamily="34" charset="-120"/>
              </a:rPr>
              <a:t>[4]</a:t>
            </a:r>
            <a:endParaRPr lang="en-US" sz="2000" dirty="0"/>
          </a:p>
        </p:txBody>
      </p:sp>
      <p:sp>
        <p:nvSpPr>
          <p:cNvPr id="5" name="Text 3"/>
          <p:cNvSpPr txBox="1"/>
          <p:nvPr/>
        </p:nvSpPr>
        <p:spPr>
          <a:xfrm>
            <a:off x="5943600" y="274320"/>
            <a:ext cx="2743200" cy="384048"/>
          </a:xfrm>
          <a:prstGeom prst="rect">
            <a:avLst/>
          </a:prstGeom>
          <a:noFill/>
          <a:ln/>
        </p:spPr>
        <p:txBody>
          <a:bodyPr wrap="square" lIns="0" tIns="0" rIns="0" bIns="0" rtlCol="0" anchor="ctr"/>
          <a:lstStyle/>
          <a:p>
            <a:pPr algn="r" indent="0" marL="0">
              <a:buNone/>
            </a:pPr>
            <a:r>
              <a:rPr lang="en-US" sz="1100" dirty="0">
                <a:solidFill>
                  <a:srgbClr val="5F6B76"/>
                </a:solidFill>
                <a:latin typeface="Meiryo" pitchFamily="34" charset="0"/>
                <a:ea typeface="Meiryo" pitchFamily="34" charset="-122"/>
                <a:cs typeface="Meiryo" pitchFamily="34" charset="-120"/>
              </a:rPr>
              <a:t>60回午前63</a:t>
            </a:r>
            <a:endParaRPr lang="en-US" sz="1100" dirty="0"/>
          </a:p>
        </p:txBody>
      </p:sp>
      <p:sp>
        <p:nvSpPr>
          <p:cNvPr id="6" name="Text 4"/>
          <p:cNvSpPr txBox="1"/>
          <p:nvPr/>
        </p:nvSpPr>
        <p:spPr>
          <a:xfrm>
            <a:off x="457200" y="731520"/>
            <a:ext cx="8229600" cy="594360"/>
          </a:xfrm>
          <a:prstGeom prst="rect">
            <a:avLst/>
          </a:prstGeom>
          <a:noFill/>
          <a:ln/>
        </p:spPr>
        <p:txBody>
          <a:bodyPr wrap="square" lIns="0" tIns="0" rIns="0" bIns="0" rtlCol="0" anchor="t"/>
          <a:lstStyle/>
          <a:p>
            <a:pPr indent="0" marL="0">
              <a:buNone/>
            </a:pPr>
            <a:r>
              <a:rPr lang="en-US" sz="1700" b="1" dirty="0">
                <a:solidFill>
                  <a:srgbClr val="222222"/>
                </a:solidFill>
                <a:latin typeface="Meiryo" pitchFamily="34" charset="0"/>
                <a:ea typeface="Meiryo" pitchFamily="34" charset="-122"/>
                <a:cs typeface="Meiryo" pitchFamily="34" charset="-120"/>
              </a:rPr>
              <a:t>自律神経で正しいのはどれか。</a:t>
            </a:r>
            <a:endParaRPr lang="en-US" sz="1700" dirty="0"/>
          </a:p>
        </p:txBody>
      </p:sp>
      <p:sp>
        <p:nvSpPr>
          <p:cNvPr id="7" name="Shape 5"/>
          <p:cNvSpPr/>
          <p:nvPr/>
        </p:nvSpPr>
        <p:spPr>
          <a:xfrm>
            <a:off x="457200" y="1508760"/>
            <a:ext cx="8229600" cy="493776"/>
          </a:xfrm>
          <a:prstGeom prst="roundRect">
            <a:avLst>
              <a:gd name="adj" fmla="val 14815"/>
            </a:avLst>
          </a:prstGeom>
          <a:solidFill>
            <a:srgbClr val="EAF2F8"/>
          </a:solidFill>
          <a:ln/>
        </p:spPr>
      </p:sp>
      <p:sp>
        <p:nvSpPr>
          <p:cNvPr id="8" name="Shape 6"/>
          <p:cNvSpPr/>
          <p:nvPr/>
        </p:nvSpPr>
        <p:spPr>
          <a:xfrm>
            <a:off x="566928" y="1572768"/>
            <a:ext cx="365760" cy="365760"/>
          </a:xfrm>
          <a:prstGeom prst="ellipse">
            <a:avLst/>
          </a:prstGeom>
          <a:solidFill>
            <a:srgbClr val="FFFFFF"/>
          </a:solidFill>
          <a:ln w="15875">
            <a:solidFill>
              <a:srgbClr val="17324D"/>
            </a:solidFill>
            <a:prstDash val="solid"/>
          </a:ln>
        </p:spPr>
      </p:sp>
      <p:sp>
        <p:nvSpPr>
          <p:cNvPr id="9" name="Text 7"/>
          <p:cNvSpPr txBox="1"/>
          <p:nvPr/>
        </p:nvSpPr>
        <p:spPr>
          <a:xfrm>
            <a:off x="566928" y="1572768"/>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1</a:t>
            </a:r>
            <a:endParaRPr lang="en-US" sz="1400" dirty="0"/>
          </a:p>
        </p:txBody>
      </p:sp>
      <p:sp>
        <p:nvSpPr>
          <p:cNvPr id="10" name="Text 8"/>
          <p:cNvSpPr txBox="1"/>
          <p:nvPr/>
        </p:nvSpPr>
        <p:spPr>
          <a:xfrm>
            <a:off x="1051560" y="1508760"/>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節後線維は有髄線維である</a:t>
            </a:r>
            <a:endParaRPr lang="en-US" sz="1500" dirty="0"/>
          </a:p>
        </p:txBody>
      </p:sp>
      <p:sp>
        <p:nvSpPr>
          <p:cNvPr id="11" name="Shape 9"/>
          <p:cNvSpPr/>
          <p:nvPr/>
        </p:nvSpPr>
        <p:spPr>
          <a:xfrm>
            <a:off x="457200" y="2112264"/>
            <a:ext cx="8229600" cy="493776"/>
          </a:xfrm>
          <a:prstGeom prst="roundRect">
            <a:avLst>
              <a:gd name="adj" fmla="val 14815"/>
            </a:avLst>
          </a:prstGeom>
          <a:solidFill>
            <a:srgbClr val="EAF2F8"/>
          </a:solidFill>
          <a:ln/>
        </p:spPr>
      </p:sp>
      <p:sp>
        <p:nvSpPr>
          <p:cNvPr id="12" name="Shape 10"/>
          <p:cNvSpPr/>
          <p:nvPr/>
        </p:nvSpPr>
        <p:spPr>
          <a:xfrm>
            <a:off x="566928" y="2176272"/>
            <a:ext cx="365760" cy="365760"/>
          </a:xfrm>
          <a:prstGeom prst="ellipse">
            <a:avLst/>
          </a:prstGeom>
          <a:solidFill>
            <a:srgbClr val="FFFFFF"/>
          </a:solidFill>
          <a:ln w="15875">
            <a:solidFill>
              <a:srgbClr val="17324D"/>
            </a:solidFill>
            <a:prstDash val="solid"/>
          </a:ln>
        </p:spPr>
      </p:sp>
      <p:sp>
        <p:nvSpPr>
          <p:cNvPr id="13" name="Text 11"/>
          <p:cNvSpPr txBox="1"/>
          <p:nvPr/>
        </p:nvSpPr>
        <p:spPr>
          <a:xfrm>
            <a:off x="566928" y="2176272"/>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2</a:t>
            </a:r>
            <a:endParaRPr lang="en-US" sz="1400" dirty="0"/>
          </a:p>
        </p:txBody>
      </p:sp>
      <p:sp>
        <p:nvSpPr>
          <p:cNvPr id="14" name="Text 12"/>
          <p:cNvSpPr txBox="1"/>
          <p:nvPr/>
        </p:nvSpPr>
        <p:spPr>
          <a:xfrm>
            <a:off x="1051560" y="2112264"/>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随意的に内臓の機能を調節する</a:t>
            </a:r>
            <a:endParaRPr lang="en-US" sz="1500" dirty="0"/>
          </a:p>
        </p:txBody>
      </p:sp>
      <p:sp>
        <p:nvSpPr>
          <p:cNvPr id="15" name="Shape 13"/>
          <p:cNvSpPr/>
          <p:nvPr/>
        </p:nvSpPr>
        <p:spPr>
          <a:xfrm>
            <a:off x="457200" y="2715768"/>
            <a:ext cx="8229600" cy="493776"/>
          </a:xfrm>
          <a:prstGeom prst="roundRect">
            <a:avLst>
              <a:gd name="adj" fmla="val 14815"/>
            </a:avLst>
          </a:prstGeom>
          <a:solidFill>
            <a:srgbClr val="EAF2F8"/>
          </a:solidFill>
          <a:ln/>
        </p:spPr>
      </p:sp>
      <p:sp>
        <p:nvSpPr>
          <p:cNvPr id="16" name="Shape 14"/>
          <p:cNvSpPr/>
          <p:nvPr/>
        </p:nvSpPr>
        <p:spPr>
          <a:xfrm>
            <a:off x="566928" y="2779776"/>
            <a:ext cx="365760" cy="365760"/>
          </a:xfrm>
          <a:prstGeom prst="ellipse">
            <a:avLst/>
          </a:prstGeom>
          <a:solidFill>
            <a:srgbClr val="FFFFFF"/>
          </a:solidFill>
          <a:ln w="15875">
            <a:solidFill>
              <a:srgbClr val="17324D"/>
            </a:solidFill>
            <a:prstDash val="solid"/>
          </a:ln>
        </p:spPr>
      </p:sp>
      <p:sp>
        <p:nvSpPr>
          <p:cNvPr id="17" name="Text 15"/>
          <p:cNvSpPr txBox="1"/>
          <p:nvPr/>
        </p:nvSpPr>
        <p:spPr>
          <a:xfrm>
            <a:off x="566928" y="2779776"/>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3</a:t>
            </a:r>
            <a:endParaRPr lang="en-US" sz="1400" dirty="0"/>
          </a:p>
        </p:txBody>
      </p:sp>
      <p:sp>
        <p:nvSpPr>
          <p:cNvPr id="18" name="Text 16"/>
          <p:cNvSpPr txBox="1"/>
          <p:nvPr/>
        </p:nvSpPr>
        <p:spPr>
          <a:xfrm>
            <a:off x="1051560" y="2715768"/>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断続的に臓器へインパルスを発する</a:t>
            </a:r>
            <a:endParaRPr lang="en-US" sz="1500" dirty="0"/>
          </a:p>
        </p:txBody>
      </p:sp>
      <p:sp>
        <p:nvSpPr>
          <p:cNvPr id="19" name="Shape 17"/>
          <p:cNvSpPr/>
          <p:nvPr/>
        </p:nvSpPr>
        <p:spPr>
          <a:xfrm>
            <a:off x="457200" y="3319272"/>
            <a:ext cx="8229600" cy="493776"/>
          </a:xfrm>
          <a:prstGeom prst="roundRect">
            <a:avLst>
              <a:gd name="adj" fmla="val 14815"/>
            </a:avLst>
          </a:prstGeom>
          <a:solidFill>
            <a:srgbClr val="EAF2F8"/>
          </a:solidFill>
          <a:ln/>
        </p:spPr>
      </p:sp>
      <p:sp>
        <p:nvSpPr>
          <p:cNvPr id="20" name="Shape 18"/>
          <p:cNvSpPr/>
          <p:nvPr/>
        </p:nvSpPr>
        <p:spPr>
          <a:xfrm>
            <a:off x="566928" y="3383280"/>
            <a:ext cx="365760" cy="365760"/>
          </a:xfrm>
          <a:prstGeom prst="ellipse">
            <a:avLst/>
          </a:prstGeom>
          <a:solidFill>
            <a:srgbClr val="FFFFFF"/>
          </a:solidFill>
          <a:ln w="15875">
            <a:solidFill>
              <a:srgbClr val="17324D"/>
            </a:solidFill>
            <a:prstDash val="solid"/>
          </a:ln>
        </p:spPr>
      </p:sp>
      <p:sp>
        <p:nvSpPr>
          <p:cNvPr id="21" name="Text 19"/>
          <p:cNvSpPr txBox="1"/>
          <p:nvPr/>
        </p:nvSpPr>
        <p:spPr>
          <a:xfrm>
            <a:off x="566928" y="3383280"/>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4</a:t>
            </a:r>
            <a:endParaRPr lang="en-US" sz="1400" dirty="0"/>
          </a:p>
        </p:txBody>
      </p:sp>
      <p:sp>
        <p:nvSpPr>
          <p:cNvPr id="22" name="Text 20"/>
          <p:cNvSpPr txBox="1"/>
          <p:nvPr/>
        </p:nvSpPr>
        <p:spPr>
          <a:xfrm>
            <a:off x="1051560" y="3319272"/>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汗腺は交感神経と副交感神経の二重支配である</a:t>
            </a:r>
            <a:endParaRPr lang="en-US" sz="1500" dirty="0"/>
          </a:p>
        </p:txBody>
      </p:sp>
      <p:sp>
        <p:nvSpPr>
          <p:cNvPr id="23" name="Shape 21"/>
          <p:cNvSpPr/>
          <p:nvPr/>
        </p:nvSpPr>
        <p:spPr>
          <a:xfrm>
            <a:off x="457200" y="3922776"/>
            <a:ext cx="8229600" cy="493776"/>
          </a:xfrm>
          <a:prstGeom prst="roundRect">
            <a:avLst>
              <a:gd name="adj" fmla="val 14815"/>
            </a:avLst>
          </a:prstGeom>
          <a:solidFill>
            <a:srgbClr val="EAF2F8"/>
          </a:solidFill>
          <a:ln/>
        </p:spPr>
      </p:sp>
      <p:sp>
        <p:nvSpPr>
          <p:cNvPr id="24" name="Shape 22"/>
          <p:cNvSpPr/>
          <p:nvPr/>
        </p:nvSpPr>
        <p:spPr>
          <a:xfrm>
            <a:off x="566928" y="3986784"/>
            <a:ext cx="365760" cy="365760"/>
          </a:xfrm>
          <a:prstGeom prst="ellipse">
            <a:avLst/>
          </a:prstGeom>
          <a:solidFill>
            <a:srgbClr val="FFFFFF"/>
          </a:solidFill>
          <a:ln w="15875">
            <a:solidFill>
              <a:srgbClr val="17324D"/>
            </a:solidFill>
            <a:prstDash val="solid"/>
          </a:ln>
        </p:spPr>
      </p:sp>
      <p:sp>
        <p:nvSpPr>
          <p:cNvPr id="25" name="Text 23"/>
          <p:cNvSpPr txBox="1"/>
          <p:nvPr/>
        </p:nvSpPr>
        <p:spPr>
          <a:xfrm>
            <a:off x="566928" y="3986784"/>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5</a:t>
            </a:r>
            <a:endParaRPr lang="en-US" sz="1400" dirty="0"/>
          </a:p>
        </p:txBody>
      </p:sp>
      <p:sp>
        <p:nvSpPr>
          <p:cNvPr id="26" name="Text 24"/>
          <p:cNvSpPr txBox="1"/>
          <p:nvPr/>
        </p:nvSpPr>
        <p:spPr>
          <a:xfrm>
            <a:off x="1051560" y="3922776"/>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節前線維の末端からアセチルコリンが放出される</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74320"/>
            <a:ext cx="868680" cy="384048"/>
          </a:xfrm>
          <a:prstGeom prst="roundRect">
            <a:avLst>
              <a:gd name="adj" fmla="val 19048"/>
            </a:avLst>
          </a:prstGeom>
          <a:solidFill>
            <a:srgbClr val="D9534F"/>
          </a:solidFill>
          <a:ln/>
        </p:spPr>
      </p:sp>
      <p:sp>
        <p:nvSpPr>
          <p:cNvPr id="3" name="Text 1"/>
          <p:cNvSpPr txBox="1"/>
          <p:nvPr/>
        </p:nvSpPr>
        <p:spPr>
          <a:xfrm>
            <a:off x="457200" y="274320"/>
            <a:ext cx="86868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解説</a:t>
            </a:r>
            <a:endParaRPr lang="en-US" sz="1300" dirty="0"/>
          </a:p>
        </p:txBody>
      </p:sp>
      <p:sp>
        <p:nvSpPr>
          <p:cNvPr id="4" name="Text 2"/>
          <p:cNvSpPr txBox="1"/>
          <p:nvPr/>
        </p:nvSpPr>
        <p:spPr>
          <a:xfrm>
            <a:off x="1417320" y="274320"/>
            <a:ext cx="731520" cy="384048"/>
          </a:xfrm>
          <a:prstGeom prst="rect">
            <a:avLst/>
          </a:prstGeom>
          <a:noFill/>
          <a:ln/>
        </p:spPr>
        <p:txBody>
          <a:bodyPr wrap="square" lIns="0" tIns="0" rIns="0" bIns="0" rtlCol="0" anchor="ctr"/>
          <a:lstStyle/>
          <a:p>
            <a:pPr indent="0" marL="0">
              <a:buNone/>
            </a:pPr>
            <a:r>
              <a:rPr lang="en-US" sz="2000" b="1" dirty="0">
                <a:solidFill>
                  <a:srgbClr val="17324D"/>
                </a:solidFill>
                <a:latin typeface="Arial" pitchFamily="34" charset="0"/>
                <a:ea typeface="Arial" pitchFamily="34" charset="-122"/>
                <a:cs typeface="Arial" pitchFamily="34" charset="-120"/>
              </a:rPr>
              <a:t>[4]</a:t>
            </a:r>
            <a:endParaRPr lang="en-US" sz="2000" dirty="0"/>
          </a:p>
        </p:txBody>
      </p:sp>
      <p:sp>
        <p:nvSpPr>
          <p:cNvPr id="5" name="Text 3"/>
          <p:cNvSpPr txBox="1"/>
          <p:nvPr/>
        </p:nvSpPr>
        <p:spPr>
          <a:xfrm>
            <a:off x="5943600" y="274320"/>
            <a:ext cx="2743200" cy="384048"/>
          </a:xfrm>
          <a:prstGeom prst="rect">
            <a:avLst/>
          </a:prstGeom>
          <a:noFill/>
          <a:ln/>
        </p:spPr>
        <p:txBody>
          <a:bodyPr wrap="square" lIns="0" tIns="0" rIns="0" bIns="0" rtlCol="0" anchor="ctr"/>
          <a:lstStyle/>
          <a:p>
            <a:pPr algn="r" indent="0" marL="0">
              <a:buNone/>
            </a:pPr>
            <a:r>
              <a:rPr lang="en-US" sz="1100" dirty="0">
                <a:solidFill>
                  <a:srgbClr val="5F6B76"/>
                </a:solidFill>
                <a:latin typeface="Meiryo" pitchFamily="34" charset="0"/>
                <a:ea typeface="Meiryo" pitchFamily="34" charset="-122"/>
                <a:cs typeface="Meiryo" pitchFamily="34" charset="-120"/>
              </a:rPr>
              <a:t>60回午前63</a:t>
            </a:r>
            <a:endParaRPr lang="en-US" sz="1100" dirty="0"/>
          </a:p>
        </p:txBody>
      </p:sp>
      <p:sp>
        <p:nvSpPr>
          <p:cNvPr id="6" name="Text 4"/>
          <p:cNvSpPr txBox="1"/>
          <p:nvPr/>
        </p:nvSpPr>
        <p:spPr>
          <a:xfrm>
            <a:off x="457200" y="731520"/>
            <a:ext cx="8229600" cy="594360"/>
          </a:xfrm>
          <a:prstGeom prst="rect">
            <a:avLst/>
          </a:prstGeom>
          <a:noFill/>
          <a:ln/>
        </p:spPr>
        <p:txBody>
          <a:bodyPr wrap="square" lIns="0" tIns="0" rIns="0" bIns="0" rtlCol="0" anchor="t"/>
          <a:lstStyle/>
          <a:p>
            <a:pPr indent="0" marL="0">
              <a:buNone/>
            </a:pPr>
            <a:r>
              <a:rPr lang="en-US" sz="1700" b="1" dirty="0">
                <a:solidFill>
                  <a:srgbClr val="222222"/>
                </a:solidFill>
                <a:latin typeface="Meiryo" pitchFamily="34" charset="0"/>
                <a:ea typeface="Meiryo" pitchFamily="34" charset="-122"/>
                <a:cs typeface="Meiryo" pitchFamily="34" charset="-120"/>
              </a:rPr>
              <a:t>自律神経で正しいのはどれか。</a:t>
            </a:r>
            <a:endParaRPr lang="en-US" sz="1700" dirty="0"/>
          </a:p>
        </p:txBody>
      </p:sp>
      <p:sp>
        <p:nvSpPr>
          <p:cNvPr id="7" name="Shape 5"/>
          <p:cNvSpPr/>
          <p:nvPr/>
        </p:nvSpPr>
        <p:spPr>
          <a:xfrm>
            <a:off x="457200" y="1417320"/>
            <a:ext cx="8229600" cy="457200"/>
          </a:xfrm>
          <a:prstGeom prst="roundRect">
            <a:avLst>
              <a:gd name="adj" fmla="val 16000"/>
            </a:avLst>
          </a:prstGeom>
          <a:solidFill>
            <a:srgbClr val="F4F6F8"/>
          </a:solidFill>
          <a:ln/>
        </p:spPr>
      </p:sp>
      <p:sp>
        <p:nvSpPr>
          <p:cNvPr id="8" name="Shape 6"/>
          <p:cNvSpPr/>
          <p:nvPr/>
        </p:nvSpPr>
        <p:spPr>
          <a:xfrm>
            <a:off x="548640" y="1481328"/>
            <a:ext cx="329184" cy="329184"/>
          </a:xfrm>
          <a:prstGeom prst="ellipse">
            <a:avLst/>
          </a:prstGeom>
          <a:solidFill>
            <a:srgbClr val="FFFFFF"/>
          </a:solidFill>
          <a:ln w="12700">
            <a:solidFill>
              <a:srgbClr val="8A96A3"/>
            </a:solidFill>
            <a:prstDash val="solid"/>
          </a:ln>
        </p:spPr>
      </p:sp>
      <p:sp>
        <p:nvSpPr>
          <p:cNvPr id="9" name="Text 7"/>
          <p:cNvSpPr txBox="1"/>
          <p:nvPr/>
        </p:nvSpPr>
        <p:spPr>
          <a:xfrm>
            <a:off x="548640" y="1481328"/>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1</a:t>
            </a:r>
            <a:endParaRPr lang="en-US" sz="1300" dirty="0"/>
          </a:p>
        </p:txBody>
      </p:sp>
      <p:sp>
        <p:nvSpPr>
          <p:cNvPr id="10" name="Text 8"/>
          <p:cNvSpPr txBox="1"/>
          <p:nvPr/>
        </p:nvSpPr>
        <p:spPr>
          <a:xfrm>
            <a:off x="987552" y="1417320"/>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節後線維は有髄線維である</a:t>
            </a:r>
            <a:endParaRPr lang="en-US" sz="1200" dirty="0"/>
          </a:p>
        </p:txBody>
      </p:sp>
      <p:sp>
        <p:nvSpPr>
          <p:cNvPr id="11" name="Text 9"/>
          <p:cNvSpPr txBox="1"/>
          <p:nvPr/>
        </p:nvSpPr>
        <p:spPr>
          <a:xfrm>
            <a:off x="4096512" y="1417320"/>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節後線維は無髄（C線維）、節前線維は有髄（B線維）</a:t>
            </a:r>
            <a:endParaRPr lang="en-US" sz="1100" dirty="0"/>
          </a:p>
        </p:txBody>
      </p:sp>
      <p:sp>
        <p:nvSpPr>
          <p:cNvPr id="12" name="Shape 10"/>
          <p:cNvSpPr/>
          <p:nvPr/>
        </p:nvSpPr>
        <p:spPr>
          <a:xfrm>
            <a:off x="457200" y="1947672"/>
            <a:ext cx="8229600" cy="457200"/>
          </a:xfrm>
          <a:prstGeom prst="roundRect">
            <a:avLst>
              <a:gd name="adj" fmla="val 16000"/>
            </a:avLst>
          </a:prstGeom>
          <a:solidFill>
            <a:srgbClr val="F4F6F8"/>
          </a:solidFill>
          <a:ln/>
        </p:spPr>
      </p:sp>
      <p:sp>
        <p:nvSpPr>
          <p:cNvPr id="13" name="Shape 11"/>
          <p:cNvSpPr/>
          <p:nvPr/>
        </p:nvSpPr>
        <p:spPr>
          <a:xfrm>
            <a:off x="548640" y="2011680"/>
            <a:ext cx="329184" cy="329184"/>
          </a:xfrm>
          <a:prstGeom prst="ellipse">
            <a:avLst/>
          </a:prstGeom>
          <a:solidFill>
            <a:srgbClr val="FFFFFF"/>
          </a:solidFill>
          <a:ln w="12700">
            <a:solidFill>
              <a:srgbClr val="8A96A3"/>
            </a:solidFill>
            <a:prstDash val="solid"/>
          </a:ln>
        </p:spPr>
      </p:sp>
      <p:sp>
        <p:nvSpPr>
          <p:cNvPr id="14" name="Text 12"/>
          <p:cNvSpPr txBox="1"/>
          <p:nvPr/>
        </p:nvSpPr>
        <p:spPr>
          <a:xfrm>
            <a:off x="548640" y="2011680"/>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2</a:t>
            </a:r>
            <a:endParaRPr lang="en-US" sz="1300" dirty="0"/>
          </a:p>
        </p:txBody>
      </p:sp>
      <p:sp>
        <p:nvSpPr>
          <p:cNvPr id="15" name="Text 13"/>
          <p:cNvSpPr txBox="1"/>
          <p:nvPr/>
        </p:nvSpPr>
        <p:spPr>
          <a:xfrm>
            <a:off x="987552" y="1947672"/>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随意的に内臓の機能を調節する</a:t>
            </a:r>
            <a:endParaRPr lang="en-US" sz="1200" dirty="0"/>
          </a:p>
        </p:txBody>
      </p:sp>
      <p:sp>
        <p:nvSpPr>
          <p:cNvPr id="16" name="Text 14"/>
          <p:cNvSpPr txBox="1"/>
          <p:nvPr/>
        </p:nvSpPr>
        <p:spPr>
          <a:xfrm>
            <a:off x="4096512" y="1947672"/>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不随意的に調節</a:t>
            </a:r>
            <a:endParaRPr lang="en-US" sz="1100" dirty="0"/>
          </a:p>
        </p:txBody>
      </p:sp>
      <p:sp>
        <p:nvSpPr>
          <p:cNvPr id="17" name="Shape 15"/>
          <p:cNvSpPr/>
          <p:nvPr/>
        </p:nvSpPr>
        <p:spPr>
          <a:xfrm>
            <a:off x="457200" y="2478024"/>
            <a:ext cx="8229600" cy="457200"/>
          </a:xfrm>
          <a:prstGeom prst="roundRect">
            <a:avLst>
              <a:gd name="adj" fmla="val 16000"/>
            </a:avLst>
          </a:prstGeom>
          <a:solidFill>
            <a:srgbClr val="F4F6F8"/>
          </a:solidFill>
          <a:ln/>
        </p:spPr>
      </p:sp>
      <p:sp>
        <p:nvSpPr>
          <p:cNvPr id="18" name="Shape 16"/>
          <p:cNvSpPr/>
          <p:nvPr/>
        </p:nvSpPr>
        <p:spPr>
          <a:xfrm>
            <a:off x="548640" y="2542032"/>
            <a:ext cx="329184" cy="329184"/>
          </a:xfrm>
          <a:prstGeom prst="ellipse">
            <a:avLst/>
          </a:prstGeom>
          <a:solidFill>
            <a:srgbClr val="FFFFFF"/>
          </a:solidFill>
          <a:ln w="12700">
            <a:solidFill>
              <a:srgbClr val="8A96A3"/>
            </a:solidFill>
            <a:prstDash val="solid"/>
          </a:ln>
        </p:spPr>
      </p:sp>
      <p:sp>
        <p:nvSpPr>
          <p:cNvPr id="19" name="Text 17"/>
          <p:cNvSpPr txBox="1"/>
          <p:nvPr/>
        </p:nvSpPr>
        <p:spPr>
          <a:xfrm>
            <a:off x="548640" y="2542032"/>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3</a:t>
            </a:r>
            <a:endParaRPr lang="en-US" sz="1300" dirty="0"/>
          </a:p>
        </p:txBody>
      </p:sp>
      <p:sp>
        <p:nvSpPr>
          <p:cNvPr id="20" name="Text 18"/>
          <p:cNvSpPr txBox="1"/>
          <p:nvPr/>
        </p:nvSpPr>
        <p:spPr>
          <a:xfrm>
            <a:off x="987552" y="2478024"/>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断続的に臓器へインパルスを発する</a:t>
            </a:r>
            <a:endParaRPr lang="en-US" sz="1200" dirty="0"/>
          </a:p>
        </p:txBody>
      </p:sp>
      <p:sp>
        <p:nvSpPr>
          <p:cNvPr id="21" name="Text 19"/>
          <p:cNvSpPr txBox="1"/>
          <p:nvPr/>
        </p:nvSpPr>
        <p:spPr>
          <a:xfrm>
            <a:off x="4096512" y="2478024"/>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持続的（トーヌス）に発する</a:t>
            </a:r>
            <a:endParaRPr lang="en-US" sz="1100" dirty="0"/>
          </a:p>
        </p:txBody>
      </p:sp>
      <p:sp>
        <p:nvSpPr>
          <p:cNvPr id="22" name="Shape 20"/>
          <p:cNvSpPr/>
          <p:nvPr/>
        </p:nvSpPr>
        <p:spPr>
          <a:xfrm>
            <a:off x="457200" y="3008376"/>
            <a:ext cx="8229600" cy="457200"/>
          </a:xfrm>
          <a:prstGeom prst="roundRect">
            <a:avLst>
              <a:gd name="adj" fmla="val 16000"/>
            </a:avLst>
          </a:prstGeom>
          <a:solidFill>
            <a:srgbClr val="F4F6F8"/>
          </a:solidFill>
          <a:ln/>
        </p:spPr>
      </p:sp>
      <p:sp>
        <p:nvSpPr>
          <p:cNvPr id="23" name="Shape 21"/>
          <p:cNvSpPr/>
          <p:nvPr/>
        </p:nvSpPr>
        <p:spPr>
          <a:xfrm>
            <a:off x="548640" y="3072384"/>
            <a:ext cx="329184" cy="329184"/>
          </a:xfrm>
          <a:prstGeom prst="ellipse">
            <a:avLst/>
          </a:prstGeom>
          <a:solidFill>
            <a:srgbClr val="FFFFFF"/>
          </a:solidFill>
          <a:ln w="12700">
            <a:solidFill>
              <a:srgbClr val="8A96A3"/>
            </a:solidFill>
            <a:prstDash val="solid"/>
          </a:ln>
        </p:spPr>
      </p:sp>
      <p:sp>
        <p:nvSpPr>
          <p:cNvPr id="24" name="Text 22"/>
          <p:cNvSpPr txBox="1"/>
          <p:nvPr/>
        </p:nvSpPr>
        <p:spPr>
          <a:xfrm>
            <a:off x="548640" y="3072384"/>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4</a:t>
            </a:r>
            <a:endParaRPr lang="en-US" sz="1300" dirty="0"/>
          </a:p>
        </p:txBody>
      </p:sp>
      <p:sp>
        <p:nvSpPr>
          <p:cNvPr id="25" name="Text 23"/>
          <p:cNvSpPr txBox="1"/>
          <p:nvPr/>
        </p:nvSpPr>
        <p:spPr>
          <a:xfrm>
            <a:off x="987552" y="3008376"/>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汗腺は交感神経と副交感神経の二重支配である</a:t>
            </a:r>
            <a:endParaRPr lang="en-US" sz="1200" dirty="0"/>
          </a:p>
        </p:txBody>
      </p:sp>
      <p:sp>
        <p:nvSpPr>
          <p:cNvPr id="26" name="Text 24"/>
          <p:cNvSpPr txBox="1"/>
          <p:nvPr/>
        </p:nvSpPr>
        <p:spPr>
          <a:xfrm>
            <a:off x="4096512" y="3008376"/>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汗腺は交感神経のみの支配</a:t>
            </a:r>
            <a:endParaRPr lang="en-US" sz="1100" dirty="0"/>
          </a:p>
        </p:txBody>
      </p:sp>
      <p:sp>
        <p:nvSpPr>
          <p:cNvPr id="27" name="Shape 25"/>
          <p:cNvSpPr/>
          <p:nvPr/>
        </p:nvSpPr>
        <p:spPr>
          <a:xfrm>
            <a:off x="457200" y="3538728"/>
            <a:ext cx="8229600" cy="457200"/>
          </a:xfrm>
          <a:prstGeom prst="roundRect">
            <a:avLst>
              <a:gd name="adj" fmla="val 16000"/>
            </a:avLst>
          </a:prstGeom>
          <a:solidFill>
            <a:srgbClr val="FBE3E2"/>
          </a:solidFill>
          <a:ln w="19050">
            <a:solidFill>
              <a:srgbClr val="D9534F"/>
            </a:solidFill>
            <a:prstDash val="solid"/>
          </a:ln>
        </p:spPr>
      </p:sp>
      <p:sp>
        <p:nvSpPr>
          <p:cNvPr id="28" name="Shape 26"/>
          <p:cNvSpPr/>
          <p:nvPr/>
        </p:nvSpPr>
        <p:spPr>
          <a:xfrm>
            <a:off x="548640" y="3602736"/>
            <a:ext cx="329184" cy="329184"/>
          </a:xfrm>
          <a:prstGeom prst="ellipse">
            <a:avLst/>
          </a:prstGeom>
          <a:solidFill>
            <a:srgbClr val="D9534F"/>
          </a:solidFill>
          <a:ln w="12700">
            <a:solidFill>
              <a:srgbClr val="D9534F"/>
            </a:solidFill>
            <a:prstDash val="solid"/>
          </a:ln>
        </p:spPr>
      </p:sp>
      <p:sp>
        <p:nvSpPr>
          <p:cNvPr id="29" name="Text 27"/>
          <p:cNvSpPr txBox="1"/>
          <p:nvPr/>
        </p:nvSpPr>
        <p:spPr>
          <a:xfrm>
            <a:off x="548640" y="3602736"/>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5</a:t>
            </a:r>
            <a:endParaRPr lang="en-US" sz="1300" dirty="0"/>
          </a:p>
        </p:txBody>
      </p:sp>
      <p:sp>
        <p:nvSpPr>
          <p:cNvPr id="30" name="Text 28"/>
          <p:cNvSpPr txBox="1"/>
          <p:nvPr/>
        </p:nvSpPr>
        <p:spPr>
          <a:xfrm>
            <a:off x="987552" y="3538728"/>
            <a:ext cx="3017520" cy="457200"/>
          </a:xfrm>
          <a:prstGeom prst="rect">
            <a:avLst/>
          </a:prstGeom>
          <a:noFill/>
          <a:ln/>
        </p:spPr>
        <p:txBody>
          <a:bodyPr wrap="square" lIns="0" tIns="0" rIns="0" bIns="0" rtlCol="0" anchor="ctr"/>
          <a:lstStyle/>
          <a:p>
            <a:pPr indent="0" marL="0">
              <a:buNone/>
            </a:pPr>
            <a:r>
              <a:rPr lang="en-US" sz="1200" b="1" dirty="0">
                <a:solidFill>
                  <a:srgbClr val="D9534F"/>
                </a:solidFill>
                <a:latin typeface="Meiryo" pitchFamily="34" charset="0"/>
                <a:ea typeface="Meiryo" pitchFamily="34" charset="-122"/>
                <a:cs typeface="Meiryo" pitchFamily="34" charset="-120"/>
              </a:rPr>
              <a:t>節前線維の末端からアセチルコリンが放出される</a:t>
            </a:r>
            <a:endParaRPr lang="en-US" sz="1200" dirty="0"/>
          </a:p>
        </p:txBody>
      </p:sp>
      <p:sp>
        <p:nvSpPr>
          <p:cNvPr id="31" name="Text 29"/>
          <p:cNvSpPr txBox="1"/>
          <p:nvPr/>
        </p:nvSpPr>
        <p:spPr>
          <a:xfrm>
            <a:off x="4096512" y="3538728"/>
            <a:ext cx="4526280" cy="457200"/>
          </a:xfrm>
          <a:prstGeom prst="rect">
            <a:avLst/>
          </a:prstGeom>
          <a:noFill/>
          <a:ln/>
        </p:spPr>
        <p:txBody>
          <a:bodyPr wrap="square" lIns="0" tIns="0" rIns="0" bIns="0" rtlCol="0" anchor="ctr"/>
          <a:lstStyle/>
          <a:p>
            <a:pPr indent="0" marL="0">
              <a:buNone/>
            </a:pPr>
            <a:r>
              <a:rPr lang="en-US" sz="1100" dirty="0">
                <a:solidFill>
                  <a:srgbClr val="222222"/>
                </a:solidFill>
                <a:latin typeface="Meiryo" pitchFamily="34" charset="0"/>
                <a:ea typeface="Meiryo" pitchFamily="34" charset="-122"/>
                <a:cs typeface="Meiryo" pitchFamily="34" charset="-120"/>
              </a:rPr>
              <a:t>正しい</a:t>
            </a:r>
            <a:endParaRPr lang="en-US" sz="1100" dirty="0"/>
          </a:p>
        </p:txBody>
      </p:sp>
      <p:sp>
        <p:nvSpPr>
          <p:cNvPr id="32" name="Shape 30"/>
          <p:cNvSpPr/>
          <p:nvPr/>
        </p:nvSpPr>
        <p:spPr>
          <a:xfrm>
            <a:off x="457200" y="4160520"/>
            <a:ext cx="1463040" cy="685800"/>
          </a:xfrm>
          <a:prstGeom prst="roundRect">
            <a:avLst>
              <a:gd name="adj" fmla="val 10667"/>
            </a:avLst>
          </a:prstGeom>
          <a:solidFill>
            <a:srgbClr val="D9534F"/>
          </a:solidFill>
          <a:ln/>
        </p:spPr>
      </p:sp>
      <p:sp>
        <p:nvSpPr>
          <p:cNvPr id="33" name="Text 31"/>
          <p:cNvSpPr txBox="1"/>
          <p:nvPr/>
        </p:nvSpPr>
        <p:spPr>
          <a:xfrm>
            <a:off x="457200" y="4160520"/>
            <a:ext cx="1463040" cy="685800"/>
          </a:xfrm>
          <a:prstGeom prst="rect">
            <a:avLst/>
          </a:prstGeom>
          <a:noFill/>
          <a:ln/>
        </p:spPr>
        <p:txBody>
          <a:bodyPr wrap="square" lIns="0" tIns="0" rIns="0" bIns="0" rtlCol="0" anchor="ctr"/>
          <a:lstStyle/>
          <a:p>
            <a:pPr algn="ctr" indent="0" marL="0">
              <a:buNone/>
            </a:pPr>
            <a:r>
              <a:rPr lang="en-US" sz="1100" dirty="0">
                <a:solidFill>
                  <a:srgbClr val="FFFFFF"/>
                </a:solidFill>
                <a:latin typeface="Meiryo" pitchFamily="34" charset="0"/>
                <a:ea typeface="Meiryo" pitchFamily="34" charset="-122"/>
                <a:cs typeface="Meiryo" pitchFamily="34" charset="-120"/>
              </a:rPr>
              <a:t>正解</a:t>
            </a:r>
            <a:endParaRPr lang="en-US" sz="1100" dirty="0"/>
          </a:p>
          <a:p>
            <a:pPr algn="ctr" indent="0" marL="0">
              <a:buNone/>
            </a:pPr>
            <a:r>
              <a:rPr lang="en-US" sz="2200" b="1" dirty="0">
                <a:solidFill>
                  <a:srgbClr val="FFFFFF"/>
                </a:solidFill>
                <a:latin typeface="Meiryo" pitchFamily="34" charset="0"/>
                <a:ea typeface="Meiryo" pitchFamily="34" charset="-122"/>
                <a:cs typeface="Meiryo" pitchFamily="34" charset="-120"/>
              </a:rPr>
              <a:t>5</a:t>
            </a:r>
            <a:endParaRPr lang="en-US" sz="1100" dirty="0"/>
          </a:p>
        </p:txBody>
      </p:sp>
      <p:sp>
        <p:nvSpPr>
          <p:cNvPr id="34" name="Shape 32"/>
          <p:cNvSpPr/>
          <p:nvPr/>
        </p:nvSpPr>
        <p:spPr>
          <a:xfrm>
            <a:off x="2057400" y="4160520"/>
            <a:ext cx="6629400" cy="685800"/>
          </a:xfrm>
          <a:prstGeom prst="roundRect">
            <a:avLst>
              <a:gd name="adj" fmla="val 10667"/>
            </a:avLst>
          </a:prstGeom>
          <a:solidFill>
            <a:srgbClr val="EAF2F8"/>
          </a:solidFill>
          <a:ln/>
        </p:spPr>
      </p:sp>
      <p:sp>
        <p:nvSpPr>
          <p:cNvPr id="35" name="Text 33"/>
          <p:cNvSpPr txBox="1"/>
          <p:nvPr/>
        </p:nvSpPr>
        <p:spPr>
          <a:xfrm>
            <a:off x="2194560" y="4160520"/>
            <a:ext cx="6400800" cy="685800"/>
          </a:xfrm>
          <a:prstGeom prst="rect">
            <a:avLst/>
          </a:prstGeom>
          <a:noFill/>
          <a:ln/>
        </p:spPr>
        <p:txBody>
          <a:bodyPr wrap="square" lIns="0" tIns="0" rIns="0" bIns="0" rtlCol="0" anchor="ctr"/>
          <a:lstStyle/>
          <a:p>
            <a:pPr indent="0" marL="0">
              <a:buNone/>
            </a:pPr>
            <a:r>
              <a:rPr lang="en-US" sz="1200" b="1" dirty="0">
                <a:solidFill>
                  <a:srgbClr val="2A7F9E"/>
                </a:solidFill>
                <a:latin typeface="Meiryo" pitchFamily="34" charset="0"/>
                <a:ea typeface="Meiryo" pitchFamily="34" charset="-122"/>
                <a:cs typeface="Meiryo" pitchFamily="34" charset="-120"/>
              </a:rPr>
              <a:t>POINT　</a:t>
            </a:r>
            <a:pPr indent="0" marL="0">
              <a:buNone/>
            </a:pPr>
            <a:r>
              <a:rPr lang="en-US" sz="1200" dirty="0">
                <a:solidFill>
                  <a:srgbClr val="222222"/>
                </a:solidFill>
                <a:latin typeface="Meiryo" pitchFamily="34" charset="0"/>
                <a:ea typeface="Meiryo" pitchFamily="34" charset="-122"/>
                <a:cs typeface="Meiryo" pitchFamily="34" charset="-120"/>
              </a:rPr>
              <a:t>節前＝有髄・ACh、節後＝無髄。</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74320"/>
            <a:ext cx="868680" cy="384048"/>
          </a:xfrm>
          <a:prstGeom prst="roundRect">
            <a:avLst>
              <a:gd name="adj" fmla="val 19048"/>
            </a:avLst>
          </a:prstGeom>
          <a:solidFill>
            <a:srgbClr val="17324D"/>
          </a:solidFill>
          <a:ln/>
        </p:spPr>
      </p:sp>
      <p:sp>
        <p:nvSpPr>
          <p:cNvPr id="3" name="Text 1"/>
          <p:cNvSpPr txBox="1"/>
          <p:nvPr/>
        </p:nvSpPr>
        <p:spPr>
          <a:xfrm>
            <a:off x="457200" y="274320"/>
            <a:ext cx="86868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問題</a:t>
            </a:r>
            <a:endParaRPr lang="en-US" sz="1300" dirty="0"/>
          </a:p>
        </p:txBody>
      </p:sp>
      <p:sp>
        <p:nvSpPr>
          <p:cNvPr id="4" name="Text 2"/>
          <p:cNvSpPr txBox="1"/>
          <p:nvPr/>
        </p:nvSpPr>
        <p:spPr>
          <a:xfrm>
            <a:off x="1417320" y="274320"/>
            <a:ext cx="731520" cy="384048"/>
          </a:xfrm>
          <a:prstGeom prst="rect">
            <a:avLst/>
          </a:prstGeom>
          <a:noFill/>
          <a:ln/>
        </p:spPr>
        <p:txBody>
          <a:bodyPr wrap="square" lIns="0" tIns="0" rIns="0" bIns="0" rtlCol="0" anchor="ctr"/>
          <a:lstStyle/>
          <a:p>
            <a:pPr indent="0" marL="0">
              <a:buNone/>
            </a:pPr>
            <a:r>
              <a:rPr lang="en-US" sz="2000" b="1" dirty="0">
                <a:solidFill>
                  <a:srgbClr val="17324D"/>
                </a:solidFill>
                <a:latin typeface="Arial" pitchFamily="34" charset="0"/>
                <a:ea typeface="Arial" pitchFamily="34" charset="-122"/>
                <a:cs typeface="Arial" pitchFamily="34" charset="-120"/>
              </a:rPr>
              <a:t>[5]</a:t>
            </a:r>
            <a:endParaRPr lang="en-US" sz="2000" dirty="0"/>
          </a:p>
        </p:txBody>
      </p:sp>
      <p:sp>
        <p:nvSpPr>
          <p:cNvPr id="5" name="Text 3"/>
          <p:cNvSpPr txBox="1"/>
          <p:nvPr/>
        </p:nvSpPr>
        <p:spPr>
          <a:xfrm>
            <a:off x="5943600" y="274320"/>
            <a:ext cx="2743200" cy="384048"/>
          </a:xfrm>
          <a:prstGeom prst="rect">
            <a:avLst/>
          </a:prstGeom>
          <a:noFill/>
          <a:ln/>
        </p:spPr>
        <p:txBody>
          <a:bodyPr wrap="square" lIns="0" tIns="0" rIns="0" bIns="0" rtlCol="0" anchor="ctr"/>
          <a:lstStyle/>
          <a:p>
            <a:pPr algn="r" indent="0" marL="0">
              <a:buNone/>
            </a:pPr>
            <a:r>
              <a:rPr lang="en-US" sz="1100" dirty="0">
                <a:solidFill>
                  <a:srgbClr val="5F6B76"/>
                </a:solidFill>
                <a:latin typeface="Meiryo" pitchFamily="34" charset="0"/>
                <a:ea typeface="Meiryo" pitchFamily="34" charset="-122"/>
                <a:cs typeface="Meiryo" pitchFamily="34" charset="-120"/>
              </a:rPr>
              <a:t>60回午後65</a:t>
            </a:r>
            <a:endParaRPr lang="en-US" sz="1100" dirty="0"/>
          </a:p>
        </p:txBody>
      </p:sp>
      <p:sp>
        <p:nvSpPr>
          <p:cNvPr id="6" name="Text 4"/>
          <p:cNvSpPr txBox="1"/>
          <p:nvPr/>
        </p:nvSpPr>
        <p:spPr>
          <a:xfrm>
            <a:off x="457200" y="731520"/>
            <a:ext cx="8229600" cy="594360"/>
          </a:xfrm>
          <a:prstGeom prst="rect">
            <a:avLst/>
          </a:prstGeom>
          <a:noFill/>
          <a:ln/>
        </p:spPr>
        <p:txBody>
          <a:bodyPr wrap="square" lIns="0" tIns="0" rIns="0" bIns="0" rtlCol="0" anchor="t"/>
          <a:lstStyle/>
          <a:p>
            <a:pPr indent="0" marL="0">
              <a:buNone/>
            </a:pPr>
            <a:r>
              <a:rPr lang="en-US" sz="1700" b="1" dirty="0">
                <a:solidFill>
                  <a:srgbClr val="222222"/>
                </a:solidFill>
                <a:latin typeface="Meiryo" pitchFamily="34" charset="0"/>
                <a:ea typeface="Meiryo" pitchFamily="34" charset="-122"/>
                <a:cs typeface="Meiryo" pitchFamily="34" charset="-120"/>
              </a:rPr>
              <a:t>副交感神経の作用で分泌が促進されるのはどれか。２つ選べ。</a:t>
            </a:r>
            <a:endParaRPr lang="en-US" sz="1700" dirty="0"/>
          </a:p>
        </p:txBody>
      </p:sp>
      <p:sp>
        <p:nvSpPr>
          <p:cNvPr id="7" name="Shape 5"/>
          <p:cNvSpPr/>
          <p:nvPr/>
        </p:nvSpPr>
        <p:spPr>
          <a:xfrm>
            <a:off x="457200" y="1508760"/>
            <a:ext cx="8229600" cy="493776"/>
          </a:xfrm>
          <a:prstGeom prst="roundRect">
            <a:avLst>
              <a:gd name="adj" fmla="val 14815"/>
            </a:avLst>
          </a:prstGeom>
          <a:solidFill>
            <a:srgbClr val="EAF2F8"/>
          </a:solidFill>
          <a:ln/>
        </p:spPr>
      </p:sp>
      <p:sp>
        <p:nvSpPr>
          <p:cNvPr id="8" name="Shape 6"/>
          <p:cNvSpPr/>
          <p:nvPr/>
        </p:nvSpPr>
        <p:spPr>
          <a:xfrm>
            <a:off x="566928" y="1572768"/>
            <a:ext cx="365760" cy="365760"/>
          </a:xfrm>
          <a:prstGeom prst="ellipse">
            <a:avLst/>
          </a:prstGeom>
          <a:solidFill>
            <a:srgbClr val="FFFFFF"/>
          </a:solidFill>
          <a:ln w="15875">
            <a:solidFill>
              <a:srgbClr val="17324D"/>
            </a:solidFill>
            <a:prstDash val="solid"/>
          </a:ln>
        </p:spPr>
      </p:sp>
      <p:sp>
        <p:nvSpPr>
          <p:cNvPr id="9" name="Text 7"/>
          <p:cNvSpPr txBox="1"/>
          <p:nvPr/>
        </p:nvSpPr>
        <p:spPr>
          <a:xfrm>
            <a:off x="566928" y="1572768"/>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1</a:t>
            </a:r>
            <a:endParaRPr lang="en-US" sz="1400" dirty="0"/>
          </a:p>
        </p:txBody>
      </p:sp>
      <p:sp>
        <p:nvSpPr>
          <p:cNvPr id="10" name="Text 8"/>
          <p:cNvSpPr txBox="1"/>
          <p:nvPr/>
        </p:nvSpPr>
        <p:spPr>
          <a:xfrm>
            <a:off x="1051560" y="1508760"/>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汗腺</a:t>
            </a:r>
            <a:endParaRPr lang="en-US" sz="1500" dirty="0"/>
          </a:p>
        </p:txBody>
      </p:sp>
      <p:sp>
        <p:nvSpPr>
          <p:cNvPr id="11" name="Shape 9"/>
          <p:cNvSpPr/>
          <p:nvPr/>
        </p:nvSpPr>
        <p:spPr>
          <a:xfrm>
            <a:off x="457200" y="2112264"/>
            <a:ext cx="8229600" cy="493776"/>
          </a:xfrm>
          <a:prstGeom prst="roundRect">
            <a:avLst>
              <a:gd name="adj" fmla="val 14815"/>
            </a:avLst>
          </a:prstGeom>
          <a:solidFill>
            <a:srgbClr val="EAF2F8"/>
          </a:solidFill>
          <a:ln/>
        </p:spPr>
      </p:sp>
      <p:sp>
        <p:nvSpPr>
          <p:cNvPr id="12" name="Shape 10"/>
          <p:cNvSpPr/>
          <p:nvPr/>
        </p:nvSpPr>
        <p:spPr>
          <a:xfrm>
            <a:off x="566928" y="2176272"/>
            <a:ext cx="365760" cy="365760"/>
          </a:xfrm>
          <a:prstGeom prst="ellipse">
            <a:avLst/>
          </a:prstGeom>
          <a:solidFill>
            <a:srgbClr val="FFFFFF"/>
          </a:solidFill>
          <a:ln w="15875">
            <a:solidFill>
              <a:srgbClr val="17324D"/>
            </a:solidFill>
            <a:prstDash val="solid"/>
          </a:ln>
        </p:spPr>
      </p:sp>
      <p:sp>
        <p:nvSpPr>
          <p:cNvPr id="13" name="Text 11"/>
          <p:cNvSpPr txBox="1"/>
          <p:nvPr/>
        </p:nvSpPr>
        <p:spPr>
          <a:xfrm>
            <a:off x="566928" y="2176272"/>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2</a:t>
            </a:r>
            <a:endParaRPr lang="en-US" sz="1400" dirty="0"/>
          </a:p>
        </p:txBody>
      </p:sp>
      <p:sp>
        <p:nvSpPr>
          <p:cNvPr id="14" name="Text 12"/>
          <p:cNvSpPr txBox="1"/>
          <p:nvPr/>
        </p:nvSpPr>
        <p:spPr>
          <a:xfrm>
            <a:off x="1051560" y="2112264"/>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涙腺</a:t>
            </a:r>
            <a:endParaRPr lang="en-US" sz="1500" dirty="0"/>
          </a:p>
        </p:txBody>
      </p:sp>
      <p:sp>
        <p:nvSpPr>
          <p:cNvPr id="15" name="Shape 13"/>
          <p:cNvSpPr/>
          <p:nvPr/>
        </p:nvSpPr>
        <p:spPr>
          <a:xfrm>
            <a:off x="457200" y="2715768"/>
            <a:ext cx="8229600" cy="493776"/>
          </a:xfrm>
          <a:prstGeom prst="roundRect">
            <a:avLst>
              <a:gd name="adj" fmla="val 14815"/>
            </a:avLst>
          </a:prstGeom>
          <a:solidFill>
            <a:srgbClr val="EAF2F8"/>
          </a:solidFill>
          <a:ln/>
        </p:spPr>
      </p:sp>
      <p:sp>
        <p:nvSpPr>
          <p:cNvPr id="16" name="Shape 14"/>
          <p:cNvSpPr/>
          <p:nvPr/>
        </p:nvSpPr>
        <p:spPr>
          <a:xfrm>
            <a:off x="566928" y="2779776"/>
            <a:ext cx="365760" cy="365760"/>
          </a:xfrm>
          <a:prstGeom prst="ellipse">
            <a:avLst/>
          </a:prstGeom>
          <a:solidFill>
            <a:srgbClr val="FFFFFF"/>
          </a:solidFill>
          <a:ln w="15875">
            <a:solidFill>
              <a:srgbClr val="17324D"/>
            </a:solidFill>
            <a:prstDash val="solid"/>
          </a:ln>
        </p:spPr>
      </p:sp>
      <p:sp>
        <p:nvSpPr>
          <p:cNvPr id="17" name="Text 15"/>
          <p:cNvSpPr txBox="1"/>
          <p:nvPr/>
        </p:nvSpPr>
        <p:spPr>
          <a:xfrm>
            <a:off x="566928" y="2779776"/>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3</a:t>
            </a:r>
            <a:endParaRPr lang="en-US" sz="1400" dirty="0"/>
          </a:p>
        </p:txBody>
      </p:sp>
      <p:sp>
        <p:nvSpPr>
          <p:cNvPr id="18" name="Text 16"/>
          <p:cNvSpPr txBox="1"/>
          <p:nvPr/>
        </p:nvSpPr>
        <p:spPr>
          <a:xfrm>
            <a:off x="1051560" y="2715768"/>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舌下腺</a:t>
            </a:r>
            <a:endParaRPr lang="en-US" sz="1500" dirty="0"/>
          </a:p>
        </p:txBody>
      </p:sp>
      <p:sp>
        <p:nvSpPr>
          <p:cNvPr id="19" name="Shape 17"/>
          <p:cNvSpPr/>
          <p:nvPr/>
        </p:nvSpPr>
        <p:spPr>
          <a:xfrm>
            <a:off x="457200" y="3319272"/>
            <a:ext cx="8229600" cy="493776"/>
          </a:xfrm>
          <a:prstGeom prst="roundRect">
            <a:avLst>
              <a:gd name="adj" fmla="val 14815"/>
            </a:avLst>
          </a:prstGeom>
          <a:solidFill>
            <a:srgbClr val="EAF2F8"/>
          </a:solidFill>
          <a:ln/>
        </p:spPr>
      </p:sp>
      <p:sp>
        <p:nvSpPr>
          <p:cNvPr id="20" name="Shape 18"/>
          <p:cNvSpPr/>
          <p:nvPr/>
        </p:nvSpPr>
        <p:spPr>
          <a:xfrm>
            <a:off x="566928" y="3383280"/>
            <a:ext cx="365760" cy="365760"/>
          </a:xfrm>
          <a:prstGeom prst="ellipse">
            <a:avLst/>
          </a:prstGeom>
          <a:solidFill>
            <a:srgbClr val="FFFFFF"/>
          </a:solidFill>
          <a:ln w="15875">
            <a:solidFill>
              <a:srgbClr val="17324D"/>
            </a:solidFill>
            <a:prstDash val="solid"/>
          </a:ln>
        </p:spPr>
      </p:sp>
      <p:sp>
        <p:nvSpPr>
          <p:cNvPr id="21" name="Text 19"/>
          <p:cNvSpPr txBox="1"/>
          <p:nvPr/>
        </p:nvSpPr>
        <p:spPr>
          <a:xfrm>
            <a:off x="566928" y="3383280"/>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4</a:t>
            </a:r>
            <a:endParaRPr lang="en-US" sz="1400" dirty="0"/>
          </a:p>
        </p:txBody>
      </p:sp>
      <p:sp>
        <p:nvSpPr>
          <p:cNvPr id="22" name="Text 20"/>
          <p:cNvSpPr txBox="1"/>
          <p:nvPr/>
        </p:nvSpPr>
        <p:spPr>
          <a:xfrm>
            <a:off x="1051560" y="3319272"/>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レニン</a:t>
            </a:r>
            <a:endParaRPr lang="en-US" sz="1500" dirty="0"/>
          </a:p>
        </p:txBody>
      </p:sp>
      <p:sp>
        <p:nvSpPr>
          <p:cNvPr id="23" name="Shape 21"/>
          <p:cNvSpPr/>
          <p:nvPr/>
        </p:nvSpPr>
        <p:spPr>
          <a:xfrm>
            <a:off x="457200" y="3922776"/>
            <a:ext cx="8229600" cy="493776"/>
          </a:xfrm>
          <a:prstGeom prst="roundRect">
            <a:avLst>
              <a:gd name="adj" fmla="val 14815"/>
            </a:avLst>
          </a:prstGeom>
          <a:solidFill>
            <a:srgbClr val="EAF2F8"/>
          </a:solidFill>
          <a:ln/>
        </p:spPr>
      </p:sp>
      <p:sp>
        <p:nvSpPr>
          <p:cNvPr id="24" name="Shape 22"/>
          <p:cNvSpPr/>
          <p:nvPr/>
        </p:nvSpPr>
        <p:spPr>
          <a:xfrm>
            <a:off x="566928" y="3986784"/>
            <a:ext cx="365760" cy="365760"/>
          </a:xfrm>
          <a:prstGeom prst="ellipse">
            <a:avLst/>
          </a:prstGeom>
          <a:solidFill>
            <a:srgbClr val="FFFFFF"/>
          </a:solidFill>
          <a:ln w="15875">
            <a:solidFill>
              <a:srgbClr val="17324D"/>
            </a:solidFill>
            <a:prstDash val="solid"/>
          </a:ln>
        </p:spPr>
      </p:sp>
      <p:sp>
        <p:nvSpPr>
          <p:cNvPr id="25" name="Text 23"/>
          <p:cNvSpPr txBox="1"/>
          <p:nvPr/>
        </p:nvSpPr>
        <p:spPr>
          <a:xfrm>
            <a:off x="566928" y="3986784"/>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5</a:t>
            </a:r>
            <a:endParaRPr lang="en-US" sz="1400" dirty="0"/>
          </a:p>
        </p:txBody>
      </p:sp>
      <p:sp>
        <p:nvSpPr>
          <p:cNvPr id="26" name="Text 24"/>
          <p:cNvSpPr txBox="1"/>
          <p:nvPr/>
        </p:nvSpPr>
        <p:spPr>
          <a:xfrm>
            <a:off x="1051560" y="3922776"/>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ノルアドレナリン</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74320"/>
            <a:ext cx="868680" cy="384048"/>
          </a:xfrm>
          <a:prstGeom prst="roundRect">
            <a:avLst>
              <a:gd name="adj" fmla="val 19048"/>
            </a:avLst>
          </a:prstGeom>
          <a:solidFill>
            <a:srgbClr val="D9534F"/>
          </a:solidFill>
          <a:ln/>
        </p:spPr>
      </p:sp>
      <p:sp>
        <p:nvSpPr>
          <p:cNvPr id="3" name="Text 1"/>
          <p:cNvSpPr txBox="1"/>
          <p:nvPr/>
        </p:nvSpPr>
        <p:spPr>
          <a:xfrm>
            <a:off x="457200" y="274320"/>
            <a:ext cx="86868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解説</a:t>
            </a:r>
            <a:endParaRPr lang="en-US" sz="1300" dirty="0"/>
          </a:p>
        </p:txBody>
      </p:sp>
      <p:sp>
        <p:nvSpPr>
          <p:cNvPr id="4" name="Text 2"/>
          <p:cNvSpPr txBox="1"/>
          <p:nvPr/>
        </p:nvSpPr>
        <p:spPr>
          <a:xfrm>
            <a:off x="1417320" y="274320"/>
            <a:ext cx="731520" cy="384048"/>
          </a:xfrm>
          <a:prstGeom prst="rect">
            <a:avLst/>
          </a:prstGeom>
          <a:noFill/>
          <a:ln/>
        </p:spPr>
        <p:txBody>
          <a:bodyPr wrap="square" lIns="0" tIns="0" rIns="0" bIns="0" rtlCol="0" anchor="ctr"/>
          <a:lstStyle/>
          <a:p>
            <a:pPr indent="0" marL="0">
              <a:buNone/>
            </a:pPr>
            <a:r>
              <a:rPr lang="en-US" sz="2000" b="1" dirty="0">
                <a:solidFill>
                  <a:srgbClr val="17324D"/>
                </a:solidFill>
                <a:latin typeface="Arial" pitchFamily="34" charset="0"/>
                <a:ea typeface="Arial" pitchFamily="34" charset="-122"/>
                <a:cs typeface="Arial" pitchFamily="34" charset="-120"/>
              </a:rPr>
              <a:t>[5]</a:t>
            </a:r>
            <a:endParaRPr lang="en-US" sz="2000" dirty="0"/>
          </a:p>
        </p:txBody>
      </p:sp>
      <p:sp>
        <p:nvSpPr>
          <p:cNvPr id="5" name="Text 3"/>
          <p:cNvSpPr txBox="1"/>
          <p:nvPr/>
        </p:nvSpPr>
        <p:spPr>
          <a:xfrm>
            <a:off x="5943600" y="274320"/>
            <a:ext cx="2743200" cy="384048"/>
          </a:xfrm>
          <a:prstGeom prst="rect">
            <a:avLst/>
          </a:prstGeom>
          <a:noFill/>
          <a:ln/>
        </p:spPr>
        <p:txBody>
          <a:bodyPr wrap="square" lIns="0" tIns="0" rIns="0" bIns="0" rtlCol="0" anchor="ctr"/>
          <a:lstStyle/>
          <a:p>
            <a:pPr algn="r" indent="0" marL="0">
              <a:buNone/>
            </a:pPr>
            <a:r>
              <a:rPr lang="en-US" sz="1100" dirty="0">
                <a:solidFill>
                  <a:srgbClr val="5F6B76"/>
                </a:solidFill>
                <a:latin typeface="Meiryo" pitchFamily="34" charset="0"/>
                <a:ea typeface="Meiryo" pitchFamily="34" charset="-122"/>
                <a:cs typeface="Meiryo" pitchFamily="34" charset="-120"/>
              </a:rPr>
              <a:t>60回午後65</a:t>
            </a:r>
            <a:endParaRPr lang="en-US" sz="1100" dirty="0"/>
          </a:p>
        </p:txBody>
      </p:sp>
      <p:sp>
        <p:nvSpPr>
          <p:cNvPr id="6" name="Text 4"/>
          <p:cNvSpPr txBox="1"/>
          <p:nvPr/>
        </p:nvSpPr>
        <p:spPr>
          <a:xfrm>
            <a:off x="457200" y="731520"/>
            <a:ext cx="8229600" cy="594360"/>
          </a:xfrm>
          <a:prstGeom prst="rect">
            <a:avLst/>
          </a:prstGeom>
          <a:noFill/>
          <a:ln/>
        </p:spPr>
        <p:txBody>
          <a:bodyPr wrap="square" lIns="0" tIns="0" rIns="0" bIns="0" rtlCol="0" anchor="t"/>
          <a:lstStyle/>
          <a:p>
            <a:pPr indent="0" marL="0">
              <a:buNone/>
            </a:pPr>
            <a:r>
              <a:rPr lang="en-US" sz="1700" b="1" dirty="0">
                <a:solidFill>
                  <a:srgbClr val="222222"/>
                </a:solidFill>
                <a:latin typeface="Meiryo" pitchFamily="34" charset="0"/>
                <a:ea typeface="Meiryo" pitchFamily="34" charset="-122"/>
                <a:cs typeface="Meiryo" pitchFamily="34" charset="-120"/>
              </a:rPr>
              <a:t>副交感神経の作用で分泌が促進されるのはどれか。２つ選べ。</a:t>
            </a:r>
            <a:endParaRPr lang="en-US" sz="1700" dirty="0"/>
          </a:p>
        </p:txBody>
      </p:sp>
      <p:sp>
        <p:nvSpPr>
          <p:cNvPr id="7" name="Shape 5"/>
          <p:cNvSpPr/>
          <p:nvPr/>
        </p:nvSpPr>
        <p:spPr>
          <a:xfrm>
            <a:off x="457200" y="1417320"/>
            <a:ext cx="8229600" cy="457200"/>
          </a:xfrm>
          <a:prstGeom prst="roundRect">
            <a:avLst>
              <a:gd name="adj" fmla="val 16000"/>
            </a:avLst>
          </a:prstGeom>
          <a:solidFill>
            <a:srgbClr val="F4F6F8"/>
          </a:solidFill>
          <a:ln/>
        </p:spPr>
      </p:sp>
      <p:sp>
        <p:nvSpPr>
          <p:cNvPr id="8" name="Shape 6"/>
          <p:cNvSpPr/>
          <p:nvPr/>
        </p:nvSpPr>
        <p:spPr>
          <a:xfrm>
            <a:off x="548640" y="1481328"/>
            <a:ext cx="329184" cy="329184"/>
          </a:xfrm>
          <a:prstGeom prst="ellipse">
            <a:avLst/>
          </a:prstGeom>
          <a:solidFill>
            <a:srgbClr val="FFFFFF"/>
          </a:solidFill>
          <a:ln w="12700">
            <a:solidFill>
              <a:srgbClr val="8A96A3"/>
            </a:solidFill>
            <a:prstDash val="solid"/>
          </a:ln>
        </p:spPr>
      </p:sp>
      <p:sp>
        <p:nvSpPr>
          <p:cNvPr id="9" name="Text 7"/>
          <p:cNvSpPr txBox="1"/>
          <p:nvPr/>
        </p:nvSpPr>
        <p:spPr>
          <a:xfrm>
            <a:off x="548640" y="1481328"/>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1</a:t>
            </a:r>
            <a:endParaRPr lang="en-US" sz="1300" dirty="0"/>
          </a:p>
        </p:txBody>
      </p:sp>
      <p:sp>
        <p:nvSpPr>
          <p:cNvPr id="10" name="Text 8"/>
          <p:cNvSpPr txBox="1"/>
          <p:nvPr/>
        </p:nvSpPr>
        <p:spPr>
          <a:xfrm>
            <a:off x="987552" y="1417320"/>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汗腺</a:t>
            </a:r>
            <a:endParaRPr lang="en-US" sz="1200" dirty="0"/>
          </a:p>
        </p:txBody>
      </p:sp>
      <p:sp>
        <p:nvSpPr>
          <p:cNvPr id="11" name="Text 9"/>
          <p:cNvSpPr txBox="1"/>
          <p:nvPr/>
        </p:nvSpPr>
        <p:spPr>
          <a:xfrm>
            <a:off x="4096512" y="1417320"/>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交感神経（ただし伝達物質はACh）</a:t>
            </a:r>
            <a:endParaRPr lang="en-US" sz="1100" dirty="0"/>
          </a:p>
        </p:txBody>
      </p:sp>
      <p:sp>
        <p:nvSpPr>
          <p:cNvPr id="12" name="Shape 10"/>
          <p:cNvSpPr/>
          <p:nvPr/>
        </p:nvSpPr>
        <p:spPr>
          <a:xfrm>
            <a:off x="457200" y="1947672"/>
            <a:ext cx="8229600" cy="457200"/>
          </a:xfrm>
          <a:prstGeom prst="roundRect">
            <a:avLst>
              <a:gd name="adj" fmla="val 16000"/>
            </a:avLst>
          </a:prstGeom>
          <a:solidFill>
            <a:srgbClr val="FBE3E2"/>
          </a:solidFill>
          <a:ln w="19050">
            <a:solidFill>
              <a:srgbClr val="D9534F"/>
            </a:solidFill>
            <a:prstDash val="solid"/>
          </a:ln>
        </p:spPr>
      </p:sp>
      <p:sp>
        <p:nvSpPr>
          <p:cNvPr id="13" name="Shape 11"/>
          <p:cNvSpPr/>
          <p:nvPr/>
        </p:nvSpPr>
        <p:spPr>
          <a:xfrm>
            <a:off x="548640" y="2011680"/>
            <a:ext cx="329184" cy="329184"/>
          </a:xfrm>
          <a:prstGeom prst="ellipse">
            <a:avLst/>
          </a:prstGeom>
          <a:solidFill>
            <a:srgbClr val="D9534F"/>
          </a:solidFill>
          <a:ln w="12700">
            <a:solidFill>
              <a:srgbClr val="D9534F"/>
            </a:solidFill>
            <a:prstDash val="solid"/>
          </a:ln>
        </p:spPr>
      </p:sp>
      <p:sp>
        <p:nvSpPr>
          <p:cNvPr id="14" name="Text 12"/>
          <p:cNvSpPr txBox="1"/>
          <p:nvPr/>
        </p:nvSpPr>
        <p:spPr>
          <a:xfrm>
            <a:off x="548640" y="2011680"/>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5" name="Text 13"/>
          <p:cNvSpPr txBox="1"/>
          <p:nvPr/>
        </p:nvSpPr>
        <p:spPr>
          <a:xfrm>
            <a:off x="987552" y="1947672"/>
            <a:ext cx="3017520" cy="457200"/>
          </a:xfrm>
          <a:prstGeom prst="rect">
            <a:avLst/>
          </a:prstGeom>
          <a:noFill/>
          <a:ln/>
        </p:spPr>
        <p:txBody>
          <a:bodyPr wrap="square" lIns="0" tIns="0" rIns="0" bIns="0" rtlCol="0" anchor="ctr"/>
          <a:lstStyle/>
          <a:p>
            <a:pPr indent="0" marL="0">
              <a:buNone/>
            </a:pPr>
            <a:r>
              <a:rPr lang="en-US" sz="1200" b="1" dirty="0">
                <a:solidFill>
                  <a:srgbClr val="D9534F"/>
                </a:solidFill>
                <a:latin typeface="Meiryo" pitchFamily="34" charset="0"/>
                <a:ea typeface="Meiryo" pitchFamily="34" charset="-122"/>
                <a:cs typeface="Meiryo" pitchFamily="34" charset="-120"/>
              </a:rPr>
              <a:t>涙腺</a:t>
            </a:r>
            <a:endParaRPr lang="en-US" sz="1200" dirty="0"/>
          </a:p>
        </p:txBody>
      </p:sp>
      <p:sp>
        <p:nvSpPr>
          <p:cNvPr id="16" name="Text 14"/>
          <p:cNvSpPr txBox="1"/>
          <p:nvPr/>
        </p:nvSpPr>
        <p:spPr>
          <a:xfrm>
            <a:off x="4096512" y="1947672"/>
            <a:ext cx="4526280" cy="457200"/>
          </a:xfrm>
          <a:prstGeom prst="rect">
            <a:avLst/>
          </a:prstGeom>
          <a:noFill/>
          <a:ln/>
        </p:spPr>
        <p:txBody>
          <a:bodyPr wrap="square" lIns="0" tIns="0" rIns="0" bIns="0" rtlCol="0" anchor="ctr"/>
          <a:lstStyle/>
          <a:p>
            <a:pPr indent="0" marL="0">
              <a:buNone/>
            </a:pPr>
            <a:r>
              <a:rPr lang="en-US" sz="1100" dirty="0">
                <a:solidFill>
                  <a:srgbClr val="222222"/>
                </a:solidFill>
                <a:latin typeface="Meiryo" pitchFamily="34" charset="0"/>
                <a:ea typeface="Meiryo" pitchFamily="34" charset="-122"/>
                <a:cs typeface="Meiryo" pitchFamily="34" charset="-120"/>
              </a:rPr>
              <a:t>顔面神経（副交感）で促進 ○</a:t>
            </a:r>
            <a:endParaRPr lang="en-US" sz="1100" dirty="0"/>
          </a:p>
        </p:txBody>
      </p:sp>
      <p:sp>
        <p:nvSpPr>
          <p:cNvPr id="17" name="Shape 15"/>
          <p:cNvSpPr/>
          <p:nvPr/>
        </p:nvSpPr>
        <p:spPr>
          <a:xfrm>
            <a:off x="457200" y="2478024"/>
            <a:ext cx="8229600" cy="457200"/>
          </a:xfrm>
          <a:prstGeom prst="roundRect">
            <a:avLst>
              <a:gd name="adj" fmla="val 16000"/>
            </a:avLst>
          </a:prstGeom>
          <a:solidFill>
            <a:srgbClr val="FBE3E2"/>
          </a:solidFill>
          <a:ln w="19050">
            <a:solidFill>
              <a:srgbClr val="D9534F"/>
            </a:solidFill>
            <a:prstDash val="solid"/>
          </a:ln>
        </p:spPr>
      </p:sp>
      <p:sp>
        <p:nvSpPr>
          <p:cNvPr id="18" name="Shape 16"/>
          <p:cNvSpPr/>
          <p:nvPr/>
        </p:nvSpPr>
        <p:spPr>
          <a:xfrm>
            <a:off x="548640" y="2542032"/>
            <a:ext cx="329184" cy="329184"/>
          </a:xfrm>
          <a:prstGeom prst="ellipse">
            <a:avLst/>
          </a:prstGeom>
          <a:solidFill>
            <a:srgbClr val="D9534F"/>
          </a:solidFill>
          <a:ln w="12700">
            <a:solidFill>
              <a:srgbClr val="D9534F"/>
            </a:solidFill>
            <a:prstDash val="solid"/>
          </a:ln>
        </p:spPr>
      </p:sp>
      <p:sp>
        <p:nvSpPr>
          <p:cNvPr id="19" name="Text 17"/>
          <p:cNvSpPr txBox="1"/>
          <p:nvPr/>
        </p:nvSpPr>
        <p:spPr>
          <a:xfrm>
            <a:off x="548640" y="254203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20" name="Text 18"/>
          <p:cNvSpPr txBox="1"/>
          <p:nvPr/>
        </p:nvSpPr>
        <p:spPr>
          <a:xfrm>
            <a:off x="987552" y="2478024"/>
            <a:ext cx="3017520" cy="457200"/>
          </a:xfrm>
          <a:prstGeom prst="rect">
            <a:avLst/>
          </a:prstGeom>
          <a:noFill/>
          <a:ln/>
        </p:spPr>
        <p:txBody>
          <a:bodyPr wrap="square" lIns="0" tIns="0" rIns="0" bIns="0" rtlCol="0" anchor="ctr"/>
          <a:lstStyle/>
          <a:p>
            <a:pPr indent="0" marL="0">
              <a:buNone/>
            </a:pPr>
            <a:r>
              <a:rPr lang="en-US" sz="1200" b="1" dirty="0">
                <a:solidFill>
                  <a:srgbClr val="D9534F"/>
                </a:solidFill>
                <a:latin typeface="Meiryo" pitchFamily="34" charset="0"/>
                <a:ea typeface="Meiryo" pitchFamily="34" charset="-122"/>
                <a:cs typeface="Meiryo" pitchFamily="34" charset="-120"/>
              </a:rPr>
              <a:t>舌下腺</a:t>
            </a:r>
            <a:endParaRPr lang="en-US" sz="1200" dirty="0"/>
          </a:p>
        </p:txBody>
      </p:sp>
      <p:sp>
        <p:nvSpPr>
          <p:cNvPr id="21" name="Text 19"/>
          <p:cNvSpPr txBox="1"/>
          <p:nvPr/>
        </p:nvSpPr>
        <p:spPr>
          <a:xfrm>
            <a:off x="4096512" y="2478024"/>
            <a:ext cx="4526280" cy="457200"/>
          </a:xfrm>
          <a:prstGeom prst="rect">
            <a:avLst/>
          </a:prstGeom>
          <a:noFill/>
          <a:ln/>
        </p:spPr>
        <p:txBody>
          <a:bodyPr wrap="square" lIns="0" tIns="0" rIns="0" bIns="0" rtlCol="0" anchor="ctr"/>
          <a:lstStyle/>
          <a:p>
            <a:pPr indent="0" marL="0">
              <a:buNone/>
            </a:pPr>
            <a:r>
              <a:rPr lang="en-US" sz="1100" dirty="0">
                <a:solidFill>
                  <a:srgbClr val="222222"/>
                </a:solidFill>
                <a:latin typeface="Meiryo" pitchFamily="34" charset="0"/>
                <a:ea typeface="Meiryo" pitchFamily="34" charset="-122"/>
                <a:cs typeface="Meiryo" pitchFamily="34" charset="-120"/>
              </a:rPr>
              <a:t>顔面神経（副交感）で促進 ○</a:t>
            </a:r>
            <a:endParaRPr lang="en-US" sz="1100" dirty="0"/>
          </a:p>
        </p:txBody>
      </p:sp>
      <p:sp>
        <p:nvSpPr>
          <p:cNvPr id="22" name="Shape 20"/>
          <p:cNvSpPr/>
          <p:nvPr/>
        </p:nvSpPr>
        <p:spPr>
          <a:xfrm>
            <a:off x="457200" y="3008376"/>
            <a:ext cx="8229600" cy="457200"/>
          </a:xfrm>
          <a:prstGeom prst="roundRect">
            <a:avLst>
              <a:gd name="adj" fmla="val 16000"/>
            </a:avLst>
          </a:prstGeom>
          <a:solidFill>
            <a:srgbClr val="F4F6F8"/>
          </a:solidFill>
          <a:ln/>
        </p:spPr>
      </p:sp>
      <p:sp>
        <p:nvSpPr>
          <p:cNvPr id="23" name="Shape 21"/>
          <p:cNvSpPr/>
          <p:nvPr/>
        </p:nvSpPr>
        <p:spPr>
          <a:xfrm>
            <a:off x="548640" y="3072384"/>
            <a:ext cx="329184" cy="329184"/>
          </a:xfrm>
          <a:prstGeom prst="ellipse">
            <a:avLst/>
          </a:prstGeom>
          <a:solidFill>
            <a:srgbClr val="FFFFFF"/>
          </a:solidFill>
          <a:ln w="12700">
            <a:solidFill>
              <a:srgbClr val="8A96A3"/>
            </a:solidFill>
            <a:prstDash val="solid"/>
          </a:ln>
        </p:spPr>
      </p:sp>
      <p:sp>
        <p:nvSpPr>
          <p:cNvPr id="24" name="Text 22"/>
          <p:cNvSpPr txBox="1"/>
          <p:nvPr/>
        </p:nvSpPr>
        <p:spPr>
          <a:xfrm>
            <a:off x="548640" y="3072384"/>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4</a:t>
            </a:r>
            <a:endParaRPr lang="en-US" sz="1300" dirty="0"/>
          </a:p>
        </p:txBody>
      </p:sp>
      <p:sp>
        <p:nvSpPr>
          <p:cNvPr id="25" name="Text 23"/>
          <p:cNvSpPr txBox="1"/>
          <p:nvPr/>
        </p:nvSpPr>
        <p:spPr>
          <a:xfrm>
            <a:off x="987552" y="3008376"/>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レニン</a:t>
            </a:r>
            <a:endParaRPr lang="en-US" sz="1200" dirty="0"/>
          </a:p>
        </p:txBody>
      </p:sp>
      <p:sp>
        <p:nvSpPr>
          <p:cNvPr id="26" name="Text 24"/>
          <p:cNvSpPr txBox="1"/>
          <p:nvPr/>
        </p:nvSpPr>
        <p:spPr>
          <a:xfrm>
            <a:off x="4096512" y="3008376"/>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交感神経（β1）で促進</a:t>
            </a:r>
            <a:endParaRPr lang="en-US" sz="1100" dirty="0"/>
          </a:p>
        </p:txBody>
      </p:sp>
      <p:sp>
        <p:nvSpPr>
          <p:cNvPr id="27" name="Shape 25"/>
          <p:cNvSpPr/>
          <p:nvPr/>
        </p:nvSpPr>
        <p:spPr>
          <a:xfrm>
            <a:off x="457200" y="3538728"/>
            <a:ext cx="8229600" cy="457200"/>
          </a:xfrm>
          <a:prstGeom prst="roundRect">
            <a:avLst>
              <a:gd name="adj" fmla="val 16000"/>
            </a:avLst>
          </a:prstGeom>
          <a:solidFill>
            <a:srgbClr val="F4F6F8"/>
          </a:solidFill>
          <a:ln/>
        </p:spPr>
      </p:sp>
      <p:sp>
        <p:nvSpPr>
          <p:cNvPr id="28" name="Shape 26"/>
          <p:cNvSpPr/>
          <p:nvPr/>
        </p:nvSpPr>
        <p:spPr>
          <a:xfrm>
            <a:off x="548640" y="3602736"/>
            <a:ext cx="329184" cy="329184"/>
          </a:xfrm>
          <a:prstGeom prst="ellipse">
            <a:avLst/>
          </a:prstGeom>
          <a:solidFill>
            <a:srgbClr val="FFFFFF"/>
          </a:solidFill>
          <a:ln w="12700">
            <a:solidFill>
              <a:srgbClr val="8A96A3"/>
            </a:solidFill>
            <a:prstDash val="solid"/>
          </a:ln>
        </p:spPr>
      </p:sp>
      <p:sp>
        <p:nvSpPr>
          <p:cNvPr id="29" name="Text 27"/>
          <p:cNvSpPr txBox="1"/>
          <p:nvPr/>
        </p:nvSpPr>
        <p:spPr>
          <a:xfrm>
            <a:off x="548640" y="3602736"/>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5</a:t>
            </a:r>
            <a:endParaRPr lang="en-US" sz="1300" dirty="0"/>
          </a:p>
        </p:txBody>
      </p:sp>
      <p:sp>
        <p:nvSpPr>
          <p:cNvPr id="30" name="Text 28"/>
          <p:cNvSpPr txBox="1"/>
          <p:nvPr/>
        </p:nvSpPr>
        <p:spPr>
          <a:xfrm>
            <a:off x="987552" y="3538728"/>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ノルアドレナリン</a:t>
            </a:r>
            <a:endParaRPr lang="en-US" sz="1200" dirty="0"/>
          </a:p>
        </p:txBody>
      </p:sp>
      <p:sp>
        <p:nvSpPr>
          <p:cNvPr id="31" name="Text 29"/>
          <p:cNvSpPr txBox="1"/>
          <p:nvPr/>
        </p:nvSpPr>
        <p:spPr>
          <a:xfrm>
            <a:off x="4096512" y="3538728"/>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交感神経・副腎髄質</a:t>
            </a:r>
            <a:endParaRPr lang="en-US" sz="1100" dirty="0"/>
          </a:p>
        </p:txBody>
      </p:sp>
      <p:sp>
        <p:nvSpPr>
          <p:cNvPr id="32" name="Shape 30"/>
          <p:cNvSpPr/>
          <p:nvPr/>
        </p:nvSpPr>
        <p:spPr>
          <a:xfrm>
            <a:off x="457200" y="4160520"/>
            <a:ext cx="1463040" cy="685800"/>
          </a:xfrm>
          <a:prstGeom prst="roundRect">
            <a:avLst>
              <a:gd name="adj" fmla="val 10667"/>
            </a:avLst>
          </a:prstGeom>
          <a:solidFill>
            <a:srgbClr val="D9534F"/>
          </a:solidFill>
          <a:ln/>
        </p:spPr>
      </p:sp>
      <p:sp>
        <p:nvSpPr>
          <p:cNvPr id="33" name="Text 31"/>
          <p:cNvSpPr txBox="1"/>
          <p:nvPr/>
        </p:nvSpPr>
        <p:spPr>
          <a:xfrm>
            <a:off x="457200" y="4160520"/>
            <a:ext cx="1463040" cy="685800"/>
          </a:xfrm>
          <a:prstGeom prst="rect">
            <a:avLst/>
          </a:prstGeom>
          <a:noFill/>
          <a:ln/>
        </p:spPr>
        <p:txBody>
          <a:bodyPr wrap="square" lIns="0" tIns="0" rIns="0" bIns="0" rtlCol="0" anchor="ctr"/>
          <a:lstStyle/>
          <a:p>
            <a:pPr algn="ctr" indent="0" marL="0">
              <a:buNone/>
            </a:pPr>
            <a:r>
              <a:rPr lang="en-US" sz="1100" dirty="0">
                <a:solidFill>
                  <a:srgbClr val="FFFFFF"/>
                </a:solidFill>
                <a:latin typeface="Meiryo" pitchFamily="34" charset="0"/>
                <a:ea typeface="Meiryo" pitchFamily="34" charset="-122"/>
                <a:cs typeface="Meiryo" pitchFamily="34" charset="-120"/>
              </a:rPr>
              <a:t>正解</a:t>
            </a:r>
            <a:endParaRPr lang="en-US" sz="1100" dirty="0"/>
          </a:p>
          <a:p>
            <a:pPr algn="ctr" indent="0" marL="0">
              <a:buNone/>
            </a:pPr>
            <a:r>
              <a:rPr lang="en-US" sz="2200" b="1" dirty="0">
                <a:solidFill>
                  <a:srgbClr val="FFFFFF"/>
                </a:solidFill>
                <a:latin typeface="Meiryo" pitchFamily="34" charset="0"/>
                <a:ea typeface="Meiryo" pitchFamily="34" charset="-122"/>
                <a:cs typeface="Meiryo" pitchFamily="34" charset="-120"/>
              </a:rPr>
              <a:t>2・3</a:t>
            </a:r>
            <a:endParaRPr lang="en-US" sz="1100" dirty="0"/>
          </a:p>
        </p:txBody>
      </p:sp>
      <p:sp>
        <p:nvSpPr>
          <p:cNvPr id="34" name="Shape 32"/>
          <p:cNvSpPr/>
          <p:nvPr/>
        </p:nvSpPr>
        <p:spPr>
          <a:xfrm>
            <a:off x="2057400" y="4160520"/>
            <a:ext cx="6629400" cy="685800"/>
          </a:xfrm>
          <a:prstGeom prst="roundRect">
            <a:avLst>
              <a:gd name="adj" fmla="val 10667"/>
            </a:avLst>
          </a:prstGeom>
          <a:solidFill>
            <a:srgbClr val="EAF2F8"/>
          </a:solidFill>
          <a:ln/>
        </p:spPr>
      </p:sp>
      <p:sp>
        <p:nvSpPr>
          <p:cNvPr id="35" name="Text 33"/>
          <p:cNvSpPr txBox="1"/>
          <p:nvPr/>
        </p:nvSpPr>
        <p:spPr>
          <a:xfrm>
            <a:off x="2194560" y="4160520"/>
            <a:ext cx="6400800" cy="685800"/>
          </a:xfrm>
          <a:prstGeom prst="rect">
            <a:avLst/>
          </a:prstGeom>
          <a:noFill/>
          <a:ln/>
        </p:spPr>
        <p:txBody>
          <a:bodyPr wrap="square" lIns="0" tIns="0" rIns="0" bIns="0" rtlCol="0" anchor="ctr"/>
          <a:lstStyle/>
          <a:p>
            <a:pPr indent="0" marL="0">
              <a:buNone/>
            </a:pPr>
            <a:r>
              <a:rPr lang="en-US" sz="1200" b="1" dirty="0">
                <a:solidFill>
                  <a:srgbClr val="2A7F9E"/>
                </a:solidFill>
                <a:latin typeface="Meiryo" pitchFamily="34" charset="0"/>
                <a:ea typeface="Meiryo" pitchFamily="34" charset="-122"/>
                <a:cs typeface="Meiryo" pitchFamily="34" charset="-120"/>
              </a:rPr>
              <a:t>POINT　</a:t>
            </a:r>
            <a:pPr indent="0" marL="0">
              <a:buNone/>
            </a:pPr>
            <a:r>
              <a:rPr lang="en-US" sz="1200" dirty="0">
                <a:solidFill>
                  <a:srgbClr val="222222"/>
                </a:solidFill>
                <a:latin typeface="Meiryo" pitchFamily="34" charset="0"/>
                <a:ea typeface="Meiryo" pitchFamily="34" charset="-122"/>
                <a:cs typeface="Meiryo" pitchFamily="34" charset="-120"/>
              </a:rPr>
              <a:t>涙腺・顎下腺・舌下腺＝顔面神経、耳下腺＝舌咽神経。</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74320"/>
            <a:ext cx="868680" cy="384048"/>
          </a:xfrm>
          <a:prstGeom prst="roundRect">
            <a:avLst>
              <a:gd name="adj" fmla="val 19048"/>
            </a:avLst>
          </a:prstGeom>
          <a:solidFill>
            <a:srgbClr val="17324D"/>
          </a:solidFill>
          <a:ln/>
        </p:spPr>
      </p:sp>
      <p:sp>
        <p:nvSpPr>
          <p:cNvPr id="3" name="Text 1"/>
          <p:cNvSpPr txBox="1"/>
          <p:nvPr/>
        </p:nvSpPr>
        <p:spPr>
          <a:xfrm>
            <a:off x="457200" y="274320"/>
            <a:ext cx="86868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問題</a:t>
            </a:r>
            <a:endParaRPr lang="en-US" sz="1300" dirty="0"/>
          </a:p>
        </p:txBody>
      </p:sp>
      <p:sp>
        <p:nvSpPr>
          <p:cNvPr id="4" name="Text 2"/>
          <p:cNvSpPr txBox="1"/>
          <p:nvPr/>
        </p:nvSpPr>
        <p:spPr>
          <a:xfrm>
            <a:off x="1417320" y="274320"/>
            <a:ext cx="731520" cy="384048"/>
          </a:xfrm>
          <a:prstGeom prst="rect">
            <a:avLst/>
          </a:prstGeom>
          <a:noFill/>
          <a:ln/>
        </p:spPr>
        <p:txBody>
          <a:bodyPr wrap="square" lIns="0" tIns="0" rIns="0" bIns="0" rtlCol="0" anchor="ctr"/>
          <a:lstStyle/>
          <a:p>
            <a:pPr indent="0" marL="0">
              <a:buNone/>
            </a:pPr>
            <a:r>
              <a:rPr lang="en-US" sz="2000" b="1" dirty="0">
                <a:solidFill>
                  <a:srgbClr val="17324D"/>
                </a:solidFill>
                <a:latin typeface="Arial" pitchFamily="34" charset="0"/>
                <a:ea typeface="Arial" pitchFamily="34" charset="-122"/>
                <a:cs typeface="Arial" pitchFamily="34" charset="-120"/>
              </a:rPr>
              <a:t>[6]</a:t>
            </a:r>
            <a:endParaRPr lang="en-US" sz="2000" dirty="0"/>
          </a:p>
        </p:txBody>
      </p:sp>
      <p:sp>
        <p:nvSpPr>
          <p:cNvPr id="5" name="Text 3"/>
          <p:cNvSpPr txBox="1"/>
          <p:nvPr/>
        </p:nvSpPr>
        <p:spPr>
          <a:xfrm>
            <a:off x="5943600" y="274320"/>
            <a:ext cx="2743200" cy="384048"/>
          </a:xfrm>
          <a:prstGeom prst="rect">
            <a:avLst/>
          </a:prstGeom>
          <a:noFill/>
          <a:ln/>
        </p:spPr>
        <p:txBody>
          <a:bodyPr wrap="square" lIns="0" tIns="0" rIns="0" bIns="0" rtlCol="0" anchor="ctr"/>
          <a:lstStyle/>
          <a:p>
            <a:pPr algn="r" indent="0" marL="0">
              <a:buNone/>
            </a:pPr>
            <a:r>
              <a:rPr lang="en-US" sz="1100" dirty="0">
                <a:solidFill>
                  <a:srgbClr val="5F6B76"/>
                </a:solidFill>
                <a:latin typeface="Meiryo" pitchFamily="34" charset="0"/>
                <a:ea typeface="Meiryo" pitchFamily="34" charset="-122"/>
                <a:cs typeface="Meiryo" pitchFamily="34" charset="-120"/>
              </a:rPr>
              <a:t>59回午前63</a:t>
            </a:r>
            <a:endParaRPr lang="en-US" sz="1100" dirty="0"/>
          </a:p>
        </p:txBody>
      </p:sp>
      <p:sp>
        <p:nvSpPr>
          <p:cNvPr id="6" name="Text 4"/>
          <p:cNvSpPr txBox="1"/>
          <p:nvPr/>
        </p:nvSpPr>
        <p:spPr>
          <a:xfrm>
            <a:off x="457200" y="731520"/>
            <a:ext cx="8229600" cy="594360"/>
          </a:xfrm>
          <a:prstGeom prst="rect">
            <a:avLst/>
          </a:prstGeom>
          <a:noFill/>
          <a:ln/>
        </p:spPr>
        <p:txBody>
          <a:bodyPr wrap="square" lIns="0" tIns="0" rIns="0" bIns="0" rtlCol="0" anchor="t"/>
          <a:lstStyle/>
          <a:p>
            <a:pPr indent="0" marL="0">
              <a:buNone/>
            </a:pPr>
            <a:r>
              <a:rPr lang="en-US" sz="1700" b="1" dirty="0">
                <a:solidFill>
                  <a:srgbClr val="222222"/>
                </a:solidFill>
                <a:latin typeface="Meiryo" pitchFamily="34" charset="0"/>
                <a:ea typeface="Meiryo" pitchFamily="34" charset="-122"/>
                <a:cs typeface="Meiryo" pitchFamily="34" charset="-120"/>
              </a:rPr>
              <a:t>副交感神経の機能を持つのはどれか。</a:t>
            </a:r>
            <a:endParaRPr lang="en-US" sz="1700" dirty="0"/>
          </a:p>
        </p:txBody>
      </p:sp>
      <p:sp>
        <p:nvSpPr>
          <p:cNvPr id="7" name="Shape 5"/>
          <p:cNvSpPr/>
          <p:nvPr/>
        </p:nvSpPr>
        <p:spPr>
          <a:xfrm>
            <a:off x="457200" y="1508760"/>
            <a:ext cx="8229600" cy="493776"/>
          </a:xfrm>
          <a:prstGeom prst="roundRect">
            <a:avLst>
              <a:gd name="adj" fmla="val 14815"/>
            </a:avLst>
          </a:prstGeom>
          <a:solidFill>
            <a:srgbClr val="EAF2F8"/>
          </a:solidFill>
          <a:ln/>
        </p:spPr>
      </p:sp>
      <p:sp>
        <p:nvSpPr>
          <p:cNvPr id="8" name="Shape 6"/>
          <p:cNvSpPr/>
          <p:nvPr/>
        </p:nvSpPr>
        <p:spPr>
          <a:xfrm>
            <a:off x="566928" y="1572768"/>
            <a:ext cx="365760" cy="365760"/>
          </a:xfrm>
          <a:prstGeom prst="ellipse">
            <a:avLst/>
          </a:prstGeom>
          <a:solidFill>
            <a:srgbClr val="FFFFFF"/>
          </a:solidFill>
          <a:ln w="15875">
            <a:solidFill>
              <a:srgbClr val="17324D"/>
            </a:solidFill>
            <a:prstDash val="solid"/>
          </a:ln>
        </p:spPr>
      </p:sp>
      <p:sp>
        <p:nvSpPr>
          <p:cNvPr id="9" name="Text 7"/>
          <p:cNvSpPr txBox="1"/>
          <p:nvPr/>
        </p:nvSpPr>
        <p:spPr>
          <a:xfrm>
            <a:off x="566928" y="1572768"/>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1</a:t>
            </a:r>
            <a:endParaRPr lang="en-US" sz="1400" dirty="0"/>
          </a:p>
        </p:txBody>
      </p:sp>
      <p:sp>
        <p:nvSpPr>
          <p:cNvPr id="10" name="Text 8"/>
          <p:cNvSpPr txBox="1"/>
          <p:nvPr/>
        </p:nvSpPr>
        <p:spPr>
          <a:xfrm>
            <a:off x="1051560" y="1508760"/>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横隔神経</a:t>
            </a:r>
            <a:endParaRPr lang="en-US" sz="1500" dirty="0"/>
          </a:p>
        </p:txBody>
      </p:sp>
      <p:sp>
        <p:nvSpPr>
          <p:cNvPr id="11" name="Shape 9"/>
          <p:cNvSpPr/>
          <p:nvPr/>
        </p:nvSpPr>
        <p:spPr>
          <a:xfrm>
            <a:off x="457200" y="2112264"/>
            <a:ext cx="8229600" cy="493776"/>
          </a:xfrm>
          <a:prstGeom prst="roundRect">
            <a:avLst>
              <a:gd name="adj" fmla="val 14815"/>
            </a:avLst>
          </a:prstGeom>
          <a:solidFill>
            <a:srgbClr val="EAF2F8"/>
          </a:solidFill>
          <a:ln/>
        </p:spPr>
      </p:sp>
      <p:sp>
        <p:nvSpPr>
          <p:cNvPr id="12" name="Shape 10"/>
          <p:cNvSpPr/>
          <p:nvPr/>
        </p:nvSpPr>
        <p:spPr>
          <a:xfrm>
            <a:off x="566928" y="2176272"/>
            <a:ext cx="365760" cy="365760"/>
          </a:xfrm>
          <a:prstGeom prst="ellipse">
            <a:avLst/>
          </a:prstGeom>
          <a:solidFill>
            <a:srgbClr val="FFFFFF"/>
          </a:solidFill>
          <a:ln w="15875">
            <a:solidFill>
              <a:srgbClr val="17324D"/>
            </a:solidFill>
            <a:prstDash val="solid"/>
          </a:ln>
        </p:spPr>
      </p:sp>
      <p:sp>
        <p:nvSpPr>
          <p:cNvPr id="13" name="Text 11"/>
          <p:cNvSpPr txBox="1"/>
          <p:nvPr/>
        </p:nvSpPr>
        <p:spPr>
          <a:xfrm>
            <a:off x="566928" y="2176272"/>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2</a:t>
            </a:r>
            <a:endParaRPr lang="en-US" sz="1400" dirty="0"/>
          </a:p>
        </p:txBody>
      </p:sp>
      <p:sp>
        <p:nvSpPr>
          <p:cNvPr id="14" name="Text 12"/>
          <p:cNvSpPr txBox="1"/>
          <p:nvPr/>
        </p:nvSpPr>
        <p:spPr>
          <a:xfrm>
            <a:off x="1051560" y="2112264"/>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骨盤神経</a:t>
            </a:r>
            <a:endParaRPr lang="en-US" sz="1500" dirty="0"/>
          </a:p>
        </p:txBody>
      </p:sp>
      <p:sp>
        <p:nvSpPr>
          <p:cNvPr id="15" name="Shape 13"/>
          <p:cNvSpPr/>
          <p:nvPr/>
        </p:nvSpPr>
        <p:spPr>
          <a:xfrm>
            <a:off x="457200" y="2715768"/>
            <a:ext cx="8229600" cy="493776"/>
          </a:xfrm>
          <a:prstGeom prst="roundRect">
            <a:avLst>
              <a:gd name="adj" fmla="val 14815"/>
            </a:avLst>
          </a:prstGeom>
          <a:solidFill>
            <a:srgbClr val="EAF2F8"/>
          </a:solidFill>
          <a:ln/>
        </p:spPr>
      </p:sp>
      <p:sp>
        <p:nvSpPr>
          <p:cNvPr id="16" name="Shape 14"/>
          <p:cNvSpPr/>
          <p:nvPr/>
        </p:nvSpPr>
        <p:spPr>
          <a:xfrm>
            <a:off x="566928" y="2779776"/>
            <a:ext cx="365760" cy="365760"/>
          </a:xfrm>
          <a:prstGeom prst="ellipse">
            <a:avLst/>
          </a:prstGeom>
          <a:solidFill>
            <a:srgbClr val="FFFFFF"/>
          </a:solidFill>
          <a:ln w="15875">
            <a:solidFill>
              <a:srgbClr val="17324D"/>
            </a:solidFill>
            <a:prstDash val="solid"/>
          </a:ln>
        </p:spPr>
      </p:sp>
      <p:sp>
        <p:nvSpPr>
          <p:cNvPr id="17" name="Text 15"/>
          <p:cNvSpPr txBox="1"/>
          <p:nvPr/>
        </p:nvSpPr>
        <p:spPr>
          <a:xfrm>
            <a:off x="566928" y="2779776"/>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3</a:t>
            </a:r>
            <a:endParaRPr lang="en-US" sz="1400" dirty="0"/>
          </a:p>
        </p:txBody>
      </p:sp>
      <p:sp>
        <p:nvSpPr>
          <p:cNvPr id="18" name="Text 16"/>
          <p:cNvSpPr txBox="1"/>
          <p:nvPr/>
        </p:nvSpPr>
        <p:spPr>
          <a:xfrm>
            <a:off x="1051560" y="2715768"/>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舌下神経</a:t>
            </a:r>
            <a:endParaRPr lang="en-US" sz="1500" dirty="0"/>
          </a:p>
        </p:txBody>
      </p:sp>
      <p:sp>
        <p:nvSpPr>
          <p:cNvPr id="19" name="Shape 17"/>
          <p:cNvSpPr/>
          <p:nvPr/>
        </p:nvSpPr>
        <p:spPr>
          <a:xfrm>
            <a:off x="457200" y="3319272"/>
            <a:ext cx="8229600" cy="493776"/>
          </a:xfrm>
          <a:prstGeom prst="roundRect">
            <a:avLst>
              <a:gd name="adj" fmla="val 14815"/>
            </a:avLst>
          </a:prstGeom>
          <a:solidFill>
            <a:srgbClr val="EAF2F8"/>
          </a:solidFill>
          <a:ln/>
        </p:spPr>
      </p:sp>
      <p:sp>
        <p:nvSpPr>
          <p:cNvPr id="20" name="Shape 18"/>
          <p:cNvSpPr/>
          <p:nvPr/>
        </p:nvSpPr>
        <p:spPr>
          <a:xfrm>
            <a:off x="566928" y="3383280"/>
            <a:ext cx="365760" cy="365760"/>
          </a:xfrm>
          <a:prstGeom prst="ellipse">
            <a:avLst/>
          </a:prstGeom>
          <a:solidFill>
            <a:srgbClr val="FFFFFF"/>
          </a:solidFill>
          <a:ln w="15875">
            <a:solidFill>
              <a:srgbClr val="17324D"/>
            </a:solidFill>
            <a:prstDash val="solid"/>
          </a:ln>
        </p:spPr>
      </p:sp>
      <p:sp>
        <p:nvSpPr>
          <p:cNvPr id="21" name="Text 19"/>
          <p:cNvSpPr txBox="1"/>
          <p:nvPr/>
        </p:nvSpPr>
        <p:spPr>
          <a:xfrm>
            <a:off x="566928" y="3383280"/>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4</a:t>
            </a:r>
            <a:endParaRPr lang="en-US" sz="1400" dirty="0"/>
          </a:p>
        </p:txBody>
      </p:sp>
      <p:sp>
        <p:nvSpPr>
          <p:cNvPr id="22" name="Text 20"/>
          <p:cNvSpPr txBox="1"/>
          <p:nvPr/>
        </p:nvSpPr>
        <p:spPr>
          <a:xfrm>
            <a:off x="1051560" y="3319272"/>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内耳神経</a:t>
            </a:r>
            <a:endParaRPr lang="en-US" sz="1500" dirty="0"/>
          </a:p>
        </p:txBody>
      </p:sp>
      <p:sp>
        <p:nvSpPr>
          <p:cNvPr id="23" name="Shape 21"/>
          <p:cNvSpPr/>
          <p:nvPr/>
        </p:nvSpPr>
        <p:spPr>
          <a:xfrm>
            <a:off x="457200" y="3922776"/>
            <a:ext cx="8229600" cy="493776"/>
          </a:xfrm>
          <a:prstGeom prst="roundRect">
            <a:avLst>
              <a:gd name="adj" fmla="val 14815"/>
            </a:avLst>
          </a:prstGeom>
          <a:solidFill>
            <a:srgbClr val="EAF2F8"/>
          </a:solidFill>
          <a:ln/>
        </p:spPr>
      </p:sp>
      <p:sp>
        <p:nvSpPr>
          <p:cNvPr id="24" name="Shape 22"/>
          <p:cNvSpPr/>
          <p:nvPr/>
        </p:nvSpPr>
        <p:spPr>
          <a:xfrm>
            <a:off x="566928" y="3986784"/>
            <a:ext cx="365760" cy="365760"/>
          </a:xfrm>
          <a:prstGeom prst="ellipse">
            <a:avLst/>
          </a:prstGeom>
          <a:solidFill>
            <a:srgbClr val="FFFFFF"/>
          </a:solidFill>
          <a:ln w="15875">
            <a:solidFill>
              <a:srgbClr val="17324D"/>
            </a:solidFill>
            <a:prstDash val="solid"/>
          </a:ln>
        </p:spPr>
      </p:sp>
      <p:sp>
        <p:nvSpPr>
          <p:cNvPr id="25" name="Text 23"/>
          <p:cNvSpPr txBox="1"/>
          <p:nvPr/>
        </p:nvSpPr>
        <p:spPr>
          <a:xfrm>
            <a:off x="566928" y="3986784"/>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5</a:t>
            </a:r>
            <a:endParaRPr lang="en-US" sz="1400" dirty="0"/>
          </a:p>
        </p:txBody>
      </p:sp>
      <p:sp>
        <p:nvSpPr>
          <p:cNvPr id="26" name="Text 24"/>
          <p:cNvSpPr txBox="1"/>
          <p:nvPr/>
        </p:nvSpPr>
        <p:spPr>
          <a:xfrm>
            <a:off x="1051560" y="3922776"/>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肋間神経</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74320"/>
            <a:ext cx="868680" cy="384048"/>
          </a:xfrm>
          <a:prstGeom prst="roundRect">
            <a:avLst>
              <a:gd name="adj" fmla="val 19048"/>
            </a:avLst>
          </a:prstGeom>
          <a:solidFill>
            <a:srgbClr val="D9534F"/>
          </a:solidFill>
          <a:ln/>
        </p:spPr>
      </p:sp>
      <p:sp>
        <p:nvSpPr>
          <p:cNvPr id="3" name="Text 1"/>
          <p:cNvSpPr txBox="1"/>
          <p:nvPr/>
        </p:nvSpPr>
        <p:spPr>
          <a:xfrm>
            <a:off x="457200" y="274320"/>
            <a:ext cx="86868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解説</a:t>
            </a:r>
            <a:endParaRPr lang="en-US" sz="1300" dirty="0"/>
          </a:p>
        </p:txBody>
      </p:sp>
      <p:sp>
        <p:nvSpPr>
          <p:cNvPr id="4" name="Text 2"/>
          <p:cNvSpPr txBox="1"/>
          <p:nvPr/>
        </p:nvSpPr>
        <p:spPr>
          <a:xfrm>
            <a:off x="1417320" y="274320"/>
            <a:ext cx="731520" cy="384048"/>
          </a:xfrm>
          <a:prstGeom prst="rect">
            <a:avLst/>
          </a:prstGeom>
          <a:noFill/>
          <a:ln/>
        </p:spPr>
        <p:txBody>
          <a:bodyPr wrap="square" lIns="0" tIns="0" rIns="0" bIns="0" rtlCol="0" anchor="ctr"/>
          <a:lstStyle/>
          <a:p>
            <a:pPr indent="0" marL="0">
              <a:buNone/>
            </a:pPr>
            <a:r>
              <a:rPr lang="en-US" sz="2000" b="1" dirty="0">
                <a:solidFill>
                  <a:srgbClr val="17324D"/>
                </a:solidFill>
                <a:latin typeface="Arial" pitchFamily="34" charset="0"/>
                <a:ea typeface="Arial" pitchFamily="34" charset="-122"/>
                <a:cs typeface="Arial" pitchFamily="34" charset="-120"/>
              </a:rPr>
              <a:t>[6]</a:t>
            </a:r>
            <a:endParaRPr lang="en-US" sz="2000" dirty="0"/>
          </a:p>
        </p:txBody>
      </p:sp>
      <p:sp>
        <p:nvSpPr>
          <p:cNvPr id="5" name="Text 3"/>
          <p:cNvSpPr txBox="1"/>
          <p:nvPr/>
        </p:nvSpPr>
        <p:spPr>
          <a:xfrm>
            <a:off x="5943600" y="274320"/>
            <a:ext cx="2743200" cy="384048"/>
          </a:xfrm>
          <a:prstGeom prst="rect">
            <a:avLst/>
          </a:prstGeom>
          <a:noFill/>
          <a:ln/>
        </p:spPr>
        <p:txBody>
          <a:bodyPr wrap="square" lIns="0" tIns="0" rIns="0" bIns="0" rtlCol="0" anchor="ctr"/>
          <a:lstStyle/>
          <a:p>
            <a:pPr algn="r" indent="0" marL="0">
              <a:buNone/>
            </a:pPr>
            <a:r>
              <a:rPr lang="en-US" sz="1100" dirty="0">
                <a:solidFill>
                  <a:srgbClr val="5F6B76"/>
                </a:solidFill>
                <a:latin typeface="Meiryo" pitchFamily="34" charset="0"/>
                <a:ea typeface="Meiryo" pitchFamily="34" charset="-122"/>
                <a:cs typeface="Meiryo" pitchFamily="34" charset="-120"/>
              </a:rPr>
              <a:t>59回午前63</a:t>
            </a:r>
            <a:endParaRPr lang="en-US" sz="1100" dirty="0"/>
          </a:p>
        </p:txBody>
      </p:sp>
      <p:sp>
        <p:nvSpPr>
          <p:cNvPr id="6" name="Text 4"/>
          <p:cNvSpPr txBox="1"/>
          <p:nvPr/>
        </p:nvSpPr>
        <p:spPr>
          <a:xfrm>
            <a:off x="457200" y="731520"/>
            <a:ext cx="8229600" cy="594360"/>
          </a:xfrm>
          <a:prstGeom prst="rect">
            <a:avLst/>
          </a:prstGeom>
          <a:noFill/>
          <a:ln/>
        </p:spPr>
        <p:txBody>
          <a:bodyPr wrap="square" lIns="0" tIns="0" rIns="0" bIns="0" rtlCol="0" anchor="t"/>
          <a:lstStyle/>
          <a:p>
            <a:pPr indent="0" marL="0">
              <a:buNone/>
            </a:pPr>
            <a:r>
              <a:rPr lang="en-US" sz="1700" b="1" dirty="0">
                <a:solidFill>
                  <a:srgbClr val="222222"/>
                </a:solidFill>
                <a:latin typeface="Meiryo" pitchFamily="34" charset="0"/>
                <a:ea typeface="Meiryo" pitchFamily="34" charset="-122"/>
                <a:cs typeface="Meiryo" pitchFamily="34" charset="-120"/>
              </a:rPr>
              <a:t>副交感神経の機能を持つのはどれか。</a:t>
            </a:r>
            <a:endParaRPr lang="en-US" sz="1700" dirty="0"/>
          </a:p>
        </p:txBody>
      </p:sp>
      <p:sp>
        <p:nvSpPr>
          <p:cNvPr id="7" name="Shape 5"/>
          <p:cNvSpPr/>
          <p:nvPr/>
        </p:nvSpPr>
        <p:spPr>
          <a:xfrm>
            <a:off x="457200" y="1417320"/>
            <a:ext cx="8229600" cy="457200"/>
          </a:xfrm>
          <a:prstGeom prst="roundRect">
            <a:avLst>
              <a:gd name="adj" fmla="val 16000"/>
            </a:avLst>
          </a:prstGeom>
          <a:solidFill>
            <a:srgbClr val="F4F6F8"/>
          </a:solidFill>
          <a:ln/>
        </p:spPr>
      </p:sp>
      <p:sp>
        <p:nvSpPr>
          <p:cNvPr id="8" name="Shape 6"/>
          <p:cNvSpPr/>
          <p:nvPr/>
        </p:nvSpPr>
        <p:spPr>
          <a:xfrm>
            <a:off x="548640" y="1481328"/>
            <a:ext cx="329184" cy="329184"/>
          </a:xfrm>
          <a:prstGeom prst="ellipse">
            <a:avLst/>
          </a:prstGeom>
          <a:solidFill>
            <a:srgbClr val="FFFFFF"/>
          </a:solidFill>
          <a:ln w="12700">
            <a:solidFill>
              <a:srgbClr val="8A96A3"/>
            </a:solidFill>
            <a:prstDash val="solid"/>
          </a:ln>
        </p:spPr>
      </p:sp>
      <p:sp>
        <p:nvSpPr>
          <p:cNvPr id="9" name="Text 7"/>
          <p:cNvSpPr txBox="1"/>
          <p:nvPr/>
        </p:nvSpPr>
        <p:spPr>
          <a:xfrm>
            <a:off x="548640" y="1481328"/>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1</a:t>
            </a:r>
            <a:endParaRPr lang="en-US" sz="1300" dirty="0"/>
          </a:p>
        </p:txBody>
      </p:sp>
      <p:sp>
        <p:nvSpPr>
          <p:cNvPr id="10" name="Text 8"/>
          <p:cNvSpPr txBox="1"/>
          <p:nvPr/>
        </p:nvSpPr>
        <p:spPr>
          <a:xfrm>
            <a:off x="987552" y="1417320"/>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横隔神経</a:t>
            </a:r>
            <a:endParaRPr lang="en-US" sz="1200" dirty="0"/>
          </a:p>
        </p:txBody>
      </p:sp>
      <p:sp>
        <p:nvSpPr>
          <p:cNvPr id="11" name="Text 9"/>
          <p:cNvSpPr txBox="1"/>
          <p:nvPr/>
        </p:nvSpPr>
        <p:spPr>
          <a:xfrm>
            <a:off x="4096512" y="1417320"/>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体性運動神経（C3〜C5）</a:t>
            </a:r>
            <a:endParaRPr lang="en-US" sz="1100" dirty="0"/>
          </a:p>
        </p:txBody>
      </p:sp>
      <p:sp>
        <p:nvSpPr>
          <p:cNvPr id="12" name="Shape 10"/>
          <p:cNvSpPr/>
          <p:nvPr/>
        </p:nvSpPr>
        <p:spPr>
          <a:xfrm>
            <a:off x="457200" y="1947672"/>
            <a:ext cx="8229600" cy="457200"/>
          </a:xfrm>
          <a:prstGeom prst="roundRect">
            <a:avLst>
              <a:gd name="adj" fmla="val 16000"/>
            </a:avLst>
          </a:prstGeom>
          <a:solidFill>
            <a:srgbClr val="FBE3E2"/>
          </a:solidFill>
          <a:ln w="19050">
            <a:solidFill>
              <a:srgbClr val="D9534F"/>
            </a:solidFill>
            <a:prstDash val="solid"/>
          </a:ln>
        </p:spPr>
      </p:sp>
      <p:sp>
        <p:nvSpPr>
          <p:cNvPr id="13" name="Shape 11"/>
          <p:cNvSpPr/>
          <p:nvPr/>
        </p:nvSpPr>
        <p:spPr>
          <a:xfrm>
            <a:off x="548640" y="2011680"/>
            <a:ext cx="329184" cy="329184"/>
          </a:xfrm>
          <a:prstGeom prst="ellipse">
            <a:avLst/>
          </a:prstGeom>
          <a:solidFill>
            <a:srgbClr val="D9534F"/>
          </a:solidFill>
          <a:ln w="12700">
            <a:solidFill>
              <a:srgbClr val="D9534F"/>
            </a:solidFill>
            <a:prstDash val="solid"/>
          </a:ln>
        </p:spPr>
      </p:sp>
      <p:sp>
        <p:nvSpPr>
          <p:cNvPr id="14" name="Text 12"/>
          <p:cNvSpPr txBox="1"/>
          <p:nvPr/>
        </p:nvSpPr>
        <p:spPr>
          <a:xfrm>
            <a:off x="548640" y="2011680"/>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5" name="Text 13"/>
          <p:cNvSpPr txBox="1"/>
          <p:nvPr/>
        </p:nvSpPr>
        <p:spPr>
          <a:xfrm>
            <a:off x="987552" y="1947672"/>
            <a:ext cx="3017520" cy="457200"/>
          </a:xfrm>
          <a:prstGeom prst="rect">
            <a:avLst/>
          </a:prstGeom>
          <a:noFill/>
          <a:ln/>
        </p:spPr>
        <p:txBody>
          <a:bodyPr wrap="square" lIns="0" tIns="0" rIns="0" bIns="0" rtlCol="0" anchor="ctr"/>
          <a:lstStyle/>
          <a:p>
            <a:pPr indent="0" marL="0">
              <a:buNone/>
            </a:pPr>
            <a:r>
              <a:rPr lang="en-US" sz="1200" b="1" dirty="0">
                <a:solidFill>
                  <a:srgbClr val="D9534F"/>
                </a:solidFill>
                <a:latin typeface="Meiryo" pitchFamily="34" charset="0"/>
                <a:ea typeface="Meiryo" pitchFamily="34" charset="-122"/>
                <a:cs typeface="Meiryo" pitchFamily="34" charset="-120"/>
              </a:rPr>
              <a:t>骨盤神経</a:t>
            </a:r>
            <a:endParaRPr lang="en-US" sz="1200" dirty="0"/>
          </a:p>
        </p:txBody>
      </p:sp>
      <p:sp>
        <p:nvSpPr>
          <p:cNvPr id="16" name="Text 14"/>
          <p:cNvSpPr txBox="1"/>
          <p:nvPr/>
        </p:nvSpPr>
        <p:spPr>
          <a:xfrm>
            <a:off x="4096512" y="1947672"/>
            <a:ext cx="4526280" cy="457200"/>
          </a:xfrm>
          <a:prstGeom prst="rect">
            <a:avLst/>
          </a:prstGeom>
          <a:noFill/>
          <a:ln/>
        </p:spPr>
        <p:txBody>
          <a:bodyPr wrap="square" lIns="0" tIns="0" rIns="0" bIns="0" rtlCol="0" anchor="ctr"/>
          <a:lstStyle/>
          <a:p>
            <a:pPr indent="0" marL="0">
              <a:buNone/>
            </a:pPr>
            <a:r>
              <a:rPr lang="en-US" sz="1100" dirty="0">
                <a:solidFill>
                  <a:srgbClr val="222222"/>
                </a:solidFill>
                <a:latin typeface="Meiryo" pitchFamily="34" charset="0"/>
                <a:ea typeface="Meiryo" pitchFamily="34" charset="-122"/>
                <a:cs typeface="Meiryo" pitchFamily="34" charset="-120"/>
              </a:rPr>
              <a:t>仙髄（S2〜S4）由来の副交感神経 ○</a:t>
            </a:r>
            <a:endParaRPr lang="en-US" sz="1100" dirty="0"/>
          </a:p>
        </p:txBody>
      </p:sp>
      <p:sp>
        <p:nvSpPr>
          <p:cNvPr id="17" name="Shape 15"/>
          <p:cNvSpPr/>
          <p:nvPr/>
        </p:nvSpPr>
        <p:spPr>
          <a:xfrm>
            <a:off x="457200" y="2478024"/>
            <a:ext cx="8229600" cy="457200"/>
          </a:xfrm>
          <a:prstGeom prst="roundRect">
            <a:avLst>
              <a:gd name="adj" fmla="val 16000"/>
            </a:avLst>
          </a:prstGeom>
          <a:solidFill>
            <a:srgbClr val="F4F6F8"/>
          </a:solidFill>
          <a:ln/>
        </p:spPr>
      </p:sp>
      <p:sp>
        <p:nvSpPr>
          <p:cNvPr id="18" name="Shape 16"/>
          <p:cNvSpPr/>
          <p:nvPr/>
        </p:nvSpPr>
        <p:spPr>
          <a:xfrm>
            <a:off x="548640" y="2542032"/>
            <a:ext cx="329184" cy="329184"/>
          </a:xfrm>
          <a:prstGeom prst="ellipse">
            <a:avLst/>
          </a:prstGeom>
          <a:solidFill>
            <a:srgbClr val="FFFFFF"/>
          </a:solidFill>
          <a:ln w="12700">
            <a:solidFill>
              <a:srgbClr val="8A96A3"/>
            </a:solidFill>
            <a:prstDash val="solid"/>
          </a:ln>
        </p:spPr>
      </p:sp>
      <p:sp>
        <p:nvSpPr>
          <p:cNvPr id="19" name="Text 17"/>
          <p:cNvSpPr txBox="1"/>
          <p:nvPr/>
        </p:nvSpPr>
        <p:spPr>
          <a:xfrm>
            <a:off x="548640" y="2542032"/>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3</a:t>
            </a:r>
            <a:endParaRPr lang="en-US" sz="1300" dirty="0"/>
          </a:p>
        </p:txBody>
      </p:sp>
      <p:sp>
        <p:nvSpPr>
          <p:cNvPr id="20" name="Text 18"/>
          <p:cNvSpPr txBox="1"/>
          <p:nvPr/>
        </p:nvSpPr>
        <p:spPr>
          <a:xfrm>
            <a:off x="987552" y="2478024"/>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舌下神経</a:t>
            </a:r>
            <a:endParaRPr lang="en-US" sz="1200" dirty="0"/>
          </a:p>
        </p:txBody>
      </p:sp>
      <p:sp>
        <p:nvSpPr>
          <p:cNvPr id="21" name="Text 19"/>
          <p:cNvSpPr txBox="1"/>
          <p:nvPr/>
        </p:nvSpPr>
        <p:spPr>
          <a:xfrm>
            <a:off x="4096512" y="2478024"/>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舌の運動</a:t>
            </a:r>
            <a:endParaRPr lang="en-US" sz="1100" dirty="0"/>
          </a:p>
        </p:txBody>
      </p:sp>
      <p:sp>
        <p:nvSpPr>
          <p:cNvPr id="22" name="Shape 20"/>
          <p:cNvSpPr/>
          <p:nvPr/>
        </p:nvSpPr>
        <p:spPr>
          <a:xfrm>
            <a:off x="457200" y="3008376"/>
            <a:ext cx="8229600" cy="457200"/>
          </a:xfrm>
          <a:prstGeom prst="roundRect">
            <a:avLst>
              <a:gd name="adj" fmla="val 16000"/>
            </a:avLst>
          </a:prstGeom>
          <a:solidFill>
            <a:srgbClr val="F4F6F8"/>
          </a:solidFill>
          <a:ln/>
        </p:spPr>
      </p:sp>
      <p:sp>
        <p:nvSpPr>
          <p:cNvPr id="23" name="Shape 21"/>
          <p:cNvSpPr/>
          <p:nvPr/>
        </p:nvSpPr>
        <p:spPr>
          <a:xfrm>
            <a:off x="548640" y="3072384"/>
            <a:ext cx="329184" cy="329184"/>
          </a:xfrm>
          <a:prstGeom prst="ellipse">
            <a:avLst/>
          </a:prstGeom>
          <a:solidFill>
            <a:srgbClr val="FFFFFF"/>
          </a:solidFill>
          <a:ln w="12700">
            <a:solidFill>
              <a:srgbClr val="8A96A3"/>
            </a:solidFill>
            <a:prstDash val="solid"/>
          </a:ln>
        </p:spPr>
      </p:sp>
      <p:sp>
        <p:nvSpPr>
          <p:cNvPr id="24" name="Text 22"/>
          <p:cNvSpPr txBox="1"/>
          <p:nvPr/>
        </p:nvSpPr>
        <p:spPr>
          <a:xfrm>
            <a:off x="548640" y="3072384"/>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4</a:t>
            </a:r>
            <a:endParaRPr lang="en-US" sz="1300" dirty="0"/>
          </a:p>
        </p:txBody>
      </p:sp>
      <p:sp>
        <p:nvSpPr>
          <p:cNvPr id="25" name="Text 23"/>
          <p:cNvSpPr txBox="1"/>
          <p:nvPr/>
        </p:nvSpPr>
        <p:spPr>
          <a:xfrm>
            <a:off x="987552" y="3008376"/>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内耳神経</a:t>
            </a:r>
            <a:endParaRPr lang="en-US" sz="1200" dirty="0"/>
          </a:p>
        </p:txBody>
      </p:sp>
      <p:sp>
        <p:nvSpPr>
          <p:cNvPr id="26" name="Text 24"/>
          <p:cNvSpPr txBox="1"/>
          <p:nvPr/>
        </p:nvSpPr>
        <p:spPr>
          <a:xfrm>
            <a:off x="4096512" y="3008376"/>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聴覚・平衡覚</a:t>
            </a:r>
            <a:endParaRPr lang="en-US" sz="1100" dirty="0"/>
          </a:p>
        </p:txBody>
      </p:sp>
      <p:sp>
        <p:nvSpPr>
          <p:cNvPr id="27" name="Shape 25"/>
          <p:cNvSpPr/>
          <p:nvPr/>
        </p:nvSpPr>
        <p:spPr>
          <a:xfrm>
            <a:off x="457200" y="3538728"/>
            <a:ext cx="8229600" cy="457200"/>
          </a:xfrm>
          <a:prstGeom prst="roundRect">
            <a:avLst>
              <a:gd name="adj" fmla="val 16000"/>
            </a:avLst>
          </a:prstGeom>
          <a:solidFill>
            <a:srgbClr val="F4F6F8"/>
          </a:solidFill>
          <a:ln/>
        </p:spPr>
      </p:sp>
      <p:sp>
        <p:nvSpPr>
          <p:cNvPr id="28" name="Shape 26"/>
          <p:cNvSpPr/>
          <p:nvPr/>
        </p:nvSpPr>
        <p:spPr>
          <a:xfrm>
            <a:off x="548640" y="3602736"/>
            <a:ext cx="329184" cy="329184"/>
          </a:xfrm>
          <a:prstGeom prst="ellipse">
            <a:avLst/>
          </a:prstGeom>
          <a:solidFill>
            <a:srgbClr val="FFFFFF"/>
          </a:solidFill>
          <a:ln w="12700">
            <a:solidFill>
              <a:srgbClr val="8A96A3"/>
            </a:solidFill>
            <a:prstDash val="solid"/>
          </a:ln>
        </p:spPr>
      </p:sp>
      <p:sp>
        <p:nvSpPr>
          <p:cNvPr id="29" name="Text 27"/>
          <p:cNvSpPr txBox="1"/>
          <p:nvPr/>
        </p:nvSpPr>
        <p:spPr>
          <a:xfrm>
            <a:off x="548640" y="3602736"/>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5</a:t>
            </a:r>
            <a:endParaRPr lang="en-US" sz="1300" dirty="0"/>
          </a:p>
        </p:txBody>
      </p:sp>
      <p:sp>
        <p:nvSpPr>
          <p:cNvPr id="30" name="Text 28"/>
          <p:cNvSpPr txBox="1"/>
          <p:nvPr/>
        </p:nvSpPr>
        <p:spPr>
          <a:xfrm>
            <a:off x="987552" y="3538728"/>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肋間神経</a:t>
            </a:r>
            <a:endParaRPr lang="en-US" sz="1200" dirty="0"/>
          </a:p>
        </p:txBody>
      </p:sp>
      <p:sp>
        <p:nvSpPr>
          <p:cNvPr id="31" name="Text 29"/>
          <p:cNvSpPr txBox="1"/>
          <p:nvPr/>
        </p:nvSpPr>
        <p:spPr>
          <a:xfrm>
            <a:off x="4096512" y="3538728"/>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体性神経</a:t>
            </a:r>
            <a:endParaRPr lang="en-US" sz="1100" dirty="0"/>
          </a:p>
        </p:txBody>
      </p:sp>
      <p:sp>
        <p:nvSpPr>
          <p:cNvPr id="32" name="Shape 30"/>
          <p:cNvSpPr/>
          <p:nvPr/>
        </p:nvSpPr>
        <p:spPr>
          <a:xfrm>
            <a:off x="457200" y="4160520"/>
            <a:ext cx="1463040" cy="685800"/>
          </a:xfrm>
          <a:prstGeom prst="roundRect">
            <a:avLst>
              <a:gd name="adj" fmla="val 10667"/>
            </a:avLst>
          </a:prstGeom>
          <a:solidFill>
            <a:srgbClr val="D9534F"/>
          </a:solidFill>
          <a:ln/>
        </p:spPr>
      </p:sp>
      <p:sp>
        <p:nvSpPr>
          <p:cNvPr id="33" name="Text 31"/>
          <p:cNvSpPr txBox="1"/>
          <p:nvPr/>
        </p:nvSpPr>
        <p:spPr>
          <a:xfrm>
            <a:off x="457200" y="4160520"/>
            <a:ext cx="1463040" cy="685800"/>
          </a:xfrm>
          <a:prstGeom prst="rect">
            <a:avLst/>
          </a:prstGeom>
          <a:noFill/>
          <a:ln/>
        </p:spPr>
        <p:txBody>
          <a:bodyPr wrap="square" lIns="0" tIns="0" rIns="0" bIns="0" rtlCol="0" anchor="ctr"/>
          <a:lstStyle/>
          <a:p>
            <a:pPr algn="ctr" indent="0" marL="0">
              <a:buNone/>
            </a:pPr>
            <a:r>
              <a:rPr lang="en-US" sz="1100" dirty="0">
                <a:solidFill>
                  <a:srgbClr val="FFFFFF"/>
                </a:solidFill>
                <a:latin typeface="Meiryo" pitchFamily="34" charset="0"/>
                <a:ea typeface="Meiryo" pitchFamily="34" charset="-122"/>
                <a:cs typeface="Meiryo" pitchFamily="34" charset="-120"/>
              </a:rPr>
              <a:t>正解</a:t>
            </a:r>
            <a:endParaRPr lang="en-US" sz="1100" dirty="0"/>
          </a:p>
          <a:p>
            <a:pPr algn="ctr" indent="0" marL="0">
              <a:buNone/>
            </a:pPr>
            <a:r>
              <a:rPr lang="en-US" sz="2200" b="1" dirty="0">
                <a:solidFill>
                  <a:srgbClr val="FFFFFF"/>
                </a:solidFill>
                <a:latin typeface="Meiryo" pitchFamily="34" charset="0"/>
                <a:ea typeface="Meiryo" pitchFamily="34" charset="-122"/>
                <a:cs typeface="Meiryo" pitchFamily="34" charset="-120"/>
              </a:rPr>
              <a:t>2</a:t>
            </a:r>
            <a:endParaRPr lang="en-US" sz="1100" dirty="0"/>
          </a:p>
        </p:txBody>
      </p:sp>
      <p:sp>
        <p:nvSpPr>
          <p:cNvPr id="34" name="Shape 32"/>
          <p:cNvSpPr/>
          <p:nvPr/>
        </p:nvSpPr>
        <p:spPr>
          <a:xfrm>
            <a:off x="2057400" y="4160520"/>
            <a:ext cx="6629400" cy="685800"/>
          </a:xfrm>
          <a:prstGeom prst="roundRect">
            <a:avLst>
              <a:gd name="adj" fmla="val 10667"/>
            </a:avLst>
          </a:prstGeom>
          <a:solidFill>
            <a:srgbClr val="EAF2F8"/>
          </a:solidFill>
          <a:ln/>
        </p:spPr>
      </p:sp>
      <p:sp>
        <p:nvSpPr>
          <p:cNvPr id="35" name="Text 33"/>
          <p:cNvSpPr txBox="1"/>
          <p:nvPr/>
        </p:nvSpPr>
        <p:spPr>
          <a:xfrm>
            <a:off x="2194560" y="4160520"/>
            <a:ext cx="6400800" cy="685800"/>
          </a:xfrm>
          <a:prstGeom prst="rect">
            <a:avLst/>
          </a:prstGeom>
          <a:noFill/>
          <a:ln/>
        </p:spPr>
        <p:txBody>
          <a:bodyPr wrap="square" lIns="0" tIns="0" rIns="0" bIns="0" rtlCol="0" anchor="ctr"/>
          <a:lstStyle/>
          <a:p>
            <a:pPr indent="0" marL="0">
              <a:buNone/>
            </a:pPr>
            <a:r>
              <a:rPr lang="en-US" sz="1200" b="1" dirty="0">
                <a:solidFill>
                  <a:srgbClr val="2A7F9E"/>
                </a:solidFill>
                <a:latin typeface="Meiryo" pitchFamily="34" charset="0"/>
                <a:ea typeface="Meiryo" pitchFamily="34" charset="-122"/>
                <a:cs typeface="Meiryo" pitchFamily="34" charset="-120"/>
              </a:rPr>
              <a:t>POINT　</a:t>
            </a:r>
            <a:pPr indent="0" marL="0">
              <a:buNone/>
            </a:pPr>
            <a:r>
              <a:rPr lang="en-US" sz="1200" dirty="0">
                <a:solidFill>
                  <a:srgbClr val="222222"/>
                </a:solidFill>
                <a:latin typeface="Meiryo" pitchFamily="34" charset="0"/>
                <a:ea typeface="Meiryo" pitchFamily="34" charset="-122"/>
                <a:cs typeface="Meiryo" pitchFamily="34" charset="-120"/>
              </a:rPr>
              <a:t>副交感神経：脳神経（Ⅲ・Ⅶ・Ⅸ・Ⅹ）＋仙髄（骨盤神経）。</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74320"/>
            <a:ext cx="868680" cy="384048"/>
          </a:xfrm>
          <a:prstGeom prst="roundRect">
            <a:avLst>
              <a:gd name="adj" fmla="val 19048"/>
            </a:avLst>
          </a:prstGeom>
          <a:solidFill>
            <a:srgbClr val="17324D"/>
          </a:solidFill>
          <a:ln/>
        </p:spPr>
      </p:sp>
      <p:sp>
        <p:nvSpPr>
          <p:cNvPr id="3" name="Text 1"/>
          <p:cNvSpPr txBox="1"/>
          <p:nvPr/>
        </p:nvSpPr>
        <p:spPr>
          <a:xfrm>
            <a:off x="457200" y="274320"/>
            <a:ext cx="86868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問題</a:t>
            </a:r>
            <a:endParaRPr lang="en-US" sz="1300" dirty="0"/>
          </a:p>
        </p:txBody>
      </p:sp>
      <p:sp>
        <p:nvSpPr>
          <p:cNvPr id="4" name="Text 2"/>
          <p:cNvSpPr txBox="1"/>
          <p:nvPr/>
        </p:nvSpPr>
        <p:spPr>
          <a:xfrm>
            <a:off x="1417320" y="274320"/>
            <a:ext cx="731520" cy="384048"/>
          </a:xfrm>
          <a:prstGeom prst="rect">
            <a:avLst/>
          </a:prstGeom>
          <a:noFill/>
          <a:ln/>
        </p:spPr>
        <p:txBody>
          <a:bodyPr wrap="square" lIns="0" tIns="0" rIns="0" bIns="0" rtlCol="0" anchor="ctr"/>
          <a:lstStyle/>
          <a:p>
            <a:pPr indent="0" marL="0">
              <a:buNone/>
            </a:pPr>
            <a:r>
              <a:rPr lang="en-US" sz="2000" b="1" dirty="0">
                <a:solidFill>
                  <a:srgbClr val="17324D"/>
                </a:solidFill>
                <a:latin typeface="Arial" pitchFamily="34" charset="0"/>
                <a:ea typeface="Arial" pitchFamily="34" charset="-122"/>
                <a:cs typeface="Arial" pitchFamily="34" charset="-120"/>
              </a:rPr>
              <a:t>[7]</a:t>
            </a:r>
            <a:endParaRPr lang="en-US" sz="2000" dirty="0"/>
          </a:p>
        </p:txBody>
      </p:sp>
      <p:sp>
        <p:nvSpPr>
          <p:cNvPr id="5" name="Text 3"/>
          <p:cNvSpPr txBox="1"/>
          <p:nvPr/>
        </p:nvSpPr>
        <p:spPr>
          <a:xfrm>
            <a:off x="5943600" y="274320"/>
            <a:ext cx="2743200" cy="384048"/>
          </a:xfrm>
          <a:prstGeom prst="rect">
            <a:avLst/>
          </a:prstGeom>
          <a:noFill/>
          <a:ln/>
        </p:spPr>
        <p:txBody>
          <a:bodyPr wrap="square" lIns="0" tIns="0" rIns="0" bIns="0" rtlCol="0" anchor="ctr"/>
          <a:lstStyle/>
          <a:p>
            <a:pPr algn="r" indent="0" marL="0">
              <a:buNone/>
            </a:pPr>
            <a:r>
              <a:rPr lang="en-US" sz="1100" dirty="0">
                <a:solidFill>
                  <a:srgbClr val="5F6B76"/>
                </a:solidFill>
                <a:latin typeface="Meiryo" pitchFamily="34" charset="0"/>
                <a:ea typeface="Meiryo" pitchFamily="34" charset="-122"/>
                <a:cs typeface="Meiryo" pitchFamily="34" charset="-120"/>
              </a:rPr>
              <a:t>59回午後62</a:t>
            </a:r>
            <a:endParaRPr lang="en-US" sz="1100" dirty="0"/>
          </a:p>
        </p:txBody>
      </p:sp>
      <p:sp>
        <p:nvSpPr>
          <p:cNvPr id="6" name="Text 4"/>
          <p:cNvSpPr txBox="1"/>
          <p:nvPr/>
        </p:nvSpPr>
        <p:spPr>
          <a:xfrm>
            <a:off x="457200" y="731520"/>
            <a:ext cx="8229600" cy="594360"/>
          </a:xfrm>
          <a:prstGeom prst="rect">
            <a:avLst/>
          </a:prstGeom>
          <a:noFill/>
          <a:ln/>
        </p:spPr>
        <p:txBody>
          <a:bodyPr wrap="square" lIns="0" tIns="0" rIns="0" bIns="0" rtlCol="0" anchor="t"/>
          <a:lstStyle/>
          <a:p>
            <a:pPr indent="0" marL="0">
              <a:buNone/>
            </a:pPr>
            <a:r>
              <a:rPr lang="en-US" sz="1700" b="1" dirty="0">
                <a:solidFill>
                  <a:srgbClr val="222222"/>
                </a:solidFill>
                <a:latin typeface="Meiryo" pitchFamily="34" charset="0"/>
                <a:ea typeface="Meiryo" pitchFamily="34" charset="-122"/>
                <a:cs typeface="Meiryo" pitchFamily="34" charset="-120"/>
              </a:rPr>
              <a:t>交感神経の節前線維で直接支配されるのはどれか。</a:t>
            </a:r>
            <a:endParaRPr lang="en-US" sz="1700" dirty="0"/>
          </a:p>
        </p:txBody>
      </p:sp>
      <p:sp>
        <p:nvSpPr>
          <p:cNvPr id="7" name="Shape 5"/>
          <p:cNvSpPr/>
          <p:nvPr/>
        </p:nvSpPr>
        <p:spPr>
          <a:xfrm>
            <a:off x="457200" y="1508760"/>
            <a:ext cx="8229600" cy="493776"/>
          </a:xfrm>
          <a:prstGeom prst="roundRect">
            <a:avLst>
              <a:gd name="adj" fmla="val 14815"/>
            </a:avLst>
          </a:prstGeom>
          <a:solidFill>
            <a:srgbClr val="EAF2F8"/>
          </a:solidFill>
          <a:ln/>
        </p:spPr>
      </p:sp>
      <p:sp>
        <p:nvSpPr>
          <p:cNvPr id="8" name="Shape 6"/>
          <p:cNvSpPr/>
          <p:nvPr/>
        </p:nvSpPr>
        <p:spPr>
          <a:xfrm>
            <a:off x="566928" y="1572768"/>
            <a:ext cx="365760" cy="365760"/>
          </a:xfrm>
          <a:prstGeom prst="ellipse">
            <a:avLst/>
          </a:prstGeom>
          <a:solidFill>
            <a:srgbClr val="FFFFFF"/>
          </a:solidFill>
          <a:ln w="15875">
            <a:solidFill>
              <a:srgbClr val="17324D"/>
            </a:solidFill>
            <a:prstDash val="solid"/>
          </a:ln>
        </p:spPr>
      </p:sp>
      <p:sp>
        <p:nvSpPr>
          <p:cNvPr id="9" name="Text 7"/>
          <p:cNvSpPr txBox="1"/>
          <p:nvPr/>
        </p:nvSpPr>
        <p:spPr>
          <a:xfrm>
            <a:off x="566928" y="1572768"/>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1</a:t>
            </a:r>
            <a:endParaRPr lang="en-US" sz="1400" dirty="0"/>
          </a:p>
        </p:txBody>
      </p:sp>
      <p:sp>
        <p:nvSpPr>
          <p:cNvPr id="10" name="Text 8"/>
          <p:cNvSpPr txBox="1"/>
          <p:nvPr/>
        </p:nvSpPr>
        <p:spPr>
          <a:xfrm>
            <a:off x="1051560" y="1508760"/>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肝臓</a:t>
            </a:r>
            <a:endParaRPr lang="en-US" sz="1500" dirty="0"/>
          </a:p>
        </p:txBody>
      </p:sp>
      <p:sp>
        <p:nvSpPr>
          <p:cNvPr id="11" name="Shape 9"/>
          <p:cNvSpPr/>
          <p:nvPr/>
        </p:nvSpPr>
        <p:spPr>
          <a:xfrm>
            <a:off x="457200" y="2112264"/>
            <a:ext cx="8229600" cy="493776"/>
          </a:xfrm>
          <a:prstGeom prst="roundRect">
            <a:avLst>
              <a:gd name="adj" fmla="val 14815"/>
            </a:avLst>
          </a:prstGeom>
          <a:solidFill>
            <a:srgbClr val="EAF2F8"/>
          </a:solidFill>
          <a:ln/>
        </p:spPr>
      </p:sp>
      <p:sp>
        <p:nvSpPr>
          <p:cNvPr id="12" name="Shape 10"/>
          <p:cNvSpPr/>
          <p:nvPr/>
        </p:nvSpPr>
        <p:spPr>
          <a:xfrm>
            <a:off x="566928" y="2176272"/>
            <a:ext cx="365760" cy="365760"/>
          </a:xfrm>
          <a:prstGeom prst="ellipse">
            <a:avLst/>
          </a:prstGeom>
          <a:solidFill>
            <a:srgbClr val="FFFFFF"/>
          </a:solidFill>
          <a:ln w="15875">
            <a:solidFill>
              <a:srgbClr val="17324D"/>
            </a:solidFill>
            <a:prstDash val="solid"/>
          </a:ln>
        </p:spPr>
      </p:sp>
      <p:sp>
        <p:nvSpPr>
          <p:cNvPr id="13" name="Text 11"/>
          <p:cNvSpPr txBox="1"/>
          <p:nvPr/>
        </p:nvSpPr>
        <p:spPr>
          <a:xfrm>
            <a:off x="566928" y="2176272"/>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2</a:t>
            </a:r>
            <a:endParaRPr lang="en-US" sz="1400" dirty="0"/>
          </a:p>
        </p:txBody>
      </p:sp>
      <p:sp>
        <p:nvSpPr>
          <p:cNvPr id="14" name="Text 12"/>
          <p:cNvSpPr txBox="1"/>
          <p:nvPr/>
        </p:nvSpPr>
        <p:spPr>
          <a:xfrm>
            <a:off x="1051560" y="2112264"/>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心臓</a:t>
            </a:r>
            <a:endParaRPr lang="en-US" sz="1500" dirty="0"/>
          </a:p>
        </p:txBody>
      </p:sp>
      <p:sp>
        <p:nvSpPr>
          <p:cNvPr id="15" name="Shape 13"/>
          <p:cNvSpPr/>
          <p:nvPr/>
        </p:nvSpPr>
        <p:spPr>
          <a:xfrm>
            <a:off x="457200" y="2715768"/>
            <a:ext cx="8229600" cy="493776"/>
          </a:xfrm>
          <a:prstGeom prst="roundRect">
            <a:avLst>
              <a:gd name="adj" fmla="val 14815"/>
            </a:avLst>
          </a:prstGeom>
          <a:solidFill>
            <a:srgbClr val="EAF2F8"/>
          </a:solidFill>
          <a:ln/>
        </p:spPr>
      </p:sp>
      <p:sp>
        <p:nvSpPr>
          <p:cNvPr id="16" name="Shape 14"/>
          <p:cNvSpPr/>
          <p:nvPr/>
        </p:nvSpPr>
        <p:spPr>
          <a:xfrm>
            <a:off x="566928" y="2779776"/>
            <a:ext cx="365760" cy="365760"/>
          </a:xfrm>
          <a:prstGeom prst="ellipse">
            <a:avLst/>
          </a:prstGeom>
          <a:solidFill>
            <a:srgbClr val="FFFFFF"/>
          </a:solidFill>
          <a:ln w="15875">
            <a:solidFill>
              <a:srgbClr val="17324D"/>
            </a:solidFill>
            <a:prstDash val="solid"/>
          </a:ln>
        </p:spPr>
      </p:sp>
      <p:sp>
        <p:nvSpPr>
          <p:cNvPr id="17" name="Text 15"/>
          <p:cNvSpPr txBox="1"/>
          <p:nvPr/>
        </p:nvSpPr>
        <p:spPr>
          <a:xfrm>
            <a:off x="566928" y="2779776"/>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3</a:t>
            </a:r>
            <a:endParaRPr lang="en-US" sz="1400" dirty="0"/>
          </a:p>
        </p:txBody>
      </p:sp>
      <p:sp>
        <p:nvSpPr>
          <p:cNvPr id="18" name="Text 16"/>
          <p:cNvSpPr txBox="1"/>
          <p:nvPr/>
        </p:nvSpPr>
        <p:spPr>
          <a:xfrm>
            <a:off x="1051560" y="2715768"/>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気管支</a:t>
            </a:r>
            <a:endParaRPr lang="en-US" sz="1500" dirty="0"/>
          </a:p>
        </p:txBody>
      </p:sp>
      <p:sp>
        <p:nvSpPr>
          <p:cNvPr id="19" name="Shape 17"/>
          <p:cNvSpPr/>
          <p:nvPr/>
        </p:nvSpPr>
        <p:spPr>
          <a:xfrm>
            <a:off x="457200" y="3319272"/>
            <a:ext cx="8229600" cy="493776"/>
          </a:xfrm>
          <a:prstGeom prst="roundRect">
            <a:avLst>
              <a:gd name="adj" fmla="val 14815"/>
            </a:avLst>
          </a:prstGeom>
          <a:solidFill>
            <a:srgbClr val="EAF2F8"/>
          </a:solidFill>
          <a:ln/>
        </p:spPr>
      </p:sp>
      <p:sp>
        <p:nvSpPr>
          <p:cNvPr id="20" name="Shape 18"/>
          <p:cNvSpPr/>
          <p:nvPr/>
        </p:nvSpPr>
        <p:spPr>
          <a:xfrm>
            <a:off x="566928" y="3383280"/>
            <a:ext cx="365760" cy="365760"/>
          </a:xfrm>
          <a:prstGeom prst="ellipse">
            <a:avLst/>
          </a:prstGeom>
          <a:solidFill>
            <a:srgbClr val="FFFFFF"/>
          </a:solidFill>
          <a:ln w="15875">
            <a:solidFill>
              <a:srgbClr val="17324D"/>
            </a:solidFill>
            <a:prstDash val="solid"/>
          </a:ln>
        </p:spPr>
      </p:sp>
      <p:sp>
        <p:nvSpPr>
          <p:cNvPr id="21" name="Text 19"/>
          <p:cNvSpPr txBox="1"/>
          <p:nvPr/>
        </p:nvSpPr>
        <p:spPr>
          <a:xfrm>
            <a:off x="566928" y="3383280"/>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4</a:t>
            </a:r>
            <a:endParaRPr lang="en-US" sz="1400" dirty="0"/>
          </a:p>
        </p:txBody>
      </p:sp>
      <p:sp>
        <p:nvSpPr>
          <p:cNvPr id="22" name="Text 20"/>
          <p:cNvSpPr txBox="1"/>
          <p:nvPr/>
        </p:nvSpPr>
        <p:spPr>
          <a:xfrm>
            <a:off x="1051560" y="3319272"/>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唾液腺</a:t>
            </a:r>
            <a:endParaRPr lang="en-US" sz="1500" dirty="0"/>
          </a:p>
        </p:txBody>
      </p:sp>
      <p:sp>
        <p:nvSpPr>
          <p:cNvPr id="23" name="Shape 21"/>
          <p:cNvSpPr/>
          <p:nvPr/>
        </p:nvSpPr>
        <p:spPr>
          <a:xfrm>
            <a:off x="457200" y="3922776"/>
            <a:ext cx="8229600" cy="493776"/>
          </a:xfrm>
          <a:prstGeom prst="roundRect">
            <a:avLst>
              <a:gd name="adj" fmla="val 14815"/>
            </a:avLst>
          </a:prstGeom>
          <a:solidFill>
            <a:srgbClr val="EAF2F8"/>
          </a:solidFill>
          <a:ln/>
        </p:spPr>
      </p:sp>
      <p:sp>
        <p:nvSpPr>
          <p:cNvPr id="24" name="Shape 22"/>
          <p:cNvSpPr/>
          <p:nvPr/>
        </p:nvSpPr>
        <p:spPr>
          <a:xfrm>
            <a:off x="566928" y="3986784"/>
            <a:ext cx="365760" cy="365760"/>
          </a:xfrm>
          <a:prstGeom prst="ellipse">
            <a:avLst/>
          </a:prstGeom>
          <a:solidFill>
            <a:srgbClr val="FFFFFF"/>
          </a:solidFill>
          <a:ln w="15875">
            <a:solidFill>
              <a:srgbClr val="17324D"/>
            </a:solidFill>
            <a:prstDash val="solid"/>
          </a:ln>
        </p:spPr>
      </p:sp>
      <p:sp>
        <p:nvSpPr>
          <p:cNvPr id="25" name="Text 23"/>
          <p:cNvSpPr txBox="1"/>
          <p:nvPr/>
        </p:nvSpPr>
        <p:spPr>
          <a:xfrm>
            <a:off x="566928" y="3986784"/>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5</a:t>
            </a:r>
            <a:endParaRPr lang="en-US" sz="1400" dirty="0"/>
          </a:p>
        </p:txBody>
      </p:sp>
      <p:sp>
        <p:nvSpPr>
          <p:cNvPr id="26" name="Text 24"/>
          <p:cNvSpPr txBox="1"/>
          <p:nvPr/>
        </p:nvSpPr>
        <p:spPr>
          <a:xfrm>
            <a:off x="1051560" y="3922776"/>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副腎髄質</a:t>
            </a:r>
            <a:endParaRPr lang="en-US" sz="15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74320"/>
            <a:ext cx="868680" cy="384048"/>
          </a:xfrm>
          <a:prstGeom prst="roundRect">
            <a:avLst>
              <a:gd name="adj" fmla="val 19048"/>
            </a:avLst>
          </a:prstGeom>
          <a:solidFill>
            <a:srgbClr val="D9534F"/>
          </a:solidFill>
          <a:ln/>
        </p:spPr>
      </p:sp>
      <p:sp>
        <p:nvSpPr>
          <p:cNvPr id="3" name="Text 1"/>
          <p:cNvSpPr txBox="1"/>
          <p:nvPr/>
        </p:nvSpPr>
        <p:spPr>
          <a:xfrm>
            <a:off x="457200" y="274320"/>
            <a:ext cx="86868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解説</a:t>
            </a:r>
            <a:endParaRPr lang="en-US" sz="1300" dirty="0"/>
          </a:p>
        </p:txBody>
      </p:sp>
      <p:sp>
        <p:nvSpPr>
          <p:cNvPr id="4" name="Text 2"/>
          <p:cNvSpPr txBox="1"/>
          <p:nvPr/>
        </p:nvSpPr>
        <p:spPr>
          <a:xfrm>
            <a:off x="1417320" y="274320"/>
            <a:ext cx="731520" cy="384048"/>
          </a:xfrm>
          <a:prstGeom prst="rect">
            <a:avLst/>
          </a:prstGeom>
          <a:noFill/>
          <a:ln/>
        </p:spPr>
        <p:txBody>
          <a:bodyPr wrap="square" lIns="0" tIns="0" rIns="0" bIns="0" rtlCol="0" anchor="ctr"/>
          <a:lstStyle/>
          <a:p>
            <a:pPr indent="0" marL="0">
              <a:buNone/>
            </a:pPr>
            <a:r>
              <a:rPr lang="en-US" sz="2000" b="1" dirty="0">
                <a:solidFill>
                  <a:srgbClr val="17324D"/>
                </a:solidFill>
                <a:latin typeface="Arial" pitchFamily="34" charset="0"/>
                <a:ea typeface="Arial" pitchFamily="34" charset="-122"/>
                <a:cs typeface="Arial" pitchFamily="34" charset="-120"/>
              </a:rPr>
              <a:t>[7]</a:t>
            </a:r>
            <a:endParaRPr lang="en-US" sz="2000" dirty="0"/>
          </a:p>
        </p:txBody>
      </p:sp>
      <p:sp>
        <p:nvSpPr>
          <p:cNvPr id="5" name="Text 3"/>
          <p:cNvSpPr txBox="1"/>
          <p:nvPr/>
        </p:nvSpPr>
        <p:spPr>
          <a:xfrm>
            <a:off x="5943600" y="274320"/>
            <a:ext cx="2743200" cy="384048"/>
          </a:xfrm>
          <a:prstGeom prst="rect">
            <a:avLst/>
          </a:prstGeom>
          <a:noFill/>
          <a:ln/>
        </p:spPr>
        <p:txBody>
          <a:bodyPr wrap="square" lIns="0" tIns="0" rIns="0" bIns="0" rtlCol="0" anchor="ctr"/>
          <a:lstStyle/>
          <a:p>
            <a:pPr algn="r" indent="0" marL="0">
              <a:buNone/>
            </a:pPr>
            <a:r>
              <a:rPr lang="en-US" sz="1100" dirty="0">
                <a:solidFill>
                  <a:srgbClr val="5F6B76"/>
                </a:solidFill>
                <a:latin typeface="Meiryo" pitchFamily="34" charset="0"/>
                <a:ea typeface="Meiryo" pitchFamily="34" charset="-122"/>
                <a:cs typeface="Meiryo" pitchFamily="34" charset="-120"/>
              </a:rPr>
              <a:t>59回午後62</a:t>
            </a:r>
            <a:endParaRPr lang="en-US" sz="1100" dirty="0"/>
          </a:p>
        </p:txBody>
      </p:sp>
      <p:sp>
        <p:nvSpPr>
          <p:cNvPr id="6" name="Text 4"/>
          <p:cNvSpPr txBox="1"/>
          <p:nvPr/>
        </p:nvSpPr>
        <p:spPr>
          <a:xfrm>
            <a:off x="457200" y="731520"/>
            <a:ext cx="8229600" cy="594360"/>
          </a:xfrm>
          <a:prstGeom prst="rect">
            <a:avLst/>
          </a:prstGeom>
          <a:noFill/>
          <a:ln/>
        </p:spPr>
        <p:txBody>
          <a:bodyPr wrap="square" lIns="0" tIns="0" rIns="0" bIns="0" rtlCol="0" anchor="t"/>
          <a:lstStyle/>
          <a:p>
            <a:pPr indent="0" marL="0">
              <a:buNone/>
            </a:pPr>
            <a:r>
              <a:rPr lang="en-US" sz="1700" b="1" dirty="0">
                <a:solidFill>
                  <a:srgbClr val="222222"/>
                </a:solidFill>
                <a:latin typeface="Meiryo" pitchFamily="34" charset="0"/>
                <a:ea typeface="Meiryo" pitchFamily="34" charset="-122"/>
                <a:cs typeface="Meiryo" pitchFamily="34" charset="-120"/>
              </a:rPr>
              <a:t>交感神経の節前線維で直接支配されるのはどれか。</a:t>
            </a:r>
            <a:endParaRPr lang="en-US" sz="1700" dirty="0"/>
          </a:p>
        </p:txBody>
      </p:sp>
      <p:sp>
        <p:nvSpPr>
          <p:cNvPr id="7" name="Shape 5"/>
          <p:cNvSpPr/>
          <p:nvPr/>
        </p:nvSpPr>
        <p:spPr>
          <a:xfrm>
            <a:off x="457200" y="1417320"/>
            <a:ext cx="8229600" cy="457200"/>
          </a:xfrm>
          <a:prstGeom prst="roundRect">
            <a:avLst>
              <a:gd name="adj" fmla="val 16000"/>
            </a:avLst>
          </a:prstGeom>
          <a:solidFill>
            <a:srgbClr val="F4F6F8"/>
          </a:solidFill>
          <a:ln/>
        </p:spPr>
      </p:sp>
      <p:sp>
        <p:nvSpPr>
          <p:cNvPr id="8" name="Shape 6"/>
          <p:cNvSpPr/>
          <p:nvPr/>
        </p:nvSpPr>
        <p:spPr>
          <a:xfrm>
            <a:off x="548640" y="1481328"/>
            <a:ext cx="329184" cy="329184"/>
          </a:xfrm>
          <a:prstGeom prst="ellipse">
            <a:avLst/>
          </a:prstGeom>
          <a:solidFill>
            <a:srgbClr val="FFFFFF"/>
          </a:solidFill>
          <a:ln w="12700">
            <a:solidFill>
              <a:srgbClr val="8A96A3"/>
            </a:solidFill>
            <a:prstDash val="solid"/>
          </a:ln>
        </p:spPr>
      </p:sp>
      <p:sp>
        <p:nvSpPr>
          <p:cNvPr id="9" name="Text 7"/>
          <p:cNvSpPr txBox="1"/>
          <p:nvPr/>
        </p:nvSpPr>
        <p:spPr>
          <a:xfrm>
            <a:off x="548640" y="1481328"/>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1</a:t>
            </a:r>
            <a:endParaRPr lang="en-US" sz="1300" dirty="0"/>
          </a:p>
        </p:txBody>
      </p:sp>
      <p:sp>
        <p:nvSpPr>
          <p:cNvPr id="10" name="Text 8"/>
          <p:cNvSpPr txBox="1"/>
          <p:nvPr/>
        </p:nvSpPr>
        <p:spPr>
          <a:xfrm>
            <a:off x="987552" y="1417320"/>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肝臓</a:t>
            </a:r>
            <a:endParaRPr lang="en-US" sz="1200" dirty="0"/>
          </a:p>
        </p:txBody>
      </p:sp>
      <p:sp>
        <p:nvSpPr>
          <p:cNvPr id="11" name="Text 9"/>
          <p:cNvSpPr txBox="1"/>
          <p:nvPr/>
        </p:nvSpPr>
        <p:spPr>
          <a:xfrm>
            <a:off x="4096512" y="1417320"/>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節後線維</a:t>
            </a:r>
            <a:endParaRPr lang="en-US" sz="1100" dirty="0"/>
          </a:p>
        </p:txBody>
      </p:sp>
      <p:sp>
        <p:nvSpPr>
          <p:cNvPr id="12" name="Shape 10"/>
          <p:cNvSpPr/>
          <p:nvPr/>
        </p:nvSpPr>
        <p:spPr>
          <a:xfrm>
            <a:off x="457200" y="1947672"/>
            <a:ext cx="8229600" cy="457200"/>
          </a:xfrm>
          <a:prstGeom prst="roundRect">
            <a:avLst>
              <a:gd name="adj" fmla="val 16000"/>
            </a:avLst>
          </a:prstGeom>
          <a:solidFill>
            <a:srgbClr val="F4F6F8"/>
          </a:solidFill>
          <a:ln/>
        </p:spPr>
      </p:sp>
      <p:sp>
        <p:nvSpPr>
          <p:cNvPr id="13" name="Shape 11"/>
          <p:cNvSpPr/>
          <p:nvPr/>
        </p:nvSpPr>
        <p:spPr>
          <a:xfrm>
            <a:off x="548640" y="2011680"/>
            <a:ext cx="329184" cy="329184"/>
          </a:xfrm>
          <a:prstGeom prst="ellipse">
            <a:avLst/>
          </a:prstGeom>
          <a:solidFill>
            <a:srgbClr val="FFFFFF"/>
          </a:solidFill>
          <a:ln w="12700">
            <a:solidFill>
              <a:srgbClr val="8A96A3"/>
            </a:solidFill>
            <a:prstDash val="solid"/>
          </a:ln>
        </p:spPr>
      </p:sp>
      <p:sp>
        <p:nvSpPr>
          <p:cNvPr id="14" name="Text 12"/>
          <p:cNvSpPr txBox="1"/>
          <p:nvPr/>
        </p:nvSpPr>
        <p:spPr>
          <a:xfrm>
            <a:off x="548640" y="2011680"/>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2</a:t>
            </a:r>
            <a:endParaRPr lang="en-US" sz="1300" dirty="0"/>
          </a:p>
        </p:txBody>
      </p:sp>
      <p:sp>
        <p:nvSpPr>
          <p:cNvPr id="15" name="Text 13"/>
          <p:cNvSpPr txBox="1"/>
          <p:nvPr/>
        </p:nvSpPr>
        <p:spPr>
          <a:xfrm>
            <a:off x="987552" y="1947672"/>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心臓</a:t>
            </a:r>
            <a:endParaRPr lang="en-US" sz="1200" dirty="0"/>
          </a:p>
        </p:txBody>
      </p:sp>
      <p:sp>
        <p:nvSpPr>
          <p:cNvPr id="16" name="Text 14"/>
          <p:cNvSpPr txBox="1"/>
          <p:nvPr/>
        </p:nvSpPr>
        <p:spPr>
          <a:xfrm>
            <a:off x="4096512" y="1947672"/>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節後線維</a:t>
            </a:r>
            <a:endParaRPr lang="en-US" sz="1100" dirty="0"/>
          </a:p>
        </p:txBody>
      </p:sp>
      <p:sp>
        <p:nvSpPr>
          <p:cNvPr id="17" name="Shape 15"/>
          <p:cNvSpPr/>
          <p:nvPr/>
        </p:nvSpPr>
        <p:spPr>
          <a:xfrm>
            <a:off x="457200" y="2478024"/>
            <a:ext cx="8229600" cy="457200"/>
          </a:xfrm>
          <a:prstGeom prst="roundRect">
            <a:avLst>
              <a:gd name="adj" fmla="val 16000"/>
            </a:avLst>
          </a:prstGeom>
          <a:solidFill>
            <a:srgbClr val="F4F6F8"/>
          </a:solidFill>
          <a:ln/>
        </p:spPr>
      </p:sp>
      <p:sp>
        <p:nvSpPr>
          <p:cNvPr id="18" name="Shape 16"/>
          <p:cNvSpPr/>
          <p:nvPr/>
        </p:nvSpPr>
        <p:spPr>
          <a:xfrm>
            <a:off x="548640" y="2542032"/>
            <a:ext cx="329184" cy="329184"/>
          </a:xfrm>
          <a:prstGeom prst="ellipse">
            <a:avLst/>
          </a:prstGeom>
          <a:solidFill>
            <a:srgbClr val="FFFFFF"/>
          </a:solidFill>
          <a:ln w="12700">
            <a:solidFill>
              <a:srgbClr val="8A96A3"/>
            </a:solidFill>
            <a:prstDash val="solid"/>
          </a:ln>
        </p:spPr>
      </p:sp>
      <p:sp>
        <p:nvSpPr>
          <p:cNvPr id="19" name="Text 17"/>
          <p:cNvSpPr txBox="1"/>
          <p:nvPr/>
        </p:nvSpPr>
        <p:spPr>
          <a:xfrm>
            <a:off x="548640" y="2542032"/>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3</a:t>
            </a:r>
            <a:endParaRPr lang="en-US" sz="1300" dirty="0"/>
          </a:p>
        </p:txBody>
      </p:sp>
      <p:sp>
        <p:nvSpPr>
          <p:cNvPr id="20" name="Text 18"/>
          <p:cNvSpPr txBox="1"/>
          <p:nvPr/>
        </p:nvSpPr>
        <p:spPr>
          <a:xfrm>
            <a:off x="987552" y="2478024"/>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気管支</a:t>
            </a:r>
            <a:endParaRPr lang="en-US" sz="1200" dirty="0"/>
          </a:p>
        </p:txBody>
      </p:sp>
      <p:sp>
        <p:nvSpPr>
          <p:cNvPr id="21" name="Text 19"/>
          <p:cNvSpPr txBox="1"/>
          <p:nvPr/>
        </p:nvSpPr>
        <p:spPr>
          <a:xfrm>
            <a:off x="4096512" y="2478024"/>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節後線維</a:t>
            </a:r>
            <a:endParaRPr lang="en-US" sz="1100" dirty="0"/>
          </a:p>
        </p:txBody>
      </p:sp>
      <p:sp>
        <p:nvSpPr>
          <p:cNvPr id="22" name="Shape 20"/>
          <p:cNvSpPr/>
          <p:nvPr/>
        </p:nvSpPr>
        <p:spPr>
          <a:xfrm>
            <a:off x="457200" y="3008376"/>
            <a:ext cx="8229600" cy="457200"/>
          </a:xfrm>
          <a:prstGeom prst="roundRect">
            <a:avLst>
              <a:gd name="adj" fmla="val 16000"/>
            </a:avLst>
          </a:prstGeom>
          <a:solidFill>
            <a:srgbClr val="F4F6F8"/>
          </a:solidFill>
          <a:ln/>
        </p:spPr>
      </p:sp>
      <p:sp>
        <p:nvSpPr>
          <p:cNvPr id="23" name="Shape 21"/>
          <p:cNvSpPr/>
          <p:nvPr/>
        </p:nvSpPr>
        <p:spPr>
          <a:xfrm>
            <a:off x="548640" y="3072384"/>
            <a:ext cx="329184" cy="329184"/>
          </a:xfrm>
          <a:prstGeom prst="ellipse">
            <a:avLst/>
          </a:prstGeom>
          <a:solidFill>
            <a:srgbClr val="FFFFFF"/>
          </a:solidFill>
          <a:ln w="12700">
            <a:solidFill>
              <a:srgbClr val="8A96A3"/>
            </a:solidFill>
            <a:prstDash val="solid"/>
          </a:ln>
        </p:spPr>
      </p:sp>
      <p:sp>
        <p:nvSpPr>
          <p:cNvPr id="24" name="Text 22"/>
          <p:cNvSpPr txBox="1"/>
          <p:nvPr/>
        </p:nvSpPr>
        <p:spPr>
          <a:xfrm>
            <a:off x="548640" y="3072384"/>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4</a:t>
            </a:r>
            <a:endParaRPr lang="en-US" sz="1300" dirty="0"/>
          </a:p>
        </p:txBody>
      </p:sp>
      <p:sp>
        <p:nvSpPr>
          <p:cNvPr id="25" name="Text 23"/>
          <p:cNvSpPr txBox="1"/>
          <p:nvPr/>
        </p:nvSpPr>
        <p:spPr>
          <a:xfrm>
            <a:off x="987552" y="3008376"/>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唾液腺</a:t>
            </a:r>
            <a:endParaRPr lang="en-US" sz="1200" dirty="0"/>
          </a:p>
        </p:txBody>
      </p:sp>
      <p:sp>
        <p:nvSpPr>
          <p:cNvPr id="26" name="Text 24"/>
          <p:cNvSpPr txBox="1"/>
          <p:nvPr/>
        </p:nvSpPr>
        <p:spPr>
          <a:xfrm>
            <a:off x="4096512" y="3008376"/>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節後線維</a:t>
            </a:r>
            <a:endParaRPr lang="en-US" sz="1100" dirty="0"/>
          </a:p>
        </p:txBody>
      </p:sp>
      <p:sp>
        <p:nvSpPr>
          <p:cNvPr id="27" name="Shape 25"/>
          <p:cNvSpPr/>
          <p:nvPr/>
        </p:nvSpPr>
        <p:spPr>
          <a:xfrm>
            <a:off x="457200" y="3538728"/>
            <a:ext cx="8229600" cy="457200"/>
          </a:xfrm>
          <a:prstGeom prst="roundRect">
            <a:avLst>
              <a:gd name="adj" fmla="val 16000"/>
            </a:avLst>
          </a:prstGeom>
          <a:solidFill>
            <a:srgbClr val="FBE3E2"/>
          </a:solidFill>
          <a:ln w="19050">
            <a:solidFill>
              <a:srgbClr val="D9534F"/>
            </a:solidFill>
            <a:prstDash val="solid"/>
          </a:ln>
        </p:spPr>
      </p:sp>
      <p:sp>
        <p:nvSpPr>
          <p:cNvPr id="28" name="Shape 26"/>
          <p:cNvSpPr/>
          <p:nvPr/>
        </p:nvSpPr>
        <p:spPr>
          <a:xfrm>
            <a:off x="548640" y="3602736"/>
            <a:ext cx="329184" cy="329184"/>
          </a:xfrm>
          <a:prstGeom prst="ellipse">
            <a:avLst/>
          </a:prstGeom>
          <a:solidFill>
            <a:srgbClr val="D9534F"/>
          </a:solidFill>
          <a:ln w="12700">
            <a:solidFill>
              <a:srgbClr val="D9534F"/>
            </a:solidFill>
            <a:prstDash val="solid"/>
          </a:ln>
        </p:spPr>
      </p:sp>
      <p:sp>
        <p:nvSpPr>
          <p:cNvPr id="29" name="Text 27"/>
          <p:cNvSpPr txBox="1"/>
          <p:nvPr/>
        </p:nvSpPr>
        <p:spPr>
          <a:xfrm>
            <a:off x="548640" y="3602736"/>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5</a:t>
            </a:r>
            <a:endParaRPr lang="en-US" sz="1300" dirty="0"/>
          </a:p>
        </p:txBody>
      </p:sp>
      <p:sp>
        <p:nvSpPr>
          <p:cNvPr id="30" name="Text 28"/>
          <p:cNvSpPr txBox="1"/>
          <p:nvPr/>
        </p:nvSpPr>
        <p:spPr>
          <a:xfrm>
            <a:off x="987552" y="3538728"/>
            <a:ext cx="3017520" cy="457200"/>
          </a:xfrm>
          <a:prstGeom prst="rect">
            <a:avLst/>
          </a:prstGeom>
          <a:noFill/>
          <a:ln/>
        </p:spPr>
        <p:txBody>
          <a:bodyPr wrap="square" lIns="0" tIns="0" rIns="0" bIns="0" rtlCol="0" anchor="ctr"/>
          <a:lstStyle/>
          <a:p>
            <a:pPr indent="0" marL="0">
              <a:buNone/>
            </a:pPr>
            <a:r>
              <a:rPr lang="en-US" sz="1200" b="1" dirty="0">
                <a:solidFill>
                  <a:srgbClr val="D9534F"/>
                </a:solidFill>
                <a:latin typeface="Meiryo" pitchFamily="34" charset="0"/>
                <a:ea typeface="Meiryo" pitchFamily="34" charset="-122"/>
                <a:cs typeface="Meiryo" pitchFamily="34" charset="-120"/>
              </a:rPr>
              <a:t>副腎髄質</a:t>
            </a:r>
            <a:endParaRPr lang="en-US" sz="1200" dirty="0"/>
          </a:p>
        </p:txBody>
      </p:sp>
      <p:sp>
        <p:nvSpPr>
          <p:cNvPr id="31" name="Text 29"/>
          <p:cNvSpPr txBox="1"/>
          <p:nvPr/>
        </p:nvSpPr>
        <p:spPr>
          <a:xfrm>
            <a:off x="4096512" y="3538728"/>
            <a:ext cx="4526280" cy="457200"/>
          </a:xfrm>
          <a:prstGeom prst="rect">
            <a:avLst/>
          </a:prstGeom>
          <a:noFill/>
          <a:ln/>
        </p:spPr>
        <p:txBody>
          <a:bodyPr wrap="square" lIns="0" tIns="0" rIns="0" bIns="0" rtlCol="0" anchor="ctr"/>
          <a:lstStyle/>
          <a:p>
            <a:pPr indent="0" marL="0">
              <a:buNone/>
            </a:pPr>
            <a:r>
              <a:rPr lang="en-US" sz="1100" dirty="0">
                <a:solidFill>
                  <a:srgbClr val="222222"/>
                </a:solidFill>
                <a:latin typeface="Meiryo" pitchFamily="34" charset="0"/>
                <a:ea typeface="Meiryo" pitchFamily="34" charset="-122"/>
                <a:cs typeface="Meiryo" pitchFamily="34" charset="-120"/>
              </a:rPr>
              <a:t>副腎髄質は節前線維が直接支配 ○</a:t>
            </a:r>
            <a:endParaRPr lang="en-US" sz="1100" dirty="0"/>
          </a:p>
        </p:txBody>
      </p:sp>
      <p:sp>
        <p:nvSpPr>
          <p:cNvPr id="32" name="Shape 30"/>
          <p:cNvSpPr/>
          <p:nvPr/>
        </p:nvSpPr>
        <p:spPr>
          <a:xfrm>
            <a:off x="457200" y="4160520"/>
            <a:ext cx="1463040" cy="685800"/>
          </a:xfrm>
          <a:prstGeom prst="roundRect">
            <a:avLst>
              <a:gd name="adj" fmla="val 10667"/>
            </a:avLst>
          </a:prstGeom>
          <a:solidFill>
            <a:srgbClr val="D9534F"/>
          </a:solidFill>
          <a:ln/>
        </p:spPr>
      </p:sp>
      <p:sp>
        <p:nvSpPr>
          <p:cNvPr id="33" name="Text 31"/>
          <p:cNvSpPr txBox="1"/>
          <p:nvPr/>
        </p:nvSpPr>
        <p:spPr>
          <a:xfrm>
            <a:off x="457200" y="4160520"/>
            <a:ext cx="1463040" cy="685800"/>
          </a:xfrm>
          <a:prstGeom prst="rect">
            <a:avLst/>
          </a:prstGeom>
          <a:noFill/>
          <a:ln/>
        </p:spPr>
        <p:txBody>
          <a:bodyPr wrap="square" lIns="0" tIns="0" rIns="0" bIns="0" rtlCol="0" anchor="ctr"/>
          <a:lstStyle/>
          <a:p>
            <a:pPr algn="ctr" indent="0" marL="0">
              <a:buNone/>
            </a:pPr>
            <a:r>
              <a:rPr lang="en-US" sz="1100" dirty="0">
                <a:solidFill>
                  <a:srgbClr val="FFFFFF"/>
                </a:solidFill>
                <a:latin typeface="Meiryo" pitchFamily="34" charset="0"/>
                <a:ea typeface="Meiryo" pitchFamily="34" charset="-122"/>
                <a:cs typeface="Meiryo" pitchFamily="34" charset="-120"/>
              </a:rPr>
              <a:t>正解</a:t>
            </a:r>
            <a:endParaRPr lang="en-US" sz="1100" dirty="0"/>
          </a:p>
          <a:p>
            <a:pPr algn="ctr" indent="0" marL="0">
              <a:buNone/>
            </a:pPr>
            <a:r>
              <a:rPr lang="en-US" sz="2200" b="1" dirty="0">
                <a:solidFill>
                  <a:srgbClr val="FFFFFF"/>
                </a:solidFill>
                <a:latin typeface="Meiryo" pitchFamily="34" charset="0"/>
                <a:ea typeface="Meiryo" pitchFamily="34" charset="-122"/>
                <a:cs typeface="Meiryo" pitchFamily="34" charset="-120"/>
              </a:rPr>
              <a:t>5</a:t>
            </a:r>
            <a:endParaRPr lang="en-US" sz="1100" dirty="0"/>
          </a:p>
        </p:txBody>
      </p:sp>
      <p:sp>
        <p:nvSpPr>
          <p:cNvPr id="34" name="Shape 32"/>
          <p:cNvSpPr/>
          <p:nvPr/>
        </p:nvSpPr>
        <p:spPr>
          <a:xfrm>
            <a:off x="2057400" y="4160520"/>
            <a:ext cx="6629400" cy="685800"/>
          </a:xfrm>
          <a:prstGeom prst="roundRect">
            <a:avLst>
              <a:gd name="adj" fmla="val 10667"/>
            </a:avLst>
          </a:prstGeom>
          <a:solidFill>
            <a:srgbClr val="EAF2F8"/>
          </a:solidFill>
          <a:ln/>
        </p:spPr>
      </p:sp>
      <p:sp>
        <p:nvSpPr>
          <p:cNvPr id="35" name="Text 33"/>
          <p:cNvSpPr txBox="1"/>
          <p:nvPr/>
        </p:nvSpPr>
        <p:spPr>
          <a:xfrm>
            <a:off x="2194560" y="4160520"/>
            <a:ext cx="6400800" cy="685800"/>
          </a:xfrm>
          <a:prstGeom prst="rect">
            <a:avLst/>
          </a:prstGeom>
          <a:noFill/>
          <a:ln/>
        </p:spPr>
        <p:txBody>
          <a:bodyPr wrap="square" lIns="0" tIns="0" rIns="0" bIns="0" rtlCol="0" anchor="ctr"/>
          <a:lstStyle/>
          <a:p>
            <a:pPr indent="0" marL="0">
              <a:buNone/>
            </a:pPr>
            <a:r>
              <a:rPr lang="en-US" sz="1200" b="1" dirty="0">
                <a:solidFill>
                  <a:srgbClr val="2A7F9E"/>
                </a:solidFill>
                <a:latin typeface="Meiryo" pitchFamily="34" charset="0"/>
                <a:ea typeface="Meiryo" pitchFamily="34" charset="-122"/>
                <a:cs typeface="Meiryo" pitchFamily="34" charset="-120"/>
              </a:rPr>
              <a:t>POINT　</a:t>
            </a:r>
            <a:pPr indent="0" marL="0">
              <a:buNone/>
            </a:pPr>
            <a:r>
              <a:rPr lang="en-US" sz="1200" dirty="0">
                <a:solidFill>
                  <a:srgbClr val="222222"/>
                </a:solidFill>
                <a:latin typeface="Meiryo" pitchFamily="34" charset="0"/>
                <a:ea typeface="Meiryo" pitchFamily="34" charset="-122"/>
                <a:cs typeface="Meiryo" pitchFamily="34" charset="-120"/>
              </a:rPr>
              <a:t>副腎髄質は交感神経節後ニューロンに相当する。</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74320"/>
            <a:ext cx="868680" cy="384048"/>
          </a:xfrm>
          <a:prstGeom prst="roundRect">
            <a:avLst>
              <a:gd name="adj" fmla="val 19048"/>
            </a:avLst>
          </a:prstGeom>
          <a:solidFill>
            <a:srgbClr val="17324D"/>
          </a:solidFill>
          <a:ln/>
        </p:spPr>
      </p:sp>
      <p:sp>
        <p:nvSpPr>
          <p:cNvPr id="3" name="Text 1"/>
          <p:cNvSpPr txBox="1"/>
          <p:nvPr/>
        </p:nvSpPr>
        <p:spPr>
          <a:xfrm>
            <a:off x="457200" y="274320"/>
            <a:ext cx="86868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問題</a:t>
            </a:r>
            <a:endParaRPr lang="en-US" sz="1300" dirty="0"/>
          </a:p>
        </p:txBody>
      </p:sp>
      <p:sp>
        <p:nvSpPr>
          <p:cNvPr id="4" name="Text 2"/>
          <p:cNvSpPr txBox="1"/>
          <p:nvPr/>
        </p:nvSpPr>
        <p:spPr>
          <a:xfrm>
            <a:off x="1417320" y="274320"/>
            <a:ext cx="731520" cy="384048"/>
          </a:xfrm>
          <a:prstGeom prst="rect">
            <a:avLst/>
          </a:prstGeom>
          <a:noFill/>
          <a:ln/>
        </p:spPr>
        <p:txBody>
          <a:bodyPr wrap="square" lIns="0" tIns="0" rIns="0" bIns="0" rtlCol="0" anchor="ctr"/>
          <a:lstStyle/>
          <a:p>
            <a:pPr indent="0" marL="0">
              <a:buNone/>
            </a:pPr>
            <a:r>
              <a:rPr lang="en-US" sz="2000" b="1" dirty="0">
                <a:solidFill>
                  <a:srgbClr val="17324D"/>
                </a:solidFill>
                <a:latin typeface="Arial" pitchFamily="34" charset="0"/>
                <a:ea typeface="Arial" pitchFamily="34" charset="-122"/>
                <a:cs typeface="Arial" pitchFamily="34" charset="-120"/>
              </a:rPr>
              <a:t>[8]</a:t>
            </a:r>
            <a:endParaRPr lang="en-US" sz="2000" dirty="0"/>
          </a:p>
        </p:txBody>
      </p:sp>
      <p:sp>
        <p:nvSpPr>
          <p:cNvPr id="5" name="Text 3"/>
          <p:cNvSpPr txBox="1"/>
          <p:nvPr/>
        </p:nvSpPr>
        <p:spPr>
          <a:xfrm>
            <a:off x="5943600" y="274320"/>
            <a:ext cx="2743200" cy="384048"/>
          </a:xfrm>
          <a:prstGeom prst="rect">
            <a:avLst/>
          </a:prstGeom>
          <a:noFill/>
          <a:ln/>
        </p:spPr>
        <p:txBody>
          <a:bodyPr wrap="square" lIns="0" tIns="0" rIns="0" bIns="0" rtlCol="0" anchor="ctr"/>
          <a:lstStyle/>
          <a:p>
            <a:pPr algn="r" indent="0" marL="0">
              <a:buNone/>
            </a:pPr>
            <a:r>
              <a:rPr lang="en-US" sz="1100" dirty="0">
                <a:solidFill>
                  <a:srgbClr val="5F6B76"/>
                </a:solidFill>
                <a:latin typeface="Meiryo" pitchFamily="34" charset="0"/>
                <a:ea typeface="Meiryo" pitchFamily="34" charset="-122"/>
                <a:cs typeface="Meiryo" pitchFamily="34" charset="-120"/>
              </a:rPr>
              <a:t>57回午前54</a:t>
            </a:r>
            <a:endParaRPr lang="en-US" sz="1100" dirty="0"/>
          </a:p>
        </p:txBody>
      </p:sp>
      <p:sp>
        <p:nvSpPr>
          <p:cNvPr id="6" name="Text 4"/>
          <p:cNvSpPr txBox="1"/>
          <p:nvPr/>
        </p:nvSpPr>
        <p:spPr>
          <a:xfrm>
            <a:off x="457200" y="731520"/>
            <a:ext cx="8229600" cy="594360"/>
          </a:xfrm>
          <a:prstGeom prst="rect">
            <a:avLst/>
          </a:prstGeom>
          <a:noFill/>
          <a:ln/>
        </p:spPr>
        <p:txBody>
          <a:bodyPr wrap="square" lIns="0" tIns="0" rIns="0" bIns="0" rtlCol="0" anchor="t"/>
          <a:lstStyle/>
          <a:p>
            <a:pPr indent="0" marL="0">
              <a:buNone/>
            </a:pPr>
            <a:r>
              <a:rPr lang="en-US" sz="1700" b="1" dirty="0">
                <a:solidFill>
                  <a:srgbClr val="222222"/>
                </a:solidFill>
                <a:latin typeface="Meiryo" pitchFamily="34" charset="0"/>
                <a:ea typeface="Meiryo" pitchFamily="34" charset="-122"/>
                <a:cs typeface="Meiryo" pitchFamily="34" charset="-120"/>
              </a:rPr>
              <a:t>自律神経作用と支配する節前ニューロンの起始レベルとの組合せで正しいのはどれか。</a:t>
            </a:r>
            <a:endParaRPr lang="en-US" sz="1700" dirty="0"/>
          </a:p>
        </p:txBody>
      </p:sp>
      <p:sp>
        <p:nvSpPr>
          <p:cNvPr id="7" name="Shape 5"/>
          <p:cNvSpPr/>
          <p:nvPr/>
        </p:nvSpPr>
        <p:spPr>
          <a:xfrm>
            <a:off x="457200" y="1508760"/>
            <a:ext cx="8229600" cy="493776"/>
          </a:xfrm>
          <a:prstGeom prst="roundRect">
            <a:avLst>
              <a:gd name="adj" fmla="val 14815"/>
            </a:avLst>
          </a:prstGeom>
          <a:solidFill>
            <a:srgbClr val="EAF2F8"/>
          </a:solidFill>
          <a:ln/>
        </p:spPr>
      </p:sp>
      <p:sp>
        <p:nvSpPr>
          <p:cNvPr id="8" name="Shape 6"/>
          <p:cNvSpPr/>
          <p:nvPr/>
        </p:nvSpPr>
        <p:spPr>
          <a:xfrm>
            <a:off x="566928" y="1572768"/>
            <a:ext cx="365760" cy="365760"/>
          </a:xfrm>
          <a:prstGeom prst="ellipse">
            <a:avLst/>
          </a:prstGeom>
          <a:solidFill>
            <a:srgbClr val="FFFFFF"/>
          </a:solidFill>
          <a:ln w="15875">
            <a:solidFill>
              <a:srgbClr val="17324D"/>
            </a:solidFill>
            <a:prstDash val="solid"/>
          </a:ln>
        </p:spPr>
      </p:sp>
      <p:sp>
        <p:nvSpPr>
          <p:cNvPr id="9" name="Text 7"/>
          <p:cNvSpPr txBox="1"/>
          <p:nvPr/>
        </p:nvSpPr>
        <p:spPr>
          <a:xfrm>
            <a:off x="566928" y="1572768"/>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1</a:t>
            </a:r>
            <a:endParaRPr lang="en-US" sz="1400" dirty="0"/>
          </a:p>
        </p:txBody>
      </p:sp>
      <p:sp>
        <p:nvSpPr>
          <p:cNvPr id="10" name="Text 8"/>
          <p:cNvSpPr txBox="1"/>
          <p:nvPr/>
        </p:nvSpPr>
        <p:spPr>
          <a:xfrm>
            <a:off x="1051560" y="1508760"/>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細気管支の収縮：頸髄</a:t>
            </a:r>
            <a:endParaRPr lang="en-US" sz="1500" dirty="0"/>
          </a:p>
        </p:txBody>
      </p:sp>
      <p:sp>
        <p:nvSpPr>
          <p:cNvPr id="11" name="Shape 9"/>
          <p:cNvSpPr/>
          <p:nvPr/>
        </p:nvSpPr>
        <p:spPr>
          <a:xfrm>
            <a:off x="457200" y="2112264"/>
            <a:ext cx="8229600" cy="493776"/>
          </a:xfrm>
          <a:prstGeom prst="roundRect">
            <a:avLst>
              <a:gd name="adj" fmla="val 14815"/>
            </a:avLst>
          </a:prstGeom>
          <a:solidFill>
            <a:srgbClr val="EAF2F8"/>
          </a:solidFill>
          <a:ln/>
        </p:spPr>
      </p:sp>
      <p:sp>
        <p:nvSpPr>
          <p:cNvPr id="12" name="Shape 10"/>
          <p:cNvSpPr/>
          <p:nvPr/>
        </p:nvSpPr>
        <p:spPr>
          <a:xfrm>
            <a:off x="566928" y="2176272"/>
            <a:ext cx="365760" cy="365760"/>
          </a:xfrm>
          <a:prstGeom prst="ellipse">
            <a:avLst/>
          </a:prstGeom>
          <a:solidFill>
            <a:srgbClr val="FFFFFF"/>
          </a:solidFill>
          <a:ln w="15875">
            <a:solidFill>
              <a:srgbClr val="17324D"/>
            </a:solidFill>
            <a:prstDash val="solid"/>
          </a:ln>
        </p:spPr>
      </p:sp>
      <p:sp>
        <p:nvSpPr>
          <p:cNvPr id="13" name="Text 11"/>
          <p:cNvSpPr txBox="1"/>
          <p:nvPr/>
        </p:nvSpPr>
        <p:spPr>
          <a:xfrm>
            <a:off x="566928" y="2176272"/>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2</a:t>
            </a:r>
            <a:endParaRPr lang="en-US" sz="1400" dirty="0"/>
          </a:p>
        </p:txBody>
      </p:sp>
      <p:sp>
        <p:nvSpPr>
          <p:cNvPr id="14" name="Text 12"/>
          <p:cNvSpPr txBox="1"/>
          <p:nvPr/>
        </p:nvSpPr>
        <p:spPr>
          <a:xfrm>
            <a:off x="1051560" y="2112264"/>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顔面の汗腺の発汗：延髄</a:t>
            </a:r>
            <a:endParaRPr lang="en-US" sz="1500" dirty="0"/>
          </a:p>
        </p:txBody>
      </p:sp>
      <p:sp>
        <p:nvSpPr>
          <p:cNvPr id="15" name="Shape 13"/>
          <p:cNvSpPr/>
          <p:nvPr/>
        </p:nvSpPr>
        <p:spPr>
          <a:xfrm>
            <a:off x="457200" y="2715768"/>
            <a:ext cx="8229600" cy="493776"/>
          </a:xfrm>
          <a:prstGeom prst="roundRect">
            <a:avLst>
              <a:gd name="adj" fmla="val 14815"/>
            </a:avLst>
          </a:prstGeom>
          <a:solidFill>
            <a:srgbClr val="EAF2F8"/>
          </a:solidFill>
          <a:ln/>
        </p:spPr>
      </p:sp>
      <p:sp>
        <p:nvSpPr>
          <p:cNvPr id="16" name="Shape 14"/>
          <p:cNvSpPr/>
          <p:nvPr/>
        </p:nvSpPr>
        <p:spPr>
          <a:xfrm>
            <a:off x="566928" y="2779776"/>
            <a:ext cx="365760" cy="365760"/>
          </a:xfrm>
          <a:prstGeom prst="ellipse">
            <a:avLst/>
          </a:prstGeom>
          <a:solidFill>
            <a:srgbClr val="FFFFFF"/>
          </a:solidFill>
          <a:ln w="15875">
            <a:solidFill>
              <a:srgbClr val="17324D"/>
            </a:solidFill>
            <a:prstDash val="solid"/>
          </a:ln>
        </p:spPr>
      </p:sp>
      <p:sp>
        <p:nvSpPr>
          <p:cNvPr id="17" name="Text 15"/>
          <p:cNvSpPr txBox="1"/>
          <p:nvPr/>
        </p:nvSpPr>
        <p:spPr>
          <a:xfrm>
            <a:off x="566928" y="2779776"/>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3</a:t>
            </a:r>
            <a:endParaRPr lang="en-US" sz="1400" dirty="0"/>
          </a:p>
        </p:txBody>
      </p:sp>
      <p:sp>
        <p:nvSpPr>
          <p:cNvPr id="18" name="Text 16"/>
          <p:cNvSpPr txBox="1"/>
          <p:nvPr/>
        </p:nvSpPr>
        <p:spPr>
          <a:xfrm>
            <a:off x="1051560" y="2715768"/>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消化管蠕動の亢進：腰髄</a:t>
            </a:r>
            <a:endParaRPr lang="en-US" sz="1500" dirty="0"/>
          </a:p>
        </p:txBody>
      </p:sp>
      <p:sp>
        <p:nvSpPr>
          <p:cNvPr id="19" name="Shape 17"/>
          <p:cNvSpPr/>
          <p:nvPr/>
        </p:nvSpPr>
        <p:spPr>
          <a:xfrm>
            <a:off x="457200" y="3319272"/>
            <a:ext cx="8229600" cy="493776"/>
          </a:xfrm>
          <a:prstGeom prst="roundRect">
            <a:avLst>
              <a:gd name="adj" fmla="val 14815"/>
            </a:avLst>
          </a:prstGeom>
          <a:solidFill>
            <a:srgbClr val="EAF2F8"/>
          </a:solidFill>
          <a:ln/>
        </p:spPr>
      </p:sp>
      <p:sp>
        <p:nvSpPr>
          <p:cNvPr id="20" name="Shape 18"/>
          <p:cNvSpPr/>
          <p:nvPr/>
        </p:nvSpPr>
        <p:spPr>
          <a:xfrm>
            <a:off x="566928" y="3383280"/>
            <a:ext cx="365760" cy="365760"/>
          </a:xfrm>
          <a:prstGeom prst="ellipse">
            <a:avLst/>
          </a:prstGeom>
          <a:solidFill>
            <a:srgbClr val="FFFFFF"/>
          </a:solidFill>
          <a:ln w="15875">
            <a:solidFill>
              <a:srgbClr val="17324D"/>
            </a:solidFill>
            <a:prstDash val="solid"/>
          </a:ln>
        </p:spPr>
      </p:sp>
      <p:sp>
        <p:nvSpPr>
          <p:cNvPr id="21" name="Text 19"/>
          <p:cNvSpPr txBox="1"/>
          <p:nvPr/>
        </p:nvSpPr>
        <p:spPr>
          <a:xfrm>
            <a:off x="566928" y="3383280"/>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4</a:t>
            </a:r>
            <a:endParaRPr lang="en-US" sz="1400" dirty="0"/>
          </a:p>
        </p:txBody>
      </p:sp>
      <p:sp>
        <p:nvSpPr>
          <p:cNvPr id="22" name="Text 20"/>
          <p:cNvSpPr txBox="1"/>
          <p:nvPr/>
        </p:nvSpPr>
        <p:spPr>
          <a:xfrm>
            <a:off x="1051560" y="3319272"/>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瞳孔散大筋の収縮：胸髄</a:t>
            </a:r>
            <a:endParaRPr lang="en-US" sz="1500" dirty="0"/>
          </a:p>
        </p:txBody>
      </p:sp>
      <p:sp>
        <p:nvSpPr>
          <p:cNvPr id="23" name="Shape 21"/>
          <p:cNvSpPr/>
          <p:nvPr/>
        </p:nvSpPr>
        <p:spPr>
          <a:xfrm>
            <a:off x="457200" y="3922776"/>
            <a:ext cx="8229600" cy="493776"/>
          </a:xfrm>
          <a:prstGeom prst="roundRect">
            <a:avLst>
              <a:gd name="adj" fmla="val 14815"/>
            </a:avLst>
          </a:prstGeom>
          <a:solidFill>
            <a:srgbClr val="EAF2F8"/>
          </a:solidFill>
          <a:ln/>
        </p:spPr>
      </p:sp>
      <p:sp>
        <p:nvSpPr>
          <p:cNvPr id="24" name="Shape 22"/>
          <p:cNvSpPr/>
          <p:nvPr/>
        </p:nvSpPr>
        <p:spPr>
          <a:xfrm>
            <a:off x="566928" y="3986784"/>
            <a:ext cx="365760" cy="365760"/>
          </a:xfrm>
          <a:prstGeom prst="ellipse">
            <a:avLst/>
          </a:prstGeom>
          <a:solidFill>
            <a:srgbClr val="FFFFFF"/>
          </a:solidFill>
          <a:ln w="15875">
            <a:solidFill>
              <a:srgbClr val="17324D"/>
            </a:solidFill>
            <a:prstDash val="solid"/>
          </a:ln>
        </p:spPr>
      </p:sp>
      <p:sp>
        <p:nvSpPr>
          <p:cNvPr id="25" name="Text 23"/>
          <p:cNvSpPr txBox="1"/>
          <p:nvPr/>
        </p:nvSpPr>
        <p:spPr>
          <a:xfrm>
            <a:off x="566928" y="3986784"/>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5</a:t>
            </a:r>
            <a:endParaRPr lang="en-US" sz="1400" dirty="0"/>
          </a:p>
        </p:txBody>
      </p:sp>
      <p:sp>
        <p:nvSpPr>
          <p:cNvPr id="26" name="Text 24"/>
          <p:cNvSpPr txBox="1"/>
          <p:nvPr/>
        </p:nvSpPr>
        <p:spPr>
          <a:xfrm>
            <a:off x="1051560" y="3922776"/>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内尿道括約筋の収縮：仙髄</a:t>
            </a:r>
            <a:endParaRPr lang="en-US" sz="15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74320"/>
            <a:ext cx="868680" cy="384048"/>
          </a:xfrm>
          <a:prstGeom prst="roundRect">
            <a:avLst>
              <a:gd name="adj" fmla="val 19048"/>
            </a:avLst>
          </a:prstGeom>
          <a:solidFill>
            <a:srgbClr val="D9534F"/>
          </a:solidFill>
          <a:ln/>
        </p:spPr>
      </p:sp>
      <p:sp>
        <p:nvSpPr>
          <p:cNvPr id="3" name="Text 1"/>
          <p:cNvSpPr txBox="1"/>
          <p:nvPr/>
        </p:nvSpPr>
        <p:spPr>
          <a:xfrm>
            <a:off x="457200" y="274320"/>
            <a:ext cx="86868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解説</a:t>
            </a:r>
            <a:endParaRPr lang="en-US" sz="1300" dirty="0"/>
          </a:p>
        </p:txBody>
      </p:sp>
      <p:sp>
        <p:nvSpPr>
          <p:cNvPr id="4" name="Text 2"/>
          <p:cNvSpPr txBox="1"/>
          <p:nvPr/>
        </p:nvSpPr>
        <p:spPr>
          <a:xfrm>
            <a:off x="1417320" y="274320"/>
            <a:ext cx="731520" cy="384048"/>
          </a:xfrm>
          <a:prstGeom prst="rect">
            <a:avLst/>
          </a:prstGeom>
          <a:noFill/>
          <a:ln/>
        </p:spPr>
        <p:txBody>
          <a:bodyPr wrap="square" lIns="0" tIns="0" rIns="0" bIns="0" rtlCol="0" anchor="ctr"/>
          <a:lstStyle/>
          <a:p>
            <a:pPr indent="0" marL="0">
              <a:buNone/>
            </a:pPr>
            <a:r>
              <a:rPr lang="en-US" sz="2000" b="1" dirty="0">
                <a:solidFill>
                  <a:srgbClr val="17324D"/>
                </a:solidFill>
                <a:latin typeface="Arial" pitchFamily="34" charset="0"/>
                <a:ea typeface="Arial" pitchFamily="34" charset="-122"/>
                <a:cs typeface="Arial" pitchFamily="34" charset="-120"/>
              </a:rPr>
              <a:t>[8]</a:t>
            </a:r>
            <a:endParaRPr lang="en-US" sz="2000" dirty="0"/>
          </a:p>
        </p:txBody>
      </p:sp>
      <p:sp>
        <p:nvSpPr>
          <p:cNvPr id="5" name="Text 3"/>
          <p:cNvSpPr txBox="1"/>
          <p:nvPr/>
        </p:nvSpPr>
        <p:spPr>
          <a:xfrm>
            <a:off x="5943600" y="274320"/>
            <a:ext cx="2743200" cy="384048"/>
          </a:xfrm>
          <a:prstGeom prst="rect">
            <a:avLst/>
          </a:prstGeom>
          <a:noFill/>
          <a:ln/>
        </p:spPr>
        <p:txBody>
          <a:bodyPr wrap="square" lIns="0" tIns="0" rIns="0" bIns="0" rtlCol="0" anchor="ctr"/>
          <a:lstStyle/>
          <a:p>
            <a:pPr algn="r" indent="0" marL="0">
              <a:buNone/>
            </a:pPr>
            <a:r>
              <a:rPr lang="en-US" sz="1100" dirty="0">
                <a:solidFill>
                  <a:srgbClr val="5F6B76"/>
                </a:solidFill>
                <a:latin typeface="Meiryo" pitchFamily="34" charset="0"/>
                <a:ea typeface="Meiryo" pitchFamily="34" charset="-122"/>
                <a:cs typeface="Meiryo" pitchFamily="34" charset="-120"/>
              </a:rPr>
              <a:t>57回午前54</a:t>
            </a:r>
            <a:endParaRPr lang="en-US" sz="1100" dirty="0"/>
          </a:p>
        </p:txBody>
      </p:sp>
      <p:sp>
        <p:nvSpPr>
          <p:cNvPr id="6" name="Text 4"/>
          <p:cNvSpPr txBox="1"/>
          <p:nvPr/>
        </p:nvSpPr>
        <p:spPr>
          <a:xfrm>
            <a:off x="457200" y="731520"/>
            <a:ext cx="8229600" cy="594360"/>
          </a:xfrm>
          <a:prstGeom prst="rect">
            <a:avLst/>
          </a:prstGeom>
          <a:noFill/>
          <a:ln/>
        </p:spPr>
        <p:txBody>
          <a:bodyPr wrap="square" lIns="0" tIns="0" rIns="0" bIns="0" rtlCol="0" anchor="t"/>
          <a:lstStyle/>
          <a:p>
            <a:pPr indent="0" marL="0">
              <a:buNone/>
            </a:pPr>
            <a:r>
              <a:rPr lang="en-US" sz="1700" b="1" dirty="0">
                <a:solidFill>
                  <a:srgbClr val="222222"/>
                </a:solidFill>
                <a:latin typeface="Meiryo" pitchFamily="34" charset="0"/>
                <a:ea typeface="Meiryo" pitchFamily="34" charset="-122"/>
                <a:cs typeface="Meiryo" pitchFamily="34" charset="-120"/>
              </a:rPr>
              <a:t>自律神経作用と支配する節前ニューロンの起始レベルとの組合せで正しいのはどれか。</a:t>
            </a:r>
            <a:endParaRPr lang="en-US" sz="1700" dirty="0"/>
          </a:p>
        </p:txBody>
      </p:sp>
      <p:sp>
        <p:nvSpPr>
          <p:cNvPr id="7" name="Shape 5"/>
          <p:cNvSpPr/>
          <p:nvPr/>
        </p:nvSpPr>
        <p:spPr>
          <a:xfrm>
            <a:off x="457200" y="1417320"/>
            <a:ext cx="8229600" cy="457200"/>
          </a:xfrm>
          <a:prstGeom prst="roundRect">
            <a:avLst>
              <a:gd name="adj" fmla="val 16000"/>
            </a:avLst>
          </a:prstGeom>
          <a:solidFill>
            <a:srgbClr val="F4F6F8"/>
          </a:solidFill>
          <a:ln/>
        </p:spPr>
      </p:sp>
      <p:sp>
        <p:nvSpPr>
          <p:cNvPr id="8" name="Shape 6"/>
          <p:cNvSpPr/>
          <p:nvPr/>
        </p:nvSpPr>
        <p:spPr>
          <a:xfrm>
            <a:off x="548640" y="1481328"/>
            <a:ext cx="329184" cy="329184"/>
          </a:xfrm>
          <a:prstGeom prst="ellipse">
            <a:avLst/>
          </a:prstGeom>
          <a:solidFill>
            <a:srgbClr val="FFFFFF"/>
          </a:solidFill>
          <a:ln w="12700">
            <a:solidFill>
              <a:srgbClr val="8A96A3"/>
            </a:solidFill>
            <a:prstDash val="solid"/>
          </a:ln>
        </p:spPr>
      </p:sp>
      <p:sp>
        <p:nvSpPr>
          <p:cNvPr id="9" name="Text 7"/>
          <p:cNvSpPr txBox="1"/>
          <p:nvPr/>
        </p:nvSpPr>
        <p:spPr>
          <a:xfrm>
            <a:off x="548640" y="1481328"/>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1</a:t>
            </a:r>
            <a:endParaRPr lang="en-US" sz="1300" dirty="0"/>
          </a:p>
        </p:txBody>
      </p:sp>
      <p:sp>
        <p:nvSpPr>
          <p:cNvPr id="10" name="Text 8"/>
          <p:cNvSpPr txBox="1"/>
          <p:nvPr/>
        </p:nvSpPr>
        <p:spPr>
          <a:xfrm>
            <a:off x="987552" y="1417320"/>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細気管支の収縮：頸髄</a:t>
            </a:r>
            <a:endParaRPr lang="en-US" sz="1200" dirty="0"/>
          </a:p>
        </p:txBody>
      </p:sp>
      <p:sp>
        <p:nvSpPr>
          <p:cNvPr id="11" name="Text 9"/>
          <p:cNvSpPr txBox="1"/>
          <p:nvPr/>
        </p:nvSpPr>
        <p:spPr>
          <a:xfrm>
            <a:off x="4096512" y="1417320"/>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副交感（迷走神経）→ 延髄</a:t>
            </a:r>
            <a:endParaRPr lang="en-US" sz="1100" dirty="0"/>
          </a:p>
        </p:txBody>
      </p:sp>
      <p:sp>
        <p:nvSpPr>
          <p:cNvPr id="12" name="Shape 10"/>
          <p:cNvSpPr/>
          <p:nvPr/>
        </p:nvSpPr>
        <p:spPr>
          <a:xfrm>
            <a:off x="457200" y="1947672"/>
            <a:ext cx="8229600" cy="457200"/>
          </a:xfrm>
          <a:prstGeom prst="roundRect">
            <a:avLst>
              <a:gd name="adj" fmla="val 16000"/>
            </a:avLst>
          </a:prstGeom>
          <a:solidFill>
            <a:srgbClr val="F4F6F8"/>
          </a:solidFill>
          <a:ln/>
        </p:spPr>
      </p:sp>
      <p:sp>
        <p:nvSpPr>
          <p:cNvPr id="13" name="Shape 11"/>
          <p:cNvSpPr/>
          <p:nvPr/>
        </p:nvSpPr>
        <p:spPr>
          <a:xfrm>
            <a:off x="548640" y="2011680"/>
            <a:ext cx="329184" cy="329184"/>
          </a:xfrm>
          <a:prstGeom prst="ellipse">
            <a:avLst/>
          </a:prstGeom>
          <a:solidFill>
            <a:srgbClr val="FFFFFF"/>
          </a:solidFill>
          <a:ln w="12700">
            <a:solidFill>
              <a:srgbClr val="8A96A3"/>
            </a:solidFill>
            <a:prstDash val="solid"/>
          </a:ln>
        </p:spPr>
      </p:sp>
      <p:sp>
        <p:nvSpPr>
          <p:cNvPr id="14" name="Text 12"/>
          <p:cNvSpPr txBox="1"/>
          <p:nvPr/>
        </p:nvSpPr>
        <p:spPr>
          <a:xfrm>
            <a:off x="548640" y="2011680"/>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2</a:t>
            </a:r>
            <a:endParaRPr lang="en-US" sz="1300" dirty="0"/>
          </a:p>
        </p:txBody>
      </p:sp>
      <p:sp>
        <p:nvSpPr>
          <p:cNvPr id="15" name="Text 13"/>
          <p:cNvSpPr txBox="1"/>
          <p:nvPr/>
        </p:nvSpPr>
        <p:spPr>
          <a:xfrm>
            <a:off x="987552" y="1947672"/>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顔面の汗腺の発汗：延髄</a:t>
            </a:r>
            <a:endParaRPr lang="en-US" sz="1200" dirty="0"/>
          </a:p>
        </p:txBody>
      </p:sp>
      <p:sp>
        <p:nvSpPr>
          <p:cNvPr id="16" name="Text 14"/>
          <p:cNvSpPr txBox="1"/>
          <p:nvPr/>
        </p:nvSpPr>
        <p:spPr>
          <a:xfrm>
            <a:off x="4096512" y="1947672"/>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交感神経 → 胸髄</a:t>
            </a:r>
            <a:endParaRPr lang="en-US" sz="1100" dirty="0"/>
          </a:p>
        </p:txBody>
      </p:sp>
      <p:sp>
        <p:nvSpPr>
          <p:cNvPr id="17" name="Shape 15"/>
          <p:cNvSpPr/>
          <p:nvPr/>
        </p:nvSpPr>
        <p:spPr>
          <a:xfrm>
            <a:off x="457200" y="2478024"/>
            <a:ext cx="8229600" cy="457200"/>
          </a:xfrm>
          <a:prstGeom prst="roundRect">
            <a:avLst>
              <a:gd name="adj" fmla="val 16000"/>
            </a:avLst>
          </a:prstGeom>
          <a:solidFill>
            <a:srgbClr val="F4F6F8"/>
          </a:solidFill>
          <a:ln/>
        </p:spPr>
      </p:sp>
      <p:sp>
        <p:nvSpPr>
          <p:cNvPr id="18" name="Shape 16"/>
          <p:cNvSpPr/>
          <p:nvPr/>
        </p:nvSpPr>
        <p:spPr>
          <a:xfrm>
            <a:off x="548640" y="2542032"/>
            <a:ext cx="329184" cy="329184"/>
          </a:xfrm>
          <a:prstGeom prst="ellipse">
            <a:avLst/>
          </a:prstGeom>
          <a:solidFill>
            <a:srgbClr val="FFFFFF"/>
          </a:solidFill>
          <a:ln w="12700">
            <a:solidFill>
              <a:srgbClr val="8A96A3"/>
            </a:solidFill>
            <a:prstDash val="solid"/>
          </a:ln>
        </p:spPr>
      </p:sp>
      <p:sp>
        <p:nvSpPr>
          <p:cNvPr id="19" name="Text 17"/>
          <p:cNvSpPr txBox="1"/>
          <p:nvPr/>
        </p:nvSpPr>
        <p:spPr>
          <a:xfrm>
            <a:off x="548640" y="2542032"/>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3</a:t>
            </a:r>
            <a:endParaRPr lang="en-US" sz="1300" dirty="0"/>
          </a:p>
        </p:txBody>
      </p:sp>
      <p:sp>
        <p:nvSpPr>
          <p:cNvPr id="20" name="Text 18"/>
          <p:cNvSpPr txBox="1"/>
          <p:nvPr/>
        </p:nvSpPr>
        <p:spPr>
          <a:xfrm>
            <a:off x="987552" y="2478024"/>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消化管蠕動の亢進：腰髄</a:t>
            </a:r>
            <a:endParaRPr lang="en-US" sz="1200" dirty="0"/>
          </a:p>
        </p:txBody>
      </p:sp>
      <p:sp>
        <p:nvSpPr>
          <p:cNvPr id="21" name="Text 19"/>
          <p:cNvSpPr txBox="1"/>
          <p:nvPr/>
        </p:nvSpPr>
        <p:spPr>
          <a:xfrm>
            <a:off x="4096512" y="2478024"/>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副交感（迷走神経・骨盤神経）→ 延髄・仙髄</a:t>
            </a:r>
            <a:endParaRPr lang="en-US" sz="1100" dirty="0"/>
          </a:p>
        </p:txBody>
      </p:sp>
      <p:sp>
        <p:nvSpPr>
          <p:cNvPr id="22" name="Shape 20"/>
          <p:cNvSpPr/>
          <p:nvPr/>
        </p:nvSpPr>
        <p:spPr>
          <a:xfrm>
            <a:off x="457200" y="3008376"/>
            <a:ext cx="8229600" cy="457200"/>
          </a:xfrm>
          <a:prstGeom prst="roundRect">
            <a:avLst>
              <a:gd name="adj" fmla="val 16000"/>
            </a:avLst>
          </a:prstGeom>
          <a:solidFill>
            <a:srgbClr val="FBE3E2"/>
          </a:solidFill>
          <a:ln w="19050">
            <a:solidFill>
              <a:srgbClr val="D9534F"/>
            </a:solidFill>
            <a:prstDash val="solid"/>
          </a:ln>
        </p:spPr>
      </p:sp>
      <p:sp>
        <p:nvSpPr>
          <p:cNvPr id="23" name="Shape 21"/>
          <p:cNvSpPr/>
          <p:nvPr/>
        </p:nvSpPr>
        <p:spPr>
          <a:xfrm>
            <a:off x="548640" y="3072384"/>
            <a:ext cx="329184" cy="329184"/>
          </a:xfrm>
          <a:prstGeom prst="ellipse">
            <a:avLst/>
          </a:prstGeom>
          <a:solidFill>
            <a:srgbClr val="D9534F"/>
          </a:solidFill>
          <a:ln w="12700">
            <a:solidFill>
              <a:srgbClr val="D9534F"/>
            </a:solidFill>
            <a:prstDash val="solid"/>
          </a:ln>
        </p:spPr>
      </p:sp>
      <p:sp>
        <p:nvSpPr>
          <p:cNvPr id="24" name="Text 22"/>
          <p:cNvSpPr txBox="1"/>
          <p:nvPr/>
        </p:nvSpPr>
        <p:spPr>
          <a:xfrm>
            <a:off x="548640" y="3072384"/>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4</a:t>
            </a:r>
            <a:endParaRPr lang="en-US" sz="1300" dirty="0"/>
          </a:p>
        </p:txBody>
      </p:sp>
      <p:sp>
        <p:nvSpPr>
          <p:cNvPr id="25" name="Text 23"/>
          <p:cNvSpPr txBox="1"/>
          <p:nvPr/>
        </p:nvSpPr>
        <p:spPr>
          <a:xfrm>
            <a:off x="987552" y="3008376"/>
            <a:ext cx="3017520" cy="457200"/>
          </a:xfrm>
          <a:prstGeom prst="rect">
            <a:avLst/>
          </a:prstGeom>
          <a:noFill/>
          <a:ln/>
        </p:spPr>
        <p:txBody>
          <a:bodyPr wrap="square" lIns="0" tIns="0" rIns="0" bIns="0" rtlCol="0" anchor="ctr"/>
          <a:lstStyle/>
          <a:p>
            <a:pPr indent="0" marL="0">
              <a:buNone/>
            </a:pPr>
            <a:r>
              <a:rPr lang="en-US" sz="1200" b="1" dirty="0">
                <a:solidFill>
                  <a:srgbClr val="D9534F"/>
                </a:solidFill>
                <a:latin typeface="Meiryo" pitchFamily="34" charset="0"/>
                <a:ea typeface="Meiryo" pitchFamily="34" charset="-122"/>
                <a:cs typeface="Meiryo" pitchFamily="34" charset="-120"/>
              </a:rPr>
              <a:t>瞳孔散大筋の収縮：胸髄</a:t>
            </a:r>
            <a:endParaRPr lang="en-US" sz="1200" dirty="0"/>
          </a:p>
        </p:txBody>
      </p:sp>
      <p:sp>
        <p:nvSpPr>
          <p:cNvPr id="26" name="Text 24"/>
          <p:cNvSpPr txBox="1"/>
          <p:nvPr/>
        </p:nvSpPr>
        <p:spPr>
          <a:xfrm>
            <a:off x="4096512" y="3008376"/>
            <a:ext cx="4526280" cy="457200"/>
          </a:xfrm>
          <a:prstGeom prst="rect">
            <a:avLst/>
          </a:prstGeom>
          <a:noFill/>
          <a:ln/>
        </p:spPr>
        <p:txBody>
          <a:bodyPr wrap="square" lIns="0" tIns="0" rIns="0" bIns="0" rtlCol="0" anchor="ctr"/>
          <a:lstStyle/>
          <a:p>
            <a:pPr indent="0" marL="0">
              <a:buNone/>
            </a:pPr>
            <a:r>
              <a:rPr lang="en-US" sz="1100" dirty="0">
                <a:solidFill>
                  <a:srgbClr val="222222"/>
                </a:solidFill>
                <a:latin typeface="Meiryo" pitchFamily="34" charset="0"/>
                <a:ea typeface="Meiryo" pitchFamily="34" charset="-122"/>
                <a:cs typeface="Meiryo" pitchFamily="34" charset="-120"/>
              </a:rPr>
              <a:t>交感神経（毛様体脊髄中枢 C8〜T2）○</a:t>
            </a:r>
            <a:endParaRPr lang="en-US" sz="1100" dirty="0"/>
          </a:p>
        </p:txBody>
      </p:sp>
      <p:sp>
        <p:nvSpPr>
          <p:cNvPr id="27" name="Shape 25"/>
          <p:cNvSpPr/>
          <p:nvPr/>
        </p:nvSpPr>
        <p:spPr>
          <a:xfrm>
            <a:off x="457200" y="3538728"/>
            <a:ext cx="8229600" cy="457200"/>
          </a:xfrm>
          <a:prstGeom prst="roundRect">
            <a:avLst>
              <a:gd name="adj" fmla="val 16000"/>
            </a:avLst>
          </a:prstGeom>
          <a:solidFill>
            <a:srgbClr val="F4F6F8"/>
          </a:solidFill>
          <a:ln/>
        </p:spPr>
      </p:sp>
      <p:sp>
        <p:nvSpPr>
          <p:cNvPr id="28" name="Shape 26"/>
          <p:cNvSpPr/>
          <p:nvPr/>
        </p:nvSpPr>
        <p:spPr>
          <a:xfrm>
            <a:off x="548640" y="3602736"/>
            <a:ext cx="329184" cy="329184"/>
          </a:xfrm>
          <a:prstGeom prst="ellipse">
            <a:avLst/>
          </a:prstGeom>
          <a:solidFill>
            <a:srgbClr val="FFFFFF"/>
          </a:solidFill>
          <a:ln w="12700">
            <a:solidFill>
              <a:srgbClr val="8A96A3"/>
            </a:solidFill>
            <a:prstDash val="solid"/>
          </a:ln>
        </p:spPr>
      </p:sp>
      <p:sp>
        <p:nvSpPr>
          <p:cNvPr id="29" name="Text 27"/>
          <p:cNvSpPr txBox="1"/>
          <p:nvPr/>
        </p:nvSpPr>
        <p:spPr>
          <a:xfrm>
            <a:off x="548640" y="3602736"/>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5</a:t>
            </a:r>
            <a:endParaRPr lang="en-US" sz="1300" dirty="0"/>
          </a:p>
        </p:txBody>
      </p:sp>
      <p:sp>
        <p:nvSpPr>
          <p:cNvPr id="30" name="Text 28"/>
          <p:cNvSpPr txBox="1"/>
          <p:nvPr/>
        </p:nvSpPr>
        <p:spPr>
          <a:xfrm>
            <a:off x="987552" y="3538728"/>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内尿道括約筋の収縮：仙髄</a:t>
            </a:r>
            <a:endParaRPr lang="en-US" sz="1200" dirty="0"/>
          </a:p>
        </p:txBody>
      </p:sp>
      <p:sp>
        <p:nvSpPr>
          <p:cNvPr id="31" name="Text 29"/>
          <p:cNvSpPr txBox="1"/>
          <p:nvPr/>
        </p:nvSpPr>
        <p:spPr>
          <a:xfrm>
            <a:off x="4096512" y="3538728"/>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交感神経（下腹神経）→ 腰髄</a:t>
            </a:r>
            <a:endParaRPr lang="en-US" sz="1100" dirty="0"/>
          </a:p>
        </p:txBody>
      </p:sp>
      <p:sp>
        <p:nvSpPr>
          <p:cNvPr id="32" name="Shape 30"/>
          <p:cNvSpPr/>
          <p:nvPr/>
        </p:nvSpPr>
        <p:spPr>
          <a:xfrm>
            <a:off x="457200" y="4160520"/>
            <a:ext cx="1463040" cy="685800"/>
          </a:xfrm>
          <a:prstGeom prst="roundRect">
            <a:avLst>
              <a:gd name="adj" fmla="val 10667"/>
            </a:avLst>
          </a:prstGeom>
          <a:solidFill>
            <a:srgbClr val="D9534F"/>
          </a:solidFill>
          <a:ln/>
        </p:spPr>
      </p:sp>
      <p:sp>
        <p:nvSpPr>
          <p:cNvPr id="33" name="Text 31"/>
          <p:cNvSpPr txBox="1"/>
          <p:nvPr/>
        </p:nvSpPr>
        <p:spPr>
          <a:xfrm>
            <a:off x="457200" y="4160520"/>
            <a:ext cx="1463040" cy="685800"/>
          </a:xfrm>
          <a:prstGeom prst="rect">
            <a:avLst/>
          </a:prstGeom>
          <a:noFill/>
          <a:ln/>
        </p:spPr>
        <p:txBody>
          <a:bodyPr wrap="square" lIns="0" tIns="0" rIns="0" bIns="0" rtlCol="0" anchor="ctr"/>
          <a:lstStyle/>
          <a:p>
            <a:pPr algn="ctr" indent="0" marL="0">
              <a:buNone/>
            </a:pPr>
            <a:r>
              <a:rPr lang="en-US" sz="1100" dirty="0">
                <a:solidFill>
                  <a:srgbClr val="FFFFFF"/>
                </a:solidFill>
                <a:latin typeface="Meiryo" pitchFamily="34" charset="0"/>
                <a:ea typeface="Meiryo" pitchFamily="34" charset="-122"/>
                <a:cs typeface="Meiryo" pitchFamily="34" charset="-120"/>
              </a:rPr>
              <a:t>正解</a:t>
            </a:r>
            <a:endParaRPr lang="en-US" sz="1100" dirty="0"/>
          </a:p>
          <a:p>
            <a:pPr algn="ctr" indent="0" marL="0">
              <a:buNone/>
            </a:pPr>
            <a:r>
              <a:rPr lang="en-US" sz="2200" b="1" dirty="0">
                <a:solidFill>
                  <a:srgbClr val="FFFFFF"/>
                </a:solidFill>
                <a:latin typeface="Meiryo" pitchFamily="34" charset="0"/>
                <a:ea typeface="Meiryo" pitchFamily="34" charset="-122"/>
                <a:cs typeface="Meiryo" pitchFamily="34" charset="-120"/>
              </a:rPr>
              <a:t>4</a:t>
            </a:r>
            <a:endParaRPr lang="en-US" sz="1100" dirty="0"/>
          </a:p>
        </p:txBody>
      </p:sp>
      <p:sp>
        <p:nvSpPr>
          <p:cNvPr id="34" name="Shape 32"/>
          <p:cNvSpPr/>
          <p:nvPr/>
        </p:nvSpPr>
        <p:spPr>
          <a:xfrm>
            <a:off x="2057400" y="4160520"/>
            <a:ext cx="6629400" cy="685800"/>
          </a:xfrm>
          <a:prstGeom prst="roundRect">
            <a:avLst>
              <a:gd name="adj" fmla="val 10667"/>
            </a:avLst>
          </a:prstGeom>
          <a:solidFill>
            <a:srgbClr val="EAF2F8"/>
          </a:solidFill>
          <a:ln/>
        </p:spPr>
      </p:sp>
      <p:sp>
        <p:nvSpPr>
          <p:cNvPr id="35" name="Text 33"/>
          <p:cNvSpPr txBox="1"/>
          <p:nvPr/>
        </p:nvSpPr>
        <p:spPr>
          <a:xfrm>
            <a:off x="2194560" y="4160520"/>
            <a:ext cx="6400800" cy="685800"/>
          </a:xfrm>
          <a:prstGeom prst="rect">
            <a:avLst/>
          </a:prstGeom>
          <a:noFill/>
          <a:ln/>
        </p:spPr>
        <p:txBody>
          <a:bodyPr wrap="square" lIns="0" tIns="0" rIns="0" bIns="0" rtlCol="0" anchor="ctr"/>
          <a:lstStyle/>
          <a:p>
            <a:pPr indent="0" marL="0">
              <a:buNone/>
            </a:pPr>
            <a:r>
              <a:rPr lang="en-US" sz="1200" b="1" dirty="0">
                <a:solidFill>
                  <a:srgbClr val="2A7F9E"/>
                </a:solidFill>
                <a:latin typeface="Meiryo" pitchFamily="34" charset="0"/>
                <a:ea typeface="Meiryo" pitchFamily="34" charset="-122"/>
                <a:cs typeface="Meiryo" pitchFamily="34" charset="-120"/>
              </a:rPr>
              <a:t>POINT　</a:t>
            </a:r>
            <a:pPr indent="0" marL="0">
              <a:buNone/>
            </a:pPr>
            <a:r>
              <a:rPr lang="en-US" sz="1200" dirty="0">
                <a:solidFill>
                  <a:srgbClr val="222222"/>
                </a:solidFill>
                <a:latin typeface="Meiryo" pitchFamily="34" charset="0"/>
                <a:ea typeface="Meiryo" pitchFamily="34" charset="-122"/>
                <a:cs typeface="Meiryo" pitchFamily="34" charset="-120"/>
              </a:rPr>
              <a:t>交感神経の節前ニューロンは胸髄〜腰髄（T1〜L2）の側角。</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74320"/>
            <a:ext cx="868680" cy="384048"/>
          </a:xfrm>
          <a:prstGeom prst="roundRect">
            <a:avLst>
              <a:gd name="adj" fmla="val 19048"/>
            </a:avLst>
          </a:prstGeom>
          <a:solidFill>
            <a:srgbClr val="17324D"/>
          </a:solidFill>
          <a:ln/>
        </p:spPr>
      </p:sp>
      <p:sp>
        <p:nvSpPr>
          <p:cNvPr id="3" name="Text 1"/>
          <p:cNvSpPr txBox="1"/>
          <p:nvPr/>
        </p:nvSpPr>
        <p:spPr>
          <a:xfrm>
            <a:off x="457200" y="274320"/>
            <a:ext cx="86868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問題</a:t>
            </a:r>
            <a:endParaRPr lang="en-US" sz="1300" dirty="0"/>
          </a:p>
        </p:txBody>
      </p:sp>
      <p:sp>
        <p:nvSpPr>
          <p:cNvPr id="4" name="Text 2"/>
          <p:cNvSpPr txBox="1"/>
          <p:nvPr/>
        </p:nvSpPr>
        <p:spPr>
          <a:xfrm>
            <a:off x="1417320" y="274320"/>
            <a:ext cx="731520" cy="384048"/>
          </a:xfrm>
          <a:prstGeom prst="rect">
            <a:avLst/>
          </a:prstGeom>
          <a:noFill/>
          <a:ln/>
        </p:spPr>
        <p:txBody>
          <a:bodyPr wrap="square" lIns="0" tIns="0" rIns="0" bIns="0" rtlCol="0" anchor="ctr"/>
          <a:lstStyle/>
          <a:p>
            <a:pPr indent="0" marL="0">
              <a:buNone/>
            </a:pPr>
            <a:r>
              <a:rPr lang="en-US" sz="2000" b="1" dirty="0">
                <a:solidFill>
                  <a:srgbClr val="17324D"/>
                </a:solidFill>
                <a:latin typeface="Arial" pitchFamily="34" charset="0"/>
                <a:ea typeface="Arial" pitchFamily="34" charset="-122"/>
                <a:cs typeface="Arial" pitchFamily="34" charset="-120"/>
              </a:rPr>
              <a:t>[9]</a:t>
            </a:r>
            <a:endParaRPr lang="en-US" sz="2000" dirty="0"/>
          </a:p>
        </p:txBody>
      </p:sp>
      <p:sp>
        <p:nvSpPr>
          <p:cNvPr id="5" name="Text 3"/>
          <p:cNvSpPr txBox="1"/>
          <p:nvPr/>
        </p:nvSpPr>
        <p:spPr>
          <a:xfrm>
            <a:off x="5943600" y="274320"/>
            <a:ext cx="2743200" cy="384048"/>
          </a:xfrm>
          <a:prstGeom prst="rect">
            <a:avLst/>
          </a:prstGeom>
          <a:noFill/>
          <a:ln/>
        </p:spPr>
        <p:txBody>
          <a:bodyPr wrap="square" lIns="0" tIns="0" rIns="0" bIns="0" rtlCol="0" anchor="ctr"/>
          <a:lstStyle/>
          <a:p>
            <a:pPr algn="r" indent="0" marL="0">
              <a:buNone/>
            </a:pPr>
            <a:r>
              <a:rPr lang="en-US" sz="1100" dirty="0">
                <a:solidFill>
                  <a:srgbClr val="5F6B76"/>
                </a:solidFill>
                <a:latin typeface="Meiryo" pitchFamily="34" charset="0"/>
                <a:ea typeface="Meiryo" pitchFamily="34" charset="-122"/>
                <a:cs typeface="Meiryo" pitchFamily="34" charset="-120"/>
              </a:rPr>
              <a:t>57回午後63</a:t>
            </a:r>
            <a:endParaRPr lang="en-US" sz="1100" dirty="0"/>
          </a:p>
        </p:txBody>
      </p:sp>
      <p:sp>
        <p:nvSpPr>
          <p:cNvPr id="6" name="Text 4"/>
          <p:cNvSpPr txBox="1"/>
          <p:nvPr/>
        </p:nvSpPr>
        <p:spPr>
          <a:xfrm>
            <a:off x="457200" y="731520"/>
            <a:ext cx="8229600" cy="594360"/>
          </a:xfrm>
          <a:prstGeom prst="rect">
            <a:avLst/>
          </a:prstGeom>
          <a:noFill/>
          <a:ln/>
        </p:spPr>
        <p:txBody>
          <a:bodyPr wrap="square" lIns="0" tIns="0" rIns="0" bIns="0" rtlCol="0" anchor="t"/>
          <a:lstStyle/>
          <a:p>
            <a:pPr indent="0" marL="0">
              <a:buNone/>
            </a:pPr>
            <a:r>
              <a:rPr lang="en-US" sz="1700" b="1" dirty="0">
                <a:solidFill>
                  <a:srgbClr val="222222"/>
                </a:solidFill>
                <a:latin typeface="Meiryo" pitchFamily="34" charset="0"/>
                <a:ea typeface="Meiryo" pitchFamily="34" charset="-122"/>
                <a:cs typeface="Meiryo" pitchFamily="34" charset="-120"/>
              </a:rPr>
              <a:t>自律神経の二重支配を受けるのはどれか。</a:t>
            </a:r>
            <a:endParaRPr lang="en-US" sz="1700" dirty="0"/>
          </a:p>
        </p:txBody>
      </p:sp>
      <p:sp>
        <p:nvSpPr>
          <p:cNvPr id="7" name="Shape 5"/>
          <p:cNvSpPr/>
          <p:nvPr/>
        </p:nvSpPr>
        <p:spPr>
          <a:xfrm>
            <a:off x="457200" y="1508760"/>
            <a:ext cx="8229600" cy="493776"/>
          </a:xfrm>
          <a:prstGeom prst="roundRect">
            <a:avLst>
              <a:gd name="adj" fmla="val 14815"/>
            </a:avLst>
          </a:prstGeom>
          <a:solidFill>
            <a:srgbClr val="EAF2F8"/>
          </a:solidFill>
          <a:ln/>
        </p:spPr>
      </p:sp>
      <p:sp>
        <p:nvSpPr>
          <p:cNvPr id="8" name="Shape 6"/>
          <p:cNvSpPr/>
          <p:nvPr/>
        </p:nvSpPr>
        <p:spPr>
          <a:xfrm>
            <a:off x="566928" y="1572768"/>
            <a:ext cx="365760" cy="365760"/>
          </a:xfrm>
          <a:prstGeom prst="ellipse">
            <a:avLst/>
          </a:prstGeom>
          <a:solidFill>
            <a:srgbClr val="FFFFFF"/>
          </a:solidFill>
          <a:ln w="15875">
            <a:solidFill>
              <a:srgbClr val="17324D"/>
            </a:solidFill>
            <a:prstDash val="solid"/>
          </a:ln>
        </p:spPr>
      </p:sp>
      <p:sp>
        <p:nvSpPr>
          <p:cNvPr id="9" name="Text 7"/>
          <p:cNvSpPr txBox="1"/>
          <p:nvPr/>
        </p:nvSpPr>
        <p:spPr>
          <a:xfrm>
            <a:off x="566928" y="1572768"/>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1</a:t>
            </a:r>
            <a:endParaRPr lang="en-US" sz="1400" dirty="0"/>
          </a:p>
        </p:txBody>
      </p:sp>
      <p:sp>
        <p:nvSpPr>
          <p:cNvPr id="10" name="Text 8"/>
          <p:cNvSpPr txBox="1"/>
          <p:nvPr/>
        </p:nvSpPr>
        <p:spPr>
          <a:xfrm>
            <a:off x="1051560" y="1508760"/>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汗腺</a:t>
            </a:r>
            <a:endParaRPr lang="en-US" sz="1500" dirty="0"/>
          </a:p>
        </p:txBody>
      </p:sp>
      <p:sp>
        <p:nvSpPr>
          <p:cNvPr id="11" name="Shape 9"/>
          <p:cNvSpPr/>
          <p:nvPr/>
        </p:nvSpPr>
        <p:spPr>
          <a:xfrm>
            <a:off x="457200" y="2112264"/>
            <a:ext cx="8229600" cy="493776"/>
          </a:xfrm>
          <a:prstGeom prst="roundRect">
            <a:avLst>
              <a:gd name="adj" fmla="val 14815"/>
            </a:avLst>
          </a:prstGeom>
          <a:solidFill>
            <a:srgbClr val="EAF2F8"/>
          </a:solidFill>
          <a:ln/>
        </p:spPr>
      </p:sp>
      <p:sp>
        <p:nvSpPr>
          <p:cNvPr id="12" name="Shape 10"/>
          <p:cNvSpPr/>
          <p:nvPr/>
        </p:nvSpPr>
        <p:spPr>
          <a:xfrm>
            <a:off x="566928" y="2176272"/>
            <a:ext cx="365760" cy="365760"/>
          </a:xfrm>
          <a:prstGeom prst="ellipse">
            <a:avLst/>
          </a:prstGeom>
          <a:solidFill>
            <a:srgbClr val="FFFFFF"/>
          </a:solidFill>
          <a:ln w="15875">
            <a:solidFill>
              <a:srgbClr val="17324D"/>
            </a:solidFill>
            <a:prstDash val="solid"/>
          </a:ln>
        </p:spPr>
      </p:sp>
      <p:sp>
        <p:nvSpPr>
          <p:cNvPr id="13" name="Text 11"/>
          <p:cNvSpPr txBox="1"/>
          <p:nvPr/>
        </p:nvSpPr>
        <p:spPr>
          <a:xfrm>
            <a:off x="566928" y="2176272"/>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2</a:t>
            </a:r>
            <a:endParaRPr lang="en-US" sz="1400" dirty="0"/>
          </a:p>
        </p:txBody>
      </p:sp>
      <p:sp>
        <p:nvSpPr>
          <p:cNvPr id="14" name="Text 12"/>
          <p:cNvSpPr txBox="1"/>
          <p:nvPr/>
        </p:nvSpPr>
        <p:spPr>
          <a:xfrm>
            <a:off x="1051560" y="2112264"/>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膵臓</a:t>
            </a:r>
            <a:endParaRPr lang="en-US" sz="1500" dirty="0"/>
          </a:p>
        </p:txBody>
      </p:sp>
      <p:sp>
        <p:nvSpPr>
          <p:cNvPr id="15" name="Shape 13"/>
          <p:cNvSpPr/>
          <p:nvPr/>
        </p:nvSpPr>
        <p:spPr>
          <a:xfrm>
            <a:off x="457200" y="2715768"/>
            <a:ext cx="8229600" cy="493776"/>
          </a:xfrm>
          <a:prstGeom prst="roundRect">
            <a:avLst>
              <a:gd name="adj" fmla="val 14815"/>
            </a:avLst>
          </a:prstGeom>
          <a:solidFill>
            <a:srgbClr val="EAF2F8"/>
          </a:solidFill>
          <a:ln/>
        </p:spPr>
      </p:sp>
      <p:sp>
        <p:nvSpPr>
          <p:cNvPr id="16" name="Shape 14"/>
          <p:cNvSpPr/>
          <p:nvPr/>
        </p:nvSpPr>
        <p:spPr>
          <a:xfrm>
            <a:off x="566928" y="2779776"/>
            <a:ext cx="365760" cy="365760"/>
          </a:xfrm>
          <a:prstGeom prst="ellipse">
            <a:avLst/>
          </a:prstGeom>
          <a:solidFill>
            <a:srgbClr val="FFFFFF"/>
          </a:solidFill>
          <a:ln w="15875">
            <a:solidFill>
              <a:srgbClr val="17324D"/>
            </a:solidFill>
            <a:prstDash val="solid"/>
          </a:ln>
        </p:spPr>
      </p:sp>
      <p:sp>
        <p:nvSpPr>
          <p:cNvPr id="17" name="Text 15"/>
          <p:cNvSpPr txBox="1"/>
          <p:nvPr/>
        </p:nvSpPr>
        <p:spPr>
          <a:xfrm>
            <a:off x="566928" y="2779776"/>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3</a:t>
            </a:r>
            <a:endParaRPr lang="en-US" sz="1400" dirty="0"/>
          </a:p>
        </p:txBody>
      </p:sp>
      <p:sp>
        <p:nvSpPr>
          <p:cNvPr id="18" name="Text 16"/>
          <p:cNvSpPr txBox="1"/>
          <p:nvPr/>
        </p:nvSpPr>
        <p:spPr>
          <a:xfrm>
            <a:off x="1051560" y="2715768"/>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脾臓</a:t>
            </a:r>
            <a:endParaRPr lang="en-US" sz="1500" dirty="0"/>
          </a:p>
        </p:txBody>
      </p:sp>
      <p:sp>
        <p:nvSpPr>
          <p:cNvPr id="19" name="Shape 17"/>
          <p:cNvSpPr/>
          <p:nvPr/>
        </p:nvSpPr>
        <p:spPr>
          <a:xfrm>
            <a:off x="457200" y="3319272"/>
            <a:ext cx="8229600" cy="493776"/>
          </a:xfrm>
          <a:prstGeom prst="roundRect">
            <a:avLst>
              <a:gd name="adj" fmla="val 14815"/>
            </a:avLst>
          </a:prstGeom>
          <a:solidFill>
            <a:srgbClr val="EAF2F8"/>
          </a:solidFill>
          <a:ln/>
        </p:spPr>
      </p:sp>
      <p:sp>
        <p:nvSpPr>
          <p:cNvPr id="20" name="Shape 18"/>
          <p:cNvSpPr/>
          <p:nvPr/>
        </p:nvSpPr>
        <p:spPr>
          <a:xfrm>
            <a:off x="566928" y="3383280"/>
            <a:ext cx="365760" cy="365760"/>
          </a:xfrm>
          <a:prstGeom prst="ellipse">
            <a:avLst/>
          </a:prstGeom>
          <a:solidFill>
            <a:srgbClr val="FFFFFF"/>
          </a:solidFill>
          <a:ln w="15875">
            <a:solidFill>
              <a:srgbClr val="17324D"/>
            </a:solidFill>
            <a:prstDash val="solid"/>
          </a:ln>
        </p:spPr>
      </p:sp>
      <p:sp>
        <p:nvSpPr>
          <p:cNvPr id="21" name="Text 19"/>
          <p:cNvSpPr txBox="1"/>
          <p:nvPr/>
        </p:nvSpPr>
        <p:spPr>
          <a:xfrm>
            <a:off x="566928" y="3383280"/>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4</a:t>
            </a:r>
            <a:endParaRPr lang="en-US" sz="1400" dirty="0"/>
          </a:p>
        </p:txBody>
      </p:sp>
      <p:sp>
        <p:nvSpPr>
          <p:cNvPr id="22" name="Text 20"/>
          <p:cNvSpPr txBox="1"/>
          <p:nvPr/>
        </p:nvSpPr>
        <p:spPr>
          <a:xfrm>
            <a:off x="1051560" y="3319272"/>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立毛筋</a:t>
            </a:r>
            <a:endParaRPr lang="en-US" sz="1500" dirty="0"/>
          </a:p>
        </p:txBody>
      </p:sp>
      <p:sp>
        <p:nvSpPr>
          <p:cNvPr id="23" name="Shape 21"/>
          <p:cNvSpPr/>
          <p:nvPr/>
        </p:nvSpPr>
        <p:spPr>
          <a:xfrm>
            <a:off x="457200" y="3922776"/>
            <a:ext cx="8229600" cy="493776"/>
          </a:xfrm>
          <a:prstGeom prst="roundRect">
            <a:avLst>
              <a:gd name="adj" fmla="val 14815"/>
            </a:avLst>
          </a:prstGeom>
          <a:solidFill>
            <a:srgbClr val="EAF2F8"/>
          </a:solidFill>
          <a:ln/>
        </p:spPr>
      </p:sp>
      <p:sp>
        <p:nvSpPr>
          <p:cNvPr id="24" name="Shape 22"/>
          <p:cNvSpPr/>
          <p:nvPr/>
        </p:nvSpPr>
        <p:spPr>
          <a:xfrm>
            <a:off x="566928" y="3986784"/>
            <a:ext cx="365760" cy="365760"/>
          </a:xfrm>
          <a:prstGeom prst="ellipse">
            <a:avLst/>
          </a:prstGeom>
          <a:solidFill>
            <a:srgbClr val="FFFFFF"/>
          </a:solidFill>
          <a:ln w="15875">
            <a:solidFill>
              <a:srgbClr val="17324D"/>
            </a:solidFill>
            <a:prstDash val="solid"/>
          </a:ln>
        </p:spPr>
      </p:sp>
      <p:sp>
        <p:nvSpPr>
          <p:cNvPr id="25" name="Text 23"/>
          <p:cNvSpPr txBox="1"/>
          <p:nvPr/>
        </p:nvSpPr>
        <p:spPr>
          <a:xfrm>
            <a:off x="566928" y="3986784"/>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5</a:t>
            </a:r>
            <a:endParaRPr lang="en-US" sz="1400" dirty="0"/>
          </a:p>
        </p:txBody>
      </p:sp>
      <p:sp>
        <p:nvSpPr>
          <p:cNvPr id="26" name="Text 24"/>
          <p:cNvSpPr txBox="1"/>
          <p:nvPr/>
        </p:nvSpPr>
        <p:spPr>
          <a:xfrm>
            <a:off x="1051560" y="3922776"/>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副腎髄質</a:t>
            </a:r>
            <a:endParaRPr lang="en-US" sz="15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74320"/>
            <a:ext cx="868680" cy="384048"/>
          </a:xfrm>
          <a:prstGeom prst="roundRect">
            <a:avLst>
              <a:gd name="adj" fmla="val 19048"/>
            </a:avLst>
          </a:prstGeom>
          <a:solidFill>
            <a:srgbClr val="D9534F"/>
          </a:solidFill>
          <a:ln/>
        </p:spPr>
      </p:sp>
      <p:sp>
        <p:nvSpPr>
          <p:cNvPr id="3" name="Text 1"/>
          <p:cNvSpPr txBox="1"/>
          <p:nvPr/>
        </p:nvSpPr>
        <p:spPr>
          <a:xfrm>
            <a:off x="457200" y="274320"/>
            <a:ext cx="86868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解説</a:t>
            </a:r>
            <a:endParaRPr lang="en-US" sz="1300" dirty="0"/>
          </a:p>
        </p:txBody>
      </p:sp>
      <p:sp>
        <p:nvSpPr>
          <p:cNvPr id="4" name="Text 2"/>
          <p:cNvSpPr txBox="1"/>
          <p:nvPr/>
        </p:nvSpPr>
        <p:spPr>
          <a:xfrm>
            <a:off x="1417320" y="274320"/>
            <a:ext cx="731520" cy="384048"/>
          </a:xfrm>
          <a:prstGeom prst="rect">
            <a:avLst/>
          </a:prstGeom>
          <a:noFill/>
          <a:ln/>
        </p:spPr>
        <p:txBody>
          <a:bodyPr wrap="square" lIns="0" tIns="0" rIns="0" bIns="0" rtlCol="0" anchor="ctr"/>
          <a:lstStyle/>
          <a:p>
            <a:pPr indent="0" marL="0">
              <a:buNone/>
            </a:pPr>
            <a:r>
              <a:rPr lang="en-US" sz="2000" b="1" dirty="0">
                <a:solidFill>
                  <a:srgbClr val="17324D"/>
                </a:solidFill>
                <a:latin typeface="Arial" pitchFamily="34" charset="0"/>
                <a:ea typeface="Arial" pitchFamily="34" charset="-122"/>
                <a:cs typeface="Arial" pitchFamily="34" charset="-120"/>
              </a:rPr>
              <a:t>[9]</a:t>
            </a:r>
            <a:endParaRPr lang="en-US" sz="2000" dirty="0"/>
          </a:p>
        </p:txBody>
      </p:sp>
      <p:sp>
        <p:nvSpPr>
          <p:cNvPr id="5" name="Text 3"/>
          <p:cNvSpPr txBox="1"/>
          <p:nvPr/>
        </p:nvSpPr>
        <p:spPr>
          <a:xfrm>
            <a:off x="5943600" y="274320"/>
            <a:ext cx="2743200" cy="384048"/>
          </a:xfrm>
          <a:prstGeom prst="rect">
            <a:avLst/>
          </a:prstGeom>
          <a:noFill/>
          <a:ln/>
        </p:spPr>
        <p:txBody>
          <a:bodyPr wrap="square" lIns="0" tIns="0" rIns="0" bIns="0" rtlCol="0" anchor="ctr"/>
          <a:lstStyle/>
          <a:p>
            <a:pPr algn="r" indent="0" marL="0">
              <a:buNone/>
            </a:pPr>
            <a:r>
              <a:rPr lang="en-US" sz="1100" dirty="0">
                <a:solidFill>
                  <a:srgbClr val="5F6B76"/>
                </a:solidFill>
                <a:latin typeface="Meiryo" pitchFamily="34" charset="0"/>
                <a:ea typeface="Meiryo" pitchFamily="34" charset="-122"/>
                <a:cs typeface="Meiryo" pitchFamily="34" charset="-120"/>
              </a:rPr>
              <a:t>57回午後63</a:t>
            </a:r>
            <a:endParaRPr lang="en-US" sz="1100" dirty="0"/>
          </a:p>
        </p:txBody>
      </p:sp>
      <p:sp>
        <p:nvSpPr>
          <p:cNvPr id="6" name="Text 4"/>
          <p:cNvSpPr txBox="1"/>
          <p:nvPr/>
        </p:nvSpPr>
        <p:spPr>
          <a:xfrm>
            <a:off x="457200" y="731520"/>
            <a:ext cx="8229600" cy="594360"/>
          </a:xfrm>
          <a:prstGeom prst="rect">
            <a:avLst/>
          </a:prstGeom>
          <a:noFill/>
          <a:ln/>
        </p:spPr>
        <p:txBody>
          <a:bodyPr wrap="square" lIns="0" tIns="0" rIns="0" bIns="0" rtlCol="0" anchor="t"/>
          <a:lstStyle/>
          <a:p>
            <a:pPr indent="0" marL="0">
              <a:buNone/>
            </a:pPr>
            <a:r>
              <a:rPr lang="en-US" sz="1700" b="1" dirty="0">
                <a:solidFill>
                  <a:srgbClr val="222222"/>
                </a:solidFill>
                <a:latin typeface="Meiryo" pitchFamily="34" charset="0"/>
                <a:ea typeface="Meiryo" pitchFamily="34" charset="-122"/>
                <a:cs typeface="Meiryo" pitchFamily="34" charset="-120"/>
              </a:rPr>
              <a:t>自律神経の二重支配を受けるのはどれか。</a:t>
            </a:r>
            <a:endParaRPr lang="en-US" sz="1700" dirty="0"/>
          </a:p>
        </p:txBody>
      </p:sp>
      <p:sp>
        <p:nvSpPr>
          <p:cNvPr id="7" name="Shape 5"/>
          <p:cNvSpPr/>
          <p:nvPr/>
        </p:nvSpPr>
        <p:spPr>
          <a:xfrm>
            <a:off x="457200" y="1417320"/>
            <a:ext cx="8229600" cy="457200"/>
          </a:xfrm>
          <a:prstGeom prst="roundRect">
            <a:avLst>
              <a:gd name="adj" fmla="val 16000"/>
            </a:avLst>
          </a:prstGeom>
          <a:solidFill>
            <a:srgbClr val="F4F6F8"/>
          </a:solidFill>
          <a:ln/>
        </p:spPr>
      </p:sp>
      <p:sp>
        <p:nvSpPr>
          <p:cNvPr id="8" name="Shape 6"/>
          <p:cNvSpPr/>
          <p:nvPr/>
        </p:nvSpPr>
        <p:spPr>
          <a:xfrm>
            <a:off x="548640" y="1481328"/>
            <a:ext cx="329184" cy="329184"/>
          </a:xfrm>
          <a:prstGeom prst="ellipse">
            <a:avLst/>
          </a:prstGeom>
          <a:solidFill>
            <a:srgbClr val="FFFFFF"/>
          </a:solidFill>
          <a:ln w="12700">
            <a:solidFill>
              <a:srgbClr val="8A96A3"/>
            </a:solidFill>
            <a:prstDash val="solid"/>
          </a:ln>
        </p:spPr>
      </p:sp>
      <p:sp>
        <p:nvSpPr>
          <p:cNvPr id="9" name="Text 7"/>
          <p:cNvSpPr txBox="1"/>
          <p:nvPr/>
        </p:nvSpPr>
        <p:spPr>
          <a:xfrm>
            <a:off x="548640" y="1481328"/>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1</a:t>
            </a:r>
            <a:endParaRPr lang="en-US" sz="1300" dirty="0"/>
          </a:p>
        </p:txBody>
      </p:sp>
      <p:sp>
        <p:nvSpPr>
          <p:cNvPr id="10" name="Text 8"/>
          <p:cNvSpPr txBox="1"/>
          <p:nvPr/>
        </p:nvSpPr>
        <p:spPr>
          <a:xfrm>
            <a:off x="987552" y="1417320"/>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汗腺</a:t>
            </a:r>
            <a:endParaRPr lang="en-US" sz="1200" dirty="0"/>
          </a:p>
        </p:txBody>
      </p:sp>
      <p:sp>
        <p:nvSpPr>
          <p:cNvPr id="11" name="Text 9"/>
          <p:cNvSpPr txBox="1"/>
          <p:nvPr/>
        </p:nvSpPr>
        <p:spPr>
          <a:xfrm>
            <a:off x="4096512" y="1417320"/>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交感神経のみ</a:t>
            </a:r>
            <a:endParaRPr lang="en-US" sz="1100" dirty="0"/>
          </a:p>
        </p:txBody>
      </p:sp>
      <p:sp>
        <p:nvSpPr>
          <p:cNvPr id="12" name="Shape 10"/>
          <p:cNvSpPr/>
          <p:nvPr/>
        </p:nvSpPr>
        <p:spPr>
          <a:xfrm>
            <a:off x="457200" y="1947672"/>
            <a:ext cx="8229600" cy="457200"/>
          </a:xfrm>
          <a:prstGeom prst="roundRect">
            <a:avLst>
              <a:gd name="adj" fmla="val 16000"/>
            </a:avLst>
          </a:prstGeom>
          <a:solidFill>
            <a:srgbClr val="FBE3E2"/>
          </a:solidFill>
          <a:ln w="19050">
            <a:solidFill>
              <a:srgbClr val="D9534F"/>
            </a:solidFill>
            <a:prstDash val="solid"/>
          </a:ln>
        </p:spPr>
      </p:sp>
      <p:sp>
        <p:nvSpPr>
          <p:cNvPr id="13" name="Shape 11"/>
          <p:cNvSpPr/>
          <p:nvPr/>
        </p:nvSpPr>
        <p:spPr>
          <a:xfrm>
            <a:off x="548640" y="2011680"/>
            <a:ext cx="329184" cy="329184"/>
          </a:xfrm>
          <a:prstGeom prst="ellipse">
            <a:avLst/>
          </a:prstGeom>
          <a:solidFill>
            <a:srgbClr val="D9534F"/>
          </a:solidFill>
          <a:ln w="12700">
            <a:solidFill>
              <a:srgbClr val="D9534F"/>
            </a:solidFill>
            <a:prstDash val="solid"/>
          </a:ln>
        </p:spPr>
      </p:sp>
      <p:sp>
        <p:nvSpPr>
          <p:cNvPr id="14" name="Text 12"/>
          <p:cNvSpPr txBox="1"/>
          <p:nvPr/>
        </p:nvSpPr>
        <p:spPr>
          <a:xfrm>
            <a:off x="548640" y="2011680"/>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5" name="Text 13"/>
          <p:cNvSpPr txBox="1"/>
          <p:nvPr/>
        </p:nvSpPr>
        <p:spPr>
          <a:xfrm>
            <a:off x="987552" y="1947672"/>
            <a:ext cx="3017520" cy="457200"/>
          </a:xfrm>
          <a:prstGeom prst="rect">
            <a:avLst/>
          </a:prstGeom>
          <a:noFill/>
          <a:ln/>
        </p:spPr>
        <p:txBody>
          <a:bodyPr wrap="square" lIns="0" tIns="0" rIns="0" bIns="0" rtlCol="0" anchor="ctr"/>
          <a:lstStyle/>
          <a:p>
            <a:pPr indent="0" marL="0">
              <a:buNone/>
            </a:pPr>
            <a:r>
              <a:rPr lang="en-US" sz="1200" b="1" dirty="0">
                <a:solidFill>
                  <a:srgbClr val="D9534F"/>
                </a:solidFill>
                <a:latin typeface="Meiryo" pitchFamily="34" charset="0"/>
                <a:ea typeface="Meiryo" pitchFamily="34" charset="-122"/>
                <a:cs typeface="Meiryo" pitchFamily="34" charset="-120"/>
              </a:rPr>
              <a:t>膵臓</a:t>
            </a:r>
            <a:endParaRPr lang="en-US" sz="1200" dirty="0"/>
          </a:p>
        </p:txBody>
      </p:sp>
      <p:sp>
        <p:nvSpPr>
          <p:cNvPr id="16" name="Text 14"/>
          <p:cNvSpPr txBox="1"/>
          <p:nvPr/>
        </p:nvSpPr>
        <p:spPr>
          <a:xfrm>
            <a:off x="4096512" y="1947672"/>
            <a:ext cx="4526280" cy="457200"/>
          </a:xfrm>
          <a:prstGeom prst="rect">
            <a:avLst/>
          </a:prstGeom>
          <a:noFill/>
          <a:ln/>
        </p:spPr>
        <p:txBody>
          <a:bodyPr wrap="square" lIns="0" tIns="0" rIns="0" bIns="0" rtlCol="0" anchor="ctr"/>
          <a:lstStyle/>
          <a:p>
            <a:pPr indent="0" marL="0">
              <a:buNone/>
            </a:pPr>
            <a:r>
              <a:rPr lang="en-US" sz="1100" dirty="0">
                <a:solidFill>
                  <a:srgbClr val="222222"/>
                </a:solidFill>
                <a:latin typeface="Meiryo" pitchFamily="34" charset="0"/>
                <a:ea typeface="Meiryo" pitchFamily="34" charset="-122"/>
                <a:cs typeface="Meiryo" pitchFamily="34" charset="-120"/>
              </a:rPr>
              <a:t>交感・副交感の二重支配 ○</a:t>
            </a:r>
            <a:endParaRPr lang="en-US" sz="1100" dirty="0"/>
          </a:p>
        </p:txBody>
      </p:sp>
      <p:sp>
        <p:nvSpPr>
          <p:cNvPr id="17" name="Shape 15"/>
          <p:cNvSpPr/>
          <p:nvPr/>
        </p:nvSpPr>
        <p:spPr>
          <a:xfrm>
            <a:off x="457200" y="2478024"/>
            <a:ext cx="8229600" cy="457200"/>
          </a:xfrm>
          <a:prstGeom prst="roundRect">
            <a:avLst>
              <a:gd name="adj" fmla="val 16000"/>
            </a:avLst>
          </a:prstGeom>
          <a:solidFill>
            <a:srgbClr val="F4F6F8"/>
          </a:solidFill>
          <a:ln/>
        </p:spPr>
      </p:sp>
      <p:sp>
        <p:nvSpPr>
          <p:cNvPr id="18" name="Shape 16"/>
          <p:cNvSpPr/>
          <p:nvPr/>
        </p:nvSpPr>
        <p:spPr>
          <a:xfrm>
            <a:off x="548640" y="2542032"/>
            <a:ext cx="329184" cy="329184"/>
          </a:xfrm>
          <a:prstGeom prst="ellipse">
            <a:avLst/>
          </a:prstGeom>
          <a:solidFill>
            <a:srgbClr val="FFFFFF"/>
          </a:solidFill>
          <a:ln w="12700">
            <a:solidFill>
              <a:srgbClr val="8A96A3"/>
            </a:solidFill>
            <a:prstDash val="solid"/>
          </a:ln>
        </p:spPr>
      </p:sp>
      <p:sp>
        <p:nvSpPr>
          <p:cNvPr id="19" name="Text 17"/>
          <p:cNvSpPr txBox="1"/>
          <p:nvPr/>
        </p:nvSpPr>
        <p:spPr>
          <a:xfrm>
            <a:off x="548640" y="2542032"/>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3</a:t>
            </a:r>
            <a:endParaRPr lang="en-US" sz="1300" dirty="0"/>
          </a:p>
        </p:txBody>
      </p:sp>
      <p:sp>
        <p:nvSpPr>
          <p:cNvPr id="20" name="Text 18"/>
          <p:cNvSpPr txBox="1"/>
          <p:nvPr/>
        </p:nvSpPr>
        <p:spPr>
          <a:xfrm>
            <a:off x="987552" y="2478024"/>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脾臓</a:t>
            </a:r>
            <a:endParaRPr lang="en-US" sz="1200" dirty="0"/>
          </a:p>
        </p:txBody>
      </p:sp>
      <p:sp>
        <p:nvSpPr>
          <p:cNvPr id="21" name="Text 19"/>
          <p:cNvSpPr txBox="1"/>
          <p:nvPr/>
        </p:nvSpPr>
        <p:spPr>
          <a:xfrm>
            <a:off x="4096512" y="2478024"/>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交感神経のみ</a:t>
            </a:r>
            <a:endParaRPr lang="en-US" sz="1100" dirty="0"/>
          </a:p>
        </p:txBody>
      </p:sp>
      <p:sp>
        <p:nvSpPr>
          <p:cNvPr id="22" name="Shape 20"/>
          <p:cNvSpPr/>
          <p:nvPr/>
        </p:nvSpPr>
        <p:spPr>
          <a:xfrm>
            <a:off x="457200" y="3008376"/>
            <a:ext cx="8229600" cy="457200"/>
          </a:xfrm>
          <a:prstGeom prst="roundRect">
            <a:avLst>
              <a:gd name="adj" fmla="val 16000"/>
            </a:avLst>
          </a:prstGeom>
          <a:solidFill>
            <a:srgbClr val="F4F6F8"/>
          </a:solidFill>
          <a:ln/>
        </p:spPr>
      </p:sp>
      <p:sp>
        <p:nvSpPr>
          <p:cNvPr id="23" name="Shape 21"/>
          <p:cNvSpPr/>
          <p:nvPr/>
        </p:nvSpPr>
        <p:spPr>
          <a:xfrm>
            <a:off x="548640" y="3072384"/>
            <a:ext cx="329184" cy="329184"/>
          </a:xfrm>
          <a:prstGeom prst="ellipse">
            <a:avLst/>
          </a:prstGeom>
          <a:solidFill>
            <a:srgbClr val="FFFFFF"/>
          </a:solidFill>
          <a:ln w="12700">
            <a:solidFill>
              <a:srgbClr val="8A96A3"/>
            </a:solidFill>
            <a:prstDash val="solid"/>
          </a:ln>
        </p:spPr>
      </p:sp>
      <p:sp>
        <p:nvSpPr>
          <p:cNvPr id="24" name="Text 22"/>
          <p:cNvSpPr txBox="1"/>
          <p:nvPr/>
        </p:nvSpPr>
        <p:spPr>
          <a:xfrm>
            <a:off x="548640" y="3072384"/>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4</a:t>
            </a:r>
            <a:endParaRPr lang="en-US" sz="1300" dirty="0"/>
          </a:p>
        </p:txBody>
      </p:sp>
      <p:sp>
        <p:nvSpPr>
          <p:cNvPr id="25" name="Text 23"/>
          <p:cNvSpPr txBox="1"/>
          <p:nvPr/>
        </p:nvSpPr>
        <p:spPr>
          <a:xfrm>
            <a:off x="987552" y="3008376"/>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立毛筋</a:t>
            </a:r>
            <a:endParaRPr lang="en-US" sz="1200" dirty="0"/>
          </a:p>
        </p:txBody>
      </p:sp>
      <p:sp>
        <p:nvSpPr>
          <p:cNvPr id="26" name="Text 24"/>
          <p:cNvSpPr txBox="1"/>
          <p:nvPr/>
        </p:nvSpPr>
        <p:spPr>
          <a:xfrm>
            <a:off x="4096512" y="3008376"/>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交感神経のみ</a:t>
            </a:r>
            <a:endParaRPr lang="en-US" sz="1100" dirty="0"/>
          </a:p>
        </p:txBody>
      </p:sp>
      <p:sp>
        <p:nvSpPr>
          <p:cNvPr id="27" name="Shape 25"/>
          <p:cNvSpPr/>
          <p:nvPr/>
        </p:nvSpPr>
        <p:spPr>
          <a:xfrm>
            <a:off x="457200" y="3538728"/>
            <a:ext cx="8229600" cy="457200"/>
          </a:xfrm>
          <a:prstGeom prst="roundRect">
            <a:avLst>
              <a:gd name="adj" fmla="val 16000"/>
            </a:avLst>
          </a:prstGeom>
          <a:solidFill>
            <a:srgbClr val="F4F6F8"/>
          </a:solidFill>
          <a:ln/>
        </p:spPr>
      </p:sp>
      <p:sp>
        <p:nvSpPr>
          <p:cNvPr id="28" name="Shape 26"/>
          <p:cNvSpPr/>
          <p:nvPr/>
        </p:nvSpPr>
        <p:spPr>
          <a:xfrm>
            <a:off x="548640" y="3602736"/>
            <a:ext cx="329184" cy="329184"/>
          </a:xfrm>
          <a:prstGeom prst="ellipse">
            <a:avLst/>
          </a:prstGeom>
          <a:solidFill>
            <a:srgbClr val="FFFFFF"/>
          </a:solidFill>
          <a:ln w="12700">
            <a:solidFill>
              <a:srgbClr val="8A96A3"/>
            </a:solidFill>
            <a:prstDash val="solid"/>
          </a:ln>
        </p:spPr>
      </p:sp>
      <p:sp>
        <p:nvSpPr>
          <p:cNvPr id="29" name="Text 27"/>
          <p:cNvSpPr txBox="1"/>
          <p:nvPr/>
        </p:nvSpPr>
        <p:spPr>
          <a:xfrm>
            <a:off x="548640" y="3602736"/>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5</a:t>
            </a:r>
            <a:endParaRPr lang="en-US" sz="1300" dirty="0"/>
          </a:p>
        </p:txBody>
      </p:sp>
      <p:sp>
        <p:nvSpPr>
          <p:cNvPr id="30" name="Text 28"/>
          <p:cNvSpPr txBox="1"/>
          <p:nvPr/>
        </p:nvSpPr>
        <p:spPr>
          <a:xfrm>
            <a:off x="987552" y="3538728"/>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副腎髄質</a:t>
            </a:r>
            <a:endParaRPr lang="en-US" sz="1200" dirty="0"/>
          </a:p>
        </p:txBody>
      </p:sp>
      <p:sp>
        <p:nvSpPr>
          <p:cNvPr id="31" name="Text 29"/>
          <p:cNvSpPr txBox="1"/>
          <p:nvPr/>
        </p:nvSpPr>
        <p:spPr>
          <a:xfrm>
            <a:off x="4096512" y="3538728"/>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交感神経（節前）のみ</a:t>
            </a:r>
            <a:endParaRPr lang="en-US" sz="1100" dirty="0"/>
          </a:p>
        </p:txBody>
      </p:sp>
      <p:sp>
        <p:nvSpPr>
          <p:cNvPr id="32" name="Shape 30"/>
          <p:cNvSpPr/>
          <p:nvPr/>
        </p:nvSpPr>
        <p:spPr>
          <a:xfrm>
            <a:off x="457200" y="4160520"/>
            <a:ext cx="1463040" cy="685800"/>
          </a:xfrm>
          <a:prstGeom prst="roundRect">
            <a:avLst>
              <a:gd name="adj" fmla="val 10667"/>
            </a:avLst>
          </a:prstGeom>
          <a:solidFill>
            <a:srgbClr val="D9534F"/>
          </a:solidFill>
          <a:ln/>
        </p:spPr>
      </p:sp>
      <p:sp>
        <p:nvSpPr>
          <p:cNvPr id="33" name="Text 31"/>
          <p:cNvSpPr txBox="1"/>
          <p:nvPr/>
        </p:nvSpPr>
        <p:spPr>
          <a:xfrm>
            <a:off x="457200" y="4160520"/>
            <a:ext cx="1463040" cy="685800"/>
          </a:xfrm>
          <a:prstGeom prst="rect">
            <a:avLst/>
          </a:prstGeom>
          <a:noFill/>
          <a:ln/>
        </p:spPr>
        <p:txBody>
          <a:bodyPr wrap="square" lIns="0" tIns="0" rIns="0" bIns="0" rtlCol="0" anchor="ctr"/>
          <a:lstStyle/>
          <a:p>
            <a:pPr algn="ctr" indent="0" marL="0">
              <a:buNone/>
            </a:pPr>
            <a:r>
              <a:rPr lang="en-US" sz="1100" dirty="0">
                <a:solidFill>
                  <a:srgbClr val="FFFFFF"/>
                </a:solidFill>
                <a:latin typeface="Meiryo" pitchFamily="34" charset="0"/>
                <a:ea typeface="Meiryo" pitchFamily="34" charset="-122"/>
                <a:cs typeface="Meiryo" pitchFamily="34" charset="-120"/>
              </a:rPr>
              <a:t>正解</a:t>
            </a:r>
            <a:endParaRPr lang="en-US" sz="1100" dirty="0"/>
          </a:p>
          <a:p>
            <a:pPr algn="ctr" indent="0" marL="0">
              <a:buNone/>
            </a:pPr>
            <a:r>
              <a:rPr lang="en-US" sz="2200" b="1" dirty="0">
                <a:solidFill>
                  <a:srgbClr val="FFFFFF"/>
                </a:solidFill>
                <a:latin typeface="Meiryo" pitchFamily="34" charset="0"/>
                <a:ea typeface="Meiryo" pitchFamily="34" charset="-122"/>
                <a:cs typeface="Meiryo" pitchFamily="34" charset="-120"/>
              </a:rPr>
              <a:t>2</a:t>
            </a:r>
            <a:endParaRPr lang="en-US" sz="1100" dirty="0"/>
          </a:p>
        </p:txBody>
      </p:sp>
      <p:sp>
        <p:nvSpPr>
          <p:cNvPr id="34" name="Shape 32"/>
          <p:cNvSpPr/>
          <p:nvPr/>
        </p:nvSpPr>
        <p:spPr>
          <a:xfrm>
            <a:off x="2057400" y="4160520"/>
            <a:ext cx="6629400" cy="685800"/>
          </a:xfrm>
          <a:prstGeom prst="roundRect">
            <a:avLst>
              <a:gd name="adj" fmla="val 10667"/>
            </a:avLst>
          </a:prstGeom>
          <a:solidFill>
            <a:srgbClr val="EAF2F8"/>
          </a:solidFill>
          <a:ln/>
        </p:spPr>
      </p:sp>
      <p:sp>
        <p:nvSpPr>
          <p:cNvPr id="35" name="Text 33"/>
          <p:cNvSpPr txBox="1"/>
          <p:nvPr/>
        </p:nvSpPr>
        <p:spPr>
          <a:xfrm>
            <a:off x="2194560" y="4160520"/>
            <a:ext cx="6400800" cy="685800"/>
          </a:xfrm>
          <a:prstGeom prst="rect">
            <a:avLst/>
          </a:prstGeom>
          <a:noFill/>
          <a:ln/>
        </p:spPr>
        <p:txBody>
          <a:bodyPr wrap="square" lIns="0" tIns="0" rIns="0" bIns="0" rtlCol="0" anchor="ctr"/>
          <a:lstStyle/>
          <a:p>
            <a:pPr indent="0" marL="0">
              <a:buNone/>
            </a:pPr>
            <a:r>
              <a:rPr lang="en-US" sz="1200" b="1" dirty="0">
                <a:solidFill>
                  <a:srgbClr val="2A7F9E"/>
                </a:solidFill>
                <a:latin typeface="Meiryo" pitchFamily="34" charset="0"/>
                <a:ea typeface="Meiryo" pitchFamily="34" charset="-122"/>
                <a:cs typeface="Meiryo" pitchFamily="34" charset="-120"/>
              </a:rPr>
              <a:t>POINT　</a:t>
            </a:r>
            <a:pPr indent="0" marL="0">
              <a:buNone/>
            </a:pPr>
            <a:r>
              <a:rPr lang="en-US" sz="1200" dirty="0">
                <a:solidFill>
                  <a:srgbClr val="222222"/>
                </a:solidFill>
                <a:latin typeface="Meiryo" pitchFamily="34" charset="0"/>
                <a:ea typeface="Meiryo" pitchFamily="34" charset="-122"/>
                <a:cs typeface="Meiryo" pitchFamily="34" charset="-120"/>
              </a:rPr>
              <a:t>交感神経のみの支配：汗腺・立毛筋・副腎髄質・大部分の血管・脾臓。</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74320"/>
            <a:ext cx="868680" cy="384048"/>
          </a:xfrm>
          <a:prstGeom prst="roundRect">
            <a:avLst>
              <a:gd name="adj" fmla="val 19048"/>
            </a:avLst>
          </a:prstGeom>
          <a:solidFill>
            <a:srgbClr val="17324D"/>
          </a:solidFill>
          <a:ln/>
        </p:spPr>
      </p:sp>
      <p:sp>
        <p:nvSpPr>
          <p:cNvPr id="3" name="Text 1"/>
          <p:cNvSpPr txBox="1"/>
          <p:nvPr/>
        </p:nvSpPr>
        <p:spPr>
          <a:xfrm>
            <a:off x="457200" y="274320"/>
            <a:ext cx="86868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問題</a:t>
            </a:r>
            <a:endParaRPr lang="en-US" sz="1300" dirty="0"/>
          </a:p>
        </p:txBody>
      </p:sp>
      <p:sp>
        <p:nvSpPr>
          <p:cNvPr id="4" name="Text 2"/>
          <p:cNvSpPr txBox="1"/>
          <p:nvPr/>
        </p:nvSpPr>
        <p:spPr>
          <a:xfrm>
            <a:off x="1417320" y="274320"/>
            <a:ext cx="731520" cy="384048"/>
          </a:xfrm>
          <a:prstGeom prst="rect">
            <a:avLst/>
          </a:prstGeom>
          <a:noFill/>
          <a:ln/>
        </p:spPr>
        <p:txBody>
          <a:bodyPr wrap="square" lIns="0" tIns="0" rIns="0" bIns="0" rtlCol="0" anchor="ctr"/>
          <a:lstStyle/>
          <a:p>
            <a:pPr indent="0" marL="0">
              <a:buNone/>
            </a:pPr>
            <a:r>
              <a:rPr lang="en-US" sz="2000" b="1" dirty="0">
                <a:solidFill>
                  <a:srgbClr val="17324D"/>
                </a:solidFill>
                <a:latin typeface="Arial" pitchFamily="34" charset="0"/>
                <a:ea typeface="Arial" pitchFamily="34" charset="-122"/>
                <a:cs typeface="Arial" pitchFamily="34" charset="-120"/>
              </a:rPr>
              <a:t>[10]</a:t>
            </a:r>
            <a:endParaRPr lang="en-US" sz="2000" dirty="0"/>
          </a:p>
        </p:txBody>
      </p:sp>
      <p:sp>
        <p:nvSpPr>
          <p:cNvPr id="5" name="Text 3"/>
          <p:cNvSpPr txBox="1"/>
          <p:nvPr/>
        </p:nvSpPr>
        <p:spPr>
          <a:xfrm>
            <a:off x="5943600" y="274320"/>
            <a:ext cx="2743200" cy="384048"/>
          </a:xfrm>
          <a:prstGeom prst="rect">
            <a:avLst/>
          </a:prstGeom>
          <a:noFill/>
          <a:ln/>
        </p:spPr>
        <p:txBody>
          <a:bodyPr wrap="square" lIns="0" tIns="0" rIns="0" bIns="0" rtlCol="0" anchor="ctr"/>
          <a:lstStyle/>
          <a:p>
            <a:pPr algn="r" indent="0" marL="0">
              <a:buNone/>
            </a:pPr>
            <a:r>
              <a:rPr lang="en-US" sz="1100" dirty="0">
                <a:solidFill>
                  <a:srgbClr val="5F6B76"/>
                </a:solidFill>
                <a:latin typeface="Meiryo" pitchFamily="34" charset="0"/>
                <a:ea typeface="Meiryo" pitchFamily="34" charset="-122"/>
                <a:cs typeface="Meiryo" pitchFamily="34" charset="-120"/>
              </a:rPr>
              <a:t>56回午後62</a:t>
            </a:r>
            <a:endParaRPr lang="en-US" sz="1100" dirty="0"/>
          </a:p>
        </p:txBody>
      </p:sp>
      <p:sp>
        <p:nvSpPr>
          <p:cNvPr id="6" name="Text 4"/>
          <p:cNvSpPr txBox="1"/>
          <p:nvPr/>
        </p:nvSpPr>
        <p:spPr>
          <a:xfrm>
            <a:off x="457200" y="731520"/>
            <a:ext cx="8229600" cy="594360"/>
          </a:xfrm>
          <a:prstGeom prst="rect">
            <a:avLst/>
          </a:prstGeom>
          <a:noFill/>
          <a:ln/>
        </p:spPr>
        <p:txBody>
          <a:bodyPr wrap="square" lIns="0" tIns="0" rIns="0" bIns="0" rtlCol="0" anchor="t"/>
          <a:lstStyle/>
          <a:p>
            <a:pPr indent="0" marL="0">
              <a:buNone/>
            </a:pPr>
            <a:r>
              <a:rPr lang="en-US" sz="1700" b="1" dirty="0">
                <a:solidFill>
                  <a:srgbClr val="222222"/>
                </a:solidFill>
                <a:latin typeface="Meiryo" pitchFamily="34" charset="0"/>
                <a:ea typeface="Meiryo" pitchFamily="34" charset="-122"/>
                <a:cs typeface="Meiryo" pitchFamily="34" charset="-120"/>
              </a:rPr>
              <a:t>交感神経および副交感神経の両方の刺激で促進されるのはどれか。</a:t>
            </a:r>
            <a:endParaRPr lang="en-US" sz="1700" dirty="0"/>
          </a:p>
        </p:txBody>
      </p:sp>
      <p:sp>
        <p:nvSpPr>
          <p:cNvPr id="7" name="Shape 5"/>
          <p:cNvSpPr/>
          <p:nvPr/>
        </p:nvSpPr>
        <p:spPr>
          <a:xfrm>
            <a:off x="457200" y="1508760"/>
            <a:ext cx="8229600" cy="493776"/>
          </a:xfrm>
          <a:prstGeom prst="roundRect">
            <a:avLst>
              <a:gd name="adj" fmla="val 14815"/>
            </a:avLst>
          </a:prstGeom>
          <a:solidFill>
            <a:srgbClr val="EAF2F8"/>
          </a:solidFill>
          <a:ln/>
        </p:spPr>
      </p:sp>
      <p:sp>
        <p:nvSpPr>
          <p:cNvPr id="8" name="Shape 6"/>
          <p:cNvSpPr/>
          <p:nvPr/>
        </p:nvSpPr>
        <p:spPr>
          <a:xfrm>
            <a:off x="566928" y="1572768"/>
            <a:ext cx="365760" cy="365760"/>
          </a:xfrm>
          <a:prstGeom prst="ellipse">
            <a:avLst/>
          </a:prstGeom>
          <a:solidFill>
            <a:srgbClr val="FFFFFF"/>
          </a:solidFill>
          <a:ln w="15875">
            <a:solidFill>
              <a:srgbClr val="17324D"/>
            </a:solidFill>
            <a:prstDash val="solid"/>
          </a:ln>
        </p:spPr>
      </p:sp>
      <p:sp>
        <p:nvSpPr>
          <p:cNvPr id="9" name="Text 7"/>
          <p:cNvSpPr txBox="1"/>
          <p:nvPr/>
        </p:nvSpPr>
        <p:spPr>
          <a:xfrm>
            <a:off x="566928" y="1572768"/>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1</a:t>
            </a:r>
            <a:endParaRPr lang="en-US" sz="1400" dirty="0"/>
          </a:p>
        </p:txBody>
      </p:sp>
      <p:sp>
        <p:nvSpPr>
          <p:cNvPr id="10" name="Text 8"/>
          <p:cNvSpPr txBox="1"/>
          <p:nvPr/>
        </p:nvSpPr>
        <p:spPr>
          <a:xfrm>
            <a:off x="1051560" y="1508760"/>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発汗</a:t>
            </a:r>
            <a:endParaRPr lang="en-US" sz="1500" dirty="0"/>
          </a:p>
        </p:txBody>
      </p:sp>
      <p:sp>
        <p:nvSpPr>
          <p:cNvPr id="11" name="Shape 9"/>
          <p:cNvSpPr/>
          <p:nvPr/>
        </p:nvSpPr>
        <p:spPr>
          <a:xfrm>
            <a:off x="457200" y="2112264"/>
            <a:ext cx="8229600" cy="493776"/>
          </a:xfrm>
          <a:prstGeom prst="roundRect">
            <a:avLst>
              <a:gd name="adj" fmla="val 14815"/>
            </a:avLst>
          </a:prstGeom>
          <a:solidFill>
            <a:srgbClr val="EAF2F8"/>
          </a:solidFill>
          <a:ln/>
        </p:spPr>
      </p:sp>
      <p:sp>
        <p:nvSpPr>
          <p:cNvPr id="12" name="Shape 10"/>
          <p:cNvSpPr/>
          <p:nvPr/>
        </p:nvSpPr>
        <p:spPr>
          <a:xfrm>
            <a:off x="566928" y="2176272"/>
            <a:ext cx="365760" cy="365760"/>
          </a:xfrm>
          <a:prstGeom prst="ellipse">
            <a:avLst/>
          </a:prstGeom>
          <a:solidFill>
            <a:srgbClr val="FFFFFF"/>
          </a:solidFill>
          <a:ln w="15875">
            <a:solidFill>
              <a:srgbClr val="17324D"/>
            </a:solidFill>
            <a:prstDash val="solid"/>
          </a:ln>
        </p:spPr>
      </p:sp>
      <p:sp>
        <p:nvSpPr>
          <p:cNvPr id="13" name="Text 11"/>
          <p:cNvSpPr txBox="1"/>
          <p:nvPr/>
        </p:nvSpPr>
        <p:spPr>
          <a:xfrm>
            <a:off x="566928" y="2176272"/>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2</a:t>
            </a:r>
            <a:endParaRPr lang="en-US" sz="1400" dirty="0"/>
          </a:p>
        </p:txBody>
      </p:sp>
      <p:sp>
        <p:nvSpPr>
          <p:cNvPr id="14" name="Text 12"/>
          <p:cNvSpPr txBox="1"/>
          <p:nvPr/>
        </p:nvSpPr>
        <p:spPr>
          <a:xfrm>
            <a:off x="1051560" y="2112264"/>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心拍</a:t>
            </a:r>
            <a:endParaRPr lang="en-US" sz="1500" dirty="0"/>
          </a:p>
        </p:txBody>
      </p:sp>
      <p:sp>
        <p:nvSpPr>
          <p:cNvPr id="15" name="Shape 13"/>
          <p:cNvSpPr/>
          <p:nvPr/>
        </p:nvSpPr>
        <p:spPr>
          <a:xfrm>
            <a:off x="457200" y="2715768"/>
            <a:ext cx="8229600" cy="493776"/>
          </a:xfrm>
          <a:prstGeom prst="roundRect">
            <a:avLst>
              <a:gd name="adj" fmla="val 14815"/>
            </a:avLst>
          </a:prstGeom>
          <a:solidFill>
            <a:srgbClr val="EAF2F8"/>
          </a:solidFill>
          <a:ln/>
        </p:spPr>
      </p:sp>
      <p:sp>
        <p:nvSpPr>
          <p:cNvPr id="16" name="Shape 14"/>
          <p:cNvSpPr/>
          <p:nvPr/>
        </p:nvSpPr>
        <p:spPr>
          <a:xfrm>
            <a:off x="566928" y="2779776"/>
            <a:ext cx="365760" cy="365760"/>
          </a:xfrm>
          <a:prstGeom prst="ellipse">
            <a:avLst/>
          </a:prstGeom>
          <a:solidFill>
            <a:srgbClr val="FFFFFF"/>
          </a:solidFill>
          <a:ln w="15875">
            <a:solidFill>
              <a:srgbClr val="17324D"/>
            </a:solidFill>
            <a:prstDash val="solid"/>
          </a:ln>
        </p:spPr>
      </p:sp>
      <p:sp>
        <p:nvSpPr>
          <p:cNvPr id="17" name="Text 15"/>
          <p:cNvSpPr txBox="1"/>
          <p:nvPr/>
        </p:nvSpPr>
        <p:spPr>
          <a:xfrm>
            <a:off x="566928" y="2779776"/>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3</a:t>
            </a:r>
            <a:endParaRPr lang="en-US" sz="1400" dirty="0"/>
          </a:p>
        </p:txBody>
      </p:sp>
      <p:sp>
        <p:nvSpPr>
          <p:cNvPr id="18" name="Text 16"/>
          <p:cNvSpPr txBox="1"/>
          <p:nvPr/>
        </p:nvSpPr>
        <p:spPr>
          <a:xfrm>
            <a:off x="1051560" y="2715768"/>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胃の蠕動</a:t>
            </a:r>
            <a:endParaRPr lang="en-US" sz="1500" dirty="0"/>
          </a:p>
        </p:txBody>
      </p:sp>
      <p:sp>
        <p:nvSpPr>
          <p:cNvPr id="19" name="Shape 17"/>
          <p:cNvSpPr/>
          <p:nvPr/>
        </p:nvSpPr>
        <p:spPr>
          <a:xfrm>
            <a:off x="457200" y="3319272"/>
            <a:ext cx="8229600" cy="493776"/>
          </a:xfrm>
          <a:prstGeom prst="roundRect">
            <a:avLst>
              <a:gd name="adj" fmla="val 14815"/>
            </a:avLst>
          </a:prstGeom>
          <a:solidFill>
            <a:srgbClr val="EAF2F8"/>
          </a:solidFill>
          <a:ln/>
        </p:spPr>
      </p:sp>
      <p:sp>
        <p:nvSpPr>
          <p:cNvPr id="20" name="Shape 18"/>
          <p:cNvSpPr/>
          <p:nvPr/>
        </p:nvSpPr>
        <p:spPr>
          <a:xfrm>
            <a:off x="566928" y="3383280"/>
            <a:ext cx="365760" cy="365760"/>
          </a:xfrm>
          <a:prstGeom prst="ellipse">
            <a:avLst/>
          </a:prstGeom>
          <a:solidFill>
            <a:srgbClr val="FFFFFF"/>
          </a:solidFill>
          <a:ln w="15875">
            <a:solidFill>
              <a:srgbClr val="17324D"/>
            </a:solidFill>
            <a:prstDash val="solid"/>
          </a:ln>
        </p:spPr>
      </p:sp>
      <p:sp>
        <p:nvSpPr>
          <p:cNvPr id="21" name="Text 19"/>
          <p:cNvSpPr txBox="1"/>
          <p:nvPr/>
        </p:nvSpPr>
        <p:spPr>
          <a:xfrm>
            <a:off x="566928" y="3383280"/>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4</a:t>
            </a:r>
            <a:endParaRPr lang="en-US" sz="1400" dirty="0"/>
          </a:p>
        </p:txBody>
      </p:sp>
      <p:sp>
        <p:nvSpPr>
          <p:cNvPr id="22" name="Text 20"/>
          <p:cNvSpPr txBox="1"/>
          <p:nvPr/>
        </p:nvSpPr>
        <p:spPr>
          <a:xfrm>
            <a:off x="1051560" y="3319272"/>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唾液腺分泌</a:t>
            </a:r>
            <a:endParaRPr lang="en-US" sz="1500" dirty="0"/>
          </a:p>
        </p:txBody>
      </p:sp>
      <p:sp>
        <p:nvSpPr>
          <p:cNvPr id="23" name="Shape 21"/>
          <p:cNvSpPr/>
          <p:nvPr/>
        </p:nvSpPr>
        <p:spPr>
          <a:xfrm>
            <a:off x="457200" y="3922776"/>
            <a:ext cx="8229600" cy="493776"/>
          </a:xfrm>
          <a:prstGeom prst="roundRect">
            <a:avLst>
              <a:gd name="adj" fmla="val 14815"/>
            </a:avLst>
          </a:prstGeom>
          <a:solidFill>
            <a:srgbClr val="EAF2F8"/>
          </a:solidFill>
          <a:ln/>
        </p:spPr>
      </p:sp>
      <p:sp>
        <p:nvSpPr>
          <p:cNvPr id="24" name="Shape 22"/>
          <p:cNvSpPr/>
          <p:nvPr/>
        </p:nvSpPr>
        <p:spPr>
          <a:xfrm>
            <a:off x="566928" y="3986784"/>
            <a:ext cx="365760" cy="365760"/>
          </a:xfrm>
          <a:prstGeom prst="ellipse">
            <a:avLst/>
          </a:prstGeom>
          <a:solidFill>
            <a:srgbClr val="FFFFFF"/>
          </a:solidFill>
          <a:ln w="15875">
            <a:solidFill>
              <a:srgbClr val="17324D"/>
            </a:solidFill>
            <a:prstDash val="solid"/>
          </a:ln>
        </p:spPr>
      </p:sp>
      <p:sp>
        <p:nvSpPr>
          <p:cNvPr id="25" name="Text 23"/>
          <p:cNvSpPr txBox="1"/>
          <p:nvPr/>
        </p:nvSpPr>
        <p:spPr>
          <a:xfrm>
            <a:off x="566928" y="3986784"/>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5</a:t>
            </a:r>
            <a:endParaRPr lang="en-US" sz="1400" dirty="0"/>
          </a:p>
        </p:txBody>
      </p:sp>
      <p:sp>
        <p:nvSpPr>
          <p:cNvPr id="26" name="Text 24"/>
          <p:cNvSpPr txBox="1"/>
          <p:nvPr/>
        </p:nvSpPr>
        <p:spPr>
          <a:xfrm>
            <a:off x="1051560" y="3922776"/>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立毛筋収縮</a:t>
            </a:r>
            <a:endParaRPr lang="en-US" sz="15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74320"/>
            <a:ext cx="868680" cy="384048"/>
          </a:xfrm>
          <a:prstGeom prst="roundRect">
            <a:avLst>
              <a:gd name="adj" fmla="val 19048"/>
            </a:avLst>
          </a:prstGeom>
          <a:solidFill>
            <a:srgbClr val="D9534F"/>
          </a:solidFill>
          <a:ln/>
        </p:spPr>
      </p:sp>
      <p:sp>
        <p:nvSpPr>
          <p:cNvPr id="3" name="Text 1"/>
          <p:cNvSpPr txBox="1"/>
          <p:nvPr/>
        </p:nvSpPr>
        <p:spPr>
          <a:xfrm>
            <a:off x="457200" y="274320"/>
            <a:ext cx="86868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解説</a:t>
            </a:r>
            <a:endParaRPr lang="en-US" sz="1300" dirty="0"/>
          </a:p>
        </p:txBody>
      </p:sp>
      <p:sp>
        <p:nvSpPr>
          <p:cNvPr id="4" name="Text 2"/>
          <p:cNvSpPr txBox="1"/>
          <p:nvPr/>
        </p:nvSpPr>
        <p:spPr>
          <a:xfrm>
            <a:off x="1417320" y="274320"/>
            <a:ext cx="731520" cy="384048"/>
          </a:xfrm>
          <a:prstGeom prst="rect">
            <a:avLst/>
          </a:prstGeom>
          <a:noFill/>
          <a:ln/>
        </p:spPr>
        <p:txBody>
          <a:bodyPr wrap="square" lIns="0" tIns="0" rIns="0" bIns="0" rtlCol="0" anchor="ctr"/>
          <a:lstStyle/>
          <a:p>
            <a:pPr indent="0" marL="0">
              <a:buNone/>
            </a:pPr>
            <a:r>
              <a:rPr lang="en-US" sz="2000" b="1" dirty="0">
                <a:solidFill>
                  <a:srgbClr val="17324D"/>
                </a:solidFill>
                <a:latin typeface="Arial" pitchFamily="34" charset="0"/>
                <a:ea typeface="Arial" pitchFamily="34" charset="-122"/>
                <a:cs typeface="Arial" pitchFamily="34" charset="-120"/>
              </a:rPr>
              <a:t>[10]</a:t>
            </a:r>
            <a:endParaRPr lang="en-US" sz="2000" dirty="0"/>
          </a:p>
        </p:txBody>
      </p:sp>
      <p:sp>
        <p:nvSpPr>
          <p:cNvPr id="5" name="Text 3"/>
          <p:cNvSpPr txBox="1"/>
          <p:nvPr/>
        </p:nvSpPr>
        <p:spPr>
          <a:xfrm>
            <a:off x="5943600" y="274320"/>
            <a:ext cx="2743200" cy="384048"/>
          </a:xfrm>
          <a:prstGeom prst="rect">
            <a:avLst/>
          </a:prstGeom>
          <a:noFill/>
          <a:ln/>
        </p:spPr>
        <p:txBody>
          <a:bodyPr wrap="square" lIns="0" tIns="0" rIns="0" bIns="0" rtlCol="0" anchor="ctr"/>
          <a:lstStyle/>
          <a:p>
            <a:pPr algn="r" indent="0" marL="0">
              <a:buNone/>
            </a:pPr>
            <a:r>
              <a:rPr lang="en-US" sz="1100" dirty="0">
                <a:solidFill>
                  <a:srgbClr val="5F6B76"/>
                </a:solidFill>
                <a:latin typeface="Meiryo" pitchFamily="34" charset="0"/>
                <a:ea typeface="Meiryo" pitchFamily="34" charset="-122"/>
                <a:cs typeface="Meiryo" pitchFamily="34" charset="-120"/>
              </a:rPr>
              <a:t>56回午後62</a:t>
            </a:r>
            <a:endParaRPr lang="en-US" sz="1100" dirty="0"/>
          </a:p>
        </p:txBody>
      </p:sp>
      <p:sp>
        <p:nvSpPr>
          <p:cNvPr id="6" name="Text 4"/>
          <p:cNvSpPr txBox="1"/>
          <p:nvPr/>
        </p:nvSpPr>
        <p:spPr>
          <a:xfrm>
            <a:off x="457200" y="731520"/>
            <a:ext cx="8229600" cy="594360"/>
          </a:xfrm>
          <a:prstGeom prst="rect">
            <a:avLst/>
          </a:prstGeom>
          <a:noFill/>
          <a:ln/>
        </p:spPr>
        <p:txBody>
          <a:bodyPr wrap="square" lIns="0" tIns="0" rIns="0" bIns="0" rtlCol="0" anchor="t"/>
          <a:lstStyle/>
          <a:p>
            <a:pPr indent="0" marL="0">
              <a:buNone/>
            </a:pPr>
            <a:r>
              <a:rPr lang="en-US" sz="1700" b="1" dirty="0">
                <a:solidFill>
                  <a:srgbClr val="222222"/>
                </a:solidFill>
                <a:latin typeface="Meiryo" pitchFamily="34" charset="0"/>
                <a:ea typeface="Meiryo" pitchFamily="34" charset="-122"/>
                <a:cs typeface="Meiryo" pitchFamily="34" charset="-120"/>
              </a:rPr>
              <a:t>交感神経および副交感神経の両方の刺激で促進されるのはどれか。</a:t>
            </a:r>
            <a:endParaRPr lang="en-US" sz="1700" dirty="0"/>
          </a:p>
        </p:txBody>
      </p:sp>
      <p:sp>
        <p:nvSpPr>
          <p:cNvPr id="7" name="Shape 5"/>
          <p:cNvSpPr/>
          <p:nvPr/>
        </p:nvSpPr>
        <p:spPr>
          <a:xfrm>
            <a:off x="457200" y="1417320"/>
            <a:ext cx="8229600" cy="457200"/>
          </a:xfrm>
          <a:prstGeom prst="roundRect">
            <a:avLst>
              <a:gd name="adj" fmla="val 16000"/>
            </a:avLst>
          </a:prstGeom>
          <a:solidFill>
            <a:srgbClr val="F4F6F8"/>
          </a:solidFill>
          <a:ln/>
        </p:spPr>
      </p:sp>
      <p:sp>
        <p:nvSpPr>
          <p:cNvPr id="8" name="Shape 6"/>
          <p:cNvSpPr/>
          <p:nvPr/>
        </p:nvSpPr>
        <p:spPr>
          <a:xfrm>
            <a:off x="548640" y="1481328"/>
            <a:ext cx="329184" cy="329184"/>
          </a:xfrm>
          <a:prstGeom prst="ellipse">
            <a:avLst/>
          </a:prstGeom>
          <a:solidFill>
            <a:srgbClr val="FFFFFF"/>
          </a:solidFill>
          <a:ln w="12700">
            <a:solidFill>
              <a:srgbClr val="8A96A3"/>
            </a:solidFill>
            <a:prstDash val="solid"/>
          </a:ln>
        </p:spPr>
      </p:sp>
      <p:sp>
        <p:nvSpPr>
          <p:cNvPr id="9" name="Text 7"/>
          <p:cNvSpPr txBox="1"/>
          <p:nvPr/>
        </p:nvSpPr>
        <p:spPr>
          <a:xfrm>
            <a:off x="548640" y="1481328"/>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1</a:t>
            </a:r>
            <a:endParaRPr lang="en-US" sz="1300" dirty="0"/>
          </a:p>
        </p:txBody>
      </p:sp>
      <p:sp>
        <p:nvSpPr>
          <p:cNvPr id="10" name="Text 8"/>
          <p:cNvSpPr txBox="1"/>
          <p:nvPr/>
        </p:nvSpPr>
        <p:spPr>
          <a:xfrm>
            <a:off x="987552" y="1417320"/>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発汗</a:t>
            </a:r>
            <a:endParaRPr lang="en-US" sz="1200" dirty="0"/>
          </a:p>
        </p:txBody>
      </p:sp>
      <p:sp>
        <p:nvSpPr>
          <p:cNvPr id="11" name="Text 9"/>
          <p:cNvSpPr txBox="1"/>
          <p:nvPr/>
        </p:nvSpPr>
        <p:spPr>
          <a:xfrm>
            <a:off x="4096512" y="1417320"/>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交感神経のみ</a:t>
            </a:r>
            <a:endParaRPr lang="en-US" sz="1100" dirty="0"/>
          </a:p>
        </p:txBody>
      </p:sp>
      <p:sp>
        <p:nvSpPr>
          <p:cNvPr id="12" name="Shape 10"/>
          <p:cNvSpPr/>
          <p:nvPr/>
        </p:nvSpPr>
        <p:spPr>
          <a:xfrm>
            <a:off x="457200" y="1947672"/>
            <a:ext cx="8229600" cy="457200"/>
          </a:xfrm>
          <a:prstGeom prst="roundRect">
            <a:avLst>
              <a:gd name="adj" fmla="val 16000"/>
            </a:avLst>
          </a:prstGeom>
          <a:solidFill>
            <a:srgbClr val="F4F6F8"/>
          </a:solidFill>
          <a:ln/>
        </p:spPr>
      </p:sp>
      <p:sp>
        <p:nvSpPr>
          <p:cNvPr id="13" name="Shape 11"/>
          <p:cNvSpPr/>
          <p:nvPr/>
        </p:nvSpPr>
        <p:spPr>
          <a:xfrm>
            <a:off x="548640" y="2011680"/>
            <a:ext cx="329184" cy="329184"/>
          </a:xfrm>
          <a:prstGeom prst="ellipse">
            <a:avLst/>
          </a:prstGeom>
          <a:solidFill>
            <a:srgbClr val="FFFFFF"/>
          </a:solidFill>
          <a:ln w="12700">
            <a:solidFill>
              <a:srgbClr val="8A96A3"/>
            </a:solidFill>
            <a:prstDash val="solid"/>
          </a:ln>
        </p:spPr>
      </p:sp>
      <p:sp>
        <p:nvSpPr>
          <p:cNvPr id="14" name="Text 12"/>
          <p:cNvSpPr txBox="1"/>
          <p:nvPr/>
        </p:nvSpPr>
        <p:spPr>
          <a:xfrm>
            <a:off x="548640" y="2011680"/>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2</a:t>
            </a:r>
            <a:endParaRPr lang="en-US" sz="1300" dirty="0"/>
          </a:p>
        </p:txBody>
      </p:sp>
      <p:sp>
        <p:nvSpPr>
          <p:cNvPr id="15" name="Text 13"/>
          <p:cNvSpPr txBox="1"/>
          <p:nvPr/>
        </p:nvSpPr>
        <p:spPr>
          <a:xfrm>
            <a:off x="987552" y="1947672"/>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心拍</a:t>
            </a:r>
            <a:endParaRPr lang="en-US" sz="1200" dirty="0"/>
          </a:p>
        </p:txBody>
      </p:sp>
      <p:sp>
        <p:nvSpPr>
          <p:cNvPr id="16" name="Text 14"/>
          <p:cNvSpPr txBox="1"/>
          <p:nvPr/>
        </p:nvSpPr>
        <p:spPr>
          <a:xfrm>
            <a:off x="4096512" y="1947672"/>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交感で増加・副交感で減少</a:t>
            </a:r>
            <a:endParaRPr lang="en-US" sz="1100" dirty="0"/>
          </a:p>
        </p:txBody>
      </p:sp>
      <p:sp>
        <p:nvSpPr>
          <p:cNvPr id="17" name="Shape 15"/>
          <p:cNvSpPr/>
          <p:nvPr/>
        </p:nvSpPr>
        <p:spPr>
          <a:xfrm>
            <a:off x="457200" y="2478024"/>
            <a:ext cx="8229600" cy="457200"/>
          </a:xfrm>
          <a:prstGeom prst="roundRect">
            <a:avLst>
              <a:gd name="adj" fmla="val 16000"/>
            </a:avLst>
          </a:prstGeom>
          <a:solidFill>
            <a:srgbClr val="F4F6F8"/>
          </a:solidFill>
          <a:ln/>
        </p:spPr>
      </p:sp>
      <p:sp>
        <p:nvSpPr>
          <p:cNvPr id="18" name="Shape 16"/>
          <p:cNvSpPr/>
          <p:nvPr/>
        </p:nvSpPr>
        <p:spPr>
          <a:xfrm>
            <a:off x="548640" y="2542032"/>
            <a:ext cx="329184" cy="329184"/>
          </a:xfrm>
          <a:prstGeom prst="ellipse">
            <a:avLst/>
          </a:prstGeom>
          <a:solidFill>
            <a:srgbClr val="FFFFFF"/>
          </a:solidFill>
          <a:ln w="12700">
            <a:solidFill>
              <a:srgbClr val="8A96A3"/>
            </a:solidFill>
            <a:prstDash val="solid"/>
          </a:ln>
        </p:spPr>
      </p:sp>
      <p:sp>
        <p:nvSpPr>
          <p:cNvPr id="19" name="Text 17"/>
          <p:cNvSpPr txBox="1"/>
          <p:nvPr/>
        </p:nvSpPr>
        <p:spPr>
          <a:xfrm>
            <a:off x="548640" y="2542032"/>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3</a:t>
            </a:r>
            <a:endParaRPr lang="en-US" sz="1300" dirty="0"/>
          </a:p>
        </p:txBody>
      </p:sp>
      <p:sp>
        <p:nvSpPr>
          <p:cNvPr id="20" name="Text 18"/>
          <p:cNvSpPr txBox="1"/>
          <p:nvPr/>
        </p:nvSpPr>
        <p:spPr>
          <a:xfrm>
            <a:off x="987552" y="2478024"/>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胃の蠕動</a:t>
            </a:r>
            <a:endParaRPr lang="en-US" sz="1200" dirty="0"/>
          </a:p>
        </p:txBody>
      </p:sp>
      <p:sp>
        <p:nvSpPr>
          <p:cNvPr id="21" name="Text 19"/>
          <p:cNvSpPr txBox="1"/>
          <p:nvPr/>
        </p:nvSpPr>
        <p:spPr>
          <a:xfrm>
            <a:off x="4096512" y="2478024"/>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副交感で促進・交感で抑制</a:t>
            </a:r>
            <a:endParaRPr lang="en-US" sz="1100" dirty="0"/>
          </a:p>
        </p:txBody>
      </p:sp>
      <p:sp>
        <p:nvSpPr>
          <p:cNvPr id="22" name="Shape 20"/>
          <p:cNvSpPr/>
          <p:nvPr/>
        </p:nvSpPr>
        <p:spPr>
          <a:xfrm>
            <a:off x="457200" y="3008376"/>
            <a:ext cx="8229600" cy="457200"/>
          </a:xfrm>
          <a:prstGeom prst="roundRect">
            <a:avLst>
              <a:gd name="adj" fmla="val 16000"/>
            </a:avLst>
          </a:prstGeom>
          <a:solidFill>
            <a:srgbClr val="FBE3E2"/>
          </a:solidFill>
          <a:ln w="19050">
            <a:solidFill>
              <a:srgbClr val="D9534F"/>
            </a:solidFill>
            <a:prstDash val="solid"/>
          </a:ln>
        </p:spPr>
      </p:sp>
      <p:sp>
        <p:nvSpPr>
          <p:cNvPr id="23" name="Shape 21"/>
          <p:cNvSpPr/>
          <p:nvPr/>
        </p:nvSpPr>
        <p:spPr>
          <a:xfrm>
            <a:off x="548640" y="3072384"/>
            <a:ext cx="329184" cy="329184"/>
          </a:xfrm>
          <a:prstGeom prst="ellipse">
            <a:avLst/>
          </a:prstGeom>
          <a:solidFill>
            <a:srgbClr val="D9534F"/>
          </a:solidFill>
          <a:ln w="12700">
            <a:solidFill>
              <a:srgbClr val="D9534F"/>
            </a:solidFill>
            <a:prstDash val="solid"/>
          </a:ln>
        </p:spPr>
      </p:sp>
      <p:sp>
        <p:nvSpPr>
          <p:cNvPr id="24" name="Text 22"/>
          <p:cNvSpPr txBox="1"/>
          <p:nvPr/>
        </p:nvSpPr>
        <p:spPr>
          <a:xfrm>
            <a:off x="548640" y="3072384"/>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4</a:t>
            </a:r>
            <a:endParaRPr lang="en-US" sz="1300" dirty="0"/>
          </a:p>
        </p:txBody>
      </p:sp>
      <p:sp>
        <p:nvSpPr>
          <p:cNvPr id="25" name="Text 23"/>
          <p:cNvSpPr txBox="1"/>
          <p:nvPr/>
        </p:nvSpPr>
        <p:spPr>
          <a:xfrm>
            <a:off x="987552" y="3008376"/>
            <a:ext cx="3017520" cy="457200"/>
          </a:xfrm>
          <a:prstGeom prst="rect">
            <a:avLst/>
          </a:prstGeom>
          <a:noFill/>
          <a:ln/>
        </p:spPr>
        <p:txBody>
          <a:bodyPr wrap="square" lIns="0" tIns="0" rIns="0" bIns="0" rtlCol="0" anchor="ctr"/>
          <a:lstStyle/>
          <a:p>
            <a:pPr indent="0" marL="0">
              <a:buNone/>
            </a:pPr>
            <a:r>
              <a:rPr lang="en-US" sz="1200" b="1" dirty="0">
                <a:solidFill>
                  <a:srgbClr val="D9534F"/>
                </a:solidFill>
                <a:latin typeface="Meiryo" pitchFamily="34" charset="0"/>
                <a:ea typeface="Meiryo" pitchFamily="34" charset="-122"/>
                <a:cs typeface="Meiryo" pitchFamily="34" charset="-120"/>
              </a:rPr>
              <a:t>唾液腺分泌</a:t>
            </a:r>
            <a:endParaRPr lang="en-US" sz="1200" dirty="0"/>
          </a:p>
        </p:txBody>
      </p:sp>
      <p:sp>
        <p:nvSpPr>
          <p:cNvPr id="26" name="Text 24"/>
          <p:cNvSpPr txBox="1"/>
          <p:nvPr/>
        </p:nvSpPr>
        <p:spPr>
          <a:xfrm>
            <a:off x="4096512" y="3008376"/>
            <a:ext cx="4526280" cy="457200"/>
          </a:xfrm>
          <a:prstGeom prst="rect">
            <a:avLst/>
          </a:prstGeom>
          <a:noFill/>
          <a:ln/>
        </p:spPr>
        <p:txBody>
          <a:bodyPr wrap="square" lIns="0" tIns="0" rIns="0" bIns="0" rtlCol="0" anchor="ctr"/>
          <a:lstStyle/>
          <a:p>
            <a:pPr indent="0" marL="0">
              <a:buNone/>
            </a:pPr>
            <a:r>
              <a:rPr lang="en-US" sz="1100" dirty="0">
                <a:solidFill>
                  <a:srgbClr val="222222"/>
                </a:solidFill>
                <a:latin typeface="Meiryo" pitchFamily="34" charset="0"/>
                <a:ea typeface="Meiryo" pitchFamily="34" charset="-122"/>
                <a:cs typeface="Meiryo" pitchFamily="34" charset="-120"/>
              </a:rPr>
              <a:t>両方で促進（交感：粘稠、副交感：漿液性）○</a:t>
            </a:r>
            <a:endParaRPr lang="en-US" sz="1100" dirty="0"/>
          </a:p>
        </p:txBody>
      </p:sp>
      <p:sp>
        <p:nvSpPr>
          <p:cNvPr id="27" name="Shape 25"/>
          <p:cNvSpPr/>
          <p:nvPr/>
        </p:nvSpPr>
        <p:spPr>
          <a:xfrm>
            <a:off x="457200" y="3538728"/>
            <a:ext cx="8229600" cy="457200"/>
          </a:xfrm>
          <a:prstGeom prst="roundRect">
            <a:avLst>
              <a:gd name="adj" fmla="val 16000"/>
            </a:avLst>
          </a:prstGeom>
          <a:solidFill>
            <a:srgbClr val="F4F6F8"/>
          </a:solidFill>
          <a:ln/>
        </p:spPr>
      </p:sp>
      <p:sp>
        <p:nvSpPr>
          <p:cNvPr id="28" name="Shape 26"/>
          <p:cNvSpPr/>
          <p:nvPr/>
        </p:nvSpPr>
        <p:spPr>
          <a:xfrm>
            <a:off x="548640" y="3602736"/>
            <a:ext cx="329184" cy="329184"/>
          </a:xfrm>
          <a:prstGeom prst="ellipse">
            <a:avLst/>
          </a:prstGeom>
          <a:solidFill>
            <a:srgbClr val="FFFFFF"/>
          </a:solidFill>
          <a:ln w="12700">
            <a:solidFill>
              <a:srgbClr val="8A96A3"/>
            </a:solidFill>
            <a:prstDash val="solid"/>
          </a:ln>
        </p:spPr>
      </p:sp>
      <p:sp>
        <p:nvSpPr>
          <p:cNvPr id="29" name="Text 27"/>
          <p:cNvSpPr txBox="1"/>
          <p:nvPr/>
        </p:nvSpPr>
        <p:spPr>
          <a:xfrm>
            <a:off x="548640" y="3602736"/>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5</a:t>
            </a:r>
            <a:endParaRPr lang="en-US" sz="1300" dirty="0"/>
          </a:p>
        </p:txBody>
      </p:sp>
      <p:sp>
        <p:nvSpPr>
          <p:cNvPr id="30" name="Text 28"/>
          <p:cNvSpPr txBox="1"/>
          <p:nvPr/>
        </p:nvSpPr>
        <p:spPr>
          <a:xfrm>
            <a:off x="987552" y="3538728"/>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立毛筋収縮</a:t>
            </a:r>
            <a:endParaRPr lang="en-US" sz="1200" dirty="0"/>
          </a:p>
        </p:txBody>
      </p:sp>
      <p:sp>
        <p:nvSpPr>
          <p:cNvPr id="31" name="Text 29"/>
          <p:cNvSpPr txBox="1"/>
          <p:nvPr/>
        </p:nvSpPr>
        <p:spPr>
          <a:xfrm>
            <a:off x="4096512" y="3538728"/>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交感神経のみ</a:t>
            </a:r>
            <a:endParaRPr lang="en-US" sz="1100" dirty="0"/>
          </a:p>
        </p:txBody>
      </p:sp>
      <p:sp>
        <p:nvSpPr>
          <p:cNvPr id="32" name="Shape 30"/>
          <p:cNvSpPr/>
          <p:nvPr/>
        </p:nvSpPr>
        <p:spPr>
          <a:xfrm>
            <a:off x="457200" y="4160520"/>
            <a:ext cx="1463040" cy="685800"/>
          </a:xfrm>
          <a:prstGeom prst="roundRect">
            <a:avLst>
              <a:gd name="adj" fmla="val 10667"/>
            </a:avLst>
          </a:prstGeom>
          <a:solidFill>
            <a:srgbClr val="D9534F"/>
          </a:solidFill>
          <a:ln/>
        </p:spPr>
      </p:sp>
      <p:sp>
        <p:nvSpPr>
          <p:cNvPr id="33" name="Text 31"/>
          <p:cNvSpPr txBox="1"/>
          <p:nvPr/>
        </p:nvSpPr>
        <p:spPr>
          <a:xfrm>
            <a:off x="457200" y="4160520"/>
            <a:ext cx="1463040" cy="685800"/>
          </a:xfrm>
          <a:prstGeom prst="rect">
            <a:avLst/>
          </a:prstGeom>
          <a:noFill/>
          <a:ln/>
        </p:spPr>
        <p:txBody>
          <a:bodyPr wrap="square" lIns="0" tIns="0" rIns="0" bIns="0" rtlCol="0" anchor="ctr"/>
          <a:lstStyle/>
          <a:p>
            <a:pPr algn="ctr" indent="0" marL="0">
              <a:buNone/>
            </a:pPr>
            <a:r>
              <a:rPr lang="en-US" sz="1100" dirty="0">
                <a:solidFill>
                  <a:srgbClr val="FFFFFF"/>
                </a:solidFill>
                <a:latin typeface="Meiryo" pitchFamily="34" charset="0"/>
                <a:ea typeface="Meiryo" pitchFamily="34" charset="-122"/>
                <a:cs typeface="Meiryo" pitchFamily="34" charset="-120"/>
              </a:rPr>
              <a:t>正解</a:t>
            </a:r>
            <a:endParaRPr lang="en-US" sz="1100" dirty="0"/>
          </a:p>
          <a:p>
            <a:pPr algn="ctr" indent="0" marL="0">
              <a:buNone/>
            </a:pPr>
            <a:r>
              <a:rPr lang="en-US" sz="2200" b="1" dirty="0">
                <a:solidFill>
                  <a:srgbClr val="FFFFFF"/>
                </a:solidFill>
                <a:latin typeface="Meiryo" pitchFamily="34" charset="0"/>
                <a:ea typeface="Meiryo" pitchFamily="34" charset="-122"/>
                <a:cs typeface="Meiryo" pitchFamily="34" charset="-120"/>
              </a:rPr>
              <a:t>4</a:t>
            </a:r>
            <a:endParaRPr lang="en-US" sz="1100" dirty="0"/>
          </a:p>
        </p:txBody>
      </p:sp>
      <p:sp>
        <p:nvSpPr>
          <p:cNvPr id="34" name="Shape 32"/>
          <p:cNvSpPr/>
          <p:nvPr/>
        </p:nvSpPr>
        <p:spPr>
          <a:xfrm>
            <a:off x="2057400" y="4160520"/>
            <a:ext cx="6629400" cy="685800"/>
          </a:xfrm>
          <a:prstGeom prst="roundRect">
            <a:avLst>
              <a:gd name="adj" fmla="val 10667"/>
            </a:avLst>
          </a:prstGeom>
          <a:solidFill>
            <a:srgbClr val="EAF2F8"/>
          </a:solidFill>
          <a:ln/>
        </p:spPr>
      </p:sp>
      <p:sp>
        <p:nvSpPr>
          <p:cNvPr id="35" name="Text 33"/>
          <p:cNvSpPr txBox="1"/>
          <p:nvPr/>
        </p:nvSpPr>
        <p:spPr>
          <a:xfrm>
            <a:off x="2194560" y="4160520"/>
            <a:ext cx="6400800" cy="685800"/>
          </a:xfrm>
          <a:prstGeom prst="rect">
            <a:avLst/>
          </a:prstGeom>
          <a:noFill/>
          <a:ln/>
        </p:spPr>
        <p:txBody>
          <a:bodyPr wrap="square" lIns="0" tIns="0" rIns="0" bIns="0" rtlCol="0" anchor="ctr"/>
          <a:lstStyle/>
          <a:p>
            <a:pPr indent="0" marL="0">
              <a:buNone/>
            </a:pPr>
            <a:r>
              <a:rPr lang="en-US" sz="1200" b="1" dirty="0">
                <a:solidFill>
                  <a:srgbClr val="2A7F9E"/>
                </a:solidFill>
                <a:latin typeface="Meiryo" pitchFamily="34" charset="0"/>
                <a:ea typeface="Meiryo" pitchFamily="34" charset="-122"/>
                <a:cs typeface="Meiryo" pitchFamily="34" charset="-120"/>
              </a:rPr>
              <a:t>POINT　</a:t>
            </a:r>
            <a:pPr indent="0" marL="0">
              <a:buNone/>
            </a:pPr>
            <a:r>
              <a:rPr lang="en-US" sz="1200" dirty="0">
                <a:solidFill>
                  <a:srgbClr val="222222"/>
                </a:solidFill>
                <a:latin typeface="Meiryo" pitchFamily="34" charset="0"/>
                <a:ea typeface="Meiryo" pitchFamily="34" charset="-122"/>
                <a:cs typeface="Meiryo" pitchFamily="34" charset="-120"/>
              </a:rPr>
              <a:t>唾液腺は拮抗せず、両方で分泌促進（性状が異なる）。</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74320"/>
            <a:ext cx="868680" cy="384048"/>
          </a:xfrm>
          <a:prstGeom prst="roundRect">
            <a:avLst>
              <a:gd name="adj" fmla="val 19048"/>
            </a:avLst>
          </a:prstGeom>
          <a:solidFill>
            <a:srgbClr val="17324D"/>
          </a:solidFill>
          <a:ln/>
        </p:spPr>
      </p:sp>
      <p:sp>
        <p:nvSpPr>
          <p:cNvPr id="3" name="Text 1"/>
          <p:cNvSpPr txBox="1"/>
          <p:nvPr/>
        </p:nvSpPr>
        <p:spPr>
          <a:xfrm>
            <a:off x="457200" y="274320"/>
            <a:ext cx="86868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問題</a:t>
            </a:r>
            <a:endParaRPr lang="en-US" sz="1300" dirty="0"/>
          </a:p>
        </p:txBody>
      </p:sp>
      <p:sp>
        <p:nvSpPr>
          <p:cNvPr id="4" name="Text 2"/>
          <p:cNvSpPr txBox="1"/>
          <p:nvPr/>
        </p:nvSpPr>
        <p:spPr>
          <a:xfrm>
            <a:off x="1417320" y="274320"/>
            <a:ext cx="731520" cy="384048"/>
          </a:xfrm>
          <a:prstGeom prst="rect">
            <a:avLst/>
          </a:prstGeom>
          <a:noFill/>
          <a:ln/>
        </p:spPr>
        <p:txBody>
          <a:bodyPr wrap="square" lIns="0" tIns="0" rIns="0" bIns="0" rtlCol="0" anchor="ctr"/>
          <a:lstStyle/>
          <a:p>
            <a:pPr indent="0" marL="0">
              <a:buNone/>
            </a:pPr>
            <a:r>
              <a:rPr lang="en-US" sz="2000" b="1" dirty="0">
                <a:solidFill>
                  <a:srgbClr val="17324D"/>
                </a:solidFill>
                <a:latin typeface="Arial" pitchFamily="34" charset="0"/>
                <a:ea typeface="Arial" pitchFamily="34" charset="-122"/>
                <a:cs typeface="Arial" pitchFamily="34" charset="-120"/>
              </a:rPr>
              <a:t>[11]</a:t>
            </a:r>
            <a:endParaRPr lang="en-US" sz="2000" dirty="0"/>
          </a:p>
        </p:txBody>
      </p:sp>
      <p:sp>
        <p:nvSpPr>
          <p:cNvPr id="5" name="Text 3"/>
          <p:cNvSpPr txBox="1"/>
          <p:nvPr/>
        </p:nvSpPr>
        <p:spPr>
          <a:xfrm>
            <a:off x="5943600" y="274320"/>
            <a:ext cx="2743200" cy="384048"/>
          </a:xfrm>
          <a:prstGeom prst="rect">
            <a:avLst/>
          </a:prstGeom>
          <a:noFill/>
          <a:ln/>
        </p:spPr>
        <p:txBody>
          <a:bodyPr wrap="square" lIns="0" tIns="0" rIns="0" bIns="0" rtlCol="0" anchor="ctr"/>
          <a:lstStyle/>
          <a:p>
            <a:pPr algn="r" indent="0" marL="0">
              <a:buNone/>
            </a:pPr>
            <a:r>
              <a:rPr lang="en-US" sz="1100" dirty="0">
                <a:solidFill>
                  <a:srgbClr val="5F6B76"/>
                </a:solidFill>
                <a:latin typeface="Meiryo" pitchFamily="34" charset="0"/>
                <a:ea typeface="Meiryo" pitchFamily="34" charset="-122"/>
                <a:cs typeface="Meiryo" pitchFamily="34" charset="-120"/>
              </a:rPr>
              <a:t>55回午前51</a:t>
            </a:r>
            <a:endParaRPr lang="en-US" sz="1100" dirty="0"/>
          </a:p>
        </p:txBody>
      </p:sp>
      <p:sp>
        <p:nvSpPr>
          <p:cNvPr id="6" name="Text 4"/>
          <p:cNvSpPr txBox="1"/>
          <p:nvPr/>
        </p:nvSpPr>
        <p:spPr>
          <a:xfrm>
            <a:off x="457200" y="731520"/>
            <a:ext cx="8229600" cy="594360"/>
          </a:xfrm>
          <a:prstGeom prst="rect">
            <a:avLst/>
          </a:prstGeom>
          <a:noFill/>
          <a:ln/>
        </p:spPr>
        <p:txBody>
          <a:bodyPr wrap="square" lIns="0" tIns="0" rIns="0" bIns="0" rtlCol="0" anchor="t"/>
          <a:lstStyle/>
          <a:p>
            <a:pPr indent="0" marL="0">
              <a:buNone/>
            </a:pPr>
            <a:r>
              <a:rPr lang="en-US" sz="1700" b="1" dirty="0">
                <a:solidFill>
                  <a:srgbClr val="222222"/>
                </a:solidFill>
                <a:latin typeface="Meiryo" pitchFamily="34" charset="0"/>
                <a:ea typeface="Meiryo" pitchFamily="34" charset="-122"/>
                <a:cs typeface="Meiryo" pitchFamily="34" charset="-120"/>
              </a:rPr>
              <a:t>自律神経系の機能をもつのはどれか。</a:t>
            </a:r>
            <a:endParaRPr lang="en-US" sz="1700" dirty="0"/>
          </a:p>
        </p:txBody>
      </p:sp>
      <p:sp>
        <p:nvSpPr>
          <p:cNvPr id="7" name="Shape 5"/>
          <p:cNvSpPr/>
          <p:nvPr/>
        </p:nvSpPr>
        <p:spPr>
          <a:xfrm>
            <a:off x="457200" y="1508760"/>
            <a:ext cx="8229600" cy="493776"/>
          </a:xfrm>
          <a:prstGeom prst="roundRect">
            <a:avLst>
              <a:gd name="adj" fmla="val 14815"/>
            </a:avLst>
          </a:prstGeom>
          <a:solidFill>
            <a:srgbClr val="EAF2F8"/>
          </a:solidFill>
          <a:ln/>
        </p:spPr>
      </p:sp>
      <p:sp>
        <p:nvSpPr>
          <p:cNvPr id="8" name="Shape 6"/>
          <p:cNvSpPr/>
          <p:nvPr/>
        </p:nvSpPr>
        <p:spPr>
          <a:xfrm>
            <a:off x="566928" y="1572768"/>
            <a:ext cx="365760" cy="365760"/>
          </a:xfrm>
          <a:prstGeom prst="ellipse">
            <a:avLst/>
          </a:prstGeom>
          <a:solidFill>
            <a:srgbClr val="FFFFFF"/>
          </a:solidFill>
          <a:ln w="15875">
            <a:solidFill>
              <a:srgbClr val="17324D"/>
            </a:solidFill>
            <a:prstDash val="solid"/>
          </a:ln>
        </p:spPr>
      </p:sp>
      <p:sp>
        <p:nvSpPr>
          <p:cNvPr id="9" name="Text 7"/>
          <p:cNvSpPr txBox="1"/>
          <p:nvPr/>
        </p:nvSpPr>
        <p:spPr>
          <a:xfrm>
            <a:off x="566928" y="1572768"/>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1</a:t>
            </a:r>
            <a:endParaRPr lang="en-US" sz="1400" dirty="0"/>
          </a:p>
        </p:txBody>
      </p:sp>
      <p:sp>
        <p:nvSpPr>
          <p:cNvPr id="10" name="Text 8"/>
          <p:cNvSpPr txBox="1"/>
          <p:nvPr/>
        </p:nvSpPr>
        <p:spPr>
          <a:xfrm>
            <a:off x="1051560" y="1508760"/>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視神経</a:t>
            </a:r>
            <a:endParaRPr lang="en-US" sz="1500" dirty="0"/>
          </a:p>
        </p:txBody>
      </p:sp>
      <p:sp>
        <p:nvSpPr>
          <p:cNvPr id="11" name="Shape 9"/>
          <p:cNvSpPr/>
          <p:nvPr/>
        </p:nvSpPr>
        <p:spPr>
          <a:xfrm>
            <a:off x="457200" y="2112264"/>
            <a:ext cx="8229600" cy="493776"/>
          </a:xfrm>
          <a:prstGeom prst="roundRect">
            <a:avLst>
              <a:gd name="adj" fmla="val 14815"/>
            </a:avLst>
          </a:prstGeom>
          <a:solidFill>
            <a:srgbClr val="EAF2F8"/>
          </a:solidFill>
          <a:ln/>
        </p:spPr>
      </p:sp>
      <p:sp>
        <p:nvSpPr>
          <p:cNvPr id="12" name="Shape 10"/>
          <p:cNvSpPr/>
          <p:nvPr/>
        </p:nvSpPr>
        <p:spPr>
          <a:xfrm>
            <a:off x="566928" y="2176272"/>
            <a:ext cx="365760" cy="365760"/>
          </a:xfrm>
          <a:prstGeom prst="ellipse">
            <a:avLst/>
          </a:prstGeom>
          <a:solidFill>
            <a:srgbClr val="FFFFFF"/>
          </a:solidFill>
          <a:ln w="15875">
            <a:solidFill>
              <a:srgbClr val="17324D"/>
            </a:solidFill>
            <a:prstDash val="solid"/>
          </a:ln>
        </p:spPr>
      </p:sp>
      <p:sp>
        <p:nvSpPr>
          <p:cNvPr id="13" name="Text 11"/>
          <p:cNvSpPr txBox="1"/>
          <p:nvPr/>
        </p:nvSpPr>
        <p:spPr>
          <a:xfrm>
            <a:off x="566928" y="2176272"/>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2</a:t>
            </a:r>
            <a:endParaRPr lang="en-US" sz="1400" dirty="0"/>
          </a:p>
        </p:txBody>
      </p:sp>
      <p:sp>
        <p:nvSpPr>
          <p:cNvPr id="14" name="Text 12"/>
          <p:cNvSpPr txBox="1"/>
          <p:nvPr/>
        </p:nvSpPr>
        <p:spPr>
          <a:xfrm>
            <a:off x="1051560" y="2112264"/>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滑車神経</a:t>
            </a:r>
            <a:endParaRPr lang="en-US" sz="1500" dirty="0"/>
          </a:p>
        </p:txBody>
      </p:sp>
      <p:sp>
        <p:nvSpPr>
          <p:cNvPr id="15" name="Shape 13"/>
          <p:cNvSpPr/>
          <p:nvPr/>
        </p:nvSpPr>
        <p:spPr>
          <a:xfrm>
            <a:off x="457200" y="2715768"/>
            <a:ext cx="8229600" cy="493776"/>
          </a:xfrm>
          <a:prstGeom prst="roundRect">
            <a:avLst>
              <a:gd name="adj" fmla="val 14815"/>
            </a:avLst>
          </a:prstGeom>
          <a:solidFill>
            <a:srgbClr val="EAF2F8"/>
          </a:solidFill>
          <a:ln/>
        </p:spPr>
      </p:sp>
      <p:sp>
        <p:nvSpPr>
          <p:cNvPr id="16" name="Shape 14"/>
          <p:cNvSpPr/>
          <p:nvPr/>
        </p:nvSpPr>
        <p:spPr>
          <a:xfrm>
            <a:off x="566928" y="2779776"/>
            <a:ext cx="365760" cy="365760"/>
          </a:xfrm>
          <a:prstGeom prst="ellipse">
            <a:avLst/>
          </a:prstGeom>
          <a:solidFill>
            <a:srgbClr val="FFFFFF"/>
          </a:solidFill>
          <a:ln w="15875">
            <a:solidFill>
              <a:srgbClr val="17324D"/>
            </a:solidFill>
            <a:prstDash val="solid"/>
          </a:ln>
        </p:spPr>
      </p:sp>
      <p:sp>
        <p:nvSpPr>
          <p:cNvPr id="17" name="Text 15"/>
          <p:cNvSpPr txBox="1"/>
          <p:nvPr/>
        </p:nvSpPr>
        <p:spPr>
          <a:xfrm>
            <a:off x="566928" y="2779776"/>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3</a:t>
            </a:r>
            <a:endParaRPr lang="en-US" sz="1400" dirty="0"/>
          </a:p>
        </p:txBody>
      </p:sp>
      <p:sp>
        <p:nvSpPr>
          <p:cNvPr id="18" name="Text 16"/>
          <p:cNvSpPr txBox="1"/>
          <p:nvPr/>
        </p:nvSpPr>
        <p:spPr>
          <a:xfrm>
            <a:off x="1051560" y="2715768"/>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三叉神経</a:t>
            </a:r>
            <a:endParaRPr lang="en-US" sz="1500" dirty="0"/>
          </a:p>
        </p:txBody>
      </p:sp>
      <p:sp>
        <p:nvSpPr>
          <p:cNvPr id="19" name="Shape 17"/>
          <p:cNvSpPr/>
          <p:nvPr/>
        </p:nvSpPr>
        <p:spPr>
          <a:xfrm>
            <a:off x="457200" y="3319272"/>
            <a:ext cx="8229600" cy="493776"/>
          </a:xfrm>
          <a:prstGeom prst="roundRect">
            <a:avLst>
              <a:gd name="adj" fmla="val 14815"/>
            </a:avLst>
          </a:prstGeom>
          <a:solidFill>
            <a:srgbClr val="EAF2F8"/>
          </a:solidFill>
          <a:ln/>
        </p:spPr>
      </p:sp>
      <p:sp>
        <p:nvSpPr>
          <p:cNvPr id="20" name="Shape 18"/>
          <p:cNvSpPr/>
          <p:nvPr/>
        </p:nvSpPr>
        <p:spPr>
          <a:xfrm>
            <a:off x="566928" y="3383280"/>
            <a:ext cx="365760" cy="365760"/>
          </a:xfrm>
          <a:prstGeom prst="ellipse">
            <a:avLst/>
          </a:prstGeom>
          <a:solidFill>
            <a:srgbClr val="FFFFFF"/>
          </a:solidFill>
          <a:ln w="15875">
            <a:solidFill>
              <a:srgbClr val="17324D"/>
            </a:solidFill>
            <a:prstDash val="solid"/>
          </a:ln>
        </p:spPr>
      </p:sp>
      <p:sp>
        <p:nvSpPr>
          <p:cNvPr id="21" name="Text 19"/>
          <p:cNvSpPr txBox="1"/>
          <p:nvPr/>
        </p:nvSpPr>
        <p:spPr>
          <a:xfrm>
            <a:off x="566928" y="3383280"/>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4</a:t>
            </a:r>
            <a:endParaRPr lang="en-US" sz="1400" dirty="0"/>
          </a:p>
        </p:txBody>
      </p:sp>
      <p:sp>
        <p:nvSpPr>
          <p:cNvPr id="22" name="Text 20"/>
          <p:cNvSpPr txBox="1"/>
          <p:nvPr/>
        </p:nvSpPr>
        <p:spPr>
          <a:xfrm>
            <a:off x="1051560" y="3319272"/>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迷走神経</a:t>
            </a:r>
            <a:endParaRPr lang="en-US" sz="1500" dirty="0"/>
          </a:p>
        </p:txBody>
      </p:sp>
      <p:sp>
        <p:nvSpPr>
          <p:cNvPr id="23" name="Shape 21"/>
          <p:cNvSpPr/>
          <p:nvPr/>
        </p:nvSpPr>
        <p:spPr>
          <a:xfrm>
            <a:off x="457200" y="3922776"/>
            <a:ext cx="8229600" cy="493776"/>
          </a:xfrm>
          <a:prstGeom prst="roundRect">
            <a:avLst>
              <a:gd name="adj" fmla="val 14815"/>
            </a:avLst>
          </a:prstGeom>
          <a:solidFill>
            <a:srgbClr val="EAF2F8"/>
          </a:solidFill>
          <a:ln/>
        </p:spPr>
      </p:sp>
      <p:sp>
        <p:nvSpPr>
          <p:cNvPr id="24" name="Shape 22"/>
          <p:cNvSpPr/>
          <p:nvPr/>
        </p:nvSpPr>
        <p:spPr>
          <a:xfrm>
            <a:off x="566928" y="3986784"/>
            <a:ext cx="365760" cy="365760"/>
          </a:xfrm>
          <a:prstGeom prst="ellipse">
            <a:avLst/>
          </a:prstGeom>
          <a:solidFill>
            <a:srgbClr val="FFFFFF"/>
          </a:solidFill>
          <a:ln w="15875">
            <a:solidFill>
              <a:srgbClr val="17324D"/>
            </a:solidFill>
            <a:prstDash val="solid"/>
          </a:ln>
        </p:spPr>
      </p:sp>
      <p:sp>
        <p:nvSpPr>
          <p:cNvPr id="25" name="Text 23"/>
          <p:cNvSpPr txBox="1"/>
          <p:nvPr/>
        </p:nvSpPr>
        <p:spPr>
          <a:xfrm>
            <a:off x="566928" y="3986784"/>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5</a:t>
            </a:r>
            <a:endParaRPr lang="en-US" sz="1400" dirty="0"/>
          </a:p>
        </p:txBody>
      </p:sp>
      <p:sp>
        <p:nvSpPr>
          <p:cNvPr id="26" name="Text 24"/>
          <p:cNvSpPr txBox="1"/>
          <p:nvPr/>
        </p:nvSpPr>
        <p:spPr>
          <a:xfrm>
            <a:off x="1051560" y="3922776"/>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舌下神経</a:t>
            </a:r>
            <a:endParaRPr lang="en-US" sz="15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74320"/>
            <a:ext cx="868680" cy="384048"/>
          </a:xfrm>
          <a:prstGeom prst="roundRect">
            <a:avLst>
              <a:gd name="adj" fmla="val 19048"/>
            </a:avLst>
          </a:prstGeom>
          <a:solidFill>
            <a:srgbClr val="D9534F"/>
          </a:solidFill>
          <a:ln/>
        </p:spPr>
      </p:sp>
      <p:sp>
        <p:nvSpPr>
          <p:cNvPr id="3" name="Text 1"/>
          <p:cNvSpPr txBox="1"/>
          <p:nvPr/>
        </p:nvSpPr>
        <p:spPr>
          <a:xfrm>
            <a:off x="457200" y="274320"/>
            <a:ext cx="86868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解説</a:t>
            </a:r>
            <a:endParaRPr lang="en-US" sz="1300" dirty="0"/>
          </a:p>
        </p:txBody>
      </p:sp>
      <p:sp>
        <p:nvSpPr>
          <p:cNvPr id="4" name="Text 2"/>
          <p:cNvSpPr txBox="1"/>
          <p:nvPr/>
        </p:nvSpPr>
        <p:spPr>
          <a:xfrm>
            <a:off x="1417320" y="274320"/>
            <a:ext cx="731520" cy="384048"/>
          </a:xfrm>
          <a:prstGeom prst="rect">
            <a:avLst/>
          </a:prstGeom>
          <a:noFill/>
          <a:ln/>
        </p:spPr>
        <p:txBody>
          <a:bodyPr wrap="square" lIns="0" tIns="0" rIns="0" bIns="0" rtlCol="0" anchor="ctr"/>
          <a:lstStyle/>
          <a:p>
            <a:pPr indent="0" marL="0">
              <a:buNone/>
            </a:pPr>
            <a:r>
              <a:rPr lang="en-US" sz="2000" b="1" dirty="0">
                <a:solidFill>
                  <a:srgbClr val="17324D"/>
                </a:solidFill>
                <a:latin typeface="Arial" pitchFamily="34" charset="0"/>
                <a:ea typeface="Arial" pitchFamily="34" charset="-122"/>
                <a:cs typeface="Arial" pitchFamily="34" charset="-120"/>
              </a:rPr>
              <a:t>[11]</a:t>
            </a:r>
            <a:endParaRPr lang="en-US" sz="2000" dirty="0"/>
          </a:p>
        </p:txBody>
      </p:sp>
      <p:sp>
        <p:nvSpPr>
          <p:cNvPr id="5" name="Text 3"/>
          <p:cNvSpPr txBox="1"/>
          <p:nvPr/>
        </p:nvSpPr>
        <p:spPr>
          <a:xfrm>
            <a:off x="5943600" y="274320"/>
            <a:ext cx="2743200" cy="384048"/>
          </a:xfrm>
          <a:prstGeom prst="rect">
            <a:avLst/>
          </a:prstGeom>
          <a:noFill/>
          <a:ln/>
        </p:spPr>
        <p:txBody>
          <a:bodyPr wrap="square" lIns="0" tIns="0" rIns="0" bIns="0" rtlCol="0" anchor="ctr"/>
          <a:lstStyle/>
          <a:p>
            <a:pPr algn="r" indent="0" marL="0">
              <a:buNone/>
            </a:pPr>
            <a:r>
              <a:rPr lang="en-US" sz="1100" dirty="0">
                <a:solidFill>
                  <a:srgbClr val="5F6B76"/>
                </a:solidFill>
                <a:latin typeface="Meiryo" pitchFamily="34" charset="0"/>
                <a:ea typeface="Meiryo" pitchFamily="34" charset="-122"/>
                <a:cs typeface="Meiryo" pitchFamily="34" charset="-120"/>
              </a:rPr>
              <a:t>55回午前51</a:t>
            </a:r>
            <a:endParaRPr lang="en-US" sz="1100" dirty="0"/>
          </a:p>
        </p:txBody>
      </p:sp>
      <p:sp>
        <p:nvSpPr>
          <p:cNvPr id="6" name="Text 4"/>
          <p:cNvSpPr txBox="1"/>
          <p:nvPr/>
        </p:nvSpPr>
        <p:spPr>
          <a:xfrm>
            <a:off x="457200" y="731520"/>
            <a:ext cx="8229600" cy="594360"/>
          </a:xfrm>
          <a:prstGeom prst="rect">
            <a:avLst/>
          </a:prstGeom>
          <a:noFill/>
          <a:ln/>
        </p:spPr>
        <p:txBody>
          <a:bodyPr wrap="square" lIns="0" tIns="0" rIns="0" bIns="0" rtlCol="0" anchor="t"/>
          <a:lstStyle/>
          <a:p>
            <a:pPr indent="0" marL="0">
              <a:buNone/>
            </a:pPr>
            <a:r>
              <a:rPr lang="en-US" sz="1700" b="1" dirty="0">
                <a:solidFill>
                  <a:srgbClr val="222222"/>
                </a:solidFill>
                <a:latin typeface="Meiryo" pitchFamily="34" charset="0"/>
                <a:ea typeface="Meiryo" pitchFamily="34" charset="-122"/>
                <a:cs typeface="Meiryo" pitchFamily="34" charset="-120"/>
              </a:rPr>
              <a:t>自律神経系の機能をもつのはどれか。</a:t>
            </a:r>
            <a:endParaRPr lang="en-US" sz="1700" dirty="0"/>
          </a:p>
        </p:txBody>
      </p:sp>
      <p:sp>
        <p:nvSpPr>
          <p:cNvPr id="7" name="Shape 5"/>
          <p:cNvSpPr/>
          <p:nvPr/>
        </p:nvSpPr>
        <p:spPr>
          <a:xfrm>
            <a:off x="457200" y="1417320"/>
            <a:ext cx="8229600" cy="457200"/>
          </a:xfrm>
          <a:prstGeom prst="roundRect">
            <a:avLst>
              <a:gd name="adj" fmla="val 16000"/>
            </a:avLst>
          </a:prstGeom>
          <a:solidFill>
            <a:srgbClr val="F4F6F8"/>
          </a:solidFill>
          <a:ln/>
        </p:spPr>
      </p:sp>
      <p:sp>
        <p:nvSpPr>
          <p:cNvPr id="8" name="Shape 6"/>
          <p:cNvSpPr/>
          <p:nvPr/>
        </p:nvSpPr>
        <p:spPr>
          <a:xfrm>
            <a:off x="548640" y="1481328"/>
            <a:ext cx="329184" cy="329184"/>
          </a:xfrm>
          <a:prstGeom prst="ellipse">
            <a:avLst/>
          </a:prstGeom>
          <a:solidFill>
            <a:srgbClr val="FFFFFF"/>
          </a:solidFill>
          <a:ln w="12700">
            <a:solidFill>
              <a:srgbClr val="8A96A3"/>
            </a:solidFill>
            <a:prstDash val="solid"/>
          </a:ln>
        </p:spPr>
      </p:sp>
      <p:sp>
        <p:nvSpPr>
          <p:cNvPr id="9" name="Text 7"/>
          <p:cNvSpPr txBox="1"/>
          <p:nvPr/>
        </p:nvSpPr>
        <p:spPr>
          <a:xfrm>
            <a:off x="548640" y="1481328"/>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1</a:t>
            </a:r>
            <a:endParaRPr lang="en-US" sz="1300" dirty="0"/>
          </a:p>
        </p:txBody>
      </p:sp>
      <p:sp>
        <p:nvSpPr>
          <p:cNvPr id="10" name="Text 8"/>
          <p:cNvSpPr txBox="1"/>
          <p:nvPr/>
        </p:nvSpPr>
        <p:spPr>
          <a:xfrm>
            <a:off x="987552" y="1417320"/>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視神経</a:t>
            </a:r>
            <a:endParaRPr lang="en-US" sz="1200" dirty="0"/>
          </a:p>
        </p:txBody>
      </p:sp>
      <p:sp>
        <p:nvSpPr>
          <p:cNvPr id="11" name="Text 9"/>
          <p:cNvSpPr txBox="1"/>
          <p:nvPr/>
        </p:nvSpPr>
        <p:spPr>
          <a:xfrm>
            <a:off x="4096512" y="1417320"/>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感覚（視覚）</a:t>
            </a:r>
            <a:endParaRPr lang="en-US" sz="1100" dirty="0"/>
          </a:p>
        </p:txBody>
      </p:sp>
      <p:sp>
        <p:nvSpPr>
          <p:cNvPr id="12" name="Shape 10"/>
          <p:cNvSpPr/>
          <p:nvPr/>
        </p:nvSpPr>
        <p:spPr>
          <a:xfrm>
            <a:off x="457200" y="1947672"/>
            <a:ext cx="8229600" cy="457200"/>
          </a:xfrm>
          <a:prstGeom prst="roundRect">
            <a:avLst>
              <a:gd name="adj" fmla="val 16000"/>
            </a:avLst>
          </a:prstGeom>
          <a:solidFill>
            <a:srgbClr val="F4F6F8"/>
          </a:solidFill>
          <a:ln/>
        </p:spPr>
      </p:sp>
      <p:sp>
        <p:nvSpPr>
          <p:cNvPr id="13" name="Shape 11"/>
          <p:cNvSpPr/>
          <p:nvPr/>
        </p:nvSpPr>
        <p:spPr>
          <a:xfrm>
            <a:off x="548640" y="2011680"/>
            <a:ext cx="329184" cy="329184"/>
          </a:xfrm>
          <a:prstGeom prst="ellipse">
            <a:avLst/>
          </a:prstGeom>
          <a:solidFill>
            <a:srgbClr val="FFFFFF"/>
          </a:solidFill>
          <a:ln w="12700">
            <a:solidFill>
              <a:srgbClr val="8A96A3"/>
            </a:solidFill>
            <a:prstDash val="solid"/>
          </a:ln>
        </p:spPr>
      </p:sp>
      <p:sp>
        <p:nvSpPr>
          <p:cNvPr id="14" name="Text 12"/>
          <p:cNvSpPr txBox="1"/>
          <p:nvPr/>
        </p:nvSpPr>
        <p:spPr>
          <a:xfrm>
            <a:off x="548640" y="2011680"/>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2</a:t>
            </a:r>
            <a:endParaRPr lang="en-US" sz="1300" dirty="0"/>
          </a:p>
        </p:txBody>
      </p:sp>
      <p:sp>
        <p:nvSpPr>
          <p:cNvPr id="15" name="Text 13"/>
          <p:cNvSpPr txBox="1"/>
          <p:nvPr/>
        </p:nvSpPr>
        <p:spPr>
          <a:xfrm>
            <a:off x="987552" y="1947672"/>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滑車神経</a:t>
            </a:r>
            <a:endParaRPr lang="en-US" sz="1200" dirty="0"/>
          </a:p>
        </p:txBody>
      </p:sp>
      <p:sp>
        <p:nvSpPr>
          <p:cNvPr id="16" name="Text 14"/>
          <p:cNvSpPr txBox="1"/>
          <p:nvPr/>
        </p:nvSpPr>
        <p:spPr>
          <a:xfrm>
            <a:off x="4096512" y="1947672"/>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運動（上斜筋）</a:t>
            </a:r>
            <a:endParaRPr lang="en-US" sz="1100" dirty="0"/>
          </a:p>
        </p:txBody>
      </p:sp>
      <p:sp>
        <p:nvSpPr>
          <p:cNvPr id="17" name="Shape 15"/>
          <p:cNvSpPr/>
          <p:nvPr/>
        </p:nvSpPr>
        <p:spPr>
          <a:xfrm>
            <a:off x="457200" y="2478024"/>
            <a:ext cx="8229600" cy="457200"/>
          </a:xfrm>
          <a:prstGeom prst="roundRect">
            <a:avLst>
              <a:gd name="adj" fmla="val 16000"/>
            </a:avLst>
          </a:prstGeom>
          <a:solidFill>
            <a:srgbClr val="F4F6F8"/>
          </a:solidFill>
          <a:ln/>
        </p:spPr>
      </p:sp>
      <p:sp>
        <p:nvSpPr>
          <p:cNvPr id="18" name="Shape 16"/>
          <p:cNvSpPr/>
          <p:nvPr/>
        </p:nvSpPr>
        <p:spPr>
          <a:xfrm>
            <a:off x="548640" y="2542032"/>
            <a:ext cx="329184" cy="329184"/>
          </a:xfrm>
          <a:prstGeom prst="ellipse">
            <a:avLst/>
          </a:prstGeom>
          <a:solidFill>
            <a:srgbClr val="FFFFFF"/>
          </a:solidFill>
          <a:ln w="12700">
            <a:solidFill>
              <a:srgbClr val="8A96A3"/>
            </a:solidFill>
            <a:prstDash val="solid"/>
          </a:ln>
        </p:spPr>
      </p:sp>
      <p:sp>
        <p:nvSpPr>
          <p:cNvPr id="19" name="Text 17"/>
          <p:cNvSpPr txBox="1"/>
          <p:nvPr/>
        </p:nvSpPr>
        <p:spPr>
          <a:xfrm>
            <a:off x="548640" y="2542032"/>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3</a:t>
            </a:r>
            <a:endParaRPr lang="en-US" sz="1300" dirty="0"/>
          </a:p>
        </p:txBody>
      </p:sp>
      <p:sp>
        <p:nvSpPr>
          <p:cNvPr id="20" name="Text 18"/>
          <p:cNvSpPr txBox="1"/>
          <p:nvPr/>
        </p:nvSpPr>
        <p:spPr>
          <a:xfrm>
            <a:off x="987552" y="2478024"/>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三叉神経</a:t>
            </a:r>
            <a:endParaRPr lang="en-US" sz="1200" dirty="0"/>
          </a:p>
        </p:txBody>
      </p:sp>
      <p:sp>
        <p:nvSpPr>
          <p:cNvPr id="21" name="Text 19"/>
          <p:cNvSpPr txBox="1"/>
          <p:nvPr/>
        </p:nvSpPr>
        <p:spPr>
          <a:xfrm>
            <a:off x="4096512" y="2478024"/>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感覚・運動（咀嚼筋）</a:t>
            </a:r>
            <a:endParaRPr lang="en-US" sz="1100" dirty="0"/>
          </a:p>
        </p:txBody>
      </p:sp>
      <p:sp>
        <p:nvSpPr>
          <p:cNvPr id="22" name="Shape 20"/>
          <p:cNvSpPr/>
          <p:nvPr/>
        </p:nvSpPr>
        <p:spPr>
          <a:xfrm>
            <a:off x="457200" y="3008376"/>
            <a:ext cx="8229600" cy="457200"/>
          </a:xfrm>
          <a:prstGeom prst="roundRect">
            <a:avLst>
              <a:gd name="adj" fmla="val 16000"/>
            </a:avLst>
          </a:prstGeom>
          <a:solidFill>
            <a:srgbClr val="FBE3E2"/>
          </a:solidFill>
          <a:ln w="19050">
            <a:solidFill>
              <a:srgbClr val="D9534F"/>
            </a:solidFill>
            <a:prstDash val="solid"/>
          </a:ln>
        </p:spPr>
      </p:sp>
      <p:sp>
        <p:nvSpPr>
          <p:cNvPr id="23" name="Shape 21"/>
          <p:cNvSpPr/>
          <p:nvPr/>
        </p:nvSpPr>
        <p:spPr>
          <a:xfrm>
            <a:off x="548640" y="3072384"/>
            <a:ext cx="329184" cy="329184"/>
          </a:xfrm>
          <a:prstGeom prst="ellipse">
            <a:avLst/>
          </a:prstGeom>
          <a:solidFill>
            <a:srgbClr val="D9534F"/>
          </a:solidFill>
          <a:ln w="12700">
            <a:solidFill>
              <a:srgbClr val="D9534F"/>
            </a:solidFill>
            <a:prstDash val="solid"/>
          </a:ln>
        </p:spPr>
      </p:sp>
      <p:sp>
        <p:nvSpPr>
          <p:cNvPr id="24" name="Text 22"/>
          <p:cNvSpPr txBox="1"/>
          <p:nvPr/>
        </p:nvSpPr>
        <p:spPr>
          <a:xfrm>
            <a:off x="548640" y="3072384"/>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4</a:t>
            </a:r>
            <a:endParaRPr lang="en-US" sz="1300" dirty="0"/>
          </a:p>
        </p:txBody>
      </p:sp>
      <p:sp>
        <p:nvSpPr>
          <p:cNvPr id="25" name="Text 23"/>
          <p:cNvSpPr txBox="1"/>
          <p:nvPr/>
        </p:nvSpPr>
        <p:spPr>
          <a:xfrm>
            <a:off x="987552" y="3008376"/>
            <a:ext cx="3017520" cy="457200"/>
          </a:xfrm>
          <a:prstGeom prst="rect">
            <a:avLst/>
          </a:prstGeom>
          <a:noFill/>
          <a:ln/>
        </p:spPr>
        <p:txBody>
          <a:bodyPr wrap="square" lIns="0" tIns="0" rIns="0" bIns="0" rtlCol="0" anchor="ctr"/>
          <a:lstStyle/>
          <a:p>
            <a:pPr indent="0" marL="0">
              <a:buNone/>
            </a:pPr>
            <a:r>
              <a:rPr lang="en-US" sz="1200" b="1" dirty="0">
                <a:solidFill>
                  <a:srgbClr val="D9534F"/>
                </a:solidFill>
                <a:latin typeface="Meiryo" pitchFamily="34" charset="0"/>
                <a:ea typeface="Meiryo" pitchFamily="34" charset="-122"/>
                <a:cs typeface="Meiryo" pitchFamily="34" charset="-120"/>
              </a:rPr>
              <a:t>迷走神経</a:t>
            </a:r>
            <a:endParaRPr lang="en-US" sz="1200" dirty="0"/>
          </a:p>
        </p:txBody>
      </p:sp>
      <p:sp>
        <p:nvSpPr>
          <p:cNvPr id="26" name="Text 24"/>
          <p:cNvSpPr txBox="1"/>
          <p:nvPr/>
        </p:nvSpPr>
        <p:spPr>
          <a:xfrm>
            <a:off x="4096512" y="3008376"/>
            <a:ext cx="4526280" cy="457200"/>
          </a:xfrm>
          <a:prstGeom prst="rect">
            <a:avLst/>
          </a:prstGeom>
          <a:noFill/>
          <a:ln/>
        </p:spPr>
        <p:txBody>
          <a:bodyPr wrap="square" lIns="0" tIns="0" rIns="0" bIns="0" rtlCol="0" anchor="ctr"/>
          <a:lstStyle/>
          <a:p>
            <a:pPr indent="0" marL="0">
              <a:buNone/>
            </a:pPr>
            <a:r>
              <a:rPr lang="en-US" sz="1100" dirty="0">
                <a:solidFill>
                  <a:srgbClr val="222222"/>
                </a:solidFill>
                <a:latin typeface="Meiryo" pitchFamily="34" charset="0"/>
                <a:ea typeface="Meiryo" pitchFamily="34" charset="-122"/>
                <a:cs typeface="Meiryo" pitchFamily="34" charset="-120"/>
              </a:rPr>
              <a:t>副交感神経線維を含む ○</a:t>
            </a:r>
            <a:endParaRPr lang="en-US" sz="1100" dirty="0"/>
          </a:p>
        </p:txBody>
      </p:sp>
      <p:sp>
        <p:nvSpPr>
          <p:cNvPr id="27" name="Shape 25"/>
          <p:cNvSpPr/>
          <p:nvPr/>
        </p:nvSpPr>
        <p:spPr>
          <a:xfrm>
            <a:off x="457200" y="3538728"/>
            <a:ext cx="8229600" cy="457200"/>
          </a:xfrm>
          <a:prstGeom prst="roundRect">
            <a:avLst>
              <a:gd name="adj" fmla="val 16000"/>
            </a:avLst>
          </a:prstGeom>
          <a:solidFill>
            <a:srgbClr val="F4F6F8"/>
          </a:solidFill>
          <a:ln/>
        </p:spPr>
      </p:sp>
      <p:sp>
        <p:nvSpPr>
          <p:cNvPr id="28" name="Shape 26"/>
          <p:cNvSpPr/>
          <p:nvPr/>
        </p:nvSpPr>
        <p:spPr>
          <a:xfrm>
            <a:off x="548640" y="3602736"/>
            <a:ext cx="329184" cy="329184"/>
          </a:xfrm>
          <a:prstGeom prst="ellipse">
            <a:avLst/>
          </a:prstGeom>
          <a:solidFill>
            <a:srgbClr val="FFFFFF"/>
          </a:solidFill>
          <a:ln w="12700">
            <a:solidFill>
              <a:srgbClr val="8A96A3"/>
            </a:solidFill>
            <a:prstDash val="solid"/>
          </a:ln>
        </p:spPr>
      </p:sp>
      <p:sp>
        <p:nvSpPr>
          <p:cNvPr id="29" name="Text 27"/>
          <p:cNvSpPr txBox="1"/>
          <p:nvPr/>
        </p:nvSpPr>
        <p:spPr>
          <a:xfrm>
            <a:off x="548640" y="3602736"/>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5</a:t>
            </a:r>
            <a:endParaRPr lang="en-US" sz="1300" dirty="0"/>
          </a:p>
        </p:txBody>
      </p:sp>
      <p:sp>
        <p:nvSpPr>
          <p:cNvPr id="30" name="Text 28"/>
          <p:cNvSpPr txBox="1"/>
          <p:nvPr/>
        </p:nvSpPr>
        <p:spPr>
          <a:xfrm>
            <a:off x="987552" y="3538728"/>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舌下神経</a:t>
            </a:r>
            <a:endParaRPr lang="en-US" sz="1200" dirty="0"/>
          </a:p>
        </p:txBody>
      </p:sp>
      <p:sp>
        <p:nvSpPr>
          <p:cNvPr id="31" name="Text 29"/>
          <p:cNvSpPr txBox="1"/>
          <p:nvPr/>
        </p:nvSpPr>
        <p:spPr>
          <a:xfrm>
            <a:off x="4096512" y="3538728"/>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運動（舌筋）</a:t>
            </a:r>
            <a:endParaRPr lang="en-US" sz="1100" dirty="0"/>
          </a:p>
        </p:txBody>
      </p:sp>
      <p:sp>
        <p:nvSpPr>
          <p:cNvPr id="32" name="Shape 30"/>
          <p:cNvSpPr/>
          <p:nvPr/>
        </p:nvSpPr>
        <p:spPr>
          <a:xfrm>
            <a:off x="457200" y="4160520"/>
            <a:ext cx="1463040" cy="685800"/>
          </a:xfrm>
          <a:prstGeom prst="roundRect">
            <a:avLst>
              <a:gd name="adj" fmla="val 10667"/>
            </a:avLst>
          </a:prstGeom>
          <a:solidFill>
            <a:srgbClr val="D9534F"/>
          </a:solidFill>
          <a:ln/>
        </p:spPr>
      </p:sp>
      <p:sp>
        <p:nvSpPr>
          <p:cNvPr id="33" name="Text 31"/>
          <p:cNvSpPr txBox="1"/>
          <p:nvPr/>
        </p:nvSpPr>
        <p:spPr>
          <a:xfrm>
            <a:off x="457200" y="4160520"/>
            <a:ext cx="1463040" cy="685800"/>
          </a:xfrm>
          <a:prstGeom prst="rect">
            <a:avLst/>
          </a:prstGeom>
          <a:noFill/>
          <a:ln/>
        </p:spPr>
        <p:txBody>
          <a:bodyPr wrap="square" lIns="0" tIns="0" rIns="0" bIns="0" rtlCol="0" anchor="ctr"/>
          <a:lstStyle/>
          <a:p>
            <a:pPr algn="ctr" indent="0" marL="0">
              <a:buNone/>
            </a:pPr>
            <a:r>
              <a:rPr lang="en-US" sz="1100" dirty="0">
                <a:solidFill>
                  <a:srgbClr val="FFFFFF"/>
                </a:solidFill>
                <a:latin typeface="Meiryo" pitchFamily="34" charset="0"/>
                <a:ea typeface="Meiryo" pitchFamily="34" charset="-122"/>
                <a:cs typeface="Meiryo" pitchFamily="34" charset="-120"/>
              </a:rPr>
              <a:t>正解</a:t>
            </a:r>
            <a:endParaRPr lang="en-US" sz="1100" dirty="0"/>
          </a:p>
          <a:p>
            <a:pPr algn="ctr" indent="0" marL="0">
              <a:buNone/>
            </a:pPr>
            <a:r>
              <a:rPr lang="en-US" sz="2200" b="1" dirty="0">
                <a:solidFill>
                  <a:srgbClr val="FFFFFF"/>
                </a:solidFill>
                <a:latin typeface="Meiryo" pitchFamily="34" charset="0"/>
                <a:ea typeface="Meiryo" pitchFamily="34" charset="-122"/>
                <a:cs typeface="Meiryo" pitchFamily="34" charset="-120"/>
              </a:rPr>
              <a:t>4</a:t>
            </a:r>
            <a:endParaRPr lang="en-US" sz="1100" dirty="0"/>
          </a:p>
        </p:txBody>
      </p:sp>
      <p:sp>
        <p:nvSpPr>
          <p:cNvPr id="34" name="Shape 32"/>
          <p:cNvSpPr/>
          <p:nvPr/>
        </p:nvSpPr>
        <p:spPr>
          <a:xfrm>
            <a:off x="2057400" y="4160520"/>
            <a:ext cx="6629400" cy="685800"/>
          </a:xfrm>
          <a:prstGeom prst="roundRect">
            <a:avLst>
              <a:gd name="adj" fmla="val 10667"/>
            </a:avLst>
          </a:prstGeom>
          <a:solidFill>
            <a:srgbClr val="EAF2F8"/>
          </a:solidFill>
          <a:ln/>
        </p:spPr>
      </p:sp>
      <p:sp>
        <p:nvSpPr>
          <p:cNvPr id="35" name="Text 33"/>
          <p:cNvSpPr txBox="1"/>
          <p:nvPr/>
        </p:nvSpPr>
        <p:spPr>
          <a:xfrm>
            <a:off x="2194560" y="4160520"/>
            <a:ext cx="6400800" cy="685800"/>
          </a:xfrm>
          <a:prstGeom prst="rect">
            <a:avLst/>
          </a:prstGeom>
          <a:noFill/>
          <a:ln/>
        </p:spPr>
        <p:txBody>
          <a:bodyPr wrap="square" lIns="0" tIns="0" rIns="0" bIns="0" rtlCol="0" anchor="ctr"/>
          <a:lstStyle/>
          <a:p>
            <a:pPr indent="0" marL="0">
              <a:buNone/>
            </a:pPr>
            <a:r>
              <a:rPr lang="en-US" sz="1200" b="1" dirty="0">
                <a:solidFill>
                  <a:srgbClr val="2A7F9E"/>
                </a:solidFill>
                <a:latin typeface="Meiryo" pitchFamily="34" charset="0"/>
                <a:ea typeface="Meiryo" pitchFamily="34" charset="-122"/>
                <a:cs typeface="Meiryo" pitchFamily="34" charset="-120"/>
              </a:rPr>
              <a:t>POINT　</a:t>
            </a:r>
            <a:pPr indent="0" marL="0">
              <a:buNone/>
            </a:pPr>
            <a:r>
              <a:rPr lang="en-US" sz="1200" dirty="0">
                <a:solidFill>
                  <a:srgbClr val="222222"/>
                </a:solidFill>
                <a:latin typeface="Meiryo" pitchFamily="34" charset="0"/>
                <a:ea typeface="Meiryo" pitchFamily="34" charset="-122"/>
                <a:cs typeface="Meiryo" pitchFamily="34" charset="-120"/>
              </a:rPr>
              <a:t>副交感線維を含む脳神経は「み(Ⅲ)な(Ⅶ)く(Ⅸ)と(Ⅹ)＝港区」で覚える。</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74320"/>
            <a:ext cx="868680" cy="384048"/>
          </a:xfrm>
          <a:prstGeom prst="roundRect">
            <a:avLst>
              <a:gd name="adj" fmla="val 19048"/>
            </a:avLst>
          </a:prstGeom>
          <a:solidFill>
            <a:srgbClr val="17324D"/>
          </a:solidFill>
          <a:ln/>
        </p:spPr>
      </p:sp>
      <p:sp>
        <p:nvSpPr>
          <p:cNvPr id="3" name="Text 1"/>
          <p:cNvSpPr txBox="1"/>
          <p:nvPr/>
        </p:nvSpPr>
        <p:spPr>
          <a:xfrm>
            <a:off x="457200" y="274320"/>
            <a:ext cx="86868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問題</a:t>
            </a:r>
            <a:endParaRPr lang="en-US" sz="1300" dirty="0"/>
          </a:p>
        </p:txBody>
      </p:sp>
      <p:sp>
        <p:nvSpPr>
          <p:cNvPr id="4" name="Text 2"/>
          <p:cNvSpPr txBox="1"/>
          <p:nvPr/>
        </p:nvSpPr>
        <p:spPr>
          <a:xfrm>
            <a:off x="1417320" y="274320"/>
            <a:ext cx="731520" cy="384048"/>
          </a:xfrm>
          <a:prstGeom prst="rect">
            <a:avLst/>
          </a:prstGeom>
          <a:noFill/>
          <a:ln/>
        </p:spPr>
        <p:txBody>
          <a:bodyPr wrap="square" lIns="0" tIns="0" rIns="0" bIns="0" rtlCol="0" anchor="ctr"/>
          <a:lstStyle/>
          <a:p>
            <a:pPr indent="0" marL="0">
              <a:buNone/>
            </a:pPr>
            <a:r>
              <a:rPr lang="en-US" sz="2000" b="1" dirty="0">
                <a:solidFill>
                  <a:srgbClr val="17324D"/>
                </a:solidFill>
                <a:latin typeface="Arial" pitchFamily="34" charset="0"/>
                <a:ea typeface="Arial" pitchFamily="34" charset="-122"/>
                <a:cs typeface="Arial" pitchFamily="34" charset="-120"/>
              </a:rPr>
              <a:t>[12]</a:t>
            </a:r>
            <a:endParaRPr lang="en-US" sz="2000" dirty="0"/>
          </a:p>
        </p:txBody>
      </p:sp>
      <p:sp>
        <p:nvSpPr>
          <p:cNvPr id="5" name="Text 3"/>
          <p:cNvSpPr txBox="1"/>
          <p:nvPr/>
        </p:nvSpPr>
        <p:spPr>
          <a:xfrm>
            <a:off x="5943600" y="274320"/>
            <a:ext cx="2743200" cy="384048"/>
          </a:xfrm>
          <a:prstGeom prst="rect">
            <a:avLst/>
          </a:prstGeom>
          <a:noFill/>
          <a:ln/>
        </p:spPr>
        <p:txBody>
          <a:bodyPr wrap="square" lIns="0" tIns="0" rIns="0" bIns="0" rtlCol="0" anchor="ctr"/>
          <a:lstStyle/>
          <a:p>
            <a:pPr algn="r" indent="0" marL="0">
              <a:buNone/>
            </a:pPr>
            <a:r>
              <a:rPr lang="en-US" sz="1100" dirty="0">
                <a:solidFill>
                  <a:srgbClr val="5F6B76"/>
                </a:solidFill>
                <a:latin typeface="Meiryo" pitchFamily="34" charset="0"/>
                <a:ea typeface="Meiryo" pitchFamily="34" charset="-122"/>
                <a:cs typeface="Meiryo" pitchFamily="34" charset="-120"/>
              </a:rPr>
              <a:t>55回午前63</a:t>
            </a:r>
            <a:endParaRPr lang="en-US" sz="1100" dirty="0"/>
          </a:p>
        </p:txBody>
      </p:sp>
      <p:sp>
        <p:nvSpPr>
          <p:cNvPr id="6" name="Text 4"/>
          <p:cNvSpPr txBox="1"/>
          <p:nvPr/>
        </p:nvSpPr>
        <p:spPr>
          <a:xfrm>
            <a:off x="457200" y="731520"/>
            <a:ext cx="8229600" cy="594360"/>
          </a:xfrm>
          <a:prstGeom prst="rect">
            <a:avLst/>
          </a:prstGeom>
          <a:noFill/>
          <a:ln/>
        </p:spPr>
        <p:txBody>
          <a:bodyPr wrap="square" lIns="0" tIns="0" rIns="0" bIns="0" rtlCol="0" anchor="t"/>
          <a:lstStyle/>
          <a:p>
            <a:pPr indent="0" marL="0">
              <a:buNone/>
            </a:pPr>
            <a:r>
              <a:rPr lang="en-US" sz="1700" b="1" dirty="0">
                <a:solidFill>
                  <a:srgbClr val="222222"/>
                </a:solidFill>
                <a:latin typeface="Meiryo" pitchFamily="34" charset="0"/>
                <a:ea typeface="Meiryo" pitchFamily="34" charset="-122"/>
                <a:cs typeface="Meiryo" pitchFamily="34" charset="-120"/>
              </a:rPr>
              <a:t>交感神経の作用はどれか。</a:t>
            </a:r>
            <a:endParaRPr lang="en-US" sz="1700" dirty="0"/>
          </a:p>
        </p:txBody>
      </p:sp>
      <p:sp>
        <p:nvSpPr>
          <p:cNvPr id="7" name="Shape 5"/>
          <p:cNvSpPr/>
          <p:nvPr/>
        </p:nvSpPr>
        <p:spPr>
          <a:xfrm>
            <a:off x="457200" y="1508760"/>
            <a:ext cx="8229600" cy="493776"/>
          </a:xfrm>
          <a:prstGeom prst="roundRect">
            <a:avLst>
              <a:gd name="adj" fmla="val 14815"/>
            </a:avLst>
          </a:prstGeom>
          <a:solidFill>
            <a:srgbClr val="EAF2F8"/>
          </a:solidFill>
          <a:ln/>
        </p:spPr>
      </p:sp>
      <p:sp>
        <p:nvSpPr>
          <p:cNvPr id="8" name="Shape 6"/>
          <p:cNvSpPr/>
          <p:nvPr/>
        </p:nvSpPr>
        <p:spPr>
          <a:xfrm>
            <a:off x="566928" y="1572768"/>
            <a:ext cx="365760" cy="365760"/>
          </a:xfrm>
          <a:prstGeom prst="ellipse">
            <a:avLst/>
          </a:prstGeom>
          <a:solidFill>
            <a:srgbClr val="FFFFFF"/>
          </a:solidFill>
          <a:ln w="15875">
            <a:solidFill>
              <a:srgbClr val="17324D"/>
            </a:solidFill>
            <a:prstDash val="solid"/>
          </a:ln>
        </p:spPr>
      </p:sp>
      <p:sp>
        <p:nvSpPr>
          <p:cNvPr id="9" name="Text 7"/>
          <p:cNvSpPr txBox="1"/>
          <p:nvPr/>
        </p:nvSpPr>
        <p:spPr>
          <a:xfrm>
            <a:off x="566928" y="1572768"/>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1</a:t>
            </a:r>
            <a:endParaRPr lang="en-US" sz="1400" dirty="0"/>
          </a:p>
        </p:txBody>
      </p:sp>
      <p:sp>
        <p:nvSpPr>
          <p:cNvPr id="10" name="Text 8"/>
          <p:cNvSpPr txBox="1"/>
          <p:nvPr/>
        </p:nvSpPr>
        <p:spPr>
          <a:xfrm>
            <a:off x="1051560" y="1508760"/>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瞳孔を縮小させる。</a:t>
            </a:r>
            <a:endParaRPr lang="en-US" sz="1500" dirty="0"/>
          </a:p>
        </p:txBody>
      </p:sp>
      <p:sp>
        <p:nvSpPr>
          <p:cNvPr id="11" name="Shape 9"/>
          <p:cNvSpPr/>
          <p:nvPr/>
        </p:nvSpPr>
        <p:spPr>
          <a:xfrm>
            <a:off x="457200" y="2112264"/>
            <a:ext cx="8229600" cy="493776"/>
          </a:xfrm>
          <a:prstGeom prst="roundRect">
            <a:avLst>
              <a:gd name="adj" fmla="val 14815"/>
            </a:avLst>
          </a:prstGeom>
          <a:solidFill>
            <a:srgbClr val="EAF2F8"/>
          </a:solidFill>
          <a:ln/>
        </p:spPr>
      </p:sp>
      <p:sp>
        <p:nvSpPr>
          <p:cNvPr id="12" name="Shape 10"/>
          <p:cNvSpPr/>
          <p:nvPr/>
        </p:nvSpPr>
        <p:spPr>
          <a:xfrm>
            <a:off x="566928" y="2176272"/>
            <a:ext cx="365760" cy="365760"/>
          </a:xfrm>
          <a:prstGeom prst="ellipse">
            <a:avLst/>
          </a:prstGeom>
          <a:solidFill>
            <a:srgbClr val="FFFFFF"/>
          </a:solidFill>
          <a:ln w="15875">
            <a:solidFill>
              <a:srgbClr val="17324D"/>
            </a:solidFill>
            <a:prstDash val="solid"/>
          </a:ln>
        </p:spPr>
      </p:sp>
      <p:sp>
        <p:nvSpPr>
          <p:cNvPr id="13" name="Text 11"/>
          <p:cNvSpPr txBox="1"/>
          <p:nvPr/>
        </p:nvSpPr>
        <p:spPr>
          <a:xfrm>
            <a:off x="566928" y="2176272"/>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2</a:t>
            </a:r>
            <a:endParaRPr lang="en-US" sz="1400" dirty="0"/>
          </a:p>
        </p:txBody>
      </p:sp>
      <p:sp>
        <p:nvSpPr>
          <p:cNvPr id="14" name="Text 12"/>
          <p:cNvSpPr txBox="1"/>
          <p:nvPr/>
        </p:nvSpPr>
        <p:spPr>
          <a:xfrm>
            <a:off x="1051560" y="2112264"/>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排尿を促進させる。</a:t>
            </a:r>
            <a:endParaRPr lang="en-US" sz="1500" dirty="0"/>
          </a:p>
        </p:txBody>
      </p:sp>
      <p:sp>
        <p:nvSpPr>
          <p:cNvPr id="15" name="Shape 13"/>
          <p:cNvSpPr/>
          <p:nvPr/>
        </p:nvSpPr>
        <p:spPr>
          <a:xfrm>
            <a:off x="457200" y="2715768"/>
            <a:ext cx="8229600" cy="493776"/>
          </a:xfrm>
          <a:prstGeom prst="roundRect">
            <a:avLst>
              <a:gd name="adj" fmla="val 14815"/>
            </a:avLst>
          </a:prstGeom>
          <a:solidFill>
            <a:srgbClr val="EAF2F8"/>
          </a:solidFill>
          <a:ln/>
        </p:spPr>
      </p:sp>
      <p:sp>
        <p:nvSpPr>
          <p:cNvPr id="16" name="Shape 14"/>
          <p:cNvSpPr/>
          <p:nvPr/>
        </p:nvSpPr>
        <p:spPr>
          <a:xfrm>
            <a:off x="566928" y="2779776"/>
            <a:ext cx="365760" cy="365760"/>
          </a:xfrm>
          <a:prstGeom prst="ellipse">
            <a:avLst/>
          </a:prstGeom>
          <a:solidFill>
            <a:srgbClr val="FFFFFF"/>
          </a:solidFill>
          <a:ln w="15875">
            <a:solidFill>
              <a:srgbClr val="17324D"/>
            </a:solidFill>
            <a:prstDash val="solid"/>
          </a:ln>
        </p:spPr>
      </p:sp>
      <p:sp>
        <p:nvSpPr>
          <p:cNvPr id="17" name="Text 15"/>
          <p:cNvSpPr txBox="1"/>
          <p:nvPr/>
        </p:nvSpPr>
        <p:spPr>
          <a:xfrm>
            <a:off x="566928" y="2779776"/>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3</a:t>
            </a:r>
            <a:endParaRPr lang="en-US" sz="1400" dirty="0"/>
          </a:p>
        </p:txBody>
      </p:sp>
      <p:sp>
        <p:nvSpPr>
          <p:cNvPr id="18" name="Text 16"/>
          <p:cNvSpPr txBox="1"/>
          <p:nvPr/>
        </p:nvSpPr>
        <p:spPr>
          <a:xfrm>
            <a:off x="1051560" y="2715768"/>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気管支を拡張させる。</a:t>
            </a:r>
            <a:endParaRPr lang="en-US" sz="1500" dirty="0"/>
          </a:p>
        </p:txBody>
      </p:sp>
      <p:sp>
        <p:nvSpPr>
          <p:cNvPr id="19" name="Shape 17"/>
          <p:cNvSpPr/>
          <p:nvPr/>
        </p:nvSpPr>
        <p:spPr>
          <a:xfrm>
            <a:off x="457200" y="3319272"/>
            <a:ext cx="8229600" cy="493776"/>
          </a:xfrm>
          <a:prstGeom prst="roundRect">
            <a:avLst>
              <a:gd name="adj" fmla="val 14815"/>
            </a:avLst>
          </a:prstGeom>
          <a:solidFill>
            <a:srgbClr val="EAF2F8"/>
          </a:solidFill>
          <a:ln/>
        </p:spPr>
      </p:sp>
      <p:sp>
        <p:nvSpPr>
          <p:cNvPr id="20" name="Shape 18"/>
          <p:cNvSpPr/>
          <p:nvPr/>
        </p:nvSpPr>
        <p:spPr>
          <a:xfrm>
            <a:off x="566928" y="3383280"/>
            <a:ext cx="365760" cy="365760"/>
          </a:xfrm>
          <a:prstGeom prst="ellipse">
            <a:avLst/>
          </a:prstGeom>
          <a:solidFill>
            <a:srgbClr val="FFFFFF"/>
          </a:solidFill>
          <a:ln w="15875">
            <a:solidFill>
              <a:srgbClr val="17324D"/>
            </a:solidFill>
            <a:prstDash val="solid"/>
          </a:ln>
        </p:spPr>
      </p:sp>
      <p:sp>
        <p:nvSpPr>
          <p:cNvPr id="21" name="Text 19"/>
          <p:cNvSpPr txBox="1"/>
          <p:nvPr/>
        </p:nvSpPr>
        <p:spPr>
          <a:xfrm>
            <a:off x="566928" y="3383280"/>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4</a:t>
            </a:r>
            <a:endParaRPr lang="en-US" sz="1400" dirty="0"/>
          </a:p>
        </p:txBody>
      </p:sp>
      <p:sp>
        <p:nvSpPr>
          <p:cNvPr id="22" name="Text 20"/>
          <p:cNvSpPr txBox="1"/>
          <p:nvPr/>
        </p:nvSpPr>
        <p:spPr>
          <a:xfrm>
            <a:off x="1051560" y="3319272"/>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心拍数を減少させる。</a:t>
            </a:r>
            <a:endParaRPr lang="en-US" sz="1500" dirty="0"/>
          </a:p>
        </p:txBody>
      </p:sp>
      <p:sp>
        <p:nvSpPr>
          <p:cNvPr id="23" name="Shape 21"/>
          <p:cNvSpPr/>
          <p:nvPr/>
        </p:nvSpPr>
        <p:spPr>
          <a:xfrm>
            <a:off x="457200" y="3922776"/>
            <a:ext cx="8229600" cy="493776"/>
          </a:xfrm>
          <a:prstGeom prst="roundRect">
            <a:avLst>
              <a:gd name="adj" fmla="val 14815"/>
            </a:avLst>
          </a:prstGeom>
          <a:solidFill>
            <a:srgbClr val="EAF2F8"/>
          </a:solidFill>
          <a:ln/>
        </p:spPr>
      </p:sp>
      <p:sp>
        <p:nvSpPr>
          <p:cNvPr id="24" name="Shape 22"/>
          <p:cNvSpPr/>
          <p:nvPr/>
        </p:nvSpPr>
        <p:spPr>
          <a:xfrm>
            <a:off x="566928" y="3986784"/>
            <a:ext cx="365760" cy="365760"/>
          </a:xfrm>
          <a:prstGeom prst="ellipse">
            <a:avLst/>
          </a:prstGeom>
          <a:solidFill>
            <a:srgbClr val="FFFFFF"/>
          </a:solidFill>
          <a:ln w="15875">
            <a:solidFill>
              <a:srgbClr val="17324D"/>
            </a:solidFill>
            <a:prstDash val="solid"/>
          </a:ln>
        </p:spPr>
      </p:sp>
      <p:sp>
        <p:nvSpPr>
          <p:cNvPr id="25" name="Text 23"/>
          <p:cNvSpPr txBox="1"/>
          <p:nvPr/>
        </p:nvSpPr>
        <p:spPr>
          <a:xfrm>
            <a:off x="566928" y="3986784"/>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5</a:t>
            </a:r>
            <a:endParaRPr lang="en-US" sz="1400" dirty="0"/>
          </a:p>
        </p:txBody>
      </p:sp>
      <p:sp>
        <p:nvSpPr>
          <p:cNvPr id="26" name="Text 24"/>
          <p:cNvSpPr txBox="1"/>
          <p:nvPr/>
        </p:nvSpPr>
        <p:spPr>
          <a:xfrm>
            <a:off x="1051560" y="3922776"/>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胃腸の運動を促進させる。</a:t>
            </a:r>
            <a:endParaRPr lang="en-US" sz="15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74320"/>
            <a:ext cx="868680" cy="384048"/>
          </a:xfrm>
          <a:prstGeom prst="roundRect">
            <a:avLst>
              <a:gd name="adj" fmla="val 19048"/>
            </a:avLst>
          </a:prstGeom>
          <a:solidFill>
            <a:srgbClr val="D9534F"/>
          </a:solidFill>
          <a:ln/>
        </p:spPr>
      </p:sp>
      <p:sp>
        <p:nvSpPr>
          <p:cNvPr id="3" name="Text 1"/>
          <p:cNvSpPr txBox="1"/>
          <p:nvPr/>
        </p:nvSpPr>
        <p:spPr>
          <a:xfrm>
            <a:off x="457200" y="274320"/>
            <a:ext cx="86868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解説</a:t>
            </a:r>
            <a:endParaRPr lang="en-US" sz="1300" dirty="0"/>
          </a:p>
        </p:txBody>
      </p:sp>
      <p:sp>
        <p:nvSpPr>
          <p:cNvPr id="4" name="Text 2"/>
          <p:cNvSpPr txBox="1"/>
          <p:nvPr/>
        </p:nvSpPr>
        <p:spPr>
          <a:xfrm>
            <a:off x="1417320" y="274320"/>
            <a:ext cx="731520" cy="384048"/>
          </a:xfrm>
          <a:prstGeom prst="rect">
            <a:avLst/>
          </a:prstGeom>
          <a:noFill/>
          <a:ln/>
        </p:spPr>
        <p:txBody>
          <a:bodyPr wrap="square" lIns="0" tIns="0" rIns="0" bIns="0" rtlCol="0" anchor="ctr"/>
          <a:lstStyle/>
          <a:p>
            <a:pPr indent="0" marL="0">
              <a:buNone/>
            </a:pPr>
            <a:r>
              <a:rPr lang="en-US" sz="2000" b="1" dirty="0">
                <a:solidFill>
                  <a:srgbClr val="17324D"/>
                </a:solidFill>
                <a:latin typeface="Arial" pitchFamily="34" charset="0"/>
                <a:ea typeface="Arial" pitchFamily="34" charset="-122"/>
                <a:cs typeface="Arial" pitchFamily="34" charset="-120"/>
              </a:rPr>
              <a:t>[12]</a:t>
            </a:r>
            <a:endParaRPr lang="en-US" sz="2000" dirty="0"/>
          </a:p>
        </p:txBody>
      </p:sp>
      <p:sp>
        <p:nvSpPr>
          <p:cNvPr id="5" name="Text 3"/>
          <p:cNvSpPr txBox="1"/>
          <p:nvPr/>
        </p:nvSpPr>
        <p:spPr>
          <a:xfrm>
            <a:off x="5943600" y="274320"/>
            <a:ext cx="2743200" cy="384048"/>
          </a:xfrm>
          <a:prstGeom prst="rect">
            <a:avLst/>
          </a:prstGeom>
          <a:noFill/>
          <a:ln/>
        </p:spPr>
        <p:txBody>
          <a:bodyPr wrap="square" lIns="0" tIns="0" rIns="0" bIns="0" rtlCol="0" anchor="ctr"/>
          <a:lstStyle/>
          <a:p>
            <a:pPr algn="r" indent="0" marL="0">
              <a:buNone/>
            </a:pPr>
            <a:r>
              <a:rPr lang="en-US" sz="1100" dirty="0">
                <a:solidFill>
                  <a:srgbClr val="5F6B76"/>
                </a:solidFill>
                <a:latin typeface="Meiryo" pitchFamily="34" charset="0"/>
                <a:ea typeface="Meiryo" pitchFamily="34" charset="-122"/>
                <a:cs typeface="Meiryo" pitchFamily="34" charset="-120"/>
              </a:rPr>
              <a:t>55回午前63</a:t>
            </a:r>
            <a:endParaRPr lang="en-US" sz="1100" dirty="0"/>
          </a:p>
        </p:txBody>
      </p:sp>
      <p:sp>
        <p:nvSpPr>
          <p:cNvPr id="6" name="Text 4"/>
          <p:cNvSpPr txBox="1"/>
          <p:nvPr/>
        </p:nvSpPr>
        <p:spPr>
          <a:xfrm>
            <a:off x="457200" y="731520"/>
            <a:ext cx="8229600" cy="594360"/>
          </a:xfrm>
          <a:prstGeom prst="rect">
            <a:avLst/>
          </a:prstGeom>
          <a:noFill/>
          <a:ln/>
        </p:spPr>
        <p:txBody>
          <a:bodyPr wrap="square" lIns="0" tIns="0" rIns="0" bIns="0" rtlCol="0" anchor="t"/>
          <a:lstStyle/>
          <a:p>
            <a:pPr indent="0" marL="0">
              <a:buNone/>
            </a:pPr>
            <a:r>
              <a:rPr lang="en-US" sz="1700" b="1" dirty="0">
                <a:solidFill>
                  <a:srgbClr val="222222"/>
                </a:solidFill>
                <a:latin typeface="Meiryo" pitchFamily="34" charset="0"/>
                <a:ea typeface="Meiryo" pitchFamily="34" charset="-122"/>
                <a:cs typeface="Meiryo" pitchFamily="34" charset="-120"/>
              </a:rPr>
              <a:t>交感神経の作用はどれか。</a:t>
            </a:r>
            <a:endParaRPr lang="en-US" sz="1700" dirty="0"/>
          </a:p>
        </p:txBody>
      </p:sp>
      <p:sp>
        <p:nvSpPr>
          <p:cNvPr id="7" name="Shape 5"/>
          <p:cNvSpPr/>
          <p:nvPr/>
        </p:nvSpPr>
        <p:spPr>
          <a:xfrm>
            <a:off x="457200" y="1417320"/>
            <a:ext cx="8229600" cy="457200"/>
          </a:xfrm>
          <a:prstGeom prst="roundRect">
            <a:avLst>
              <a:gd name="adj" fmla="val 16000"/>
            </a:avLst>
          </a:prstGeom>
          <a:solidFill>
            <a:srgbClr val="F4F6F8"/>
          </a:solidFill>
          <a:ln/>
        </p:spPr>
      </p:sp>
      <p:sp>
        <p:nvSpPr>
          <p:cNvPr id="8" name="Shape 6"/>
          <p:cNvSpPr/>
          <p:nvPr/>
        </p:nvSpPr>
        <p:spPr>
          <a:xfrm>
            <a:off x="548640" y="1481328"/>
            <a:ext cx="329184" cy="329184"/>
          </a:xfrm>
          <a:prstGeom prst="ellipse">
            <a:avLst/>
          </a:prstGeom>
          <a:solidFill>
            <a:srgbClr val="FFFFFF"/>
          </a:solidFill>
          <a:ln w="12700">
            <a:solidFill>
              <a:srgbClr val="8A96A3"/>
            </a:solidFill>
            <a:prstDash val="solid"/>
          </a:ln>
        </p:spPr>
      </p:sp>
      <p:sp>
        <p:nvSpPr>
          <p:cNvPr id="9" name="Text 7"/>
          <p:cNvSpPr txBox="1"/>
          <p:nvPr/>
        </p:nvSpPr>
        <p:spPr>
          <a:xfrm>
            <a:off x="548640" y="1481328"/>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1</a:t>
            </a:r>
            <a:endParaRPr lang="en-US" sz="1300" dirty="0"/>
          </a:p>
        </p:txBody>
      </p:sp>
      <p:sp>
        <p:nvSpPr>
          <p:cNvPr id="10" name="Text 8"/>
          <p:cNvSpPr txBox="1"/>
          <p:nvPr/>
        </p:nvSpPr>
        <p:spPr>
          <a:xfrm>
            <a:off x="987552" y="1417320"/>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瞳孔を縮小させる。</a:t>
            </a:r>
            <a:endParaRPr lang="en-US" sz="1200" dirty="0"/>
          </a:p>
        </p:txBody>
      </p:sp>
      <p:sp>
        <p:nvSpPr>
          <p:cNvPr id="11" name="Text 9"/>
          <p:cNvSpPr txBox="1"/>
          <p:nvPr/>
        </p:nvSpPr>
        <p:spPr>
          <a:xfrm>
            <a:off x="4096512" y="1417320"/>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副交感</a:t>
            </a:r>
            <a:endParaRPr lang="en-US" sz="1100" dirty="0"/>
          </a:p>
        </p:txBody>
      </p:sp>
      <p:sp>
        <p:nvSpPr>
          <p:cNvPr id="12" name="Shape 10"/>
          <p:cNvSpPr/>
          <p:nvPr/>
        </p:nvSpPr>
        <p:spPr>
          <a:xfrm>
            <a:off x="457200" y="1947672"/>
            <a:ext cx="8229600" cy="457200"/>
          </a:xfrm>
          <a:prstGeom prst="roundRect">
            <a:avLst>
              <a:gd name="adj" fmla="val 16000"/>
            </a:avLst>
          </a:prstGeom>
          <a:solidFill>
            <a:srgbClr val="F4F6F8"/>
          </a:solidFill>
          <a:ln/>
        </p:spPr>
      </p:sp>
      <p:sp>
        <p:nvSpPr>
          <p:cNvPr id="13" name="Shape 11"/>
          <p:cNvSpPr/>
          <p:nvPr/>
        </p:nvSpPr>
        <p:spPr>
          <a:xfrm>
            <a:off x="548640" y="2011680"/>
            <a:ext cx="329184" cy="329184"/>
          </a:xfrm>
          <a:prstGeom prst="ellipse">
            <a:avLst/>
          </a:prstGeom>
          <a:solidFill>
            <a:srgbClr val="FFFFFF"/>
          </a:solidFill>
          <a:ln w="12700">
            <a:solidFill>
              <a:srgbClr val="8A96A3"/>
            </a:solidFill>
            <a:prstDash val="solid"/>
          </a:ln>
        </p:spPr>
      </p:sp>
      <p:sp>
        <p:nvSpPr>
          <p:cNvPr id="14" name="Text 12"/>
          <p:cNvSpPr txBox="1"/>
          <p:nvPr/>
        </p:nvSpPr>
        <p:spPr>
          <a:xfrm>
            <a:off x="548640" y="2011680"/>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2</a:t>
            </a:r>
            <a:endParaRPr lang="en-US" sz="1300" dirty="0"/>
          </a:p>
        </p:txBody>
      </p:sp>
      <p:sp>
        <p:nvSpPr>
          <p:cNvPr id="15" name="Text 13"/>
          <p:cNvSpPr txBox="1"/>
          <p:nvPr/>
        </p:nvSpPr>
        <p:spPr>
          <a:xfrm>
            <a:off x="987552" y="1947672"/>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排尿を促進させる。</a:t>
            </a:r>
            <a:endParaRPr lang="en-US" sz="1200" dirty="0"/>
          </a:p>
        </p:txBody>
      </p:sp>
      <p:sp>
        <p:nvSpPr>
          <p:cNvPr id="16" name="Text 14"/>
          <p:cNvSpPr txBox="1"/>
          <p:nvPr/>
        </p:nvSpPr>
        <p:spPr>
          <a:xfrm>
            <a:off x="4096512" y="1947672"/>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副交感</a:t>
            </a:r>
            <a:endParaRPr lang="en-US" sz="1100" dirty="0"/>
          </a:p>
        </p:txBody>
      </p:sp>
      <p:sp>
        <p:nvSpPr>
          <p:cNvPr id="17" name="Shape 15"/>
          <p:cNvSpPr/>
          <p:nvPr/>
        </p:nvSpPr>
        <p:spPr>
          <a:xfrm>
            <a:off x="457200" y="2478024"/>
            <a:ext cx="8229600" cy="457200"/>
          </a:xfrm>
          <a:prstGeom prst="roundRect">
            <a:avLst>
              <a:gd name="adj" fmla="val 16000"/>
            </a:avLst>
          </a:prstGeom>
          <a:solidFill>
            <a:srgbClr val="FBE3E2"/>
          </a:solidFill>
          <a:ln w="19050">
            <a:solidFill>
              <a:srgbClr val="D9534F"/>
            </a:solidFill>
            <a:prstDash val="solid"/>
          </a:ln>
        </p:spPr>
      </p:sp>
      <p:sp>
        <p:nvSpPr>
          <p:cNvPr id="18" name="Shape 16"/>
          <p:cNvSpPr/>
          <p:nvPr/>
        </p:nvSpPr>
        <p:spPr>
          <a:xfrm>
            <a:off x="548640" y="2542032"/>
            <a:ext cx="329184" cy="329184"/>
          </a:xfrm>
          <a:prstGeom prst="ellipse">
            <a:avLst/>
          </a:prstGeom>
          <a:solidFill>
            <a:srgbClr val="D9534F"/>
          </a:solidFill>
          <a:ln w="12700">
            <a:solidFill>
              <a:srgbClr val="D9534F"/>
            </a:solidFill>
            <a:prstDash val="solid"/>
          </a:ln>
        </p:spPr>
      </p:sp>
      <p:sp>
        <p:nvSpPr>
          <p:cNvPr id="19" name="Text 17"/>
          <p:cNvSpPr txBox="1"/>
          <p:nvPr/>
        </p:nvSpPr>
        <p:spPr>
          <a:xfrm>
            <a:off x="548640" y="254203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20" name="Text 18"/>
          <p:cNvSpPr txBox="1"/>
          <p:nvPr/>
        </p:nvSpPr>
        <p:spPr>
          <a:xfrm>
            <a:off x="987552" y="2478024"/>
            <a:ext cx="3017520" cy="457200"/>
          </a:xfrm>
          <a:prstGeom prst="rect">
            <a:avLst/>
          </a:prstGeom>
          <a:noFill/>
          <a:ln/>
        </p:spPr>
        <p:txBody>
          <a:bodyPr wrap="square" lIns="0" tIns="0" rIns="0" bIns="0" rtlCol="0" anchor="ctr"/>
          <a:lstStyle/>
          <a:p>
            <a:pPr indent="0" marL="0">
              <a:buNone/>
            </a:pPr>
            <a:r>
              <a:rPr lang="en-US" sz="1200" b="1" dirty="0">
                <a:solidFill>
                  <a:srgbClr val="D9534F"/>
                </a:solidFill>
                <a:latin typeface="Meiryo" pitchFamily="34" charset="0"/>
                <a:ea typeface="Meiryo" pitchFamily="34" charset="-122"/>
                <a:cs typeface="Meiryo" pitchFamily="34" charset="-120"/>
              </a:rPr>
              <a:t>気管支を拡張させる。</a:t>
            </a:r>
            <a:endParaRPr lang="en-US" sz="1200" dirty="0"/>
          </a:p>
        </p:txBody>
      </p:sp>
      <p:sp>
        <p:nvSpPr>
          <p:cNvPr id="21" name="Text 19"/>
          <p:cNvSpPr txBox="1"/>
          <p:nvPr/>
        </p:nvSpPr>
        <p:spPr>
          <a:xfrm>
            <a:off x="4096512" y="2478024"/>
            <a:ext cx="4526280" cy="457200"/>
          </a:xfrm>
          <a:prstGeom prst="rect">
            <a:avLst/>
          </a:prstGeom>
          <a:noFill/>
          <a:ln/>
        </p:spPr>
        <p:txBody>
          <a:bodyPr wrap="square" lIns="0" tIns="0" rIns="0" bIns="0" rtlCol="0" anchor="ctr"/>
          <a:lstStyle/>
          <a:p>
            <a:pPr indent="0" marL="0">
              <a:buNone/>
            </a:pPr>
            <a:r>
              <a:rPr lang="en-US" sz="1100" dirty="0">
                <a:solidFill>
                  <a:srgbClr val="222222"/>
                </a:solidFill>
                <a:latin typeface="Meiryo" pitchFamily="34" charset="0"/>
                <a:ea typeface="Meiryo" pitchFamily="34" charset="-122"/>
                <a:cs typeface="Meiryo" pitchFamily="34" charset="-120"/>
              </a:rPr>
              <a:t>交感 ○</a:t>
            </a:r>
            <a:endParaRPr lang="en-US" sz="1100" dirty="0"/>
          </a:p>
        </p:txBody>
      </p:sp>
      <p:sp>
        <p:nvSpPr>
          <p:cNvPr id="22" name="Shape 20"/>
          <p:cNvSpPr/>
          <p:nvPr/>
        </p:nvSpPr>
        <p:spPr>
          <a:xfrm>
            <a:off x="457200" y="3008376"/>
            <a:ext cx="8229600" cy="457200"/>
          </a:xfrm>
          <a:prstGeom prst="roundRect">
            <a:avLst>
              <a:gd name="adj" fmla="val 16000"/>
            </a:avLst>
          </a:prstGeom>
          <a:solidFill>
            <a:srgbClr val="F4F6F8"/>
          </a:solidFill>
          <a:ln/>
        </p:spPr>
      </p:sp>
      <p:sp>
        <p:nvSpPr>
          <p:cNvPr id="23" name="Shape 21"/>
          <p:cNvSpPr/>
          <p:nvPr/>
        </p:nvSpPr>
        <p:spPr>
          <a:xfrm>
            <a:off x="548640" y="3072384"/>
            <a:ext cx="329184" cy="329184"/>
          </a:xfrm>
          <a:prstGeom prst="ellipse">
            <a:avLst/>
          </a:prstGeom>
          <a:solidFill>
            <a:srgbClr val="FFFFFF"/>
          </a:solidFill>
          <a:ln w="12700">
            <a:solidFill>
              <a:srgbClr val="8A96A3"/>
            </a:solidFill>
            <a:prstDash val="solid"/>
          </a:ln>
        </p:spPr>
      </p:sp>
      <p:sp>
        <p:nvSpPr>
          <p:cNvPr id="24" name="Text 22"/>
          <p:cNvSpPr txBox="1"/>
          <p:nvPr/>
        </p:nvSpPr>
        <p:spPr>
          <a:xfrm>
            <a:off x="548640" y="3072384"/>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4</a:t>
            </a:r>
            <a:endParaRPr lang="en-US" sz="1300" dirty="0"/>
          </a:p>
        </p:txBody>
      </p:sp>
      <p:sp>
        <p:nvSpPr>
          <p:cNvPr id="25" name="Text 23"/>
          <p:cNvSpPr txBox="1"/>
          <p:nvPr/>
        </p:nvSpPr>
        <p:spPr>
          <a:xfrm>
            <a:off x="987552" y="3008376"/>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心拍数を減少させる。</a:t>
            </a:r>
            <a:endParaRPr lang="en-US" sz="1200" dirty="0"/>
          </a:p>
        </p:txBody>
      </p:sp>
      <p:sp>
        <p:nvSpPr>
          <p:cNvPr id="26" name="Text 24"/>
          <p:cNvSpPr txBox="1"/>
          <p:nvPr/>
        </p:nvSpPr>
        <p:spPr>
          <a:xfrm>
            <a:off x="4096512" y="3008376"/>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副交感</a:t>
            </a:r>
            <a:endParaRPr lang="en-US" sz="1100" dirty="0"/>
          </a:p>
        </p:txBody>
      </p:sp>
      <p:sp>
        <p:nvSpPr>
          <p:cNvPr id="27" name="Shape 25"/>
          <p:cNvSpPr/>
          <p:nvPr/>
        </p:nvSpPr>
        <p:spPr>
          <a:xfrm>
            <a:off x="457200" y="3538728"/>
            <a:ext cx="8229600" cy="457200"/>
          </a:xfrm>
          <a:prstGeom prst="roundRect">
            <a:avLst>
              <a:gd name="adj" fmla="val 16000"/>
            </a:avLst>
          </a:prstGeom>
          <a:solidFill>
            <a:srgbClr val="F4F6F8"/>
          </a:solidFill>
          <a:ln/>
        </p:spPr>
      </p:sp>
      <p:sp>
        <p:nvSpPr>
          <p:cNvPr id="28" name="Shape 26"/>
          <p:cNvSpPr/>
          <p:nvPr/>
        </p:nvSpPr>
        <p:spPr>
          <a:xfrm>
            <a:off x="548640" y="3602736"/>
            <a:ext cx="329184" cy="329184"/>
          </a:xfrm>
          <a:prstGeom prst="ellipse">
            <a:avLst/>
          </a:prstGeom>
          <a:solidFill>
            <a:srgbClr val="FFFFFF"/>
          </a:solidFill>
          <a:ln w="12700">
            <a:solidFill>
              <a:srgbClr val="8A96A3"/>
            </a:solidFill>
            <a:prstDash val="solid"/>
          </a:ln>
        </p:spPr>
      </p:sp>
      <p:sp>
        <p:nvSpPr>
          <p:cNvPr id="29" name="Text 27"/>
          <p:cNvSpPr txBox="1"/>
          <p:nvPr/>
        </p:nvSpPr>
        <p:spPr>
          <a:xfrm>
            <a:off x="548640" y="3602736"/>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5</a:t>
            </a:r>
            <a:endParaRPr lang="en-US" sz="1300" dirty="0"/>
          </a:p>
        </p:txBody>
      </p:sp>
      <p:sp>
        <p:nvSpPr>
          <p:cNvPr id="30" name="Text 28"/>
          <p:cNvSpPr txBox="1"/>
          <p:nvPr/>
        </p:nvSpPr>
        <p:spPr>
          <a:xfrm>
            <a:off x="987552" y="3538728"/>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胃腸の運動を促進させる。</a:t>
            </a:r>
            <a:endParaRPr lang="en-US" sz="1200" dirty="0"/>
          </a:p>
        </p:txBody>
      </p:sp>
      <p:sp>
        <p:nvSpPr>
          <p:cNvPr id="31" name="Text 29"/>
          <p:cNvSpPr txBox="1"/>
          <p:nvPr/>
        </p:nvSpPr>
        <p:spPr>
          <a:xfrm>
            <a:off x="4096512" y="3538728"/>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副交感</a:t>
            </a:r>
            <a:endParaRPr lang="en-US" sz="1100" dirty="0"/>
          </a:p>
        </p:txBody>
      </p:sp>
      <p:sp>
        <p:nvSpPr>
          <p:cNvPr id="32" name="Shape 30"/>
          <p:cNvSpPr/>
          <p:nvPr/>
        </p:nvSpPr>
        <p:spPr>
          <a:xfrm>
            <a:off x="457200" y="4160520"/>
            <a:ext cx="1463040" cy="685800"/>
          </a:xfrm>
          <a:prstGeom prst="roundRect">
            <a:avLst>
              <a:gd name="adj" fmla="val 10667"/>
            </a:avLst>
          </a:prstGeom>
          <a:solidFill>
            <a:srgbClr val="D9534F"/>
          </a:solidFill>
          <a:ln/>
        </p:spPr>
      </p:sp>
      <p:sp>
        <p:nvSpPr>
          <p:cNvPr id="33" name="Text 31"/>
          <p:cNvSpPr txBox="1"/>
          <p:nvPr/>
        </p:nvSpPr>
        <p:spPr>
          <a:xfrm>
            <a:off x="457200" y="4160520"/>
            <a:ext cx="1463040" cy="685800"/>
          </a:xfrm>
          <a:prstGeom prst="rect">
            <a:avLst/>
          </a:prstGeom>
          <a:noFill/>
          <a:ln/>
        </p:spPr>
        <p:txBody>
          <a:bodyPr wrap="square" lIns="0" tIns="0" rIns="0" bIns="0" rtlCol="0" anchor="ctr"/>
          <a:lstStyle/>
          <a:p>
            <a:pPr algn="ctr" indent="0" marL="0">
              <a:buNone/>
            </a:pPr>
            <a:r>
              <a:rPr lang="en-US" sz="1100" dirty="0">
                <a:solidFill>
                  <a:srgbClr val="FFFFFF"/>
                </a:solidFill>
                <a:latin typeface="Meiryo" pitchFamily="34" charset="0"/>
                <a:ea typeface="Meiryo" pitchFamily="34" charset="-122"/>
                <a:cs typeface="Meiryo" pitchFamily="34" charset="-120"/>
              </a:rPr>
              <a:t>正解</a:t>
            </a:r>
            <a:endParaRPr lang="en-US" sz="1100" dirty="0"/>
          </a:p>
          <a:p>
            <a:pPr algn="ctr" indent="0" marL="0">
              <a:buNone/>
            </a:pPr>
            <a:r>
              <a:rPr lang="en-US" sz="2200" b="1" dirty="0">
                <a:solidFill>
                  <a:srgbClr val="FFFFFF"/>
                </a:solidFill>
                <a:latin typeface="Meiryo" pitchFamily="34" charset="0"/>
                <a:ea typeface="Meiryo" pitchFamily="34" charset="-122"/>
                <a:cs typeface="Meiryo" pitchFamily="34" charset="-120"/>
              </a:rPr>
              <a:t>3</a:t>
            </a:r>
            <a:endParaRPr lang="en-US" sz="1100" dirty="0"/>
          </a:p>
        </p:txBody>
      </p:sp>
      <p:sp>
        <p:nvSpPr>
          <p:cNvPr id="34" name="Shape 32"/>
          <p:cNvSpPr/>
          <p:nvPr/>
        </p:nvSpPr>
        <p:spPr>
          <a:xfrm>
            <a:off x="2057400" y="4160520"/>
            <a:ext cx="6629400" cy="685800"/>
          </a:xfrm>
          <a:prstGeom prst="roundRect">
            <a:avLst>
              <a:gd name="adj" fmla="val 10667"/>
            </a:avLst>
          </a:prstGeom>
          <a:solidFill>
            <a:srgbClr val="EAF2F8"/>
          </a:solidFill>
          <a:ln/>
        </p:spPr>
      </p:sp>
      <p:sp>
        <p:nvSpPr>
          <p:cNvPr id="35" name="Text 33"/>
          <p:cNvSpPr txBox="1"/>
          <p:nvPr/>
        </p:nvSpPr>
        <p:spPr>
          <a:xfrm>
            <a:off x="2194560" y="4160520"/>
            <a:ext cx="6400800" cy="685800"/>
          </a:xfrm>
          <a:prstGeom prst="rect">
            <a:avLst/>
          </a:prstGeom>
          <a:noFill/>
          <a:ln/>
        </p:spPr>
        <p:txBody>
          <a:bodyPr wrap="square" lIns="0" tIns="0" rIns="0" bIns="0" rtlCol="0" anchor="ctr"/>
          <a:lstStyle/>
          <a:p>
            <a:pPr indent="0" marL="0">
              <a:buNone/>
            </a:pPr>
            <a:r>
              <a:rPr lang="en-US" sz="1200" b="1" dirty="0">
                <a:solidFill>
                  <a:srgbClr val="2A7F9E"/>
                </a:solidFill>
                <a:latin typeface="Meiryo" pitchFamily="34" charset="0"/>
                <a:ea typeface="Meiryo" pitchFamily="34" charset="-122"/>
                <a:cs typeface="Meiryo" pitchFamily="34" charset="-120"/>
              </a:rPr>
              <a:t>POINT　</a:t>
            </a:r>
            <a:pPr indent="0" marL="0">
              <a:buNone/>
            </a:pPr>
            <a:r>
              <a:rPr lang="en-US" sz="1200" dirty="0">
                <a:solidFill>
                  <a:srgbClr val="222222"/>
                </a:solidFill>
                <a:latin typeface="Meiryo" pitchFamily="34" charset="0"/>
                <a:ea typeface="Meiryo" pitchFamily="34" charset="-122"/>
                <a:cs typeface="Meiryo" pitchFamily="34" charset="-120"/>
              </a:rPr>
              <a:t>交感神経＝「戦いモード」：獲物を見る（散瞳）、大きく息をする（気管支拡張）、食事・排尿はしない。</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74320"/>
            <a:ext cx="868680" cy="384048"/>
          </a:xfrm>
          <a:prstGeom prst="roundRect">
            <a:avLst>
              <a:gd name="adj" fmla="val 19048"/>
            </a:avLst>
          </a:prstGeom>
          <a:solidFill>
            <a:srgbClr val="17324D"/>
          </a:solidFill>
          <a:ln/>
        </p:spPr>
      </p:sp>
      <p:sp>
        <p:nvSpPr>
          <p:cNvPr id="3" name="Text 1"/>
          <p:cNvSpPr txBox="1"/>
          <p:nvPr/>
        </p:nvSpPr>
        <p:spPr>
          <a:xfrm>
            <a:off x="457200" y="274320"/>
            <a:ext cx="86868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問題</a:t>
            </a:r>
            <a:endParaRPr lang="en-US" sz="1300" dirty="0"/>
          </a:p>
        </p:txBody>
      </p:sp>
      <p:sp>
        <p:nvSpPr>
          <p:cNvPr id="4" name="Text 2"/>
          <p:cNvSpPr txBox="1"/>
          <p:nvPr/>
        </p:nvSpPr>
        <p:spPr>
          <a:xfrm>
            <a:off x="1417320" y="274320"/>
            <a:ext cx="731520" cy="384048"/>
          </a:xfrm>
          <a:prstGeom prst="rect">
            <a:avLst/>
          </a:prstGeom>
          <a:noFill/>
          <a:ln/>
        </p:spPr>
        <p:txBody>
          <a:bodyPr wrap="square" lIns="0" tIns="0" rIns="0" bIns="0" rtlCol="0" anchor="ctr"/>
          <a:lstStyle/>
          <a:p>
            <a:pPr indent="0" marL="0">
              <a:buNone/>
            </a:pPr>
            <a:r>
              <a:rPr lang="en-US" sz="2000" b="1" dirty="0">
                <a:solidFill>
                  <a:srgbClr val="17324D"/>
                </a:solidFill>
                <a:latin typeface="Arial" pitchFamily="34" charset="0"/>
                <a:ea typeface="Arial" pitchFamily="34" charset="-122"/>
                <a:cs typeface="Arial" pitchFamily="34" charset="-120"/>
              </a:rPr>
              <a:t>[13]</a:t>
            </a:r>
            <a:endParaRPr lang="en-US" sz="2000" dirty="0"/>
          </a:p>
        </p:txBody>
      </p:sp>
      <p:sp>
        <p:nvSpPr>
          <p:cNvPr id="5" name="Text 3"/>
          <p:cNvSpPr txBox="1"/>
          <p:nvPr/>
        </p:nvSpPr>
        <p:spPr>
          <a:xfrm>
            <a:off x="5943600" y="274320"/>
            <a:ext cx="2743200" cy="384048"/>
          </a:xfrm>
          <a:prstGeom prst="rect">
            <a:avLst/>
          </a:prstGeom>
          <a:noFill/>
          <a:ln/>
        </p:spPr>
        <p:txBody>
          <a:bodyPr wrap="square" lIns="0" tIns="0" rIns="0" bIns="0" rtlCol="0" anchor="ctr"/>
          <a:lstStyle/>
          <a:p>
            <a:pPr algn="r" indent="0" marL="0">
              <a:buNone/>
            </a:pPr>
            <a:r>
              <a:rPr lang="en-US" sz="1100" dirty="0">
                <a:solidFill>
                  <a:srgbClr val="5F6B76"/>
                </a:solidFill>
                <a:latin typeface="Meiryo" pitchFamily="34" charset="0"/>
                <a:ea typeface="Meiryo" pitchFamily="34" charset="-122"/>
                <a:cs typeface="Meiryo" pitchFamily="34" charset="-120"/>
              </a:rPr>
              <a:t>54回午前64</a:t>
            </a:r>
            <a:endParaRPr lang="en-US" sz="1100" dirty="0"/>
          </a:p>
        </p:txBody>
      </p:sp>
      <p:sp>
        <p:nvSpPr>
          <p:cNvPr id="6" name="Text 4"/>
          <p:cNvSpPr txBox="1"/>
          <p:nvPr/>
        </p:nvSpPr>
        <p:spPr>
          <a:xfrm>
            <a:off x="457200" y="731520"/>
            <a:ext cx="8229600" cy="594360"/>
          </a:xfrm>
          <a:prstGeom prst="rect">
            <a:avLst/>
          </a:prstGeom>
          <a:noFill/>
          <a:ln/>
        </p:spPr>
        <p:txBody>
          <a:bodyPr wrap="square" lIns="0" tIns="0" rIns="0" bIns="0" rtlCol="0" anchor="t"/>
          <a:lstStyle/>
          <a:p>
            <a:pPr indent="0" marL="0">
              <a:buNone/>
            </a:pPr>
            <a:r>
              <a:rPr lang="en-US" sz="1700" b="1" dirty="0">
                <a:solidFill>
                  <a:srgbClr val="222222"/>
                </a:solidFill>
                <a:latin typeface="Meiryo" pitchFamily="34" charset="0"/>
                <a:ea typeface="Meiryo" pitchFamily="34" charset="-122"/>
                <a:cs typeface="Meiryo" pitchFamily="34" charset="-120"/>
              </a:rPr>
              <a:t>交感神経の機能で正しいのはどれか。</a:t>
            </a:r>
            <a:endParaRPr lang="en-US" sz="1700" dirty="0"/>
          </a:p>
        </p:txBody>
      </p:sp>
      <p:sp>
        <p:nvSpPr>
          <p:cNvPr id="7" name="Shape 5"/>
          <p:cNvSpPr/>
          <p:nvPr/>
        </p:nvSpPr>
        <p:spPr>
          <a:xfrm>
            <a:off x="457200" y="1508760"/>
            <a:ext cx="8229600" cy="493776"/>
          </a:xfrm>
          <a:prstGeom prst="roundRect">
            <a:avLst>
              <a:gd name="adj" fmla="val 14815"/>
            </a:avLst>
          </a:prstGeom>
          <a:solidFill>
            <a:srgbClr val="EAF2F8"/>
          </a:solidFill>
          <a:ln/>
        </p:spPr>
      </p:sp>
      <p:sp>
        <p:nvSpPr>
          <p:cNvPr id="8" name="Shape 6"/>
          <p:cNvSpPr/>
          <p:nvPr/>
        </p:nvSpPr>
        <p:spPr>
          <a:xfrm>
            <a:off x="566928" y="1572768"/>
            <a:ext cx="365760" cy="365760"/>
          </a:xfrm>
          <a:prstGeom prst="ellipse">
            <a:avLst/>
          </a:prstGeom>
          <a:solidFill>
            <a:srgbClr val="FFFFFF"/>
          </a:solidFill>
          <a:ln w="15875">
            <a:solidFill>
              <a:srgbClr val="17324D"/>
            </a:solidFill>
            <a:prstDash val="solid"/>
          </a:ln>
        </p:spPr>
      </p:sp>
      <p:sp>
        <p:nvSpPr>
          <p:cNvPr id="9" name="Text 7"/>
          <p:cNvSpPr txBox="1"/>
          <p:nvPr/>
        </p:nvSpPr>
        <p:spPr>
          <a:xfrm>
            <a:off x="566928" y="1572768"/>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1</a:t>
            </a:r>
            <a:endParaRPr lang="en-US" sz="1400" dirty="0"/>
          </a:p>
        </p:txBody>
      </p:sp>
      <p:sp>
        <p:nvSpPr>
          <p:cNvPr id="10" name="Text 8"/>
          <p:cNvSpPr txBox="1"/>
          <p:nvPr/>
        </p:nvSpPr>
        <p:spPr>
          <a:xfrm>
            <a:off x="1051560" y="1508760"/>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膵液分泌を促進する。</a:t>
            </a:r>
            <a:endParaRPr lang="en-US" sz="1500" dirty="0"/>
          </a:p>
        </p:txBody>
      </p:sp>
      <p:sp>
        <p:nvSpPr>
          <p:cNvPr id="11" name="Shape 9"/>
          <p:cNvSpPr/>
          <p:nvPr/>
        </p:nvSpPr>
        <p:spPr>
          <a:xfrm>
            <a:off x="457200" y="2112264"/>
            <a:ext cx="8229600" cy="493776"/>
          </a:xfrm>
          <a:prstGeom prst="roundRect">
            <a:avLst>
              <a:gd name="adj" fmla="val 14815"/>
            </a:avLst>
          </a:prstGeom>
          <a:solidFill>
            <a:srgbClr val="EAF2F8"/>
          </a:solidFill>
          <a:ln/>
        </p:spPr>
      </p:sp>
      <p:sp>
        <p:nvSpPr>
          <p:cNvPr id="12" name="Shape 10"/>
          <p:cNvSpPr/>
          <p:nvPr/>
        </p:nvSpPr>
        <p:spPr>
          <a:xfrm>
            <a:off x="566928" y="2176272"/>
            <a:ext cx="365760" cy="365760"/>
          </a:xfrm>
          <a:prstGeom prst="ellipse">
            <a:avLst/>
          </a:prstGeom>
          <a:solidFill>
            <a:srgbClr val="FFFFFF"/>
          </a:solidFill>
          <a:ln w="15875">
            <a:solidFill>
              <a:srgbClr val="17324D"/>
            </a:solidFill>
            <a:prstDash val="solid"/>
          </a:ln>
        </p:spPr>
      </p:sp>
      <p:sp>
        <p:nvSpPr>
          <p:cNvPr id="13" name="Text 11"/>
          <p:cNvSpPr txBox="1"/>
          <p:nvPr/>
        </p:nvSpPr>
        <p:spPr>
          <a:xfrm>
            <a:off x="566928" y="2176272"/>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2</a:t>
            </a:r>
            <a:endParaRPr lang="en-US" sz="1400" dirty="0"/>
          </a:p>
        </p:txBody>
      </p:sp>
      <p:sp>
        <p:nvSpPr>
          <p:cNvPr id="14" name="Text 12"/>
          <p:cNvSpPr txBox="1"/>
          <p:nvPr/>
        </p:nvSpPr>
        <p:spPr>
          <a:xfrm>
            <a:off x="1051560" y="2112264"/>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心収縮力を減少させる。</a:t>
            </a:r>
            <a:endParaRPr lang="en-US" sz="1500" dirty="0"/>
          </a:p>
        </p:txBody>
      </p:sp>
      <p:sp>
        <p:nvSpPr>
          <p:cNvPr id="15" name="Shape 13"/>
          <p:cNvSpPr/>
          <p:nvPr/>
        </p:nvSpPr>
        <p:spPr>
          <a:xfrm>
            <a:off x="457200" y="2715768"/>
            <a:ext cx="8229600" cy="493776"/>
          </a:xfrm>
          <a:prstGeom prst="roundRect">
            <a:avLst>
              <a:gd name="adj" fmla="val 14815"/>
            </a:avLst>
          </a:prstGeom>
          <a:solidFill>
            <a:srgbClr val="EAF2F8"/>
          </a:solidFill>
          <a:ln/>
        </p:spPr>
      </p:sp>
      <p:sp>
        <p:nvSpPr>
          <p:cNvPr id="16" name="Shape 14"/>
          <p:cNvSpPr/>
          <p:nvPr/>
        </p:nvSpPr>
        <p:spPr>
          <a:xfrm>
            <a:off x="566928" y="2779776"/>
            <a:ext cx="365760" cy="365760"/>
          </a:xfrm>
          <a:prstGeom prst="ellipse">
            <a:avLst/>
          </a:prstGeom>
          <a:solidFill>
            <a:srgbClr val="FFFFFF"/>
          </a:solidFill>
          <a:ln w="15875">
            <a:solidFill>
              <a:srgbClr val="17324D"/>
            </a:solidFill>
            <a:prstDash val="solid"/>
          </a:ln>
        </p:spPr>
      </p:sp>
      <p:sp>
        <p:nvSpPr>
          <p:cNvPr id="17" name="Text 15"/>
          <p:cNvSpPr txBox="1"/>
          <p:nvPr/>
        </p:nvSpPr>
        <p:spPr>
          <a:xfrm>
            <a:off x="566928" y="2779776"/>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3</a:t>
            </a:r>
            <a:endParaRPr lang="en-US" sz="1400" dirty="0"/>
          </a:p>
        </p:txBody>
      </p:sp>
      <p:sp>
        <p:nvSpPr>
          <p:cNvPr id="18" name="Text 16"/>
          <p:cNvSpPr txBox="1"/>
          <p:nvPr/>
        </p:nvSpPr>
        <p:spPr>
          <a:xfrm>
            <a:off x="1051560" y="2715768"/>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直腸平滑筋を収縮させる。</a:t>
            </a:r>
            <a:endParaRPr lang="en-US" sz="1500" dirty="0"/>
          </a:p>
        </p:txBody>
      </p:sp>
      <p:sp>
        <p:nvSpPr>
          <p:cNvPr id="19" name="Shape 17"/>
          <p:cNvSpPr/>
          <p:nvPr/>
        </p:nvSpPr>
        <p:spPr>
          <a:xfrm>
            <a:off x="457200" y="3319272"/>
            <a:ext cx="8229600" cy="493776"/>
          </a:xfrm>
          <a:prstGeom prst="roundRect">
            <a:avLst>
              <a:gd name="adj" fmla="val 14815"/>
            </a:avLst>
          </a:prstGeom>
          <a:solidFill>
            <a:srgbClr val="EAF2F8"/>
          </a:solidFill>
          <a:ln/>
        </p:spPr>
      </p:sp>
      <p:sp>
        <p:nvSpPr>
          <p:cNvPr id="20" name="Shape 18"/>
          <p:cNvSpPr/>
          <p:nvPr/>
        </p:nvSpPr>
        <p:spPr>
          <a:xfrm>
            <a:off x="566928" y="3383280"/>
            <a:ext cx="365760" cy="365760"/>
          </a:xfrm>
          <a:prstGeom prst="ellipse">
            <a:avLst/>
          </a:prstGeom>
          <a:solidFill>
            <a:srgbClr val="FFFFFF"/>
          </a:solidFill>
          <a:ln w="15875">
            <a:solidFill>
              <a:srgbClr val="17324D"/>
            </a:solidFill>
            <a:prstDash val="solid"/>
          </a:ln>
        </p:spPr>
      </p:sp>
      <p:sp>
        <p:nvSpPr>
          <p:cNvPr id="21" name="Text 19"/>
          <p:cNvSpPr txBox="1"/>
          <p:nvPr/>
        </p:nvSpPr>
        <p:spPr>
          <a:xfrm>
            <a:off x="566928" y="3383280"/>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4</a:t>
            </a:r>
            <a:endParaRPr lang="en-US" sz="1400" dirty="0"/>
          </a:p>
        </p:txBody>
      </p:sp>
      <p:sp>
        <p:nvSpPr>
          <p:cNvPr id="22" name="Text 20"/>
          <p:cNvSpPr txBox="1"/>
          <p:nvPr/>
        </p:nvSpPr>
        <p:spPr>
          <a:xfrm>
            <a:off x="1051560" y="3319272"/>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水晶体の厚さを減少させる。</a:t>
            </a:r>
            <a:endParaRPr lang="en-US" sz="1500" dirty="0"/>
          </a:p>
        </p:txBody>
      </p:sp>
      <p:sp>
        <p:nvSpPr>
          <p:cNvPr id="23" name="Shape 21"/>
          <p:cNvSpPr/>
          <p:nvPr/>
        </p:nvSpPr>
        <p:spPr>
          <a:xfrm>
            <a:off x="457200" y="3922776"/>
            <a:ext cx="8229600" cy="493776"/>
          </a:xfrm>
          <a:prstGeom prst="roundRect">
            <a:avLst>
              <a:gd name="adj" fmla="val 14815"/>
            </a:avLst>
          </a:prstGeom>
          <a:solidFill>
            <a:srgbClr val="EAF2F8"/>
          </a:solidFill>
          <a:ln/>
        </p:spPr>
      </p:sp>
      <p:sp>
        <p:nvSpPr>
          <p:cNvPr id="24" name="Shape 22"/>
          <p:cNvSpPr/>
          <p:nvPr/>
        </p:nvSpPr>
        <p:spPr>
          <a:xfrm>
            <a:off x="566928" y="3986784"/>
            <a:ext cx="365760" cy="365760"/>
          </a:xfrm>
          <a:prstGeom prst="ellipse">
            <a:avLst/>
          </a:prstGeom>
          <a:solidFill>
            <a:srgbClr val="FFFFFF"/>
          </a:solidFill>
          <a:ln w="15875">
            <a:solidFill>
              <a:srgbClr val="17324D"/>
            </a:solidFill>
            <a:prstDash val="solid"/>
          </a:ln>
        </p:spPr>
      </p:sp>
      <p:sp>
        <p:nvSpPr>
          <p:cNvPr id="25" name="Text 23"/>
          <p:cNvSpPr txBox="1"/>
          <p:nvPr/>
        </p:nvSpPr>
        <p:spPr>
          <a:xfrm>
            <a:off x="566928" y="3986784"/>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5</a:t>
            </a:r>
            <a:endParaRPr lang="en-US" sz="1400" dirty="0"/>
          </a:p>
        </p:txBody>
      </p:sp>
      <p:sp>
        <p:nvSpPr>
          <p:cNvPr id="26" name="Text 24"/>
          <p:cNvSpPr txBox="1"/>
          <p:nvPr/>
        </p:nvSpPr>
        <p:spPr>
          <a:xfrm>
            <a:off x="1051560" y="3922776"/>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肝臓でのグリコーゲン合成を促進する。</a:t>
            </a:r>
            <a:endParaRPr lang="en-US" sz="15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74320"/>
            <a:ext cx="868680" cy="384048"/>
          </a:xfrm>
          <a:prstGeom prst="roundRect">
            <a:avLst>
              <a:gd name="adj" fmla="val 19048"/>
            </a:avLst>
          </a:prstGeom>
          <a:solidFill>
            <a:srgbClr val="D9534F"/>
          </a:solidFill>
          <a:ln/>
        </p:spPr>
      </p:sp>
      <p:sp>
        <p:nvSpPr>
          <p:cNvPr id="3" name="Text 1"/>
          <p:cNvSpPr txBox="1"/>
          <p:nvPr/>
        </p:nvSpPr>
        <p:spPr>
          <a:xfrm>
            <a:off x="457200" y="274320"/>
            <a:ext cx="86868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解説</a:t>
            </a:r>
            <a:endParaRPr lang="en-US" sz="1300" dirty="0"/>
          </a:p>
        </p:txBody>
      </p:sp>
      <p:sp>
        <p:nvSpPr>
          <p:cNvPr id="4" name="Text 2"/>
          <p:cNvSpPr txBox="1"/>
          <p:nvPr/>
        </p:nvSpPr>
        <p:spPr>
          <a:xfrm>
            <a:off x="1417320" y="274320"/>
            <a:ext cx="731520" cy="384048"/>
          </a:xfrm>
          <a:prstGeom prst="rect">
            <a:avLst/>
          </a:prstGeom>
          <a:noFill/>
          <a:ln/>
        </p:spPr>
        <p:txBody>
          <a:bodyPr wrap="square" lIns="0" tIns="0" rIns="0" bIns="0" rtlCol="0" anchor="ctr"/>
          <a:lstStyle/>
          <a:p>
            <a:pPr indent="0" marL="0">
              <a:buNone/>
            </a:pPr>
            <a:r>
              <a:rPr lang="en-US" sz="2000" b="1" dirty="0">
                <a:solidFill>
                  <a:srgbClr val="17324D"/>
                </a:solidFill>
                <a:latin typeface="Arial" pitchFamily="34" charset="0"/>
                <a:ea typeface="Arial" pitchFamily="34" charset="-122"/>
                <a:cs typeface="Arial" pitchFamily="34" charset="-120"/>
              </a:rPr>
              <a:t>[13]</a:t>
            </a:r>
            <a:endParaRPr lang="en-US" sz="2000" dirty="0"/>
          </a:p>
        </p:txBody>
      </p:sp>
      <p:sp>
        <p:nvSpPr>
          <p:cNvPr id="5" name="Text 3"/>
          <p:cNvSpPr txBox="1"/>
          <p:nvPr/>
        </p:nvSpPr>
        <p:spPr>
          <a:xfrm>
            <a:off x="5943600" y="274320"/>
            <a:ext cx="2743200" cy="384048"/>
          </a:xfrm>
          <a:prstGeom prst="rect">
            <a:avLst/>
          </a:prstGeom>
          <a:noFill/>
          <a:ln/>
        </p:spPr>
        <p:txBody>
          <a:bodyPr wrap="square" lIns="0" tIns="0" rIns="0" bIns="0" rtlCol="0" anchor="ctr"/>
          <a:lstStyle/>
          <a:p>
            <a:pPr algn="r" indent="0" marL="0">
              <a:buNone/>
            </a:pPr>
            <a:r>
              <a:rPr lang="en-US" sz="1100" dirty="0">
                <a:solidFill>
                  <a:srgbClr val="5F6B76"/>
                </a:solidFill>
                <a:latin typeface="Meiryo" pitchFamily="34" charset="0"/>
                <a:ea typeface="Meiryo" pitchFamily="34" charset="-122"/>
                <a:cs typeface="Meiryo" pitchFamily="34" charset="-120"/>
              </a:rPr>
              <a:t>54回午前64</a:t>
            </a:r>
            <a:endParaRPr lang="en-US" sz="1100" dirty="0"/>
          </a:p>
        </p:txBody>
      </p:sp>
      <p:sp>
        <p:nvSpPr>
          <p:cNvPr id="6" name="Text 4"/>
          <p:cNvSpPr txBox="1"/>
          <p:nvPr/>
        </p:nvSpPr>
        <p:spPr>
          <a:xfrm>
            <a:off x="457200" y="731520"/>
            <a:ext cx="8229600" cy="594360"/>
          </a:xfrm>
          <a:prstGeom prst="rect">
            <a:avLst/>
          </a:prstGeom>
          <a:noFill/>
          <a:ln/>
        </p:spPr>
        <p:txBody>
          <a:bodyPr wrap="square" lIns="0" tIns="0" rIns="0" bIns="0" rtlCol="0" anchor="t"/>
          <a:lstStyle/>
          <a:p>
            <a:pPr indent="0" marL="0">
              <a:buNone/>
            </a:pPr>
            <a:r>
              <a:rPr lang="en-US" sz="1700" b="1" dirty="0">
                <a:solidFill>
                  <a:srgbClr val="222222"/>
                </a:solidFill>
                <a:latin typeface="Meiryo" pitchFamily="34" charset="0"/>
                <a:ea typeface="Meiryo" pitchFamily="34" charset="-122"/>
                <a:cs typeface="Meiryo" pitchFamily="34" charset="-120"/>
              </a:rPr>
              <a:t>交感神経の機能で正しいのはどれか。</a:t>
            </a:r>
            <a:endParaRPr lang="en-US" sz="1700" dirty="0"/>
          </a:p>
        </p:txBody>
      </p:sp>
      <p:sp>
        <p:nvSpPr>
          <p:cNvPr id="7" name="Shape 5"/>
          <p:cNvSpPr/>
          <p:nvPr/>
        </p:nvSpPr>
        <p:spPr>
          <a:xfrm>
            <a:off x="457200" y="1417320"/>
            <a:ext cx="8229600" cy="457200"/>
          </a:xfrm>
          <a:prstGeom prst="roundRect">
            <a:avLst>
              <a:gd name="adj" fmla="val 16000"/>
            </a:avLst>
          </a:prstGeom>
          <a:solidFill>
            <a:srgbClr val="F4F6F8"/>
          </a:solidFill>
          <a:ln/>
        </p:spPr>
      </p:sp>
      <p:sp>
        <p:nvSpPr>
          <p:cNvPr id="8" name="Shape 6"/>
          <p:cNvSpPr/>
          <p:nvPr/>
        </p:nvSpPr>
        <p:spPr>
          <a:xfrm>
            <a:off x="548640" y="1481328"/>
            <a:ext cx="329184" cy="329184"/>
          </a:xfrm>
          <a:prstGeom prst="ellipse">
            <a:avLst/>
          </a:prstGeom>
          <a:solidFill>
            <a:srgbClr val="FFFFFF"/>
          </a:solidFill>
          <a:ln w="12700">
            <a:solidFill>
              <a:srgbClr val="8A96A3"/>
            </a:solidFill>
            <a:prstDash val="solid"/>
          </a:ln>
        </p:spPr>
      </p:sp>
      <p:sp>
        <p:nvSpPr>
          <p:cNvPr id="9" name="Text 7"/>
          <p:cNvSpPr txBox="1"/>
          <p:nvPr/>
        </p:nvSpPr>
        <p:spPr>
          <a:xfrm>
            <a:off x="548640" y="1481328"/>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1</a:t>
            </a:r>
            <a:endParaRPr lang="en-US" sz="1300" dirty="0"/>
          </a:p>
        </p:txBody>
      </p:sp>
      <p:sp>
        <p:nvSpPr>
          <p:cNvPr id="10" name="Text 8"/>
          <p:cNvSpPr txBox="1"/>
          <p:nvPr/>
        </p:nvSpPr>
        <p:spPr>
          <a:xfrm>
            <a:off x="987552" y="1417320"/>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膵液分泌を促進する。</a:t>
            </a:r>
            <a:endParaRPr lang="en-US" sz="1200" dirty="0"/>
          </a:p>
        </p:txBody>
      </p:sp>
      <p:sp>
        <p:nvSpPr>
          <p:cNvPr id="11" name="Text 9"/>
          <p:cNvSpPr txBox="1"/>
          <p:nvPr/>
        </p:nvSpPr>
        <p:spPr>
          <a:xfrm>
            <a:off x="4096512" y="1417320"/>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副交感</a:t>
            </a:r>
            <a:endParaRPr lang="en-US" sz="1100" dirty="0"/>
          </a:p>
        </p:txBody>
      </p:sp>
      <p:sp>
        <p:nvSpPr>
          <p:cNvPr id="12" name="Shape 10"/>
          <p:cNvSpPr/>
          <p:nvPr/>
        </p:nvSpPr>
        <p:spPr>
          <a:xfrm>
            <a:off x="457200" y="1947672"/>
            <a:ext cx="8229600" cy="457200"/>
          </a:xfrm>
          <a:prstGeom prst="roundRect">
            <a:avLst>
              <a:gd name="adj" fmla="val 16000"/>
            </a:avLst>
          </a:prstGeom>
          <a:solidFill>
            <a:srgbClr val="F4F6F8"/>
          </a:solidFill>
          <a:ln/>
        </p:spPr>
      </p:sp>
      <p:sp>
        <p:nvSpPr>
          <p:cNvPr id="13" name="Shape 11"/>
          <p:cNvSpPr/>
          <p:nvPr/>
        </p:nvSpPr>
        <p:spPr>
          <a:xfrm>
            <a:off x="548640" y="2011680"/>
            <a:ext cx="329184" cy="329184"/>
          </a:xfrm>
          <a:prstGeom prst="ellipse">
            <a:avLst/>
          </a:prstGeom>
          <a:solidFill>
            <a:srgbClr val="FFFFFF"/>
          </a:solidFill>
          <a:ln w="12700">
            <a:solidFill>
              <a:srgbClr val="8A96A3"/>
            </a:solidFill>
            <a:prstDash val="solid"/>
          </a:ln>
        </p:spPr>
      </p:sp>
      <p:sp>
        <p:nvSpPr>
          <p:cNvPr id="14" name="Text 12"/>
          <p:cNvSpPr txBox="1"/>
          <p:nvPr/>
        </p:nvSpPr>
        <p:spPr>
          <a:xfrm>
            <a:off x="548640" y="2011680"/>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2</a:t>
            </a:r>
            <a:endParaRPr lang="en-US" sz="1300" dirty="0"/>
          </a:p>
        </p:txBody>
      </p:sp>
      <p:sp>
        <p:nvSpPr>
          <p:cNvPr id="15" name="Text 13"/>
          <p:cNvSpPr txBox="1"/>
          <p:nvPr/>
        </p:nvSpPr>
        <p:spPr>
          <a:xfrm>
            <a:off x="987552" y="1947672"/>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心収縮力を減少させる。</a:t>
            </a:r>
            <a:endParaRPr lang="en-US" sz="1200" dirty="0"/>
          </a:p>
        </p:txBody>
      </p:sp>
      <p:sp>
        <p:nvSpPr>
          <p:cNvPr id="16" name="Text 14"/>
          <p:cNvSpPr txBox="1"/>
          <p:nvPr/>
        </p:nvSpPr>
        <p:spPr>
          <a:xfrm>
            <a:off x="4096512" y="1947672"/>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交感神経は増加させる</a:t>
            </a:r>
            <a:endParaRPr lang="en-US" sz="1100" dirty="0"/>
          </a:p>
        </p:txBody>
      </p:sp>
      <p:sp>
        <p:nvSpPr>
          <p:cNvPr id="17" name="Shape 15"/>
          <p:cNvSpPr/>
          <p:nvPr/>
        </p:nvSpPr>
        <p:spPr>
          <a:xfrm>
            <a:off x="457200" y="2478024"/>
            <a:ext cx="8229600" cy="457200"/>
          </a:xfrm>
          <a:prstGeom prst="roundRect">
            <a:avLst>
              <a:gd name="adj" fmla="val 16000"/>
            </a:avLst>
          </a:prstGeom>
          <a:solidFill>
            <a:srgbClr val="F4F6F8"/>
          </a:solidFill>
          <a:ln/>
        </p:spPr>
      </p:sp>
      <p:sp>
        <p:nvSpPr>
          <p:cNvPr id="18" name="Shape 16"/>
          <p:cNvSpPr/>
          <p:nvPr/>
        </p:nvSpPr>
        <p:spPr>
          <a:xfrm>
            <a:off x="548640" y="2542032"/>
            <a:ext cx="329184" cy="329184"/>
          </a:xfrm>
          <a:prstGeom prst="ellipse">
            <a:avLst/>
          </a:prstGeom>
          <a:solidFill>
            <a:srgbClr val="FFFFFF"/>
          </a:solidFill>
          <a:ln w="12700">
            <a:solidFill>
              <a:srgbClr val="8A96A3"/>
            </a:solidFill>
            <a:prstDash val="solid"/>
          </a:ln>
        </p:spPr>
      </p:sp>
      <p:sp>
        <p:nvSpPr>
          <p:cNvPr id="19" name="Text 17"/>
          <p:cNvSpPr txBox="1"/>
          <p:nvPr/>
        </p:nvSpPr>
        <p:spPr>
          <a:xfrm>
            <a:off x="548640" y="2542032"/>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3</a:t>
            </a:r>
            <a:endParaRPr lang="en-US" sz="1300" dirty="0"/>
          </a:p>
        </p:txBody>
      </p:sp>
      <p:sp>
        <p:nvSpPr>
          <p:cNvPr id="20" name="Text 18"/>
          <p:cNvSpPr txBox="1"/>
          <p:nvPr/>
        </p:nvSpPr>
        <p:spPr>
          <a:xfrm>
            <a:off x="987552" y="2478024"/>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直腸平滑筋を収縮させる。</a:t>
            </a:r>
            <a:endParaRPr lang="en-US" sz="1200" dirty="0"/>
          </a:p>
        </p:txBody>
      </p:sp>
      <p:sp>
        <p:nvSpPr>
          <p:cNvPr id="21" name="Text 19"/>
          <p:cNvSpPr txBox="1"/>
          <p:nvPr/>
        </p:nvSpPr>
        <p:spPr>
          <a:xfrm>
            <a:off x="4096512" y="2478024"/>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副交感</a:t>
            </a:r>
            <a:endParaRPr lang="en-US" sz="1100" dirty="0"/>
          </a:p>
        </p:txBody>
      </p:sp>
      <p:sp>
        <p:nvSpPr>
          <p:cNvPr id="22" name="Shape 20"/>
          <p:cNvSpPr/>
          <p:nvPr/>
        </p:nvSpPr>
        <p:spPr>
          <a:xfrm>
            <a:off x="457200" y="3008376"/>
            <a:ext cx="8229600" cy="457200"/>
          </a:xfrm>
          <a:prstGeom prst="roundRect">
            <a:avLst>
              <a:gd name="adj" fmla="val 16000"/>
            </a:avLst>
          </a:prstGeom>
          <a:solidFill>
            <a:srgbClr val="FBE3E2"/>
          </a:solidFill>
          <a:ln w="19050">
            <a:solidFill>
              <a:srgbClr val="D9534F"/>
            </a:solidFill>
            <a:prstDash val="solid"/>
          </a:ln>
        </p:spPr>
      </p:sp>
      <p:sp>
        <p:nvSpPr>
          <p:cNvPr id="23" name="Shape 21"/>
          <p:cNvSpPr/>
          <p:nvPr/>
        </p:nvSpPr>
        <p:spPr>
          <a:xfrm>
            <a:off x="548640" y="3072384"/>
            <a:ext cx="329184" cy="329184"/>
          </a:xfrm>
          <a:prstGeom prst="ellipse">
            <a:avLst/>
          </a:prstGeom>
          <a:solidFill>
            <a:srgbClr val="D9534F"/>
          </a:solidFill>
          <a:ln w="12700">
            <a:solidFill>
              <a:srgbClr val="D9534F"/>
            </a:solidFill>
            <a:prstDash val="solid"/>
          </a:ln>
        </p:spPr>
      </p:sp>
      <p:sp>
        <p:nvSpPr>
          <p:cNvPr id="24" name="Text 22"/>
          <p:cNvSpPr txBox="1"/>
          <p:nvPr/>
        </p:nvSpPr>
        <p:spPr>
          <a:xfrm>
            <a:off x="548640" y="3072384"/>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4</a:t>
            </a:r>
            <a:endParaRPr lang="en-US" sz="1300" dirty="0"/>
          </a:p>
        </p:txBody>
      </p:sp>
      <p:sp>
        <p:nvSpPr>
          <p:cNvPr id="25" name="Text 23"/>
          <p:cNvSpPr txBox="1"/>
          <p:nvPr/>
        </p:nvSpPr>
        <p:spPr>
          <a:xfrm>
            <a:off x="987552" y="3008376"/>
            <a:ext cx="3017520" cy="457200"/>
          </a:xfrm>
          <a:prstGeom prst="rect">
            <a:avLst/>
          </a:prstGeom>
          <a:noFill/>
          <a:ln/>
        </p:spPr>
        <p:txBody>
          <a:bodyPr wrap="square" lIns="0" tIns="0" rIns="0" bIns="0" rtlCol="0" anchor="ctr"/>
          <a:lstStyle/>
          <a:p>
            <a:pPr indent="0" marL="0">
              <a:buNone/>
            </a:pPr>
            <a:r>
              <a:rPr lang="en-US" sz="1200" b="1" dirty="0">
                <a:solidFill>
                  <a:srgbClr val="D9534F"/>
                </a:solidFill>
                <a:latin typeface="Meiryo" pitchFamily="34" charset="0"/>
                <a:ea typeface="Meiryo" pitchFamily="34" charset="-122"/>
                <a:cs typeface="Meiryo" pitchFamily="34" charset="-120"/>
              </a:rPr>
              <a:t>水晶体の厚さを減少させる。</a:t>
            </a:r>
            <a:endParaRPr lang="en-US" sz="1200" dirty="0"/>
          </a:p>
        </p:txBody>
      </p:sp>
      <p:sp>
        <p:nvSpPr>
          <p:cNvPr id="26" name="Text 24"/>
          <p:cNvSpPr txBox="1"/>
          <p:nvPr/>
        </p:nvSpPr>
        <p:spPr>
          <a:xfrm>
            <a:off x="4096512" y="3008376"/>
            <a:ext cx="4526280" cy="457200"/>
          </a:xfrm>
          <a:prstGeom prst="rect">
            <a:avLst/>
          </a:prstGeom>
          <a:noFill/>
          <a:ln/>
        </p:spPr>
        <p:txBody>
          <a:bodyPr wrap="square" lIns="0" tIns="0" rIns="0" bIns="0" rtlCol="0" anchor="ctr"/>
          <a:lstStyle/>
          <a:p>
            <a:pPr indent="0" marL="0">
              <a:buNone/>
            </a:pPr>
            <a:r>
              <a:rPr lang="en-US" sz="1100" dirty="0">
                <a:solidFill>
                  <a:srgbClr val="222222"/>
                </a:solidFill>
                <a:latin typeface="Meiryo" pitchFamily="34" charset="0"/>
                <a:ea typeface="Meiryo" pitchFamily="34" charset="-122"/>
                <a:cs typeface="Meiryo" pitchFamily="34" charset="-120"/>
              </a:rPr>
              <a:t>遠方視（水晶体が薄くなる）○</a:t>
            </a:r>
            <a:endParaRPr lang="en-US" sz="1100" dirty="0"/>
          </a:p>
        </p:txBody>
      </p:sp>
      <p:sp>
        <p:nvSpPr>
          <p:cNvPr id="27" name="Shape 25"/>
          <p:cNvSpPr/>
          <p:nvPr/>
        </p:nvSpPr>
        <p:spPr>
          <a:xfrm>
            <a:off x="457200" y="3538728"/>
            <a:ext cx="8229600" cy="457200"/>
          </a:xfrm>
          <a:prstGeom prst="roundRect">
            <a:avLst>
              <a:gd name="adj" fmla="val 16000"/>
            </a:avLst>
          </a:prstGeom>
          <a:solidFill>
            <a:srgbClr val="F4F6F8"/>
          </a:solidFill>
          <a:ln/>
        </p:spPr>
      </p:sp>
      <p:sp>
        <p:nvSpPr>
          <p:cNvPr id="28" name="Shape 26"/>
          <p:cNvSpPr/>
          <p:nvPr/>
        </p:nvSpPr>
        <p:spPr>
          <a:xfrm>
            <a:off x="548640" y="3602736"/>
            <a:ext cx="329184" cy="329184"/>
          </a:xfrm>
          <a:prstGeom prst="ellipse">
            <a:avLst/>
          </a:prstGeom>
          <a:solidFill>
            <a:srgbClr val="FFFFFF"/>
          </a:solidFill>
          <a:ln w="12700">
            <a:solidFill>
              <a:srgbClr val="8A96A3"/>
            </a:solidFill>
            <a:prstDash val="solid"/>
          </a:ln>
        </p:spPr>
      </p:sp>
      <p:sp>
        <p:nvSpPr>
          <p:cNvPr id="29" name="Text 27"/>
          <p:cNvSpPr txBox="1"/>
          <p:nvPr/>
        </p:nvSpPr>
        <p:spPr>
          <a:xfrm>
            <a:off x="548640" y="3602736"/>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5</a:t>
            </a:r>
            <a:endParaRPr lang="en-US" sz="1300" dirty="0"/>
          </a:p>
        </p:txBody>
      </p:sp>
      <p:sp>
        <p:nvSpPr>
          <p:cNvPr id="30" name="Text 28"/>
          <p:cNvSpPr txBox="1"/>
          <p:nvPr/>
        </p:nvSpPr>
        <p:spPr>
          <a:xfrm>
            <a:off x="987552" y="3538728"/>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肝臓でのグリコーゲン合成を促進する。</a:t>
            </a:r>
            <a:endParaRPr lang="en-US" sz="1200" dirty="0"/>
          </a:p>
        </p:txBody>
      </p:sp>
      <p:sp>
        <p:nvSpPr>
          <p:cNvPr id="31" name="Text 29"/>
          <p:cNvSpPr txBox="1"/>
          <p:nvPr/>
        </p:nvSpPr>
        <p:spPr>
          <a:xfrm>
            <a:off x="4096512" y="3538728"/>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交感神経は分解を促進</a:t>
            </a:r>
            <a:endParaRPr lang="en-US" sz="1100" dirty="0"/>
          </a:p>
        </p:txBody>
      </p:sp>
      <p:sp>
        <p:nvSpPr>
          <p:cNvPr id="32" name="Shape 30"/>
          <p:cNvSpPr/>
          <p:nvPr/>
        </p:nvSpPr>
        <p:spPr>
          <a:xfrm>
            <a:off x="457200" y="4160520"/>
            <a:ext cx="1463040" cy="685800"/>
          </a:xfrm>
          <a:prstGeom prst="roundRect">
            <a:avLst>
              <a:gd name="adj" fmla="val 10667"/>
            </a:avLst>
          </a:prstGeom>
          <a:solidFill>
            <a:srgbClr val="D9534F"/>
          </a:solidFill>
          <a:ln/>
        </p:spPr>
      </p:sp>
      <p:sp>
        <p:nvSpPr>
          <p:cNvPr id="33" name="Text 31"/>
          <p:cNvSpPr txBox="1"/>
          <p:nvPr/>
        </p:nvSpPr>
        <p:spPr>
          <a:xfrm>
            <a:off x="457200" y="4160520"/>
            <a:ext cx="1463040" cy="685800"/>
          </a:xfrm>
          <a:prstGeom prst="rect">
            <a:avLst/>
          </a:prstGeom>
          <a:noFill/>
          <a:ln/>
        </p:spPr>
        <p:txBody>
          <a:bodyPr wrap="square" lIns="0" tIns="0" rIns="0" bIns="0" rtlCol="0" anchor="ctr"/>
          <a:lstStyle/>
          <a:p>
            <a:pPr algn="ctr" indent="0" marL="0">
              <a:buNone/>
            </a:pPr>
            <a:r>
              <a:rPr lang="en-US" sz="1100" dirty="0">
                <a:solidFill>
                  <a:srgbClr val="FFFFFF"/>
                </a:solidFill>
                <a:latin typeface="Meiryo" pitchFamily="34" charset="0"/>
                <a:ea typeface="Meiryo" pitchFamily="34" charset="-122"/>
                <a:cs typeface="Meiryo" pitchFamily="34" charset="-120"/>
              </a:rPr>
              <a:t>正解</a:t>
            </a:r>
            <a:endParaRPr lang="en-US" sz="1100" dirty="0"/>
          </a:p>
          <a:p>
            <a:pPr algn="ctr" indent="0" marL="0">
              <a:buNone/>
            </a:pPr>
            <a:r>
              <a:rPr lang="en-US" sz="2200" b="1" dirty="0">
                <a:solidFill>
                  <a:srgbClr val="FFFFFF"/>
                </a:solidFill>
                <a:latin typeface="Meiryo" pitchFamily="34" charset="0"/>
                <a:ea typeface="Meiryo" pitchFamily="34" charset="-122"/>
                <a:cs typeface="Meiryo" pitchFamily="34" charset="-120"/>
              </a:rPr>
              <a:t>4</a:t>
            </a:r>
            <a:endParaRPr lang="en-US" sz="1100" dirty="0"/>
          </a:p>
        </p:txBody>
      </p:sp>
      <p:sp>
        <p:nvSpPr>
          <p:cNvPr id="34" name="Shape 32"/>
          <p:cNvSpPr/>
          <p:nvPr/>
        </p:nvSpPr>
        <p:spPr>
          <a:xfrm>
            <a:off x="2057400" y="4160520"/>
            <a:ext cx="6629400" cy="685800"/>
          </a:xfrm>
          <a:prstGeom prst="roundRect">
            <a:avLst>
              <a:gd name="adj" fmla="val 10667"/>
            </a:avLst>
          </a:prstGeom>
          <a:solidFill>
            <a:srgbClr val="EAF2F8"/>
          </a:solidFill>
          <a:ln/>
        </p:spPr>
      </p:sp>
      <p:sp>
        <p:nvSpPr>
          <p:cNvPr id="35" name="Text 33"/>
          <p:cNvSpPr txBox="1"/>
          <p:nvPr/>
        </p:nvSpPr>
        <p:spPr>
          <a:xfrm>
            <a:off x="2194560" y="4160520"/>
            <a:ext cx="6400800" cy="685800"/>
          </a:xfrm>
          <a:prstGeom prst="rect">
            <a:avLst/>
          </a:prstGeom>
          <a:noFill/>
          <a:ln/>
        </p:spPr>
        <p:txBody>
          <a:bodyPr wrap="square" lIns="0" tIns="0" rIns="0" bIns="0" rtlCol="0" anchor="ctr"/>
          <a:lstStyle/>
          <a:p>
            <a:pPr indent="0" marL="0">
              <a:buNone/>
            </a:pPr>
            <a:r>
              <a:rPr lang="en-US" sz="1200" b="1" dirty="0">
                <a:solidFill>
                  <a:srgbClr val="2A7F9E"/>
                </a:solidFill>
                <a:latin typeface="Meiryo" pitchFamily="34" charset="0"/>
                <a:ea typeface="Meiryo" pitchFamily="34" charset="-122"/>
                <a:cs typeface="Meiryo" pitchFamily="34" charset="-120"/>
              </a:rPr>
              <a:t>POINT　</a:t>
            </a:r>
            <a:pPr indent="0" marL="0">
              <a:buNone/>
            </a:pPr>
            <a:r>
              <a:rPr lang="en-US" sz="1200" dirty="0">
                <a:solidFill>
                  <a:srgbClr val="222222"/>
                </a:solidFill>
                <a:latin typeface="Meiryo" pitchFamily="34" charset="0"/>
                <a:ea typeface="Meiryo" pitchFamily="34" charset="-122"/>
                <a:cs typeface="Meiryo" pitchFamily="34" charset="-120"/>
              </a:rPr>
              <a:t>交感神経：散瞳・遠方視、副交感神経：縮瞳・近方視（調節）。</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74320"/>
            <a:ext cx="868680" cy="384048"/>
          </a:xfrm>
          <a:prstGeom prst="roundRect">
            <a:avLst>
              <a:gd name="adj" fmla="val 19048"/>
            </a:avLst>
          </a:prstGeom>
          <a:solidFill>
            <a:srgbClr val="17324D"/>
          </a:solidFill>
          <a:ln/>
        </p:spPr>
      </p:sp>
      <p:sp>
        <p:nvSpPr>
          <p:cNvPr id="3" name="Text 1"/>
          <p:cNvSpPr txBox="1"/>
          <p:nvPr/>
        </p:nvSpPr>
        <p:spPr>
          <a:xfrm>
            <a:off x="457200" y="274320"/>
            <a:ext cx="86868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問題</a:t>
            </a:r>
            <a:endParaRPr lang="en-US" sz="1300" dirty="0"/>
          </a:p>
        </p:txBody>
      </p:sp>
      <p:sp>
        <p:nvSpPr>
          <p:cNvPr id="4" name="Text 2"/>
          <p:cNvSpPr txBox="1"/>
          <p:nvPr/>
        </p:nvSpPr>
        <p:spPr>
          <a:xfrm>
            <a:off x="1417320" y="274320"/>
            <a:ext cx="731520" cy="384048"/>
          </a:xfrm>
          <a:prstGeom prst="rect">
            <a:avLst/>
          </a:prstGeom>
          <a:noFill/>
          <a:ln/>
        </p:spPr>
        <p:txBody>
          <a:bodyPr wrap="square" lIns="0" tIns="0" rIns="0" bIns="0" rtlCol="0" anchor="ctr"/>
          <a:lstStyle/>
          <a:p>
            <a:pPr indent="0" marL="0">
              <a:buNone/>
            </a:pPr>
            <a:r>
              <a:rPr lang="en-US" sz="2000" b="1" dirty="0">
                <a:solidFill>
                  <a:srgbClr val="17324D"/>
                </a:solidFill>
                <a:latin typeface="Arial" pitchFamily="34" charset="0"/>
                <a:ea typeface="Arial" pitchFamily="34" charset="-122"/>
                <a:cs typeface="Arial" pitchFamily="34" charset="-120"/>
              </a:rPr>
              <a:t>[14]</a:t>
            </a:r>
            <a:endParaRPr lang="en-US" sz="2000" dirty="0"/>
          </a:p>
        </p:txBody>
      </p:sp>
      <p:sp>
        <p:nvSpPr>
          <p:cNvPr id="5" name="Text 3"/>
          <p:cNvSpPr txBox="1"/>
          <p:nvPr/>
        </p:nvSpPr>
        <p:spPr>
          <a:xfrm>
            <a:off x="5943600" y="274320"/>
            <a:ext cx="2743200" cy="384048"/>
          </a:xfrm>
          <a:prstGeom prst="rect">
            <a:avLst/>
          </a:prstGeom>
          <a:noFill/>
          <a:ln/>
        </p:spPr>
        <p:txBody>
          <a:bodyPr wrap="square" lIns="0" tIns="0" rIns="0" bIns="0" rtlCol="0" anchor="ctr"/>
          <a:lstStyle/>
          <a:p>
            <a:pPr algn="r" indent="0" marL="0">
              <a:buNone/>
            </a:pPr>
            <a:r>
              <a:rPr lang="en-US" sz="1100" dirty="0">
                <a:solidFill>
                  <a:srgbClr val="5F6B76"/>
                </a:solidFill>
                <a:latin typeface="Meiryo" pitchFamily="34" charset="0"/>
                <a:ea typeface="Meiryo" pitchFamily="34" charset="-122"/>
                <a:cs typeface="Meiryo" pitchFamily="34" charset="-120"/>
              </a:rPr>
              <a:t>54回午後62</a:t>
            </a:r>
            <a:endParaRPr lang="en-US" sz="1100" dirty="0"/>
          </a:p>
        </p:txBody>
      </p:sp>
      <p:sp>
        <p:nvSpPr>
          <p:cNvPr id="6" name="Text 4"/>
          <p:cNvSpPr txBox="1"/>
          <p:nvPr/>
        </p:nvSpPr>
        <p:spPr>
          <a:xfrm>
            <a:off x="457200" y="731520"/>
            <a:ext cx="8229600" cy="594360"/>
          </a:xfrm>
          <a:prstGeom prst="rect">
            <a:avLst/>
          </a:prstGeom>
          <a:noFill/>
          <a:ln/>
        </p:spPr>
        <p:txBody>
          <a:bodyPr wrap="square" lIns="0" tIns="0" rIns="0" bIns="0" rtlCol="0" anchor="t"/>
          <a:lstStyle/>
          <a:p>
            <a:pPr indent="0" marL="0">
              <a:buNone/>
            </a:pPr>
            <a:r>
              <a:rPr lang="en-US" sz="1700" b="1" dirty="0">
                <a:solidFill>
                  <a:srgbClr val="222222"/>
                </a:solidFill>
                <a:latin typeface="Meiryo" pitchFamily="34" charset="0"/>
                <a:ea typeface="Meiryo" pitchFamily="34" charset="-122"/>
                <a:cs typeface="Meiryo" pitchFamily="34" charset="-120"/>
              </a:rPr>
              <a:t>副交感神経線維を含むのはどれか。２つ選べ。</a:t>
            </a:r>
            <a:endParaRPr lang="en-US" sz="1700" dirty="0"/>
          </a:p>
        </p:txBody>
      </p:sp>
      <p:sp>
        <p:nvSpPr>
          <p:cNvPr id="7" name="Shape 5"/>
          <p:cNvSpPr/>
          <p:nvPr/>
        </p:nvSpPr>
        <p:spPr>
          <a:xfrm>
            <a:off x="457200" y="1508760"/>
            <a:ext cx="8229600" cy="493776"/>
          </a:xfrm>
          <a:prstGeom prst="roundRect">
            <a:avLst>
              <a:gd name="adj" fmla="val 14815"/>
            </a:avLst>
          </a:prstGeom>
          <a:solidFill>
            <a:srgbClr val="EAF2F8"/>
          </a:solidFill>
          <a:ln/>
        </p:spPr>
      </p:sp>
      <p:sp>
        <p:nvSpPr>
          <p:cNvPr id="8" name="Shape 6"/>
          <p:cNvSpPr/>
          <p:nvPr/>
        </p:nvSpPr>
        <p:spPr>
          <a:xfrm>
            <a:off x="566928" y="1572768"/>
            <a:ext cx="365760" cy="365760"/>
          </a:xfrm>
          <a:prstGeom prst="ellipse">
            <a:avLst/>
          </a:prstGeom>
          <a:solidFill>
            <a:srgbClr val="FFFFFF"/>
          </a:solidFill>
          <a:ln w="15875">
            <a:solidFill>
              <a:srgbClr val="17324D"/>
            </a:solidFill>
            <a:prstDash val="solid"/>
          </a:ln>
        </p:spPr>
      </p:sp>
      <p:sp>
        <p:nvSpPr>
          <p:cNvPr id="9" name="Text 7"/>
          <p:cNvSpPr txBox="1"/>
          <p:nvPr/>
        </p:nvSpPr>
        <p:spPr>
          <a:xfrm>
            <a:off x="566928" y="1572768"/>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1</a:t>
            </a:r>
            <a:endParaRPr lang="en-US" sz="1400" dirty="0"/>
          </a:p>
        </p:txBody>
      </p:sp>
      <p:sp>
        <p:nvSpPr>
          <p:cNvPr id="10" name="Text 8"/>
          <p:cNvSpPr txBox="1"/>
          <p:nvPr/>
        </p:nvSpPr>
        <p:spPr>
          <a:xfrm>
            <a:off x="1051560" y="1508760"/>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動眼神経</a:t>
            </a:r>
            <a:endParaRPr lang="en-US" sz="1500" dirty="0"/>
          </a:p>
        </p:txBody>
      </p:sp>
      <p:sp>
        <p:nvSpPr>
          <p:cNvPr id="11" name="Shape 9"/>
          <p:cNvSpPr/>
          <p:nvPr/>
        </p:nvSpPr>
        <p:spPr>
          <a:xfrm>
            <a:off x="457200" y="2112264"/>
            <a:ext cx="8229600" cy="493776"/>
          </a:xfrm>
          <a:prstGeom prst="roundRect">
            <a:avLst>
              <a:gd name="adj" fmla="val 14815"/>
            </a:avLst>
          </a:prstGeom>
          <a:solidFill>
            <a:srgbClr val="EAF2F8"/>
          </a:solidFill>
          <a:ln/>
        </p:spPr>
      </p:sp>
      <p:sp>
        <p:nvSpPr>
          <p:cNvPr id="12" name="Shape 10"/>
          <p:cNvSpPr/>
          <p:nvPr/>
        </p:nvSpPr>
        <p:spPr>
          <a:xfrm>
            <a:off x="566928" y="2176272"/>
            <a:ext cx="365760" cy="365760"/>
          </a:xfrm>
          <a:prstGeom prst="ellipse">
            <a:avLst/>
          </a:prstGeom>
          <a:solidFill>
            <a:srgbClr val="FFFFFF"/>
          </a:solidFill>
          <a:ln w="15875">
            <a:solidFill>
              <a:srgbClr val="17324D"/>
            </a:solidFill>
            <a:prstDash val="solid"/>
          </a:ln>
        </p:spPr>
      </p:sp>
      <p:sp>
        <p:nvSpPr>
          <p:cNvPr id="13" name="Text 11"/>
          <p:cNvSpPr txBox="1"/>
          <p:nvPr/>
        </p:nvSpPr>
        <p:spPr>
          <a:xfrm>
            <a:off x="566928" y="2176272"/>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2</a:t>
            </a:r>
            <a:endParaRPr lang="en-US" sz="1400" dirty="0"/>
          </a:p>
        </p:txBody>
      </p:sp>
      <p:sp>
        <p:nvSpPr>
          <p:cNvPr id="14" name="Text 12"/>
          <p:cNvSpPr txBox="1"/>
          <p:nvPr/>
        </p:nvSpPr>
        <p:spPr>
          <a:xfrm>
            <a:off x="1051560" y="2112264"/>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滑車神経</a:t>
            </a:r>
            <a:endParaRPr lang="en-US" sz="1500" dirty="0"/>
          </a:p>
        </p:txBody>
      </p:sp>
      <p:sp>
        <p:nvSpPr>
          <p:cNvPr id="15" name="Shape 13"/>
          <p:cNvSpPr/>
          <p:nvPr/>
        </p:nvSpPr>
        <p:spPr>
          <a:xfrm>
            <a:off x="457200" y="2715768"/>
            <a:ext cx="8229600" cy="493776"/>
          </a:xfrm>
          <a:prstGeom prst="roundRect">
            <a:avLst>
              <a:gd name="adj" fmla="val 14815"/>
            </a:avLst>
          </a:prstGeom>
          <a:solidFill>
            <a:srgbClr val="EAF2F8"/>
          </a:solidFill>
          <a:ln/>
        </p:spPr>
      </p:sp>
      <p:sp>
        <p:nvSpPr>
          <p:cNvPr id="16" name="Shape 14"/>
          <p:cNvSpPr/>
          <p:nvPr/>
        </p:nvSpPr>
        <p:spPr>
          <a:xfrm>
            <a:off x="566928" y="2779776"/>
            <a:ext cx="365760" cy="365760"/>
          </a:xfrm>
          <a:prstGeom prst="ellipse">
            <a:avLst/>
          </a:prstGeom>
          <a:solidFill>
            <a:srgbClr val="FFFFFF"/>
          </a:solidFill>
          <a:ln w="15875">
            <a:solidFill>
              <a:srgbClr val="17324D"/>
            </a:solidFill>
            <a:prstDash val="solid"/>
          </a:ln>
        </p:spPr>
      </p:sp>
      <p:sp>
        <p:nvSpPr>
          <p:cNvPr id="17" name="Text 15"/>
          <p:cNvSpPr txBox="1"/>
          <p:nvPr/>
        </p:nvSpPr>
        <p:spPr>
          <a:xfrm>
            <a:off x="566928" y="2779776"/>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3</a:t>
            </a:r>
            <a:endParaRPr lang="en-US" sz="1400" dirty="0"/>
          </a:p>
        </p:txBody>
      </p:sp>
      <p:sp>
        <p:nvSpPr>
          <p:cNvPr id="18" name="Text 16"/>
          <p:cNvSpPr txBox="1"/>
          <p:nvPr/>
        </p:nvSpPr>
        <p:spPr>
          <a:xfrm>
            <a:off x="1051560" y="2715768"/>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内耳神経</a:t>
            </a:r>
            <a:endParaRPr lang="en-US" sz="1500" dirty="0"/>
          </a:p>
        </p:txBody>
      </p:sp>
      <p:sp>
        <p:nvSpPr>
          <p:cNvPr id="19" name="Shape 17"/>
          <p:cNvSpPr/>
          <p:nvPr/>
        </p:nvSpPr>
        <p:spPr>
          <a:xfrm>
            <a:off x="457200" y="3319272"/>
            <a:ext cx="8229600" cy="493776"/>
          </a:xfrm>
          <a:prstGeom prst="roundRect">
            <a:avLst>
              <a:gd name="adj" fmla="val 14815"/>
            </a:avLst>
          </a:prstGeom>
          <a:solidFill>
            <a:srgbClr val="EAF2F8"/>
          </a:solidFill>
          <a:ln/>
        </p:spPr>
      </p:sp>
      <p:sp>
        <p:nvSpPr>
          <p:cNvPr id="20" name="Shape 18"/>
          <p:cNvSpPr/>
          <p:nvPr/>
        </p:nvSpPr>
        <p:spPr>
          <a:xfrm>
            <a:off x="566928" y="3383280"/>
            <a:ext cx="365760" cy="365760"/>
          </a:xfrm>
          <a:prstGeom prst="ellipse">
            <a:avLst/>
          </a:prstGeom>
          <a:solidFill>
            <a:srgbClr val="FFFFFF"/>
          </a:solidFill>
          <a:ln w="15875">
            <a:solidFill>
              <a:srgbClr val="17324D"/>
            </a:solidFill>
            <a:prstDash val="solid"/>
          </a:ln>
        </p:spPr>
      </p:sp>
      <p:sp>
        <p:nvSpPr>
          <p:cNvPr id="21" name="Text 19"/>
          <p:cNvSpPr txBox="1"/>
          <p:nvPr/>
        </p:nvSpPr>
        <p:spPr>
          <a:xfrm>
            <a:off x="566928" y="3383280"/>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4</a:t>
            </a:r>
            <a:endParaRPr lang="en-US" sz="1400" dirty="0"/>
          </a:p>
        </p:txBody>
      </p:sp>
      <p:sp>
        <p:nvSpPr>
          <p:cNvPr id="22" name="Text 20"/>
          <p:cNvSpPr txBox="1"/>
          <p:nvPr/>
        </p:nvSpPr>
        <p:spPr>
          <a:xfrm>
            <a:off x="1051560" y="3319272"/>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迷走神経</a:t>
            </a:r>
            <a:endParaRPr lang="en-US" sz="1500" dirty="0"/>
          </a:p>
        </p:txBody>
      </p:sp>
      <p:sp>
        <p:nvSpPr>
          <p:cNvPr id="23" name="Shape 21"/>
          <p:cNvSpPr/>
          <p:nvPr/>
        </p:nvSpPr>
        <p:spPr>
          <a:xfrm>
            <a:off x="457200" y="3922776"/>
            <a:ext cx="8229600" cy="493776"/>
          </a:xfrm>
          <a:prstGeom prst="roundRect">
            <a:avLst>
              <a:gd name="adj" fmla="val 14815"/>
            </a:avLst>
          </a:prstGeom>
          <a:solidFill>
            <a:srgbClr val="EAF2F8"/>
          </a:solidFill>
          <a:ln/>
        </p:spPr>
      </p:sp>
      <p:sp>
        <p:nvSpPr>
          <p:cNvPr id="24" name="Shape 22"/>
          <p:cNvSpPr/>
          <p:nvPr/>
        </p:nvSpPr>
        <p:spPr>
          <a:xfrm>
            <a:off x="566928" y="3986784"/>
            <a:ext cx="365760" cy="365760"/>
          </a:xfrm>
          <a:prstGeom prst="ellipse">
            <a:avLst/>
          </a:prstGeom>
          <a:solidFill>
            <a:srgbClr val="FFFFFF"/>
          </a:solidFill>
          <a:ln w="15875">
            <a:solidFill>
              <a:srgbClr val="17324D"/>
            </a:solidFill>
            <a:prstDash val="solid"/>
          </a:ln>
        </p:spPr>
      </p:sp>
      <p:sp>
        <p:nvSpPr>
          <p:cNvPr id="25" name="Text 23"/>
          <p:cNvSpPr txBox="1"/>
          <p:nvPr/>
        </p:nvSpPr>
        <p:spPr>
          <a:xfrm>
            <a:off x="566928" y="3986784"/>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5</a:t>
            </a:r>
            <a:endParaRPr lang="en-US" sz="1400" dirty="0"/>
          </a:p>
        </p:txBody>
      </p:sp>
      <p:sp>
        <p:nvSpPr>
          <p:cNvPr id="26" name="Text 24"/>
          <p:cNvSpPr txBox="1"/>
          <p:nvPr/>
        </p:nvSpPr>
        <p:spPr>
          <a:xfrm>
            <a:off x="1051560" y="3922776"/>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舌下神経</a:t>
            </a:r>
            <a:endParaRPr lang="en-US" sz="15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74320"/>
            <a:ext cx="868680" cy="384048"/>
          </a:xfrm>
          <a:prstGeom prst="roundRect">
            <a:avLst>
              <a:gd name="adj" fmla="val 19048"/>
            </a:avLst>
          </a:prstGeom>
          <a:solidFill>
            <a:srgbClr val="D9534F"/>
          </a:solidFill>
          <a:ln/>
        </p:spPr>
      </p:sp>
      <p:sp>
        <p:nvSpPr>
          <p:cNvPr id="3" name="Text 1"/>
          <p:cNvSpPr txBox="1"/>
          <p:nvPr/>
        </p:nvSpPr>
        <p:spPr>
          <a:xfrm>
            <a:off x="457200" y="274320"/>
            <a:ext cx="86868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解説</a:t>
            </a:r>
            <a:endParaRPr lang="en-US" sz="1300" dirty="0"/>
          </a:p>
        </p:txBody>
      </p:sp>
      <p:sp>
        <p:nvSpPr>
          <p:cNvPr id="4" name="Text 2"/>
          <p:cNvSpPr txBox="1"/>
          <p:nvPr/>
        </p:nvSpPr>
        <p:spPr>
          <a:xfrm>
            <a:off x="1417320" y="274320"/>
            <a:ext cx="731520" cy="384048"/>
          </a:xfrm>
          <a:prstGeom prst="rect">
            <a:avLst/>
          </a:prstGeom>
          <a:noFill/>
          <a:ln/>
        </p:spPr>
        <p:txBody>
          <a:bodyPr wrap="square" lIns="0" tIns="0" rIns="0" bIns="0" rtlCol="0" anchor="ctr"/>
          <a:lstStyle/>
          <a:p>
            <a:pPr indent="0" marL="0">
              <a:buNone/>
            </a:pPr>
            <a:r>
              <a:rPr lang="en-US" sz="2000" b="1" dirty="0">
                <a:solidFill>
                  <a:srgbClr val="17324D"/>
                </a:solidFill>
                <a:latin typeface="Arial" pitchFamily="34" charset="0"/>
                <a:ea typeface="Arial" pitchFamily="34" charset="-122"/>
                <a:cs typeface="Arial" pitchFamily="34" charset="-120"/>
              </a:rPr>
              <a:t>[14]</a:t>
            </a:r>
            <a:endParaRPr lang="en-US" sz="2000" dirty="0"/>
          </a:p>
        </p:txBody>
      </p:sp>
      <p:sp>
        <p:nvSpPr>
          <p:cNvPr id="5" name="Text 3"/>
          <p:cNvSpPr txBox="1"/>
          <p:nvPr/>
        </p:nvSpPr>
        <p:spPr>
          <a:xfrm>
            <a:off x="5943600" y="274320"/>
            <a:ext cx="2743200" cy="384048"/>
          </a:xfrm>
          <a:prstGeom prst="rect">
            <a:avLst/>
          </a:prstGeom>
          <a:noFill/>
          <a:ln/>
        </p:spPr>
        <p:txBody>
          <a:bodyPr wrap="square" lIns="0" tIns="0" rIns="0" bIns="0" rtlCol="0" anchor="ctr"/>
          <a:lstStyle/>
          <a:p>
            <a:pPr algn="r" indent="0" marL="0">
              <a:buNone/>
            </a:pPr>
            <a:r>
              <a:rPr lang="en-US" sz="1100" dirty="0">
                <a:solidFill>
                  <a:srgbClr val="5F6B76"/>
                </a:solidFill>
                <a:latin typeface="Meiryo" pitchFamily="34" charset="0"/>
                <a:ea typeface="Meiryo" pitchFamily="34" charset="-122"/>
                <a:cs typeface="Meiryo" pitchFamily="34" charset="-120"/>
              </a:rPr>
              <a:t>54回午後62</a:t>
            </a:r>
            <a:endParaRPr lang="en-US" sz="1100" dirty="0"/>
          </a:p>
        </p:txBody>
      </p:sp>
      <p:sp>
        <p:nvSpPr>
          <p:cNvPr id="6" name="Text 4"/>
          <p:cNvSpPr txBox="1"/>
          <p:nvPr/>
        </p:nvSpPr>
        <p:spPr>
          <a:xfrm>
            <a:off x="457200" y="731520"/>
            <a:ext cx="8229600" cy="594360"/>
          </a:xfrm>
          <a:prstGeom prst="rect">
            <a:avLst/>
          </a:prstGeom>
          <a:noFill/>
          <a:ln/>
        </p:spPr>
        <p:txBody>
          <a:bodyPr wrap="square" lIns="0" tIns="0" rIns="0" bIns="0" rtlCol="0" anchor="t"/>
          <a:lstStyle/>
          <a:p>
            <a:pPr indent="0" marL="0">
              <a:buNone/>
            </a:pPr>
            <a:r>
              <a:rPr lang="en-US" sz="1700" b="1" dirty="0">
                <a:solidFill>
                  <a:srgbClr val="222222"/>
                </a:solidFill>
                <a:latin typeface="Meiryo" pitchFamily="34" charset="0"/>
                <a:ea typeface="Meiryo" pitchFamily="34" charset="-122"/>
                <a:cs typeface="Meiryo" pitchFamily="34" charset="-120"/>
              </a:rPr>
              <a:t>副交感神経線維を含むのはどれか。２つ選べ。</a:t>
            </a:r>
            <a:endParaRPr lang="en-US" sz="1700" dirty="0"/>
          </a:p>
        </p:txBody>
      </p:sp>
      <p:sp>
        <p:nvSpPr>
          <p:cNvPr id="7" name="Shape 5"/>
          <p:cNvSpPr/>
          <p:nvPr/>
        </p:nvSpPr>
        <p:spPr>
          <a:xfrm>
            <a:off x="457200" y="1417320"/>
            <a:ext cx="8229600" cy="457200"/>
          </a:xfrm>
          <a:prstGeom prst="roundRect">
            <a:avLst>
              <a:gd name="adj" fmla="val 16000"/>
            </a:avLst>
          </a:prstGeom>
          <a:solidFill>
            <a:srgbClr val="FBE3E2"/>
          </a:solidFill>
          <a:ln w="19050">
            <a:solidFill>
              <a:srgbClr val="D9534F"/>
            </a:solidFill>
            <a:prstDash val="solid"/>
          </a:ln>
        </p:spPr>
      </p:sp>
      <p:sp>
        <p:nvSpPr>
          <p:cNvPr id="8" name="Shape 6"/>
          <p:cNvSpPr/>
          <p:nvPr/>
        </p:nvSpPr>
        <p:spPr>
          <a:xfrm>
            <a:off x="548640" y="1481328"/>
            <a:ext cx="329184" cy="329184"/>
          </a:xfrm>
          <a:prstGeom prst="ellipse">
            <a:avLst/>
          </a:prstGeom>
          <a:solidFill>
            <a:srgbClr val="D9534F"/>
          </a:solidFill>
          <a:ln w="12700">
            <a:solidFill>
              <a:srgbClr val="D9534F"/>
            </a:solidFill>
            <a:prstDash val="solid"/>
          </a:ln>
        </p:spPr>
      </p:sp>
      <p:sp>
        <p:nvSpPr>
          <p:cNvPr id="9" name="Text 7"/>
          <p:cNvSpPr txBox="1"/>
          <p:nvPr/>
        </p:nvSpPr>
        <p:spPr>
          <a:xfrm>
            <a:off x="548640" y="1481328"/>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10" name="Text 8"/>
          <p:cNvSpPr txBox="1"/>
          <p:nvPr/>
        </p:nvSpPr>
        <p:spPr>
          <a:xfrm>
            <a:off x="987552" y="1417320"/>
            <a:ext cx="3017520" cy="457200"/>
          </a:xfrm>
          <a:prstGeom prst="rect">
            <a:avLst/>
          </a:prstGeom>
          <a:noFill/>
          <a:ln/>
        </p:spPr>
        <p:txBody>
          <a:bodyPr wrap="square" lIns="0" tIns="0" rIns="0" bIns="0" rtlCol="0" anchor="ctr"/>
          <a:lstStyle/>
          <a:p>
            <a:pPr indent="0" marL="0">
              <a:buNone/>
            </a:pPr>
            <a:r>
              <a:rPr lang="en-US" sz="1200" b="1" dirty="0">
                <a:solidFill>
                  <a:srgbClr val="D9534F"/>
                </a:solidFill>
                <a:latin typeface="Meiryo" pitchFamily="34" charset="0"/>
                <a:ea typeface="Meiryo" pitchFamily="34" charset="-122"/>
                <a:cs typeface="Meiryo" pitchFamily="34" charset="-120"/>
              </a:rPr>
              <a:t>動眼神経</a:t>
            </a:r>
            <a:endParaRPr lang="en-US" sz="1200" dirty="0"/>
          </a:p>
        </p:txBody>
      </p:sp>
      <p:sp>
        <p:nvSpPr>
          <p:cNvPr id="11" name="Text 9"/>
          <p:cNvSpPr txBox="1"/>
          <p:nvPr/>
        </p:nvSpPr>
        <p:spPr>
          <a:xfrm>
            <a:off x="4096512" y="1417320"/>
            <a:ext cx="4526280" cy="457200"/>
          </a:xfrm>
          <a:prstGeom prst="rect">
            <a:avLst/>
          </a:prstGeom>
          <a:noFill/>
          <a:ln/>
        </p:spPr>
        <p:txBody>
          <a:bodyPr wrap="square" lIns="0" tIns="0" rIns="0" bIns="0" rtlCol="0" anchor="ctr"/>
          <a:lstStyle/>
          <a:p>
            <a:pPr indent="0" marL="0">
              <a:buNone/>
            </a:pPr>
            <a:r>
              <a:rPr lang="en-US" sz="1100" dirty="0">
                <a:solidFill>
                  <a:srgbClr val="222222"/>
                </a:solidFill>
                <a:latin typeface="Meiryo" pitchFamily="34" charset="0"/>
                <a:ea typeface="Meiryo" pitchFamily="34" charset="-122"/>
                <a:cs typeface="Meiryo" pitchFamily="34" charset="-120"/>
              </a:rPr>
              <a:t>縮瞳・調節 ○</a:t>
            </a:r>
            <a:endParaRPr lang="en-US" sz="1100" dirty="0"/>
          </a:p>
        </p:txBody>
      </p:sp>
      <p:sp>
        <p:nvSpPr>
          <p:cNvPr id="12" name="Shape 10"/>
          <p:cNvSpPr/>
          <p:nvPr/>
        </p:nvSpPr>
        <p:spPr>
          <a:xfrm>
            <a:off x="457200" y="1947672"/>
            <a:ext cx="8229600" cy="457200"/>
          </a:xfrm>
          <a:prstGeom prst="roundRect">
            <a:avLst>
              <a:gd name="adj" fmla="val 16000"/>
            </a:avLst>
          </a:prstGeom>
          <a:solidFill>
            <a:srgbClr val="F4F6F8"/>
          </a:solidFill>
          <a:ln/>
        </p:spPr>
      </p:sp>
      <p:sp>
        <p:nvSpPr>
          <p:cNvPr id="13" name="Shape 11"/>
          <p:cNvSpPr/>
          <p:nvPr/>
        </p:nvSpPr>
        <p:spPr>
          <a:xfrm>
            <a:off x="548640" y="2011680"/>
            <a:ext cx="329184" cy="329184"/>
          </a:xfrm>
          <a:prstGeom prst="ellipse">
            <a:avLst/>
          </a:prstGeom>
          <a:solidFill>
            <a:srgbClr val="FFFFFF"/>
          </a:solidFill>
          <a:ln w="12700">
            <a:solidFill>
              <a:srgbClr val="8A96A3"/>
            </a:solidFill>
            <a:prstDash val="solid"/>
          </a:ln>
        </p:spPr>
      </p:sp>
      <p:sp>
        <p:nvSpPr>
          <p:cNvPr id="14" name="Text 12"/>
          <p:cNvSpPr txBox="1"/>
          <p:nvPr/>
        </p:nvSpPr>
        <p:spPr>
          <a:xfrm>
            <a:off x="548640" y="2011680"/>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2</a:t>
            </a:r>
            <a:endParaRPr lang="en-US" sz="1300" dirty="0"/>
          </a:p>
        </p:txBody>
      </p:sp>
      <p:sp>
        <p:nvSpPr>
          <p:cNvPr id="15" name="Text 13"/>
          <p:cNvSpPr txBox="1"/>
          <p:nvPr/>
        </p:nvSpPr>
        <p:spPr>
          <a:xfrm>
            <a:off x="987552" y="1947672"/>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滑車神経</a:t>
            </a:r>
            <a:endParaRPr lang="en-US" sz="1200" dirty="0"/>
          </a:p>
        </p:txBody>
      </p:sp>
      <p:sp>
        <p:nvSpPr>
          <p:cNvPr id="16" name="Text 14"/>
          <p:cNvSpPr txBox="1"/>
          <p:nvPr/>
        </p:nvSpPr>
        <p:spPr>
          <a:xfrm>
            <a:off x="4096512" y="1947672"/>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運動のみ</a:t>
            </a:r>
            <a:endParaRPr lang="en-US" sz="1100" dirty="0"/>
          </a:p>
        </p:txBody>
      </p:sp>
      <p:sp>
        <p:nvSpPr>
          <p:cNvPr id="17" name="Shape 15"/>
          <p:cNvSpPr/>
          <p:nvPr/>
        </p:nvSpPr>
        <p:spPr>
          <a:xfrm>
            <a:off x="457200" y="2478024"/>
            <a:ext cx="8229600" cy="457200"/>
          </a:xfrm>
          <a:prstGeom prst="roundRect">
            <a:avLst>
              <a:gd name="adj" fmla="val 16000"/>
            </a:avLst>
          </a:prstGeom>
          <a:solidFill>
            <a:srgbClr val="F4F6F8"/>
          </a:solidFill>
          <a:ln/>
        </p:spPr>
      </p:sp>
      <p:sp>
        <p:nvSpPr>
          <p:cNvPr id="18" name="Shape 16"/>
          <p:cNvSpPr/>
          <p:nvPr/>
        </p:nvSpPr>
        <p:spPr>
          <a:xfrm>
            <a:off x="548640" y="2542032"/>
            <a:ext cx="329184" cy="329184"/>
          </a:xfrm>
          <a:prstGeom prst="ellipse">
            <a:avLst/>
          </a:prstGeom>
          <a:solidFill>
            <a:srgbClr val="FFFFFF"/>
          </a:solidFill>
          <a:ln w="12700">
            <a:solidFill>
              <a:srgbClr val="8A96A3"/>
            </a:solidFill>
            <a:prstDash val="solid"/>
          </a:ln>
        </p:spPr>
      </p:sp>
      <p:sp>
        <p:nvSpPr>
          <p:cNvPr id="19" name="Text 17"/>
          <p:cNvSpPr txBox="1"/>
          <p:nvPr/>
        </p:nvSpPr>
        <p:spPr>
          <a:xfrm>
            <a:off x="548640" y="2542032"/>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3</a:t>
            </a:r>
            <a:endParaRPr lang="en-US" sz="1300" dirty="0"/>
          </a:p>
        </p:txBody>
      </p:sp>
      <p:sp>
        <p:nvSpPr>
          <p:cNvPr id="20" name="Text 18"/>
          <p:cNvSpPr txBox="1"/>
          <p:nvPr/>
        </p:nvSpPr>
        <p:spPr>
          <a:xfrm>
            <a:off x="987552" y="2478024"/>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内耳神経</a:t>
            </a:r>
            <a:endParaRPr lang="en-US" sz="1200" dirty="0"/>
          </a:p>
        </p:txBody>
      </p:sp>
      <p:sp>
        <p:nvSpPr>
          <p:cNvPr id="21" name="Text 19"/>
          <p:cNvSpPr txBox="1"/>
          <p:nvPr/>
        </p:nvSpPr>
        <p:spPr>
          <a:xfrm>
            <a:off x="4096512" y="2478024"/>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感覚のみ</a:t>
            </a:r>
            <a:endParaRPr lang="en-US" sz="1100" dirty="0"/>
          </a:p>
        </p:txBody>
      </p:sp>
      <p:sp>
        <p:nvSpPr>
          <p:cNvPr id="22" name="Shape 20"/>
          <p:cNvSpPr/>
          <p:nvPr/>
        </p:nvSpPr>
        <p:spPr>
          <a:xfrm>
            <a:off x="457200" y="3008376"/>
            <a:ext cx="8229600" cy="457200"/>
          </a:xfrm>
          <a:prstGeom prst="roundRect">
            <a:avLst>
              <a:gd name="adj" fmla="val 16000"/>
            </a:avLst>
          </a:prstGeom>
          <a:solidFill>
            <a:srgbClr val="FBE3E2"/>
          </a:solidFill>
          <a:ln w="19050">
            <a:solidFill>
              <a:srgbClr val="D9534F"/>
            </a:solidFill>
            <a:prstDash val="solid"/>
          </a:ln>
        </p:spPr>
      </p:sp>
      <p:sp>
        <p:nvSpPr>
          <p:cNvPr id="23" name="Shape 21"/>
          <p:cNvSpPr/>
          <p:nvPr/>
        </p:nvSpPr>
        <p:spPr>
          <a:xfrm>
            <a:off x="548640" y="3072384"/>
            <a:ext cx="329184" cy="329184"/>
          </a:xfrm>
          <a:prstGeom prst="ellipse">
            <a:avLst/>
          </a:prstGeom>
          <a:solidFill>
            <a:srgbClr val="D9534F"/>
          </a:solidFill>
          <a:ln w="12700">
            <a:solidFill>
              <a:srgbClr val="D9534F"/>
            </a:solidFill>
            <a:prstDash val="solid"/>
          </a:ln>
        </p:spPr>
      </p:sp>
      <p:sp>
        <p:nvSpPr>
          <p:cNvPr id="24" name="Text 22"/>
          <p:cNvSpPr txBox="1"/>
          <p:nvPr/>
        </p:nvSpPr>
        <p:spPr>
          <a:xfrm>
            <a:off x="548640" y="3072384"/>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4</a:t>
            </a:r>
            <a:endParaRPr lang="en-US" sz="1300" dirty="0"/>
          </a:p>
        </p:txBody>
      </p:sp>
      <p:sp>
        <p:nvSpPr>
          <p:cNvPr id="25" name="Text 23"/>
          <p:cNvSpPr txBox="1"/>
          <p:nvPr/>
        </p:nvSpPr>
        <p:spPr>
          <a:xfrm>
            <a:off x="987552" y="3008376"/>
            <a:ext cx="3017520" cy="457200"/>
          </a:xfrm>
          <a:prstGeom prst="rect">
            <a:avLst/>
          </a:prstGeom>
          <a:noFill/>
          <a:ln/>
        </p:spPr>
        <p:txBody>
          <a:bodyPr wrap="square" lIns="0" tIns="0" rIns="0" bIns="0" rtlCol="0" anchor="ctr"/>
          <a:lstStyle/>
          <a:p>
            <a:pPr indent="0" marL="0">
              <a:buNone/>
            </a:pPr>
            <a:r>
              <a:rPr lang="en-US" sz="1200" b="1" dirty="0">
                <a:solidFill>
                  <a:srgbClr val="D9534F"/>
                </a:solidFill>
                <a:latin typeface="Meiryo" pitchFamily="34" charset="0"/>
                <a:ea typeface="Meiryo" pitchFamily="34" charset="-122"/>
                <a:cs typeface="Meiryo" pitchFamily="34" charset="-120"/>
              </a:rPr>
              <a:t>迷走神経</a:t>
            </a:r>
            <a:endParaRPr lang="en-US" sz="1200" dirty="0"/>
          </a:p>
        </p:txBody>
      </p:sp>
      <p:sp>
        <p:nvSpPr>
          <p:cNvPr id="26" name="Text 24"/>
          <p:cNvSpPr txBox="1"/>
          <p:nvPr/>
        </p:nvSpPr>
        <p:spPr>
          <a:xfrm>
            <a:off x="4096512" y="3008376"/>
            <a:ext cx="4526280" cy="457200"/>
          </a:xfrm>
          <a:prstGeom prst="rect">
            <a:avLst/>
          </a:prstGeom>
          <a:noFill/>
          <a:ln/>
        </p:spPr>
        <p:txBody>
          <a:bodyPr wrap="square" lIns="0" tIns="0" rIns="0" bIns="0" rtlCol="0" anchor="ctr"/>
          <a:lstStyle/>
          <a:p>
            <a:pPr indent="0" marL="0">
              <a:buNone/>
            </a:pPr>
            <a:r>
              <a:rPr lang="en-US" sz="1100" dirty="0">
                <a:solidFill>
                  <a:srgbClr val="222222"/>
                </a:solidFill>
                <a:latin typeface="Meiryo" pitchFamily="34" charset="0"/>
                <a:ea typeface="Meiryo" pitchFamily="34" charset="-122"/>
                <a:cs typeface="Meiryo" pitchFamily="34" charset="-120"/>
              </a:rPr>
              <a:t>胸腹部内臓 ○</a:t>
            </a:r>
            <a:endParaRPr lang="en-US" sz="1100" dirty="0"/>
          </a:p>
        </p:txBody>
      </p:sp>
      <p:sp>
        <p:nvSpPr>
          <p:cNvPr id="27" name="Shape 25"/>
          <p:cNvSpPr/>
          <p:nvPr/>
        </p:nvSpPr>
        <p:spPr>
          <a:xfrm>
            <a:off x="457200" y="3538728"/>
            <a:ext cx="8229600" cy="457200"/>
          </a:xfrm>
          <a:prstGeom prst="roundRect">
            <a:avLst>
              <a:gd name="adj" fmla="val 16000"/>
            </a:avLst>
          </a:prstGeom>
          <a:solidFill>
            <a:srgbClr val="F4F6F8"/>
          </a:solidFill>
          <a:ln/>
        </p:spPr>
      </p:sp>
      <p:sp>
        <p:nvSpPr>
          <p:cNvPr id="28" name="Shape 26"/>
          <p:cNvSpPr/>
          <p:nvPr/>
        </p:nvSpPr>
        <p:spPr>
          <a:xfrm>
            <a:off x="548640" y="3602736"/>
            <a:ext cx="329184" cy="329184"/>
          </a:xfrm>
          <a:prstGeom prst="ellipse">
            <a:avLst/>
          </a:prstGeom>
          <a:solidFill>
            <a:srgbClr val="FFFFFF"/>
          </a:solidFill>
          <a:ln w="12700">
            <a:solidFill>
              <a:srgbClr val="8A96A3"/>
            </a:solidFill>
            <a:prstDash val="solid"/>
          </a:ln>
        </p:spPr>
      </p:sp>
      <p:sp>
        <p:nvSpPr>
          <p:cNvPr id="29" name="Text 27"/>
          <p:cNvSpPr txBox="1"/>
          <p:nvPr/>
        </p:nvSpPr>
        <p:spPr>
          <a:xfrm>
            <a:off x="548640" y="3602736"/>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5</a:t>
            </a:r>
            <a:endParaRPr lang="en-US" sz="1300" dirty="0"/>
          </a:p>
        </p:txBody>
      </p:sp>
      <p:sp>
        <p:nvSpPr>
          <p:cNvPr id="30" name="Text 28"/>
          <p:cNvSpPr txBox="1"/>
          <p:nvPr/>
        </p:nvSpPr>
        <p:spPr>
          <a:xfrm>
            <a:off x="987552" y="3538728"/>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舌下神経</a:t>
            </a:r>
            <a:endParaRPr lang="en-US" sz="1200" dirty="0"/>
          </a:p>
        </p:txBody>
      </p:sp>
      <p:sp>
        <p:nvSpPr>
          <p:cNvPr id="31" name="Text 29"/>
          <p:cNvSpPr txBox="1"/>
          <p:nvPr/>
        </p:nvSpPr>
        <p:spPr>
          <a:xfrm>
            <a:off x="4096512" y="3538728"/>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運動のみ</a:t>
            </a:r>
            <a:endParaRPr lang="en-US" sz="1100" dirty="0"/>
          </a:p>
        </p:txBody>
      </p:sp>
      <p:sp>
        <p:nvSpPr>
          <p:cNvPr id="32" name="Shape 30"/>
          <p:cNvSpPr/>
          <p:nvPr/>
        </p:nvSpPr>
        <p:spPr>
          <a:xfrm>
            <a:off x="457200" y="4160520"/>
            <a:ext cx="1463040" cy="685800"/>
          </a:xfrm>
          <a:prstGeom prst="roundRect">
            <a:avLst>
              <a:gd name="adj" fmla="val 10667"/>
            </a:avLst>
          </a:prstGeom>
          <a:solidFill>
            <a:srgbClr val="D9534F"/>
          </a:solidFill>
          <a:ln/>
        </p:spPr>
      </p:sp>
      <p:sp>
        <p:nvSpPr>
          <p:cNvPr id="33" name="Text 31"/>
          <p:cNvSpPr txBox="1"/>
          <p:nvPr/>
        </p:nvSpPr>
        <p:spPr>
          <a:xfrm>
            <a:off x="457200" y="4160520"/>
            <a:ext cx="1463040" cy="685800"/>
          </a:xfrm>
          <a:prstGeom prst="rect">
            <a:avLst/>
          </a:prstGeom>
          <a:noFill/>
          <a:ln/>
        </p:spPr>
        <p:txBody>
          <a:bodyPr wrap="square" lIns="0" tIns="0" rIns="0" bIns="0" rtlCol="0" anchor="ctr"/>
          <a:lstStyle/>
          <a:p>
            <a:pPr algn="ctr" indent="0" marL="0">
              <a:buNone/>
            </a:pPr>
            <a:r>
              <a:rPr lang="en-US" sz="1100" dirty="0">
                <a:solidFill>
                  <a:srgbClr val="FFFFFF"/>
                </a:solidFill>
                <a:latin typeface="Meiryo" pitchFamily="34" charset="0"/>
                <a:ea typeface="Meiryo" pitchFamily="34" charset="-122"/>
                <a:cs typeface="Meiryo" pitchFamily="34" charset="-120"/>
              </a:rPr>
              <a:t>正解</a:t>
            </a:r>
            <a:endParaRPr lang="en-US" sz="1100" dirty="0"/>
          </a:p>
          <a:p>
            <a:pPr algn="ctr" indent="0" marL="0">
              <a:buNone/>
            </a:pPr>
            <a:r>
              <a:rPr lang="en-US" sz="2200" b="1" dirty="0">
                <a:solidFill>
                  <a:srgbClr val="FFFFFF"/>
                </a:solidFill>
                <a:latin typeface="Meiryo" pitchFamily="34" charset="0"/>
                <a:ea typeface="Meiryo" pitchFamily="34" charset="-122"/>
                <a:cs typeface="Meiryo" pitchFamily="34" charset="-120"/>
              </a:rPr>
              <a:t>1・4</a:t>
            </a:r>
            <a:endParaRPr lang="en-US" sz="1100" dirty="0"/>
          </a:p>
        </p:txBody>
      </p:sp>
      <p:sp>
        <p:nvSpPr>
          <p:cNvPr id="34" name="Shape 32"/>
          <p:cNvSpPr/>
          <p:nvPr/>
        </p:nvSpPr>
        <p:spPr>
          <a:xfrm>
            <a:off x="2057400" y="4160520"/>
            <a:ext cx="6629400" cy="685800"/>
          </a:xfrm>
          <a:prstGeom prst="roundRect">
            <a:avLst>
              <a:gd name="adj" fmla="val 10667"/>
            </a:avLst>
          </a:prstGeom>
          <a:solidFill>
            <a:srgbClr val="EAF2F8"/>
          </a:solidFill>
          <a:ln/>
        </p:spPr>
      </p:sp>
      <p:sp>
        <p:nvSpPr>
          <p:cNvPr id="35" name="Text 33"/>
          <p:cNvSpPr txBox="1"/>
          <p:nvPr/>
        </p:nvSpPr>
        <p:spPr>
          <a:xfrm>
            <a:off x="2194560" y="4160520"/>
            <a:ext cx="6400800" cy="685800"/>
          </a:xfrm>
          <a:prstGeom prst="rect">
            <a:avLst/>
          </a:prstGeom>
          <a:noFill/>
          <a:ln/>
        </p:spPr>
        <p:txBody>
          <a:bodyPr wrap="square" lIns="0" tIns="0" rIns="0" bIns="0" rtlCol="0" anchor="ctr"/>
          <a:lstStyle/>
          <a:p>
            <a:pPr indent="0" marL="0">
              <a:buNone/>
            </a:pPr>
            <a:r>
              <a:rPr lang="en-US" sz="1200" b="1" dirty="0">
                <a:solidFill>
                  <a:srgbClr val="2A7F9E"/>
                </a:solidFill>
                <a:latin typeface="Meiryo" pitchFamily="34" charset="0"/>
                <a:ea typeface="Meiryo" pitchFamily="34" charset="-122"/>
                <a:cs typeface="Meiryo" pitchFamily="34" charset="-120"/>
              </a:rPr>
              <a:t>POINT　</a:t>
            </a:r>
            <a:pPr indent="0" marL="0">
              <a:buNone/>
            </a:pPr>
            <a:r>
              <a:rPr lang="en-US" sz="1200" dirty="0">
                <a:solidFill>
                  <a:srgbClr val="222222"/>
                </a:solidFill>
                <a:latin typeface="Meiryo" pitchFamily="34" charset="0"/>
                <a:ea typeface="Meiryo" pitchFamily="34" charset="-122"/>
                <a:cs typeface="Meiryo" pitchFamily="34" charset="-120"/>
              </a:rPr>
              <a:t>副交感線維を含む脳神経：Ⅲ・Ⅶ・Ⅸ・Ⅹ（3・7・9・10）。</a:t>
            </a:r>
            <a:endParaRPr lang="en-US" sz="12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74320"/>
            <a:ext cx="868680" cy="384048"/>
          </a:xfrm>
          <a:prstGeom prst="roundRect">
            <a:avLst>
              <a:gd name="adj" fmla="val 19048"/>
            </a:avLst>
          </a:prstGeom>
          <a:solidFill>
            <a:srgbClr val="17324D"/>
          </a:solidFill>
          <a:ln/>
        </p:spPr>
      </p:sp>
      <p:sp>
        <p:nvSpPr>
          <p:cNvPr id="3" name="Text 1"/>
          <p:cNvSpPr txBox="1"/>
          <p:nvPr/>
        </p:nvSpPr>
        <p:spPr>
          <a:xfrm>
            <a:off x="457200" y="274320"/>
            <a:ext cx="86868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問題</a:t>
            </a:r>
            <a:endParaRPr lang="en-US" sz="1300" dirty="0"/>
          </a:p>
        </p:txBody>
      </p:sp>
      <p:sp>
        <p:nvSpPr>
          <p:cNvPr id="4" name="Text 2"/>
          <p:cNvSpPr txBox="1"/>
          <p:nvPr/>
        </p:nvSpPr>
        <p:spPr>
          <a:xfrm>
            <a:off x="1417320" y="274320"/>
            <a:ext cx="731520" cy="384048"/>
          </a:xfrm>
          <a:prstGeom prst="rect">
            <a:avLst/>
          </a:prstGeom>
          <a:noFill/>
          <a:ln/>
        </p:spPr>
        <p:txBody>
          <a:bodyPr wrap="square" lIns="0" tIns="0" rIns="0" bIns="0" rtlCol="0" anchor="ctr"/>
          <a:lstStyle/>
          <a:p>
            <a:pPr indent="0" marL="0">
              <a:buNone/>
            </a:pPr>
            <a:r>
              <a:rPr lang="en-US" sz="2000" b="1" dirty="0">
                <a:solidFill>
                  <a:srgbClr val="17324D"/>
                </a:solidFill>
                <a:latin typeface="Arial" pitchFamily="34" charset="0"/>
                <a:ea typeface="Arial" pitchFamily="34" charset="-122"/>
                <a:cs typeface="Arial" pitchFamily="34" charset="-120"/>
              </a:rPr>
              <a:t>[15]</a:t>
            </a:r>
            <a:endParaRPr lang="en-US" sz="2000" dirty="0"/>
          </a:p>
        </p:txBody>
      </p:sp>
      <p:sp>
        <p:nvSpPr>
          <p:cNvPr id="5" name="Text 3"/>
          <p:cNvSpPr txBox="1"/>
          <p:nvPr/>
        </p:nvSpPr>
        <p:spPr>
          <a:xfrm>
            <a:off x="5943600" y="274320"/>
            <a:ext cx="2743200" cy="384048"/>
          </a:xfrm>
          <a:prstGeom prst="rect">
            <a:avLst/>
          </a:prstGeom>
          <a:noFill/>
          <a:ln/>
        </p:spPr>
        <p:txBody>
          <a:bodyPr wrap="square" lIns="0" tIns="0" rIns="0" bIns="0" rtlCol="0" anchor="ctr"/>
          <a:lstStyle/>
          <a:p>
            <a:pPr algn="r" indent="0" marL="0">
              <a:buNone/>
            </a:pPr>
            <a:r>
              <a:rPr lang="en-US" sz="1100" dirty="0">
                <a:solidFill>
                  <a:srgbClr val="5F6B76"/>
                </a:solidFill>
                <a:latin typeface="Meiryo" pitchFamily="34" charset="0"/>
                <a:ea typeface="Meiryo" pitchFamily="34" charset="-122"/>
                <a:cs typeface="Meiryo" pitchFamily="34" charset="-120"/>
              </a:rPr>
              <a:t>53回午後63</a:t>
            </a:r>
            <a:endParaRPr lang="en-US" sz="1100" dirty="0"/>
          </a:p>
        </p:txBody>
      </p:sp>
      <p:sp>
        <p:nvSpPr>
          <p:cNvPr id="6" name="Text 4"/>
          <p:cNvSpPr txBox="1"/>
          <p:nvPr/>
        </p:nvSpPr>
        <p:spPr>
          <a:xfrm>
            <a:off x="457200" y="731520"/>
            <a:ext cx="8229600" cy="594360"/>
          </a:xfrm>
          <a:prstGeom prst="rect">
            <a:avLst/>
          </a:prstGeom>
          <a:noFill/>
          <a:ln/>
        </p:spPr>
        <p:txBody>
          <a:bodyPr wrap="square" lIns="0" tIns="0" rIns="0" bIns="0" rtlCol="0" anchor="t"/>
          <a:lstStyle/>
          <a:p>
            <a:pPr indent="0" marL="0">
              <a:buNone/>
            </a:pPr>
            <a:r>
              <a:rPr lang="en-US" sz="1700" b="1" dirty="0">
                <a:solidFill>
                  <a:srgbClr val="222222"/>
                </a:solidFill>
                <a:latin typeface="Meiryo" pitchFamily="34" charset="0"/>
                <a:ea typeface="Meiryo" pitchFamily="34" charset="-122"/>
                <a:cs typeface="Meiryo" pitchFamily="34" charset="-120"/>
              </a:rPr>
              <a:t>副交感神経の作用で収縮する筋はどれか。</a:t>
            </a:r>
            <a:endParaRPr lang="en-US" sz="1700" dirty="0"/>
          </a:p>
        </p:txBody>
      </p:sp>
      <p:sp>
        <p:nvSpPr>
          <p:cNvPr id="7" name="Shape 5"/>
          <p:cNvSpPr/>
          <p:nvPr/>
        </p:nvSpPr>
        <p:spPr>
          <a:xfrm>
            <a:off x="457200" y="1508760"/>
            <a:ext cx="8229600" cy="493776"/>
          </a:xfrm>
          <a:prstGeom prst="roundRect">
            <a:avLst>
              <a:gd name="adj" fmla="val 14815"/>
            </a:avLst>
          </a:prstGeom>
          <a:solidFill>
            <a:srgbClr val="EAF2F8"/>
          </a:solidFill>
          <a:ln/>
        </p:spPr>
      </p:sp>
      <p:sp>
        <p:nvSpPr>
          <p:cNvPr id="8" name="Shape 6"/>
          <p:cNvSpPr/>
          <p:nvPr/>
        </p:nvSpPr>
        <p:spPr>
          <a:xfrm>
            <a:off x="566928" y="1572768"/>
            <a:ext cx="365760" cy="365760"/>
          </a:xfrm>
          <a:prstGeom prst="ellipse">
            <a:avLst/>
          </a:prstGeom>
          <a:solidFill>
            <a:srgbClr val="FFFFFF"/>
          </a:solidFill>
          <a:ln w="15875">
            <a:solidFill>
              <a:srgbClr val="17324D"/>
            </a:solidFill>
            <a:prstDash val="solid"/>
          </a:ln>
        </p:spPr>
      </p:sp>
      <p:sp>
        <p:nvSpPr>
          <p:cNvPr id="9" name="Text 7"/>
          <p:cNvSpPr txBox="1"/>
          <p:nvPr/>
        </p:nvSpPr>
        <p:spPr>
          <a:xfrm>
            <a:off x="566928" y="1572768"/>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1</a:t>
            </a:r>
            <a:endParaRPr lang="en-US" sz="1400" dirty="0"/>
          </a:p>
        </p:txBody>
      </p:sp>
      <p:sp>
        <p:nvSpPr>
          <p:cNvPr id="10" name="Text 8"/>
          <p:cNvSpPr txBox="1"/>
          <p:nvPr/>
        </p:nvSpPr>
        <p:spPr>
          <a:xfrm>
            <a:off x="1051560" y="1508760"/>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立毛筋</a:t>
            </a:r>
            <a:endParaRPr lang="en-US" sz="1500" dirty="0"/>
          </a:p>
        </p:txBody>
      </p:sp>
      <p:sp>
        <p:nvSpPr>
          <p:cNvPr id="11" name="Shape 9"/>
          <p:cNvSpPr/>
          <p:nvPr/>
        </p:nvSpPr>
        <p:spPr>
          <a:xfrm>
            <a:off x="457200" y="2112264"/>
            <a:ext cx="8229600" cy="493776"/>
          </a:xfrm>
          <a:prstGeom prst="roundRect">
            <a:avLst>
              <a:gd name="adj" fmla="val 14815"/>
            </a:avLst>
          </a:prstGeom>
          <a:solidFill>
            <a:srgbClr val="EAF2F8"/>
          </a:solidFill>
          <a:ln/>
        </p:spPr>
      </p:sp>
      <p:sp>
        <p:nvSpPr>
          <p:cNvPr id="12" name="Shape 10"/>
          <p:cNvSpPr/>
          <p:nvPr/>
        </p:nvSpPr>
        <p:spPr>
          <a:xfrm>
            <a:off x="566928" y="2176272"/>
            <a:ext cx="365760" cy="365760"/>
          </a:xfrm>
          <a:prstGeom prst="ellipse">
            <a:avLst/>
          </a:prstGeom>
          <a:solidFill>
            <a:srgbClr val="FFFFFF"/>
          </a:solidFill>
          <a:ln w="15875">
            <a:solidFill>
              <a:srgbClr val="17324D"/>
            </a:solidFill>
            <a:prstDash val="solid"/>
          </a:ln>
        </p:spPr>
      </p:sp>
      <p:sp>
        <p:nvSpPr>
          <p:cNvPr id="13" name="Text 11"/>
          <p:cNvSpPr txBox="1"/>
          <p:nvPr/>
        </p:nvSpPr>
        <p:spPr>
          <a:xfrm>
            <a:off x="566928" y="2176272"/>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2</a:t>
            </a:r>
            <a:endParaRPr lang="en-US" sz="1400" dirty="0"/>
          </a:p>
        </p:txBody>
      </p:sp>
      <p:sp>
        <p:nvSpPr>
          <p:cNvPr id="14" name="Text 12"/>
          <p:cNvSpPr txBox="1"/>
          <p:nvPr/>
        </p:nvSpPr>
        <p:spPr>
          <a:xfrm>
            <a:off x="1051560" y="2112264"/>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排尿筋</a:t>
            </a:r>
            <a:endParaRPr lang="en-US" sz="1500" dirty="0"/>
          </a:p>
        </p:txBody>
      </p:sp>
      <p:sp>
        <p:nvSpPr>
          <p:cNvPr id="15" name="Shape 13"/>
          <p:cNvSpPr/>
          <p:nvPr/>
        </p:nvSpPr>
        <p:spPr>
          <a:xfrm>
            <a:off x="457200" y="2715768"/>
            <a:ext cx="8229600" cy="493776"/>
          </a:xfrm>
          <a:prstGeom prst="roundRect">
            <a:avLst>
              <a:gd name="adj" fmla="val 14815"/>
            </a:avLst>
          </a:prstGeom>
          <a:solidFill>
            <a:srgbClr val="EAF2F8"/>
          </a:solidFill>
          <a:ln/>
        </p:spPr>
      </p:sp>
      <p:sp>
        <p:nvSpPr>
          <p:cNvPr id="16" name="Shape 14"/>
          <p:cNvSpPr/>
          <p:nvPr/>
        </p:nvSpPr>
        <p:spPr>
          <a:xfrm>
            <a:off x="566928" y="2779776"/>
            <a:ext cx="365760" cy="365760"/>
          </a:xfrm>
          <a:prstGeom prst="ellipse">
            <a:avLst/>
          </a:prstGeom>
          <a:solidFill>
            <a:srgbClr val="FFFFFF"/>
          </a:solidFill>
          <a:ln w="15875">
            <a:solidFill>
              <a:srgbClr val="17324D"/>
            </a:solidFill>
            <a:prstDash val="solid"/>
          </a:ln>
        </p:spPr>
      </p:sp>
      <p:sp>
        <p:nvSpPr>
          <p:cNvPr id="17" name="Text 15"/>
          <p:cNvSpPr txBox="1"/>
          <p:nvPr/>
        </p:nvSpPr>
        <p:spPr>
          <a:xfrm>
            <a:off x="566928" y="2779776"/>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3</a:t>
            </a:r>
            <a:endParaRPr lang="en-US" sz="1400" dirty="0"/>
          </a:p>
        </p:txBody>
      </p:sp>
      <p:sp>
        <p:nvSpPr>
          <p:cNvPr id="18" name="Text 16"/>
          <p:cNvSpPr txBox="1"/>
          <p:nvPr/>
        </p:nvSpPr>
        <p:spPr>
          <a:xfrm>
            <a:off x="1051560" y="2715768"/>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血管平滑筋</a:t>
            </a:r>
            <a:endParaRPr lang="en-US" sz="1500" dirty="0"/>
          </a:p>
        </p:txBody>
      </p:sp>
      <p:sp>
        <p:nvSpPr>
          <p:cNvPr id="19" name="Shape 17"/>
          <p:cNvSpPr/>
          <p:nvPr/>
        </p:nvSpPr>
        <p:spPr>
          <a:xfrm>
            <a:off x="457200" y="3319272"/>
            <a:ext cx="8229600" cy="493776"/>
          </a:xfrm>
          <a:prstGeom prst="roundRect">
            <a:avLst>
              <a:gd name="adj" fmla="val 14815"/>
            </a:avLst>
          </a:prstGeom>
          <a:solidFill>
            <a:srgbClr val="EAF2F8"/>
          </a:solidFill>
          <a:ln/>
        </p:spPr>
      </p:sp>
      <p:sp>
        <p:nvSpPr>
          <p:cNvPr id="20" name="Shape 18"/>
          <p:cNvSpPr/>
          <p:nvPr/>
        </p:nvSpPr>
        <p:spPr>
          <a:xfrm>
            <a:off x="566928" y="3383280"/>
            <a:ext cx="365760" cy="365760"/>
          </a:xfrm>
          <a:prstGeom prst="ellipse">
            <a:avLst/>
          </a:prstGeom>
          <a:solidFill>
            <a:srgbClr val="FFFFFF"/>
          </a:solidFill>
          <a:ln w="15875">
            <a:solidFill>
              <a:srgbClr val="17324D"/>
            </a:solidFill>
            <a:prstDash val="solid"/>
          </a:ln>
        </p:spPr>
      </p:sp>
      <p:sp>
        <p:nvSpPr>
          <p:cNvPr id="21" name="Text 19"/>
          <p:cNvSpPr txBox="1"/>
          <p:nvPr/>
        </p:nvSpPr>
        <p:spPr>
          <a:xfrm>
            <a:off x="566928" y="3383280"/>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4</a:t>
            </a:r>
            <a:endParaRPr lang="en-US" sz="1400" dirty="0"/>
          </a:p>
        </p:txBody>
      </p:sp>
      <p:sp>
        <p:nvSpPr>
          <p:cNvPr id="22" name="Text 20"/>
          <p:cNvSpPr txBox="1"/>
          <p:nvPr/>
        </p:nvSpPr>
        <p:spPr>
          <a:xfrm>
            <a:off x="1051560" y="3319272"/>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瞳孔散大筋</a:t>
            </a:r>
            <a:endParaRPr lang="en-US" sz="1500" dirty="0"/>
          </a:p>
        </p:txBody>
      </p:sp>
      <p:sp>
        <p:nvSpPr>
          <p:cNvPr id="23" name="Shape 21"/>
          <p:cNvSpPr/>
          <p:nvPr/>
        </p:nvSpPr>
        <p:spPr>
          <a:xfrm>
            <a:off x="457200" y="3922776"/>
            <a:ext cx="8229600" cy="493776"/>
          </a:xfrm>
          <a:prstGeom prst="roundRect">
            <a:avLst>
              <a:gd name="adj" fmla="val 14815"/>
            </a:avLst>
          </a:prstGeom>
          <a:solidFill>
            <a:srgbClr val="EAF2F8"/>
          </a:solidFill>
          <a:ln/>
        </p:spPr>
      </p:sp>
      <p:sp>
        <p:nvSpPr>
          <p:cNvPr id="24" name="Shape 22"/>
          <p:cNvSpPr/>
          <p:nvPr/>
        </p:nvSpPr>
        <p:spPr>
          <a:xfrm>
            <a:off x="566928" y="3986784"/>
            <a:ext cx="365760" cy="365760"/>
          </a:xfrm>
          <a:prstGeom prst="ellipse">
            <a:avLst/>
          </a:prstGeom>
          <a:solidFill>
            <a:srgbClr val="FFFFFF"/>
          </a:solidFill>
          <a:ln w="15875">
            <a:solidFill>
              <a:srgbClr val="17324D"/>
            </a:solidFill>
            <a:prstDash val="solid"/>
          </a:ln>
        </p:spPr>
      </p:sp>
      <p:sp>
        <p:nvSpPr>
          <p:cNvPr id="25" name="Text 23"/>
          <p:cNvSpPr txBox="1"/>
          <p:nvPr/>
        </p:nvSpPr>
        <p:spPr>
          <a:xfrm>
            <a:off x="566928" y="3986784"/>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5</a:t>
            </a:r>
            <a:endParaRPr lang="en-US" sz="1400" dirty="0"/>
          </a:p>
        </p:txBody>
      </p:sp>
      <p:sp>
        <p:nvSpPr>
          <p:cNvPr id="26" name="Text 24"/>
          <p:cNvSpPr txBox="1"/>
          <p:nvPr/>
        </p:nvSpPr>
        <p:spPr>
          <a:xfrm>
            <a:off x="1051560" y="3922776"/>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内肛門括約筋</a:t>
            </a:r>
            <a:endParaRPr lang="en-US" sz="15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74320"/>
            <a:ext cx="868680" cy="384048"/>
          </a:xfrm>
          <a:prstGeom prst="roundRect">
            <a:avLst>
              <a:gd name="adj" fmla="val 19048"/>
            </a:avLst>
          </a:prstGeom>
          <a:solidFill>
            <a:srgbClr val="D9534F"/>
          </a:solidFill>
          <a:ln/>
        </p:spPr>
      </p:sp>
      <p:sp>
        <p:nvSpPr>
          <p:cNvPr id="3" name="Text 1"/>
          <p:cNvSpPr txBox="1"/>
          <p:nvPr/>
        </p:nvSpPr>
        <p:spPr>
          <a:xfrm>
            <a:off x="457200" y="274320"/>
            <a:ext cx="86868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解説</a:t>
            </a:r>
            <a:endParaRPr lang="en-US" sz="1300" dirty="0"/>
          </a:p>
        </p:txBody>
      </p:sp>
      <p:sp>
        <p:nvSpPr>
          <p:cNvPr id="4" name="Text 2"/>
          <p:cNvSpPr txBox="1"/>
          <p:nvPr/>
        </p:nvSpPr>
        <p:spPr>
          <a:xfrm>
            <a:off x="1417320" y="274320"/>
            <a:ext cx="731520" cy="384048"/>
          </a:xfrm>
          <a:prstGeom prst="rect">
            <a:avLst/>
          </a:prstGeom>
          <a:noFill/>
          <a:ln/>
        </p:spPr>
        <p:txBody>
          <a:bodyPr wrap="square" lIns="0" tIns="0" rIns="0" bIns="0" rtlCol="0" anchor="ctr"/>
          <a:lstStyle/>
          <a:p>
            <a:pPr indent="0" marL="0">
              <a:buNone/>
            </a:pPr>
            <a:r>
              <a:rPr lang="en-US" sz="2000" b="1" dirty="0">
                <a:solidFill>
                  <a:srgbClr val="17324D"/>
                </a:solidFill>
                <a:latin typeface="Arial" pitchFamily="34" charset="0"/>
                <a:ea typeface="Arial" pitchFamily="34" charset="-122"/>
                <a:cs typeface="Arial" pitchFamily="34" charset="-120"/>
              </a:rPr>
              <a:t>[15]</a:t>
            </a:r>
            <a:endParaRPr lang="en-US" sz="2000" dirty="0"/>
          </a:p>
        </p:txBody>
      </p:sp>
      <p:sp>
        <p:nvSpPr>
          <p:cNvPr id="5" name="Text 3"/>
          <p:cNvSpPr txBox="1"/>
          <p:nvPr/>
        </p:nvSpPr>
        <p:spPr>
          <a:xfrm>
            <a:off x="5943600" y="274320"/>
            <a:ext cx="2743200" cy="384048"/>
          </a:xfrm>
          <a:prstGeom prst="rect">
            <a:avLst/>
          </a:prstGeom>
          <a:noFill/>
          <a:ln/>
        </p:spPr>
        <p:txBody>
          <a:bodyPr wrap="square" lIns="0" tIns="0" rIns="0" bIns="0" rtlCol="0" anchor="ctr"/>
          <a:lstStyle/>
          <a:p>
            <a:pPr algn="r" indent="0" marL="0">
              <a:buNone/>
            </a:pPr>
            <a:r>
              <a:rPr lang="en-US" sz="1100" dirty="0">
                <a:solidFill>
                  <a:srgbClr val="5F6B76"/>
                </a:solidFill>
                <a:latin typeface="Meiryo" pitchFamily="34" charset="0"/>
                <a:ea typeface="Meiryo" pitchFamily="34" charset="-122"/>
                <a:cs typeface="Meiryo" pitchFamily="34" charset="-120"/>
              </a:rPr>
              <a:t>53回午後63</a:t>
            </a:r>
            <a:endParaRPr lang="en-US" sz="1100" dirty="0"/>
          </a:p>
        </p:txBody>
      </p:sp>
      <p:sp>
        <p:nvSpPr>
          <p:cNvPr id="6" name="Text 4"/>
          <p:cNvSpPr txBox="1"/>
          <p:nvPr/>
        </p:nvSpPr>
        <p:spPr>
          <a:xfrm>
            <a:off x="457200" y="731520"/>
            <a:ext cx="8229600" cy="594360"/>
          </a:xfrm>
          <a:prstGeom prst="rect">
            <a:avLst/>
          </a:prstGeom>
          <a:noFill/>
          <a:ln/>
        </p:spPr>
        <p:txBody>
          <a:bodyPr wrap="square" lIns="0" tIns="0" rIns="0" bIns="0" rtlCol="0" anchor="t"/>
          <a:lstStyle/>
          <a:p>
            <a:pPr indent="0" marL="0">
              <a:buNone/>
            </a:pPr>
            <a:r>
              <a:rPr lang="en-US" sz="1700" b="1" dirty="0">
                <a:solidFill>
                  <a:srgbClr val="222222"/>
                </a:solidFill>
                <a:latin typeface="Meiryo" pitchFamily="34" charset="0"/>
                <a:ea typeface="Meiryo" pitchFamily="34" charset="-122"/>
                <a:cs typeface="Meiryo" pitchFamily="34" charset="-120"/>
              </a:rPr>
              <a:t>副交感神経の作用で収縮する筋はどれか。</a:t>
            </a:r>
            <a:endParaRPr lang="en-US" sz="1700" dirty="0"/>
          </a:p>
        </p:txBody>
      </p:sp>
      <p:sp>
        <p:nvSpPr>
          <p:cNvPr id="7" name="Shape 5"/>
          <p:cNvSpPr/>
          <p:nvPr/>
        </p:nvSpPr>
        <p:spPr>
          <a:xfrm>
            <a:off x="457200" y="1417320"/>
            <a:ext cx="8229600" cy="457200"/>
          </a:xfrm>
          <a:prstGeom prst="roundRect">
            <a:avLst>
              <a:gd name="adj" fmla="val 16000"/>
            </a:avLst>
          </a:prstGeom>
          <a:solidFill>
            <a:srgbClr val="F4F6F8"/>
          </a:solidFill>
          <a:ln/>
        </p:spPr>
      </p:sp>
      <p:sp>
        <p:nvSpPr>
          <p:cNvPr id="8" name="Shape 6"/>
          <p:cNvSpPr/>
          <p:nvPr/>
        </p:nvSpPr>
        <p:spPr>
          <a:xfrm>
            <a:off x="548640" y="1481328"/>
            <a:ext cx="329184" cy="329184"/>
          </a:xfrm>
          <a:prstGeom prst="ellipse">
            <a:avLst/>
          </a:prstGeom>
          <a:solidFill>
            <a:srgbClr val="FFFFFF"/>
          </a:solidFill>
          <a:ln w="12700">
            <a:solidFill>
              <a:srgbClr val="8A96A3"/>
            </a:solidFill>
            <a:prstDash val="solid"/>
          </a:ln>
        </p:spPr>
      </p:sp>
      <p:sp>
        <p:nvSpPr>
          <p:cNvPr id="9" name="Text 7"/>
          <p:cNvSpPr txBox="1"/>
          <p:nvPr/>
        </p:nvSpPr>
        <p:spPr>
          <a:xfrm>
            <a:off x="548640" y="1481328"/>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1</a:t>
            </a:r>
            <a:endParaRPr lang="en-US" sz="1300" dirty="0"/>
          </a:p>
        </p:txBody>
      </p:sp>
      <p:sp>
        <p:nvSpPr>
          <p:cNvPr id="10" name="Text 8"/>
          <p:cNvSpPr txBox="1"/>
          <p:nvPr/>
        </p:nvSpPr>
        <p:spPr>
          <a:xfrm>
            <a:off x="987552" y="1417320"/>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立毛筋</a:t>
            </a:r>
            <a:endParaRPr lang="en-US" sz="1200" dirty="0"/>
          </a:p>
        </p:txBody>
      </p:sp>
      <p:sp>
        <p:nvSpPr>
          <p:cNvPr id="11" name="Text 9"/>
          <p:cNvSpPr txBox="1"/>
          <p:nvPr/>
        </p:nvSpPr>
        <p:spPr>
          <a:xfrm>
            <a:off x="4096512" y="1417320"/>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交感神経で収縮</a:t>
            </a:r>
            <a:endParaRPr lang="en-US" sz="1100" dirty="0"/>
          </a:p>
        </p:txBody>
      </p:sp>
      <p:sp>
        <p:nvSpPr>
          <p:cNvPr id="12" name="Shape 10"/>
          <p:cNvSpPr/>
          <p:nvPr/>
        </p:nvSpPr>
        <p:spPr>
          <a:xfrm>
            <a:off x="457200" y="1947672"/>
            <a:ext cx="8229600" cy="457200"/>
          </a:xfrm>
          <a:prstGeom prst="roundRect">
            <a:avLst>
              <a:gd name="adj" fmla="val 16000"/>
            </a:avLst>
          </a:prstGeom>
          <a:solidFill>
            <a:srgbClr val="FBE3E2"/>
          </a:solidFill>
          <a:ln w="19050">
            <a:solidFill>
              <a:srgbClr val="D9534F"/>
            </a:solidFill>
            <a:prstDash val="solid"/>
          </a:ln>
        </p:spPr>
      </p:sp>
      <p:sp>
        <p:nvSpPr>
          <p:cNvPr id="13" name="Shape 11"/>
          <p:cNvSpPr/>
          <p:nvPr/>
        </p:nvSpPr>
        <p:spPr>
          <a:xfrm>
            <a:off x="548640" y="2011680"/>
            <a:ext cx="329184" cy="329184"/>
          </a:xfrm>
          <a:prstGeom prst="ellipse">
            <a:avLst/>
          </a:prstGeom>
          <a:solidFill>
            <a:srgbClr val="D9534F"/>
          </a:solidFill>
          <a:ln w="12700">
            <a:solidFill>
              <a:srgbClr val="D9534F"/>
            </a:solidFill>
            <a:prstDash val="solid"/>
          </a:ln>
        </p:spPr>
      </p:sp>
      <p:sp>
        <p:nvSpPr>
          <p:cNvPr id="14" name="Text 12"/>
          <p:cNvSpPr txBox="1"/>
          <p:nvPr/>
        </p:nvSpPr>
        <p:spPr>
          <a:xfrm>
            <a:off x="548640" y="2011680"/>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5" name="Text 13"/>
          <p:cNvSpPr txBox="1"/>
          <p:nvPr/>
        </p:nvSpPr>
        <p:spPr>
          <a:xfrm>
            <a:off x="987552" y="1947672"/>
            <a:ext cx="3017520" cy="457200"/>
          </a:xfrm>
          <a:prstGeom prst="rect">
            <a:avLst/>
          </a:prstGeom>
          <a:noFill/>
          <a:ln/>
        </p:spPr>
        <p:txBody>
          <a:bodyPr wrap="square" lIns="0" tIns="0" rIns="0" bIns="0" rtlCol="0" anchor="ctr"/>
          <a:lstStyle/>
          <a:p>
            <a:pPr indent="0" marL="0">
              <a:buNone/>
            </a:pPr>
            <a:r>
              <a:rPr lang="en-US" sz="1200" b="1" dirty="0">
                <a:solidFill>
                  <a:srgbClr val="D9534F"/>
                </a:solidFill>
                <a:latin typeface="Meiryo" pitchFamily="34" charset="0"/>
                <a:ea typeface="Meiryo" pitchFamily="34" charset="-122"/>
                <a:cs typeface="Meiryo" pitchFamily="34" charset="-120"/>
              </a:rPr>
              <a:t>排尿筋</a:t>
            </a:r>
            <a:endParaRPr lang="en-US" sz="1200" dirty="0"/>
          </a:p>
        </p:txBody>
      </p:sp>
      <p:sp>
        <p:nvSpPr>
          <p:cNvPr id="16" name="Text 14"/>
          <p:cNvSpPr txBox="1"/>
          <p:nvPr/>
        </p:nvSpPr>
        <p:spPr>
          <a:xfrm>
            <a:off x="4096512" y="1947672"/>
            <a:ext cx="4526280" cy="457200"/>
          </a:xfrm>
          <a:prstGeom prst="rect">
            <a:avLst/>
          </a:prstGeom>
          <a:noFill/>
          <a:ln/>
        </p:spPr>
        <p:txBody>
          <a:bodyPr wrap="square" lIns="0" tIns="0" rIns="0" bIns="0" rtlCol="0" anchor="ctr"/>
          <a:lstStyle/>
          <a:p>
            <a:pPr indent="0" marL="0">
              <a:buNone/>
            </a:pPr>
            <a:r>
              <a:rPr lang="en-US" sz="1100" dirty="0">
                <a:solidFill>
                  <a:srgbClr val="222222"/>
                </a:solidFill>
                <a:latin typeface="Meiryo" pitchFamily="34" charset="0"/>
                <a:ea typeface="Meiryo" pitchFamily="34" charset="-122"/>
                <a:cs typeface="Meiryo" pitchFamily="34" charset="-120"/>
              </a:rPr>
              <a:t>副交感神経（骨盤神経）で収縮 ○</a:t>
            </a:r>
            <a:endParaRPr lang="en-US" sz="1100" dirty="0"/>
          </a:p>
        </p:txBody>
      </p:sp>
      <p:sp>
        <p:nvSpPr>
          <p:cNvPr id="17" name="Shape 15"/>
          <p:cNvSpPr/>
          <p:nvPr/>
        </p:nvSpPr>
        <p:spPr>
          <a:xfrm>
            <a:off x="457200" y="2478024"/>
            <a:ext cx="8229600" cy="457200"/>
          </a:xfrm>
          <a:prstGeom prst="roundRect">
            <a:avLst>
              <a:gd name="adj" fmla="val 16000"/>
            </a:avLst>
          </a:prstGeom>
          <a:solidFill>
            <a:srgbClr val="F4F6F8"/>
          </a:solidFill>
          <a:ln/>
        </p:spPr>
      </p:sp>
      <p:sp>
        <p:nvSpPr>
          <p:cNvPr id="18" name="Shape 16"/>
          <p:cNvSpPr/>
          <p:nvPr/>
        </p:nvSpPr>
        <p:spPr>
          <a:xfrm>
            <a:off x="548640" y="2542032"/>
            <a:ext cx="329184" cy="329184"/>
          </a:xfrm>
          <a:prstGeom prst="ellipse">
            <a:avLst/>
          </a:prstGeom>
          <a:solidFill>
            <a:srgbClr val="FFFFFF"/>
          </a:solidFill>
          <a:ln w="12700">
            <a:solidFill>
              <a:srgbClr val="8A96A3"/>
            </a:solidFill>
            <a:prstDash val="solid"/>
          </a:ln>
        </p:spPr>
      </p:sp>
      <p:sp>
        <p:nvSpPr>
          <p:cNvPr id="19" name="Text 17"/>
          <p:cNvSpPr txBox="1"/>
          <p:nvPr/>
        </p:nvSpPr>
        <p:spPr>
          <a:xfrm>
            <a:off x="548640" y="2542032"/>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3</a:t>
            </a:r>
            <a:endParaRPr lang="en-US" sz="1300" dirty="0"/>
          </a:p>
        </p:txBody>
      </p:sp>
      <p:sp>
        <p:nvSpPr>
          <p:cNvPr id="20" name="Text 18"/>
          <p:cNvSpPr txBox="1"/>
          <p:nvPr/>
        </p:nvSpPr>
        <p:spPr>
          <a:xfrm>
            <a:off x="987552" y="2478024"/>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血管平滑筋</a:t>
            </a:r>
            <a:endParaRPr lang="en-US" sz="1200" dirty="0"/>
          </a:p>
        </p:txBody>
      </p:sp>
      <p:sp>
        <p:nvSpPr>
          <p:cNvPr id="21" name="Text 19"/>
          <p:cNvSpPr txBox="1"/>
          <p:nvPr/>
        </p:nvSpPr>
        <p:spPr>
          <a:xfrm>
            <a:off x="4096512" y="2478024"/>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主に交感神経で収縮</a:t>
            </a:r>
            <a:endParaRPr lang="en-US" sz="1100" dirty="0"/>
          </a:p>
        </p:txBody>
      </p:sp>
      <p:sp>
        <p:nvSpPr>
          <p:cNvPr id="22" name="Shape 20"/>
          <p:cNvSpPr/>
          <p:nvPr/>
        </p:nvSpPr>
        <p:spPr>
          <a:xfrm>
            <a:off x="457200" y="3008376"/>
            <a:ext cx="8229600" cy="457200"/>
          </a:xfrm>
          <a:prstGeom prst="roundRect">
            <a:avLst>
              <a:gd name="adj" fmla="val 16000"/>
            </a:avLst>
          </a:prstGeom>
          <a:solidFill>
            <a:srgbClr val="F4F6F8"/>
          </a:solidFill>
          <a:ln/>
        </p:spPr>
      </p:sp>
      <p:sp>
        <p:nvSpPr>
          <p:cNvPr id="23" name="Shape 21"/>
          <p:cNvSpPr/>
          <p:nvPr/>
        </p:nvSpPr>
        <p:spPr>
          <a:xfrm>
            <a:off x="548640" y="3072384"/>
            <a:ext cx="329184" cy="329184"/>
          </a:xfrm>
          <a:prstGeom prst="ellipse">
            <a:avLst/>
          </a:prstGeom>
          <a:solidFill>
            <a:srgbClr val="FFFFFF"/>
          </a:solidFill>
          <a:ln w="12700">
            <a:solidFill>
              <a:srgbClr val="8A96A3"/>
            </a:solidFill>
            <a:prstDash val="solid"/>
          </a:ln>
        </p:spPr>
      </p:sp>
      <p:sp>
        <p:nvSpPr>
          <p:cNvPr id="24" name="Text 22"/>
          <p:cNvSpPr txBox="1"/>
          <p:nvPr/>
        </p:nvSpPr>
        <p:spPr>
          <a:xfrm>
            <a:off x="548640" y="3072384"/>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4</a:t>
            </a:r>
            <a:endParaRPr lang="en-US" sz="1300" dirty="0"/>
          </a:p>
        </p:txBody>
      </p:sp>
      <p:sp>
        <p:nvSpPr>
          <p:cNvPr id="25" name="Text 23"/>
          <p:cNvSpPr txBox="1"/>
          <p:nvPr/>
        </p:nvSpPr>
        <p:spPr>
          <a:xfrm>
            <a:off x="987552" y="3008376"/>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瞳孔散大筋</a:t>
            </a:r>
            <a:endParaRPr lang="en-US" sz="1200" dirty="0"/>
          </a:p>
        </p:txBody>
      </p:sp>
      <p:sp>
        <p:nvSpPr>
          <p:cNvPr id="26" name="Text 24"/>
          <p:cNvSpPr txBox="1"/>
          <p:nvPr/>
        </p:nvSpPr>
        <p:spPr>
          <a:xfrm>
            <a:off x="4096512" y="3008376"/>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交感神経で収縮</a:t>
            </a:r>
            <a:endParaRPr lang="en-US" sz="1100" dirty="0"/>
          </a:p>
        </p:txBody>
      </p:sp>
      <p:sp>
        <p:nvSpPr>
          <p:cNvPr id="27" name="Shape 25"/>
          <p:cNvSpPr/>
          <p:nvPr/>
        </p:nvSpPr>
        <p:spPr>
          <a:xfrm>
            <a:off x="457200" y="3538728"/>
            <a:ext cx="8229600" cy="457200"/>
          </a:xfrm>
          <a:prstGeom prst="roundRect">
            <a:avLst>
              <a:gd name="adj" fmla="val 16000"/>
            </a:avLst>
          </a:prstGeom>
          <a:solidFill>
            <a:srgbClr val="F4F6F8"/>
          </a:solidFill>
          <a:ln/>
        </p:spPr>
      </p:sp>
      <p:sp>
        <p:nvSpPr>
          <p:cNvPr id="28" name="Shape 26"/>
          <p:cNvSpPr/>
          <p:nvPr/>
        </p:nvSpPr>
        <p:spPr>
          <a:xfrm>
            <a:off x="548640" y="3602736"/>
            <a:ext cx="329184" cy="329184"/>
          </a:xfrm>
          <a:prstGeom prst="ellipse">
            <a:avLst/>
          </a:prstGeom>
          <a:solidFill>
            <a:srgbClr val="FFFFFF"/>
          </a:solidFill>
          <a:ln w="12700">
            <a:solidFill>
              <a:srgbClr val="8A96A3"/>
            </a:solidFill>
            <a:prstDash val="solid"/>
          </a:ln>
        </p:spPr>
      </p:sp>
      <p:sp>
        <p:nvSpPr>
          <p:cNvPr id="29" name="Text 27"/>
          <p:cNvSpPr txBox="1"/>
          <p:nvPr/>
        </p:nvSpPr>
        <p:spPr>
          <a:xfrm>
            <a:off x="548640" y="3602736"/>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5</a:t>
            </a:r>
            <a:endParaRPr lang="en-US" sz="1300" dirty="0"/>
          </a:p>
        </p:txBody>
      </p:sp>
      <p:sp>
        <p:nvSpPr>
          <p:cNvPr id="30" name="Text 28"/>
          <p:cNvSpPr txBox="1"/>
          <p:nvPr/>
        </p:nvSpPr>
        <p:spPr>
          <a:xfrm>
            <a:off x="987552" y="3538728"/>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内肛門括約筋</a:t>
            </a:r>
            <a:endParaRPr lang="en-US" sz="1200" dirty="0"/>
          </a:p>
        </p:txBody>
      </p:sp>
      <p:sp>
        <p:nvSpPr>
          <p:cNvPr id="31" name="Text 29"/>
          <p:cNvSpPr txBox="1"/>
          <p:nvPr/>
        </p:nvSpPr>
        <p:spPr>
          <a:xfrm>
            <a:off x="4096512" y="3538728"/>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交感神経で収縮（副交感で弛緩）</a:t>
            </a:r>
            <a:endParaRPr lang="en-US" sz="1100" dirty="0"/>
          </a:p>
        </p:txBody>
      </p:sp>
      <p:sp>
        <p:nvSpPr>
          <p:cNvPr id="32" name="Shape 30"/>
          <p:cNvSpPr/>
          <p:nvPr/>
        </p:nvSpPr>
        <p:spPr>
          <a:xfrm>
            <a:off x="457200" y="4160520"/>
            <a:ext cx="1463040" cy="685800"/>
          </a:xfrm>
          <a:prstGeom prst="roundRect">
            <a:avLst>
              <a:gd name="adj" fmla="val 10667"/>
            </a:avLst>
          </a:prstGeom>
          <a:solidFill>
            <a:srgbClr val="D9534F"/>
          </a:solidFill>
          <a:ln/>
        </p:spPr>
      </p:sp>
      <p:sp>
        <p:nvSpPr>
          <p:cNvPr id="33" name="Text 31"/>
          <p:cNvSpPr txBox="1"/>
          <p:nvPr/>
        </p:nvSpPr>
        <p:spPr>
          <a:xfrm>
            <a:off x="457200" y="4160520"/>
            <a:ext cx="1463040" cy="685800"/>
          </a:xfrm>
          <a:prstGeom prst="rect">
            <a:avLst/>
          </a:prstGeom>
          <a:noFill/>
          <a:ln/>
        </p:spPr>
        <p:txBody>
          <a:bodyPr wrap="square" lIns="0" tIns="0" rIns="0" bIns="0" rtlCol="0" anchor="ctr"/>
          <a:lstStyle/>
          <a:p>
            <a:pPr algn="ctr" indent="0" marL="0">
              <a:buNone/>
            </a:pPr>
            <a:r>
              <a:rPr lang="en-US" sz="1100" dirty="0">
                <a:solidFill>
                  <a:srgbClr val="FFFFFF"/>
                </a:solidFill>
                <a:latin typeface="Meiryo" pitchFamily="34" charset="0"/>
                <a:ea typeface="Meiryo" pitchFamily="34" charset="-122"/>
                <a:cs typeface="Meiryo" pitchFamily="34" charset="-120"/>
              </a:rPr>
              <a:t>正解</a:t>
            </a:r>
            <a:endParaRPr lang="en-US" sz="1100" dirty="0"/>
          </a:p>
          <a:p>
            <a:pPr algn="ctr" indent="0" marL="0">
              <a:buNone/>
            </a:pPr>
            <a:r>
              <a:rPr lang="en-US" sz="2200" b="1" dirty="0">
                <a:solidFill>
                  <a:srgbClr val="FFFFFF"/>
                </a:solidFill>
                <a:latin typeface="Meiryo" pitchFamily="34" charset="0"/>
                <a:ea typeface="Meiryo" pitchFamily="34" charset="-122"/>
                <a:cs typeface="Meiryo" pitchFamily="34" charset="-120"/>
              </a:rPr>
              <a:t>2</a:t>
            </a:r>
            <a:endParaRPr lang="en-US" sz="1100" dirty="0"/>
          </a:p>
        </p:txBody>
      </p:sp>
      <p:sp>
        <p:nvSpPr>
          <p:cNvPr id="34" name="Shape 32"/>
          <p:cNvSpPr/>
          <p:nvPr/>
        </p:nvSpPr>
        <p:spPr>
          <a:xfrm>
            <a:off x="2057400" y="4160520"/>
            <a:ext cx="6629400" cy="685800"/>
          </a:xfrm>
          <a:prstGeom prst="roundRect">
            <a:avLst>
              <a:gd name="adj" fmla="val 10667"/>
            </a:avLst>
          </a:prstGeom>
          <a:solidFill>
            <a:srgbClr val="EAF2F8"/>
          </a:solidFill>
          <a:ln/>
        </p:spPr>
      </p:sp>
      <p:sp>
        <p:nvSpPr>
          <p:cNvPr id="35" name="Text 33"/>
          <p:cNvSpPr txBox="1"/>
          <p:nvPr/>
        </p:nvSpPr>
        <p:spPr>
          <a:xfrm>
            <a:off x="2194560" y="4160520"/>
            <a:ext cx="6400800" cy="685800"/>
          </a:xfrm>
          <a:prstGeom prst="rect">
            <a:avLst/>
          </a:prstGeom>
          <a:noFill/>
          <a:ln/>
        </p:spPr>
        <p:txBody>
          <a:bodyPr wrap="square" lIns="0" tIns="0" rIns="0" bIns="0" rtlCol="0" anchor="ctr"/>
          <a:lstStyle/>
          <a:p>
            <a:pPr indent="0" marL="0">
              <a:buNone/>
            </a:pPr>
            <a:r>
              <a:rPr lang="en-US" sz="1200" b="1" dirty="0">
                <a:solidFill>
                  <a:srgbClr val="2A7F9E"/>
                </a:solidFill>
                <a:latin typeface="Meiryo" pitchFamily="34" charset="0"/>
                <a:ea typeface="Meiryo" pitchFamily="34" charset="-122"/>
                <a:cs typeface="Meiryo" pitchFamily="34" charset="-120"/>
              </a:rPr>
              <a:t>POINT　</a:t>
            </a:r>
            <a:pPr indent="0" marL="0">
              <a:buNone/>
            </a:pPr>
            <a:r>
              <a:rPr lang="en-US" sz="1200" dirty="0">
                <a:solidFill>
                  <a:srgbClr val="222222"/>
                </a:solidFill>
                <a:latin typeface="Meiryo" pitchFamily="34" charset="0"/>
                <a:ea typeface="Meiryo" pitchFamily="34" charset="-122"/>
                <a:cs typeface="Meiryo" pitchFamily="34" charset="-120"/>
              </a:rPr>
              <a:t>排尿：副交感で排尿筋収縮＋内尿道括約筋弛緩。</a:t>
            </a:r>
            <a:endParaRPr lang="en-US" sz="12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74320"/>
            <a:ext cx="868680" cy="384048"/>
          </a:xfrm>
          <a:prstGeom prst="roundRect">
            <a:avLst>
              <a:gd name="adj" fmla="val 19048"/>
            </a:avLst>
          </a:prstGeom>
          <a:solidFill>
            <a:srgbClr val="17324D"/>
          </a:solidFill>
          <a:ln/>
        </p:spPr>
      </p:sp>
      <p:sp>
        <p:nvSpPr>
          <p:cNvPr id="3" name="Text 1"/>
          <p:cNvSpPr txBox="1"/>
          <p:nvPr/>
        </p:nvSpPr>
        <p:spPr>
          <a:xfrm>
            <a:off x="457200" y="274320"/>
            <a:ext cx="86868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問題</a:t>
            </a:r>
            <a:endParaRPr lang="en-US" sz="1300" dirty="0"/>
          </a:p>
        </p:txBody>
      </p:sp>
      <p:sp>
        <p:nvSpPr>
          <p:cNvPr id="4" name="Text 2"/>
          <p:cNvSpPr txBox="1"/>
          <p:nvPr/>
        </p:nvSpPr>
        <p:spPr>
          <a:xfrm>
            <a:off x="1417320" y="274320"/>
            <a:ext cx="731520" cy="384048"/>
          </a:xfrm>
          <a:prstGeom prst="rect">
            <a:avLst/>
          </a:prstGeom>
          <a:noFill/>
          <a:ln/>
        </p:spPr>
        <p:txBody>
          <a:bodyPr wrap="square" lIns="0" tIns="0" rIns="0" bIns="0" rtlCol="0" anchor="ctr"/>
          <a:lstStyle/>
          <a:p>
            <a:pPr indent="0" marL="0">
              <a:buNone/>
            </a:pPr>
            <a:r>
              <a:rPr lang="en-US" sz="2000" b="1" dirty="0">
                <a:solidFill>
                  <a:srgbClr val="17324D"/>
                </a:solidFill>
                <a:latin typeface="Arial" pitchFamily="34" charset="0"/>
                <a:ea typeface="Arial" pitchFamily="34" charset="-122"/>
                <a:cs typeface="Arial" pitchFamily="34" charset="-120"/>
              </a:rPr>
              <a:t>[16]</a:t>
            </a:r>
            <a:endParaRPr lang="en-US" sz="2000" dirty="0"/>
          </a:p>
        </p:txBody>
      </p:sp>
      <p:sp>
        <p:nvSpPr>
          <p:cNvPr id="5" name="Text 3"/>
          <p:cNvSpPr txBox="1"/>
          <p:nvPr/>
        </p:nvSpPr>
        <p:spPr>
          <a:xfrm>
            <a:off x="5943600" y="274320"/>
            <a:ext cx="2743200" cy="384048"/>
          </a:xfrm>
          <a:prstGeom prst="rect">
            <a:avLst/>
          </a:prstGeom>
          <a:noFill/>
          <a:ln/>
        </p:spPr>
        <p:txBody>
          <a:bodyPr wrap="square" lIns="0" tIns="0" rIns="0" bIns="0" rtlCol="0" anchor="ctr"/>
          <a:lstStyle/>
          <a:p>
            <a:pPr algn="r" indent="0" marL="0">
              <a:buNone/>
            </a:pPr>
            <a:r>
              <a:rPr lang="en-US" sz="1100" dirty="0">
                <a:solidFill>
                  <a:srgbClr val="5F6B76"/>
                </a:solidFill>
                <a:latin typeface="Meiryo" pitchFamily="34" charset="0"/>
                <a:ea typeface="Meiryo" pitchFamily="34" charset="-122"/>
                <a:cs typeface="Meiryo" pitchFamily="34" charset="-120"/>
              </a:rPr>
              <a:t>52回午後64</a:t>
            </a:r>
            <a:endParaRPr lang="en-US" sz="1100" dirty="0"/>
          </a:p>
        </p:txBody>
      </p:sp>
      <p:sp>
        <p:nvSpPr>
          <p:cNvPr id="6" name="Text 4"/>
          <p:cNvSpPr txBox="1"/>
          <p:nvPr/>
        </p:nvSpPr>
        <p:spPr>
          <a:xfrm>
            <a:off x="457200" y="731520"/>
            <a:ext cx="8229600" cy="594360"/>
          </a:xfrm>
          <a:prstGeom prst="rect">
            <a:avLst/>
          </a:prstGeom>
          <a:noFill/>
          <a:ln/>
        </p:spPr>
        <p:txBody>
          <a:bodyPr wrap="square" lIns="0" tIns="0" rIns="0" bIns="0" rtlCol="0" anchor="t"/>
          <a:lstStyle/>
          <a:p>
            <a:pPr indent="0" marL="0">
              <a:buNone/>
            </a:pPr>
            <a:r>
              <a:rPr lang="en-US" sz="1700" b="1" dirty="0">
                <a:solidFill>
                  <a:srgbClr val="222222"/>
                </a:solidFill>
                <a:latin typeface="Meiryo" pitchFamily="34" charset="0"/>
                <a:ea typeface="Meiryo" pitchFamily="34" charset="-122"/>
                <a:cs typeface="Meiryo" pitchFamily="34" charset="-120"/>
              </a:rPr>
              <a:t>交感神経の作用はどれか。</a:t>
            </a:r>
            <a:endParaRPr lang="en-US" sz="1700" dirty="0"/>
          </a:p>
        </p:txBody>
      </p:sp>
      <p:sp>
        <p:nvSpPr>
          <p:cNvPr id="7" name="Shape 5"/>
          <p:cNvSpPr/>
          <p:nvPr/>
        </p:nvSpPr>
        <p:spPr>
          <a:xfrm>
            <a:off x="457200" y="1508760"/>
            <a:ext cx="8229600" cy="493776"/>
          </a:xfrm>
          <a:prstGeom prst="roundRect">
            <a:avLst>
              <a:gd name="adj" fmla="val 14815"/>
            </a:avLst>
          </a:prstGeom>
          <a:solidFill>
            <a:srgbClr val="EAF2F8"/>
          </a:solidFill>
          <a:ln/>
        </p:spPr>
      </p:sp>
      <p:sp>
        <p:nvSpPr>
          <p:cNvPr id="8" name="Shape 6"/>
          <p:cNvSpPr/>
          <p:nvPr/>
        </p:nvSpPr>
        <p:spPr>
          <a:xfrm>
            <a:off x="566928" y="1572768"/>
            <a:ext cx="365760" cy="365760"/>
          </a:xfrm>
          <a:prstGeom prst="ellipse">
            <a:avLst/>
          </a:prstGeom>
          <a:solidFill>
            <a:srgbClr val="FFFFFF"/>
          </a:solidFill>
          <a:ln w="15875">
            <a:solidFill>
              <a:srgbClr val="17324D"/>
            </a:solidFill>
            <a:prstDash val="solid"/>
          </a:ln>
        </p:spPr>
      </p:sp>
      <p:sp>
        <p:nvSpPr>
          <p:cNvPr id="9" name="Text 7"/>
          <p:cNvSpPr txBox="1"/>
          <p:nvPr/>
        </p:nvSpPr>
        <p:spPr>
          <a:xfrm>
            <a:off x="566928" y="1572768"/>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1</a:t>
            </a:r>
            <a:endParaRPr lang="en-US" sz="1400" dirty="0"/>
          </a:p>
        </p:txBody>
      </p:sp>
      <p:sp>
        <p:nvSpPr>
          <p:cNvPr id="10" name="Text 8"/>
          <p:cNvSpPr txBox="1"/>
          <p:nvPr/>
        </p:nvSpPr>
        <p:spPr>
          <a:xfrm>
            <a:off x="1051560" y="1508760"/>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瞳孔の縮小</a:t>
            </a:r>
            <a:endParaRPr lang="en-US" sz="1500" dirty="0"/>
          </a:p>
        </p:txBody>
      </p:sp>
      <p:sp>
        <p:nvSpPr>
          <p:cNvPr id="11" name="Shape 9"/>
          <p:cNvSpPr/>
          <p:nvPr/>
        </p:nvSpPr>
        <p:spPr>
          <a:xfrm>
            <a:off x="457200" y="2112264"/>
            <a:ext cx="8229600" cy="493776"/>
          </a:xfrm>
          <a:prstGeom prst="roundRect">
            <a:avLst>
              <a:gd name="adj" fmla="val 14815"/>
            </a:avLst>
          </a:prstGeom>
          <a:solidFill>
            <a:srgbClr val="EAF2F8"/>
          </a:solidFill>
          <a:ln/>
        </p:spPr>
      </p:sp>
      <p:sp>
        <p:nvSpPr>
          <p:cNvPr id="12" name="Shape 10"/>
          <p:cNvSpPr/>
          <p:nvPr/>
        </p:nvSpPr>
        <p:spPr>
          <a:xfrm>
            <a:off x="566928" y="2176272"/>
            <a:ext cx="365760" cy="365760"/>
          </a:xfrm>
          <a:prstGeom prst="ellipse">
            <a:avLst/>
          </a:prstGeom>
          <a:solidFill>
            <a:srgbClr val="FFFFFF"/>
          </a:solidFill>
          <a:ln w="15875">
            <a:solidFill>
              <a:srgbClr val="17324D"/>
            </a:solidFill>
            <a:prstDash val="solid"/>
          </a:ln>
        </p:spPr>
      </p:sp>
      <p:sp>
        <p:nvSpPr>
          <p:cNvPr id="13" name="Text 11"/>
          <p:cNvSpPr txBox="1"/>
          <p:nvPr/>
        </p:nvSpPr>
        <p:spPr>
          <a:xfrm>
            <a:off x="566928" y="2176272"/>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2</a:t>
            </a:r>
            <a:endParaRPr lang="en-US" sz="1400" dirty="0"/>
          </a:p>
        </p:txBody>
      </p:sp>
      <p:sp>
        <p:nvSpPr>
          <p:cNvPr id="14" name="Text 12"/>
          <p:cNvSpPr txBox="1"/>
          <p:nvPr/>
        </p:nvSpPr>
        <p:spPr>
          <a:xfrm>
            <a:off x="1051560" y="2112264"/>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膀胱の収縮</a:t>
            </a:r>
            <a:endParaRPr lang="en-US" sz="1500" dirty="0"/>
          </a:p>
        </p:txBody>
      </p:sp>
      <p:sp>
        <p:nvSpPr>
          <p:cNvPr id="15" name="Shape 13"/>
          <p:cNvSpPr/>
          <p:nvPr/>
        </p:nvSpPr>
        <p:spPr>
          <a:xfrm>
            <a:off x="457200" y="2715768"/>
            <a:ext cx="8229600" cy="493776"/>
          </a:xfrm>
          <a:prstGeom prst="roundRect">
            <a:avLst>
              <a:gd name="adj" fmla="val 14815"/>
            </a:avLst>
          </a:prstGeom>
          <a:solidFill>
            <a:srgbClr val="EAF2F8"/>
          </a:solidFill>
          <a:ln/>
        </p:spPr>
      </p:sp>
      <p:sp>
        <p:nvSpPr>
          <p:cNvPr id="16" name="Shape 14"/>
          <p:cNvSpPr/>
          <p:nvPr/>
        </p:nvSpPr>
        <p:spPr>
          <a:xfrm>
            <a:off x="566928" y="2779776"/>
            <a:ext cx="365760" cy="365760"/>
          </a:xfrm>
          <a:prstGeom prst="ellipse">
            <a:avLst/>
          </a:prstGeom>
          <a:solidFill>
            <a:srgbClr val="FFFFFF"/>
          </a:solidFill>
          <a:ln w="15875">
            <a:solidFill>
              <a:srgbClr val="17324D"/>
            </a:solidFill>
            <a:prstDash val="solid"/>
          </a:ln>
        </p:spPr>
      </p:sp>
      <p:sp>
        <p:nvSpPr>
          <p:cNvPr id="17" name="Text 15"/>
          <p:cNvSpPr txBox="1"/>
          <p:nvPr/>
        </p:nvSpPr>
        <p:spPr>
          <a:xfrm>
            <a:off x="566928" y="2779776"/>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3</a:t>
            </a:r>
            <a:endParaRPr lang="en-US" sz="1400" dirty="0"/>
          </a:p>
        </p:txBody>
      </p:sp>
      <p:sp>
        <p:nvSpPr>
          <p:cNvPr id="18" name="Text 16"/>
          <p:cNvSpPr txBox="1"/>
          <p:nvPr/>
        </p:nvSpPr>
        <p:spPr>
          <a:xfrm>
            <a:off x="1051560" y="2715768"/>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心拍数の減少</a:t>
            </a:r>
            <a:endParaRPr lang="en-US" sz="1500" dirty="0"/>
          </a:p>
        </p:txBody>
      </p:sp>
      <p:sp>
        <p:nvSpPr>
          <p:cNvPr id="19" name="Shape 17"/>
          <p:cNvSpPr/>
          <p:nvPr/>
        </p:nvSpPr>
        <p:spPr>
          <a:xfrm>
            <a:off x="457200" y="3319272"/>
            <a:ext cx="8229600" cy="493776"/>
          </a:xfrm>
          <a:prstGeom prst="roundRect">
            <a:avLst>
              <a:gd name="adj" fmla="val 14815"/>
            </a:avLst>
          </a:prstGeom>
          <a:solidFill>
            <a:srgbClr val="EAF2F8"/>
          </a:solidFill>
          <a:ln/>
        </p:spPr>
      </p:sp>
      <p:sp>
        <p:nvSpPr>
          <p:cNvPr id="20" name="Shape 18"/>
          <p:cNvSpPr/>
          <p:nvPr/>
        </p:nvSpPr>
        <p:spPr>
          <a:xfrm>
            <a:off x="566928" y="3383280"/>
            <a:ext cx="365760" cy="365760"/>
          </a:xfrm>
          <a:prstGeom prst="ellipse">
            <a:avLst/>
          </a:prstGeom>
          <a:solidFill>
            <a:srgbClr val="FFFFFF"/>
          </a:solidFill>
          <a:ln w="15875">
            <a:solidFill>
              <a:srgbClr val="17324D"/>
            </a:solidFill>
            <a:prstDash val="solid"/>
          </a:ln>
        </p:spPr>
      </p:sp>
      <p:sp>
        <p:nvSpPr>
          <p:cNvPr id="21" name="Text 19"/>
          <p:cNvSpPr txBox="1"/>
          <p:nvPr/>
        </p:nvSpPr>
        <p:spPr>
          <a:xfrm>
            <a:off x="566928" y="3383280"/>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4</a:t>
            </a:r>
            <a:endParaRPr lang="en-US" sz="1400" dirty="0"/>
          </a:p>
        </p:txBody>
      </p:sp>
      <p:sp>
        <p:nvSpPr>
          <p:cNvPr id="22" name="Text 20"/>
          <p:cNvSpPr txBox="1"/>
          <p:nvPr/>
        </p:nvSpPr>
        <p:spPr>
          <a:xfrm>
            <a:off x="1051560" y="3319272"/>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気管支の拡張</a:t>
            </a:r>
            <a:endParaRPr lang="en-US" sz="1500" dirty="0"/>
          </a:p>
        </p:txBody>
      </p:sp>
      <p:sp>
        <p:nvSpPr>
          <p:cNvPr id="23" name="Shape 21"/>
          <p:cNvSpPr/>
          <p:nvPr/>
        </p:nvSpPr>
        <p:spPr>
          <a:xfrm>
            <a:off x="457200" y="3922776"/>
            <a:ext cx="8229600" cy="493776"/>
          </a:xfrm>
          <a:prstGeom prst="roundRect">
            <a:avLst>
              <a:gd name="adj" fmla="val 14815"/>
            </a:avLst>
          </a:prstGeom>
          <a:solidFill>
            <a:srgbClr val="EAF2F8"/>
          </a:solidFill>
          <a:ln/>
        </p:spPr>
      </p:sp>
      <p:sp>
        <p:nvSpPr>
          <p:cNvPr id="24" name="Shape 22"/>
          <p:cNvSpPr/>
          <p:nvPr/>
        </p:nvSpPr>
        <p:spPr>
          <a:xfrm>
            <a:off x="566928" y="3986784"/>
            <a:ext cx="365760" cy="365760"/>
          </a:xfrm>
          <a:prstGeom prst="ellipse">
            <a:avLst/>
          </a:prstGeom>
          <a:solidFill>
            <a:srgbClr val="FFFFFF"/>
          </a:solidFill>
          <a:ln w="15875">
            <a:solidFill>
              <a:srgbClr val="17324D"/>
            </a:solidFill>
            <a:prstDash val="solid"/>
          </a:ln>
        </p:spPr>
      </p:sp>
      <p:sp>
        <p:nvSpPr>
          <p:cNvPr id="25" name="Text 23"/>
          <p:cNvSpPr txBox="1"/>
          <p:nvPr/>
        </p:nvSpPr>
        <p:spPr>
          <a:xfrm>
            <a:off x="566928" y="3986784"/>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5</a:t>
            </a:r>
            <a:endParaRPr lang="en-US" sz="1400" dirty="0"/>
          </a:p>
        </p:txBody>
      </p:sp>
      <p:sp>
        <p:nvSpPr>
          <p:cNvPr id="26" name="Text 24"/>
          <p:cNvSpPr txBox="1"/>
          <p:nvPr/>
        </p:nvSpPr>
        <p:spPr>
          <a:xfrm>
            <a:off x="1051560" y="3922776"/>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膵液の分泌促進</a:t>
            </a:r>
            <a:endParaRPr lang="en-US" sz="15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74320"/>
            <a:ext cx="868680" cy="384048"/>
          </a:xfrm>
          <a:prstGeom prst="roundRect">
            <a:avLst>
              <a:gd name="adj" fmla="val 19048"/>
            </a:avLst>
          </a:prstGeom>
          <a:solidFill>
            <a:srgbClr val="D9534F"/>
          </a:solidFill>
          <a:ln/>
        </p:spPr>
      </p:sp>
      <p:sp>
        <p:nvSpPr>
          <p:cNvPr id="3" name="Text 1"/>
          <p:cNvSpPr txBox="1"/>
          <p:nvPr/>
        </p:nvSpPr>
        <p:spPr>
          <a:xfrm>
            <a:off x="457200" y="274320"/>
            <a:ext cx="86868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解説</a:t>
            </a:r>
            <a:endParaRPr lang="en-US" sz="1300" dirty="0"/>
          </a:p>
        </p:txBody>
      </p:sp>
      <p:sp>
        <p:nvSpPr>
          <p:cNvPr id="4" name="Text 2"/>
          <p:cNvSpPr txBox="1"/>
          <p:nvPr/>
        </p:nvSpPr>
        <p:spPr>
          <a:xfrm>
            <a:off x="1417320" y="274320"/>
            <a:ext cx="731520" cy="384048"/>
          </a:xfrm>
          <a:prstGeom prst="rect">
            <a:avLst/>
          </a:prstGeom>
          <a:noFill/>
          <a:ln/>
        </p:spPr>
        <p:txBody>
          <a:bodyPr wrap="square" lIns="0" tIns="0" rIns="0" bIns="0" rtlCol="0" anchor="ctr"/>
          <a:lstStyle/>
          <a:p>
            <a:pPr indent="0" marL="0">
              <a:buNone/>
            </a:pPr>
            <a:r>
              <a:rPr lang="en-US" sz="2000" b="1" dirty="0">
                <a:solidFill>
                  <a:srgbClr val="17324D"/>
                </a:solidFill>
                <a:latin typeface="Arial" pitchFamily="34" charset="0"/>
                <a:ea typeface="Arial" pitchFamily="34" charset="-122"/>
                <a:cs typeface="Arial" pitchFamily="34" charset="-120"/>
              </a:rPr>
              <a:t>[16]</a:t>
            </a:r>
            <a:endParaRPr lang="en-US" sz="2000" dirty="0"/>
          </a:p>
        </p:txBody>
      </p:sp>
      <p:sp>
        <p:nvSpPr>
          <p:cNvPr id="5" name="Text 3"/>
          <p:cNvSpPr txBox="1"/>
          <p:nvPr/>
        </p:nvSpPr>
        <p:spPr>
          <a:xfrm>
            <a:off x="5943600" y="274320"/>
            <a:ext cx="2743200" cy="384048"/>
          </a:xfrm>
          <a:prstGeom prst="rect">
            <a:avLst/>
          </a:prstGeom>
          <a:noFill/>
          <a:ln/>
        </p:spPr>
        <p:txBody>
          <a:bodyPr wrap="square" lIns="0" tIns="0" rIns="0" bIns="0" rtlCol="0" anchor="ctr"/>
          <a:lstStyle/>
          <a:p>
            <a:pPr algn="r" indent="0" marL="0">
              <a:buNone/>
            </a:pPr>
            <a:r>
              <a:rPr lang="en-US" sz="1100" dirty="0">
                <a:solidFill>
                  <a:srgbClr val="5F6B76"/>
                </a:solidFill>
                <a:latin typeface="Meiryo" pitchFamily="34" charset="0"/>
                <a:ea typeface="Meiryo" pitchFamily="34" charset="-122"/>
                <a:cs typeface="Meiryo" pitchFamily="34" charset="-120"/>
              </a:rPr>
              <a:t>52回午後64</a:t>
            </a:r>
            <a:endParaRPr lang="en-US" sz="1100" dirty="0"/>
          </a:p>
        </p:txBody>
      </p:sp>
      <p:sp>
        <p:nvSpPr>
          <p:cNvPr id="6" name="Text 4"/>
          <p:cNvSpPr txBox="1"/>
          <p:nvPr/>
        </p:nvSpPr>
        <p:spPr>
          <a:xfrm>
            <a:off x="457200" y="731520"/>
            <a:ext cx="8229600" cy="594360"/>
          </a:xfrm>
          <a:prstGeom prst="rect">
            <a:avLst/>
          </a:prstGeom>
          <a:noFill/>
          <a:ln/>
        </p:spPr>
        <p:txBody>
          <a:bodyPr wrap="square" lIns="0" tIns="0" rIns="0" bIns="0" rtlCol="0" anchor="t"/>
          <a:lstStyle/>
          <a:p>
            <a:pPr indent="0" marL="0">
              <a:buNone/>
            </a:pPr>
            <a:r>
              <a:rPr lang="en-US" sz="1700" b="1" dirty="0">
                <a:solidFill>
                  <a:srgbClr val="222222"/>
                </a:solidFill>
                <a:latin typeface="Meiryo" pitchFamily="34" charset="0"/>
                <a:ea typeface="Meiryo" pitchFamily="34" charset="-122"/>
                <a:cs typeface="Meiryo" pitchFamily="34" charset="-120"/>
              </a:rPr>
              <a:t>交感神経の作用はどれか。</a:t>
            </a:r>
            <a:endParaRPr lang="en-US" sz="1700" dirty="0"/>
          </a:p>
        </p:txBody>
      </p:sp>
      <p:sp>
        <p:nvSpPr>
          <p:cNvPr id="7" name="Shape 5"/>
          <p:cNvSpPr/>
          <p:nvPr/>
        </p:nvSpPr>
        <p:spPr>
          <a:xfrm>
            <a:off x="457200" y="1417320"/>
            <a:ext cx="8229600" cy="457200"/>
          </a:xfrm>
          <a:prstGeom prst="roundRect">
            <a:avLst>
              <a:gd name="adj" fmla="val 16000"/>
            </a:avLst>
          </a:prstGeom>
          <a:solidFill>
            <a:srgbClr val="F4F6F8"/>
          </a:solidFill>
          <a:ln/>
        </p:spPr>
      </p:sp>
      <p:sp>
        <p:nvSpPr>
          <p:cNvPr id="8" name="Shape 6"/>
          <p:cNvSpPr/>
          <p:nvPr/>
        </p:nvSpPr>
        <p:spPr>
          <a:xfrm>
            <a:off x="548640" y="1481328"/>
            <a:ext cx="329184" cy="329184"/>
          </a:xfrm>
          <a:prstGeom prst="ellipse">
            <a:avLst/>
          </a:prstGeom>
          <a:solidFill>
            <a:srgbClr val="FFFFFF"/>
          </a:solidFill>
          <a:ln w="12700">
            <a:solidFill>
              <a:srgbClr val="8A96A3"/>
            </a:solidFill>
            <a:prstDash val="solid"/>
          </a:ln>
        </p:spPr>
      </p:sp>
      <p:sp>
        <p:nvSpPr>
          <p:cNvPr id="9" name="Text 7"/>
          <p:cNvSpPr txBox="1"/>
          <p:nvPr/>
        </p:nvSpPr>
        <p:spPr>
          <a:xfrm>
            <a:off x="548640" y="1481328"/>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1</a:t>
            </a:r>
            <a:endParaRPr lang="en-US" sz="1300" dirty="0"/>
          </a:p>
        </p:txBody>
      </p:sp>
      <p:sp>
        <p:nvSpPr>
          <p:cNvPr id="10" name="Text 8"/>
          <p:cNvSpPr txBox="1"/>
          <p:nvPr/>
        </p:nvSpPr>
        <p:spPr>
          <a:xfrm>
            <a:off x="987552" y="1417320"/>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瞳孔の縮小</a:t>
            </a:r>
            <a:endParaRPr lang="en-US" sz="1200" dirty="0"/>
          </a:p>
        </p:txBody>
      </p:sp>
      <p:sp>
        <p:nvSpPr>
          <p:cNvPr id="11" name="Text 9"/>
          <p:cNvSpPr txBox="1"/>
          <p:nvPr/>
        </p:nvSpPr>
        <p:spPr>
          <a:xfrm>
            <a:off x="4096512" y="1417320"/>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副交感</a:t>
            </a:r>
            <a:endParaRPr lang="en-US" sz="1100" dirty="0"/>
          </a:p>
        </p:txBody>
      </p:sp>
      <p:sp>
        <p:nvSpPr>
          <p:cNvPr id="12" name="Shape 10"/>
          <p:cNvSpPr/>
          <p:nvPr/>
        </p:nvSpPr>
        <p:spPr>
          <a:xfrm>
            <a:off x="457200" y="1947672"/>
            <a:ext cx="8229600" cy="457200"/>
          </a:xfrm>
          <a:prstGeom prst="roundRect">
            <a:avLst>
              <a:gd name="adj" fmla="val 16000"/>
            </a:avLst>
          </a:prstGeom>
          <a:solidFill>
            <a:srgbClr val="F4F6F8"/>
          </a:solidFill>
          <a:ln/>
        </p:spPr>
      </p:sp>
      <p:sp>
        <p:nvSpPr>
          <p:cNvPr id="13" name="Shape 11"/>
          <p:cNvSpPr/>
          <p:nvPr/>
        </p:nvSpPr>
        <p:spPr>
          <a:xfrm>
            <a:off x="548640" y="2011680"/>
            <a:ext cx="329184" cy="329184"/>
          </a:xfrm>
          <a:prstGeom prst="ellipse">
            <a:avLst/>
          </a:prstGeom>
          <a:solidFill>
            <a:srgbClr val="FFFFFF"/>
          </a:solidFill>
          <a:ln w="12700">
            <a:solidFill>
              <a:srgbClr val="8A96A3"/>
            </a:solidFill>
            <a:prstDash val="solid"/>
          </a:ln>
        </p:spPr>
      </p:sp>
      <p:sp>
        <p:nvSpPr>
          <p:cNvPr id="14" name="Text 12"/>
          <p:cNvSpPr txBox="1"/>
          <p:nvPr/>
        </p:nvSpPr>
        <p:spPr>
          <a:xfrm>
            <a:off x="548640" y="2011680"/>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2</a:t>
            </a:r>
            <a:endParaRPr lang="en-US" sz="1300" dirty="0"/>
          </a:p>
        </p:txBody>
      </p:sp>
      <p:sp>
        <p:nvSpPr>
          <p:cNvPr id="15" name="Text 13"/>
          <p:cNvSpPr txBox="1"/>
          <p:nvPr/>
        </p:nvSpPr>
        <p:spPr>
          <a:xfrm>
            <a:off x="987552" y="1947672"/>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膀胱の収縮</a:t>
            </a:r>
            <a:endParaRPr lang="en-US" sz="1200" dirty="0"/>
          </a:p>
        </p:txBody>
      </p:sp>
      <p:sp>
        <p:nvSpPr>
          <p:cNvPr id="16" name="Text 14"/>
          <p:cNvSpPr txBox="1"/>
          <p:nvPr/>
        </p:nvSpPr>
        <p:spPr>
          <a:xfrm>
            <a:off x="4096512" y="1947672"/>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副交感</a:t>
            </a:r>
            <a:endParaRPr lang="en-US" sz="1100" dirty="0"/>
          </a:p>
        </p:txBody>
      </p:sp>
      <p:sp>
        <p:nvSpPr>
          <p:cNvPr id="17" name="Shape 15"/>
          <p:cNvSpPr/>
          <p:nvPr/>
        </p:nvSpPr>
        <p:spPr>
          <a:xfrm>
            <a:off x="457200" y="2478024"/>
            <a:ext cx="8229600" cy="457200"/>
          </a:xfrm>
          <a:prstGeom prst="roundRect">
            <a:avLst>
              <a:gd name="adj" fmla="val 16000"/>
            </a:avLst>
          </a:prstGeom>
          <a:solidFill>
            <a:srgbClr val="F4F6F8"/>
          </a:solidFill>
          <a:ln/>
        </p:spPr>
      </p:sp>
      <p:sp>
        <p:nvSpPr>
          <p:cNvPr id="18" name="Shape 16"/>
          <p:cNvSpPr/>
          <p:nvPr/>
        </p:nvSpPr>
        <p:spPr>
          <a:xfrm>
            <a:off x="548640" y="2542032"/>
            <a:ext cx="329184" cy="329184"/>
          </a:xfrm>
          <a:prstGeom prst="ellipse">
            <a:avLst/>
          </a:prstGeom>
          <a:solidFill>
            <a:srgbClr val="FFFFFF"/>
          </a:solidFill>
          <a:ln w="12700">
            <a:solidFill>
              <a:srgbClr val="8A96A3"/>
            </a:solidFill>
            <a:prstDash val="solid"/>
          </a:ln>
        </p:spPr>
      </p:sp>
      <p:sp>
        <p:nvSpPr>
          <p:cNvPr id="19" name="Text 17"/>
          <p:cNvSpPr txBox="1"/>
          <p:nvPr/>
        </p:nvSpPr>
        <p:spPr>
          <a:xfrm>
            <a:off x="548640" y="2542032"/>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3</a:t>
            </a:r>
            <a:endParaRPr lang="en-US" sz="1300" dirty="0"/>
          </a:p>
        </p:txBody>
      </p:sp>
      <p:sp>
        <p:nvSpPr>
          <p:cNvPr id="20" name="Text 18"/>
          <p:cNvSpPr txBox="1"/>
          <p:nvPr/>
        </p:nvSpPr>
        <p:spPr>
          <a:xfrm>
            <a:off x="987552" y="2478024"/>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心拍数の減少</a:t>
            </a:r>
            <a:endParaRPr lang="en-US" sz="1200" dirty="0"/>
          </a:p>
        </p:txBody>
      </p:sp>
      <p:sp>
        <p:nvSpPr>
          <p:cNvPr id="21" name="Text 19"/>
          <p:cNvSpPr txBox="1"/>
          <p:nvPr/>
        </p:nvSpPr>
        <p:spPr>
          <a:xfrm>
            <a:off x="4096512" y="2478024"/>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副交感</a:t>
            </a:r>
            <a:endParaRPr lang="en-US" sz="1100" dirty="0"/>
          </a:p>
        </p:txBody>
      </p:sp>
      <p:sp>
        <p:nvSpPr>
          <p:cNvPr id="22" name="Shape 20"/>
          <p:cNvSpPr/>
          <p:nvPr/>
        </p:nvSpPr>
        <p:spPr>
          <a:xfrm>
            <a:off x="457200" y="3008376"/>
            <a:ext cx="8229600" cy="457200"/>
          </a:xfrm>
          <a:prstGeom prst="roundRect">
            <a:avLst>
              <a:gd name="adj" fmla="val 16000"/>
            </a:avLst>
          </a:prstGeom>
          <a:solidFill>
            <a:srgbClr val="FBE3E2"/>
          </a:solidFill>
          <a:ln w="19050">
            <a:solidFill>
              <a:srgbClr val="D9534F"/>
            </a:solidFill>
            <a:prstDash val="solid"/>
          </a:ln>
        </p:spPr>
      </p:sp>
      <p:sp>
        <p:nvSpPr>
          <p:cNvPr id="23" name="Shape 21"/>
          <p:cNvSpPr/>
          <p:nvPr/>
        </p:nvSpPr>
        <p:spPr>
          <a:xfrm>
            <a:off x="548640" y="3072384"/>
            <a:ext cx="329184" cy="329184"/>
          </a:xfrm>
          <a:prstGeom prst="ellipse">
            <a:avLst/>
          </a:prstGeom>
          <a:solidFill>
            <a:srgbClr val="D9534F"/>
          </a:solidFill>
          <a:ln w="12700">
            <a:solidFill>
              <a:srgbClr val="D9534F"/>
            </a:solidFill>
            <a:prstDash val="solid"/>
          </a:ln>
        </p:spPr>
      </p:sp>
      <p:sp>
        <p:nvSpPr>
          <p:cNvPr id="24" name="Text 22"/>
          <p:cNvSpPr txBox="1"/>
          <p:nvPr/>
        </p:nvSpPr>
        <p:spPr>
          <a:xfrm>
            <a:off x="548640" y="3072384"/>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4</a:t>
            </a:r>
            <a:endParaRPr lang="en-US" sz="1300" dirty="0"/>
          </a:p>
        </p:txBody>
      </p:sp>
      <p:sp>
        <p:nvSpPr>
          <p:cNvPr id="25" name="Text 23"/>
          <p:cNvSpPr txBox="1"/>
          <p:nvPr/>
        </p:nvSpPr>
        <p:spPr>
          <a:xfrm>
            <a:off x="987552" y="3008376"/>
            <a:ext cx="3017520" cy="457200"/>
          </a:xfrm>
          <a:prstGeom prst="rect">
            <a:avLst/>
          </a:prstGeom>
          <a:noFill/>
          <a:ln/>
        </p:spPr>
        <p:txBody>
          <a:bodyPr wrap="square" lIns="0" tIns="0" rIns="0" bIns="0" rtlCol="0" anchor="ctr"/>
          <a:lstStyle/>
          <a:p>
            <a:pPr indent="0" marL="0">
              <a:buNone/>
            </a:pPr>
            <a:r>
              <a:rPr lang="en-US" sz="1200" b="1" dirty="0">
                <a:solidFill>
                  <a:srgbClr val="D9534F"/>
                </a:solidFill>
                <a:latin typeface="Meiryo" pitchFamily="34" charset="0"/>
                <a:ea typeface="Meiryo" pitchFamily="34" charset="-122"/>
                <a:cs typeface="Meiryo" pitchFamily="34" charset="-120"/>
              </a:rPr>
              <a:t>気管支の拡張</a:t>
            </a:r>
            <a:endParaRPr lang="en-US" sz="1200" dirty="0"/>
          </a:p>
        </p:txBody>
      </p:sp>
      <p:sp>
        <p:nvSpPr>
          <p:cNvPr id="26" name="Text 24"/>
          <p:cNvSpPr txBox="1"/>
          <p:nvPr/>
        </p:nvSpPr>
        <p:spPr>
          <a:xfrm>
            <a:off x="4096512" y="3008376"/>
            <a:ext cx="4526280" cy="457200"/>
          </a:xfrm>
          <a:prstGeom prst="rect">
            <a:avLst/>
          </a:prstGeom>
          <a:noFill/>
          <a:ln/>
        </p:spPr>
        <p:txBody>
          <a:bodyPr wrap="square" lIns="0" tIns="0" rIns="0" bIns="0" rtlCol="0" anchor="ctr"/>
          <a:lstStyle/>
          <a:p>
            <a:pPr indent="0" marL="0">
              <a:buNone/>
            </a:pPr>
            <a:r>
              <a:rPr lang="en-US" sz="1100" dirty="0">
                <a:solidFill>
                  <a:srgbClr val="222222"/>
                </a:solidFill>
                <a:latin typeface="Meiryo" pitchFamily="34" charset="0"/>
                <a:ea typeface="Meiryo" pitchFamily="34" charset="-122"/>
                <a:cs typeface="Meiryo" pitchFamily="34" charset="-120"/>
              </a:rPr>
              <a:t>交感 ○</a:t>
            </a:r>
            <a:endParaRPr lang="en-US" sz="1100" dirty="0"/>
          </a:p>
        </p:txBody>
      </p:sp>
      <p:sp>
        <p:nvSpPr>
          <p:cNvPr id="27" name="Shape 25"/>
          <p:cNvSpPr/>
          <p:nvPr/>
        </p:nvSpPr>
        <p:spPr>
          <a:xfrm>
            <a:off x="457200" y="3538728"/>
            <a:ext cx="8229600" cy="457200"/>
          </a:xfrm>
          <a:prstGeom prst="roundRect">
            <a:avLst>
              <a:gd name="adj" fmla="val 16000"/>
            </a:avLst>
          </a:prstGeom>
          <a:solidFill>
            <a:srgbClr val="F4F6F8"/>
          </a:solidFill>
          <a:ln/>
        </p:spPr>
      </p:sp>
      <p:sp>
        <p:nvSpPr>
          <p:cNvPr id="28" name="Shape 26"/>
          <p:cNvSpPr/>
          <p:nvPr/>
        </p:nvSpPr>
        <p:spPr>
          <a:xfrm>
            <a:off x="548640" y="3602736"/>
            <a:ext cx="329184" cy="329184"/>
          </a:xfrm>
          <a:prstGeom prst="ellipse">
            <a:avLst/>
          </a:prstGeom>
          <a:solidFill>
            <a:srgbClr val="FFFFFF"/>
          </a:solidFill>
          <a:ln w="12700">
            <a:solidFill>
              <a:srgbClr val="8A96A3"/>
            </a:solidFill>
            <a:prstDash val="solid"/>
          </a:ln>
        </p:spPr>
      </p:sp>
      <p:sp>
        <p:nvSpPr>
          <p:cNvPr id="29" name="Text 27"/>
          <p:cNvSpPr txBox="1"/>
          <p:nvPr/>
        </p:nvSpPr>
        <p:spPr>
          <a:xfrm>
            <a:off x="548640" y="3602736"/>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5</a:t>
            </a:r>
            <a:endParaRPr lang="en-US" sz="1300" dirty="0"/>
          </a:p>
        </p:txBody>
      </p:sp>
      <p:sp>
        <p:nvSpPr>
          <p:cNvPr id="30" name="Text 28"/>
          <p:cNvSpPr txBox="1"/>
          <p:nvPr/>
        </p:nvSpPr>
        <p:spPr>
          <a:xfrm>
            <a:off x="987552" y="3538728"/>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膵液の分泌促進</a:t>
            </a:r>
            <a:endParaRPr lang="en-US" sz="1200" dirty="0"/>
          </a:p>
        </p:txBody>
      </p:sp>
      <p:sp>
        <p:nvSpPr>
          <p:cNvPr id="31" name="Text 29"/>
          <p:cNvSpPr txBox="1"/>
          <p:nvPr/>
        </p:nvSpPr>
        <p:spPr>
          <a:xfrm>
            <a:off x="4096512" y="3538728"/>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副交感</a:t>
            </a:r>
            <a:endParaRPr lang="en-US" sz="1100" dirty="0"/>
          </a:p>
        </p:txBody>
      </p:sp>
      <p:sp>
        <p:nvSpPr>
          <p:cNvPr id="32" name="Shape 30"/>
          <p:cNvSpPr/>
          <p:nvPr/>
        </p:nvSpPr>
        <p:spPr>
          <a:xfrm>
            <a:off x="457200" y="4160520"/>
            <a:ext cx="1463040" cy="685800"/>
          </a:xfrm>
          <a:prstGeom prst="roundRect">
            <a:avLst>
              <a:gd name="adj" fmla="val 10667"/>
            </a:avLst>
          </a:prstGeom>
          <a:solidFill>
            <a:srgbClr val="D9534F"/>
          </a:solidFill>
          <a:ln/>
        </p:spPr>
      </p:sp>
      <p:sp>
        <p:nvSpPr>
          <p:cNvPr id="33" name="Text 31"/>
          <p:cNvSpPr txBox="1"/>
          <p:nvPr/>
        </p:nvSpPr>
        <p:spPr>
          <a:xfrm>
            <a:off x="457200" y="4160520"/>
            <a:ext cx="1463040" cy="685800"/>
          </a:xfrm>
          <a:prstGeom prst="rect">
            <a:avLst/>
          </a:prstGeom>
          <a:noFill/>
          <a:ln/>
        </p:spPr>
        <p:txBody>
          <a:bodyPr wrap="square" lIns="0" tIns="0" rIns="0" bIns="0" rtlCol="0" anchor="ctr"/>
          <a:lstStyle/>
          <a:p>
            <a:pPr algn="ctr" indent="0" marL="0">
              <a:buNone/>
            </a:pPr>
            <a:r>
              <a:rPr lang="en-US" sz="1100" dirty="0">
                <a:solidFill>
                  <a:srgbClr val="FFFFFF"/>
                </a:solidFill>
                <a:latin typeface="Meiryo" pitchFamily="34" charset="0"/>
                <a:ea typeface="Meiryo" pitchFamily="34" charset="-122"/>
                <a:cs typeface="Meiryo" pitchFamily="34" charset="-120"/>
              </a:rPr>
              <a:t>正解</a:t>
            </a:r>
            <a:endParaRPr lang="en-US" sz="1100" dirty="0"/>
          </a:p>
          <a:p>
            <a:pPr algn="ctr" indent="0" marL="0">
              <a:buNone/>
            </a:pPr>
            <a:r>
              <a:rPr lang="en-US" sz="2200" b="1" dirty="0">
                <a:solidFill>
                  <a:srgbClr val="FFFFFF"/>
                </a:solidFill>
                <a:latin typeface="Meiryo" pitchFamily="34" charset="0"/>
                <a:ea typeface="Meiryo" pitchFamily="34" charset="-122"/>
                <a:cs typeface="Meiryo" pitchFamily="34" charset="-120"/>
              </a:rPr>
              <a:t>4</a:t>
            </a:r>
            <a:endParaRPr lang="en-US" sz="1100" dirty="0"/>
          </a:p>
        </p:txBody>
      </p:sp>
      <p:sp>
        <p:nvSpPr>
          <p:cNvPr id="34" name="Shape 32"/>
          <p:cNvSpPr/>
          <p:nvPr/>
        </p:nvSpPr>
        <p:spPr>
          <a:xfrm>
            <a:off x="2057400" y="4160520"/>
            <a:ext cx="6629400" cy="685800"/>
          </a:xfrm>
          <a:prstGeom prst="roundRect">
            <a:avLst>
              <a:gd name="adj" fmla="val 10667"/>
            </a:avLst>
          </a:prstGeom>
          <a:solidFill>
            <a:srgbClr val="EAF2F8"/>
          </a:solidFill>
          <a:ln/>
        </p:spPr>
      </p:sp>
      <p:sp>
        <p:nvSpPr>
          <p:cNvPr id="35" name="Text 33"/>
          <p:cNvSpPr txBox="1"/>
          <p:nvPr/>
        </p:nvSpPr>
        <p:spPr>
          <a:xfrm>
            <a:off x="2194560" y="4160520"/>
            <a:ext cx="6400800" cy="685800"/>
          </a:xfrm>
          <a:prstGeom prst="rect">
            <a:avLst/>
          </a:prstGeom>
          <a:noFill/>
          <a:ln/>
        </p:spPr>
        <p:txBody>
          <a:bodyPr wrap="square" lIns="0" tIns="0" rIns="0" bIns="0" rtlCol="0" anchor="ctr"/>
          <a:lstStyle/>
          <a:p>
            <a:pPr indent="0" marL="0">
              <a:buNone/>
            </a:pPr>
            <a:r>
              <a:rPr lang="en-US" sz="1200" b="1" dirty="0">
                <a:solidFill>
                  <a:srgbClr val="2A7F9E"/>
                </a:solidFill>
                <a:latin typeface="Meiryo" pitchFamily="34" charset="0"/>
                <a:ea typeface="Meiryo" pitchFamily="34" charset="-122"/>
                <a:cs typeface="Meiryo" pitchFamily="34" charset="-120"/>
              </a:rPr>
              <a:t>POINT　</a:t>
            </a:r>
            <a:pPr indent="0" marL="0">
              <a:buNone/>
            </a:pPr>
            <a:r>
              <a:rPr lang="en-US" sz="1200" dirty="0">
                <a:solidFill>
                  <a:srgbClr val="222222"/>
                </a:solidFill>
                <a:latin typeface="Meiryo" pitchFamily="34" charset="0"/>
                <a:ea typeface="Meiryo" pitchFamily="34" charset="-122"/>
                <a:cs typeface="Meiryo" pitchFamily="34" charset="-120"/>
              </a:rPr>
              <a:t>交感神経：気管支拡張（β2）。</a:t>
            </a:r>
            <a:endParaRPr lang="en-US" sz="12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74320"/>
            <a:ext cx="868680" cy="384048"/>
          </a:xfrm>
          <a:prstGeom prst="roundRect">
            <a:avLst>
              <a:gd name="adj" fmla="val 19048"/>
            </a:avLst>
          </a:prstGeom>
          <a:solidFill>
            <a:srgbClr val="17324D"/>
          </a:solidFill>
          <a:ln/>
        </p:spPr>
      </p:sp>
      <p:sp>
        <p:nvSpPr>
          <p:cNvPr id="3" name="Text 1"/>
          <p:cNvSpPr txBox="1"/>
          <p:nvPr/>
        </p:nvSpPr>
        <p:spPr>
          <a:xfrm>
            <a:off x="457200" y="274320"/>
            <a:ext cx="86868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問題</a:t>
            </a:r>
            <a:endParaRPr lang="en-US" sz="1300" dirty="0"/>
          </a:p>
        </p:txBody>
      </p:sp>
      <p:sp>
        <p:nvSpPr>
          <p:cNvPr id="4" name="Text 2"/>
          <p:cNvSpPr txBox="1"/>
          <p:nvPr/>
        </p:nvSpPr>
        <p:spPr>
          <a:xfrm>
            <a:off x="1417320" y="274320"/>
            <a:ext cx="731520" cy="384048"/>
          </a:xfrm>
          <a:prstGeom prst="rect">
            <a:avLst/>
          </a:prstGeom>
          <a:noFill/>
          <a:ln/>
        </p:spPr>
        <p:txBody>
          <a:bodyPr wrap="square" lIns="0" tIns="0" rIns="0" bIns="0" rtlCol="0" anchor="ctr"/>
          <a:lstStyle/>
          <a:p>
            <a:pPr indent="0" marL="0">
              <a:buNone/>
            </a:pPr>
            <a:r>
              <a:rPr lang="en-US" sz="2000" b="1" dirty="0">
                <a:solidFill>
                  <a:srgbClr val="17324D"/>
                </a:solidFill>
                <a:latin typeface="Arial" pitchFamily="34" charset="0"/>
                <a:ea typeface="Arial" pitchFamily="34" charset="-122"/>
                <a:cs typeface="Arial" pitchFamily="34" charset="-120"/>
              </a:rPr>
              <a:t>[17]</a:t>
            </a:r>
            <a:endParaRPr lang="en-US" sz="2000" dirty="0"/>
          </a:p>
        </p:txBody>
      </p:sp>
      <p:sp>
        <p:nvSpPr>
          <p:cNvPr id="5" name="Text 3"/>
          <p:cNvSpPr txBox="1"/>
          <p:nvPr/>
        </p:nvSpPr>
        <p:spPr>
          <a:xfrm>
            <a:off x="5943600" y="274320"/>
            <a:ext cx="2743200" cy="384048"/>
          </a:xfrm>
          <a:prstGeom prst="rect">
            <a:avLst/>
          </a:prstGeom>
          <a:noFill/>
          <a:ln/>
        </p:spPr>
        <p:txBody>
          <a:bodyPr wrap="square" lIns="0" tIns="0" rIns="0" bIns="0" rtlCol="0" anchor="ctr"/>
          <a:lstStyle/>
          <a:p>
            <a:pPr algn="r" indent="0" marL="0">
              <a:buNone/>
            </a:pPr>
            <a:r>
              <a:rPr lang="en-US" sz="1100" dirty="0">
                <a:solidFill>
                  <a:srgbClr val="5F6B76"/>
                </a:solidFill>
                <a:latin typeface="Meiryo" pitchFamily="34" charset="0"/>
                <a:ea typeface="Meiryo" pitchFamily="34" charset="-122"/>
                <a:cs typeface="Meiryo" pitchFamily="34" charset="-120"/>
              </a:rPr>
              <a:t>51回午後65</a:t>
            </a:r>
            <a:endParaRPr lang="en-US" sz="1100" dirty="0"/>
          </a:p>
        </p:txBody>
      </p:sp>
      <p:sp>
        <p:nvSpPr>
          <p:cNvPr id="6" name="Text 4"/>
          <p:cNvSpPr txBox="1"/>
          <p:nvPr/>
        </p:nvSpPr>
        <p:spPr>
          <a:xfrm>
            <a:off x="457200" y="731520"/>
            <a:ext cx="8229600" cy="594360"/>
          </a:xfrm>
          <a:prstGeom prst="rect">
            <a:avLst/>
          </a:prstGeom>
          <a:noFill/>
          <a:ln/>
        </p:spPr>
        <p:txBody>
          <a:bodyPr wrap="square" lIns="0" tIns="0" rIns="0" bIns="0" rtlCol="0" anchor="t"/>
          <a:lstStyle/>
          <a:p>
            <a:pPr indent="0" marL="0">
              <a:buNone/>
            </a:pPr>
            <a:r>
              <a:rPr lang="en-US" sz="1700" b="1" dirty="0">
                <a:solidFill>
                  <a:srgbClr val="222222"/>
                </a:solidFill>
                <a:latin typeface="Meiryo" pitchFamily="34" charset="0"/>
                <a:ea typeface="Meiryo" pitchFamily="34" charset="-122"/>
                <a:cs typeface="Meiryo" pitchFamily="34" charset="-120"/>
              </a:rPr>
              <a:t>副交感神経の作用はどれか。</a:t>
            </a:r>
            <a:endParaRPr lang="en-US" sz="1700" dirty="0"/>
          </a:p>
        </p:txBody>
      </p:sp>
      <p:sp>
        <p:nvSpPr>
          <p:cNvPr id="7" name="Shape 5"/>
          <p:cNvSpPr/>
          <p:nvPr/>
        </p:nvSpPr>
        <p:spPr>
          <a:xfrm>
            <a:off x="457200" y="1508760"/>
            <a:ext cx="8229600" cy="493776"/>
          </a:xfrm>
          <a:prstGeom prst="roundRect">
            <a:avLst>
              <a:gd name="adj" fmla="val 14815"/>
            </a:avLst>
          </a:prstGeom>
          <a:solidFill>
            <a:srgbClr val="EAF2F8"/>
          </a:solidFill>
          <a:ln/>
        </p:spPr>
      </p:sp>
      <p:sp>
        <p:nvSpPr>
          <p:cNvPr id="8" name="Shape 6"/>
          <p:cNvSpPr/>
          <p:nvPr/>
        </p:nvSpPr>
        <p:spPr>
          <a:xfrm>
            <a:off x="566928" y="1572768"/>
            <a:ext cx="365760" cy="365760"/>
          </a:xfrm>
          <a:prstGeom prst="ellipse">
            <a:avLst/>
          </a:prstGeom>
          <a:solidFill>
            <a:srgbClr val="FFFFFF"/>
          </a:solidFill>
          <a:ln w="15875">
            <a:solidFill>
              <a:srgbClr val="17324D"/>
            </a:solidFill>
            <a:prstDash val="solid"/>
          </a:ln>
        </p:spPr>
      </p:sp>
      <p:sp>
        <p:nvSpPr>
          <p:cNvPr id="9" name="Text 7"/>
          <p:cNvSpPr txBox="1"/>
          <p:nvPr/>
        </p:nvSpPr>
        <p:spPr>
          <a:xfrm>
            <a:off x="566928" y="1572768"/>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1</a:t>
            </a:r>
            <a:endParaRPr lang="en-US" sz="1400" dirty="0"/>
          </a:p>
        </p:txBody>
      </p:sp>
      <p:sp>
        <p:nvSpPr>
          <p:cNvPr id="10" name="Text 8"/>
          <p:cNvSpPr txBox="1"/>
          <p:nvPr/>
        </p:nvSpPr>
        <p:spPr>
          <a:xfrm>
            <a:off x="1051560" y="1508760"/>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瞳孔散大</a:t>
            </a:r>
            <a:endParaRPr lang="en-US" sz="1500" dirty="0"/>
          </a:p>
        </p:txBody>
      </p:sp>
      <p:sp>
        <p:nvSpPr>
          <p:cNvPr id="11" name="Shape 9"/>
          <p:cNvSpPr/>
          <p:nvPr/>
        </p:nvSpPr>
        <p:spPr>
          <a:xfrm>
            <a:off x="457200" y="2112264"/>
            <a:ext cx="8229600" cy="493776"/>
          </a:xfrm>
          <a:prstGeom prst="roundRect">
            <a:avLst>
              <a:gd name="adj" fmla="val 14815"/>
            </a:avLst>
          </a:prstGeom>
          <a:solidFill>
            <a:srgbClr val="EAF2F8"/>
          </a:solidFill>
          <a:ln/>
        </p:spPr>
      </p:sp>
      <p:sp>
        <p:nvSpPr>
          <p:cNvPr id="12" name="Shape 10"/>
          <p:cNvSpPr/>
          <p:nvPr/>
        </p:nvSpPr>
        <p:spPr>
          <a:xfrm>
            <a:off x="566928" y="2176272"/>
            <a:ext cx="365760" cy="365760"/>
          </a:xfrm>
          <a:prstGeom prst="ellipse">
            <a:avLst/>
          </a:prstGeom>
          <a:solidFill>
            <a:srgbClr val="FFFFFF"/>
          </a:solidFill>
          <a:ln w="15875">
            <a:solidFill>
              <a:srgbClr val="17324D"/>
            </a:solidFill>
            <a:prstDash val="solid"/>
          </a:ln>
        </p:spPr>
      </p:sp>
      <p:sp>
        <p:nvSpPr>
          <p:cNvPr id="13" name="Text 11"/>
          <p:cNvSpPr txBox="1"/>
          <p:nvPr/>
        </p:nvSpPr>
        <p:spPr>
          <a:xfrm>
            <a:off x="566928" y="2176272"/>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2</a:t>
            </a:r>
            <a:endParaRPr lang="en-US" sz="1400" dirty="0"/>
          </a:p>
        </p:txBody>
      </p:sp>
      <p:sp>
        <p:nvSpPr>
          <p:cNvPr id="14" name="Text 12"/>
          <p:cNvSpPr txBox="1"/>
          <p:nvPr/>
        </p:nvSpPr>
        <p:spPr>
          <a:xfrm>
            <a:off x="1051560" y="2112264"/>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発汗促進</a:t>
            </a:r>
            <a:endParaRPr lang="en-US" sz="1500" dirty="0"/>
          </a:p>
        </p:txBody>
      </p:sp>
      <p:sp>
        <p:nvSpPr>
          <p:cNvPr id="15" name="Shape 13"/>
          <p:cNvSpPr/>
          <p:nvPr/>
        </p:nvSpPr>
        <p:spPr>
          <a:xfrm>
            <a:off x="457200" y="2715768"/>
            <a:ext cx="8229600" cy="493776"/>
          </a:xfrm>
          <a:prstGeom prst="roundRect">
            <a:avLst>
              <a:gd name="adj" fmla="val 14815"/>
            </a:avLst>
          </a:prstGeom>
          <a:solidFill>
            <a:srgbClr val="EAF2F8"/>
          </a:solidFill>
          <a:ln/>
        </p:spPr>
      </p:sp>
      <p:sp>
        <p:nvSpPr>
          <p:cNvPr id="16" name="Shape 14"/>
          <p:cNvSpPr/>
          <p:nvPr/>
        </p:nvSpPr>
        <p:spPr>
          <a:xfrm>
            <a:off x="566928" y="2779776"/>
            <a:ext cx="365760" cy="365760"/>
          </a:xfrm>
          <a:prstGeom prst="ellipse">
            <a:avLst/>
          </a:prstGeom>
          <a:solidFill>
            <a:srgbClr val="FFFFFF"/>
          </a:solidFill>
          <a:ln w="15875">
            <a:solidFill>
              <a:srgbClr val="17324D"/>
            </a:solidFill>
            <a:prstDash val="solid"/>
          </a:ln>
        </p:spPr>
      </p:sp>
      <p:sp>
        <p:nvSpPr>
          <p:cNvPr id="17" name="Text 15"/>
          <p:cNvSpPr txBox="1"/>
          <p:nvPr/>
        </p:nvSpPr>
        <p:spPr>
          <a:xfrm>
            <a:off x="566928" y="2779776"/>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3</a:t>
            </a:r>
            <a:endParaRPr lang="en-US" sz="1400" dirty="0"/>
          </a:p>
        </p:txBody>
      </p:sp>
      <p:sp>
        <p:nvSpPr>
          <p:cNvPr id="18" name="Text 16"/>
          <p:cNvSpPr txBox="1"/>
          <p:nvPr/>
        </p:nvSpPr>
        <p:spPr>
          <a:xfrm>
            <a:off x="1051560" y="2715768"/>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心拍数減少</a:t>
            </a:r>
            <a:endParaRPr lang="en-US" sz="1500" dirty="0"/>
          </a:p>
        </p:txBody>
      </p:sp>
      <p:sp>
        <p:nvSpPr>
          <p:cNvPr id="19" name="Shape 17"/>
          <p:cNvSpPr/>
          <p:nvPr/>
        </p:nvSpPr>
        <p:spPr>
          <a:xfrm>
            <a:off x="457200" y="3319272"/>
            <a:ext cx="8229600" cy="493776"/>
          </a:xfrm>
          <a:prstGeom prst="roundRect">
            <a:avLst>
              <a:gd name="adj" fmla="val 14815"/>
            </a:avLst>
          </a:prstGeom>
          <a:solidFill>
            <a:srgbClr val="EAF2F8"/>
          </a:solidFill>
          <a:ln/>
        </p:spPr>
      </p:sp>
      <p:sp>
        <p:nvSpPr>
          <p:cNvPr id="20" name="Shape 18"/>
          <p:cNvSpPr/>
          <p:nvPr/>
        </p:nvSpPr>
        <p:spPr>
          <a:xfrm>
            <a:off x="566928" y="3383280"/>
            <a:ext cx="365760" cy="365760"/>
          </a:xfrm>
          <a:prstGeom prst="ellipse">
            <a:avLst/>
          </a:prstGeom>
          <a:solidFill>
            <a:srgbClr val="FFFFFF"/>
          </a:solidFill>
          <a:ln w="15875">
            <a:solidFill>
              <a:srgbClr val="17324D"/>
            </a:solidFill>
            <a:prstDash val="solid"/>
          </a:ln>
        </p:spPr>
      </p:sp>
      <p:sp>
        <p:nvSpPr>
          <p:cNvPr id="21" name="Text 19"/>
          <p:cNvSpPr txBox="1"/>
          <p:nvPr/>
        </p:nvSpPr>
        <p:spPr>
          <a:xfrm>
            <a:off x="566928" y="3383280"/>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4</a:t>
            </a:r>
            <a:endParaRPr lang="en-US" sz="1400" dirty="0"/>
          </a:p>
        </p:txBody>
      </p:sp>
      <p:sp>
        <p:nvSpPr>
          <p:cNvPr id="22" name="Text 20"/>
          <p:cNvSpPr txBox="1"/>
          <p:nvPr/>
        </p:nvSpPr>
        <p:spPr>
          <a:xfrm>
            <a:off x="1051560" y="3319272"/>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気管支の拡張</a:t>
            </a:r>
            <a:endParaRPr lang="en-US" sz="1500" dirty="0"/>
          </a:p>
        </p:txBody>
      </p:sp>
      <p:sp>
        <p:nvSpPr>
          <p:cNvPr id="23" name="Shape 21"/>
          <p:cNvSpPr/>
          <p:nvPr/>
        </p:nvSpPr>
        <p:spPr>
          <a:xfrm>
            <a:off x="457200" y="3922776"/>
            <a:ext cx="8229600" cy="493776"/>
          </a:xfrm>
          <a:prstGeom prst="roundRect">
            <a:avLst>
              <a:gd name="adj" fmla="val 14815"/>
            </a:avLst>
          </a:prstGeom>
          <a:solidFill>
            <a:srgbClr val="EAF2F8"/>
          </a:solidFill>
          <a:ln/>
        </p:spPr>
      </p:sp>
      <p:sp>
        <p:nvSpPr>
          <p:cNvPr id="24" name="Shape 22"/>
          <p:cNvSpPr/>
          <p:nvPr/>
        </p:nvSpPr>
        <p:spPr>
          <a:xfrm>
            <a:off x="566928" y="3986784"/>
            <a:ext cx="365760" cy="365760"/>
          </a:xfrm>
          <a:prstGeom prst="ellipse">
            <a:avLst/>
          </a:prstGeom>
          <a:solidFill>
            <a:srgbClr val="FFFFFF"/>
          </a:solidFill>
          <a:ln w="15875">
            <a:solidFill>
              <a:srgbClr val="17324D"/>
            </a:solidFill>
            <a:prstDash val="solid"/>
          </a:ln>
        </p:spPr>
      </p:sp>
      <p:sp>
        <p:nvSpPr>
          <p:cNvPr id="25" name="Text 23"/>
          <p:cNvSpPr txBox="1"/>
          <p:nvPr/>
        </p:nvSpPr>
        <p:spPr>
          <a:xfrm>
            <a:off x="566928" y="3986784"/>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5</a:t>
            </a:r>
            <a:endParaRPr lang="en-US" sz="1400" dirty="0"/>
          </a:p>
        </p:txBody>
      </p:sp>
      <p:sp>
        <p:nvSpPr>
          <p:cNvPr id="26" name="Text 24"/>
          <p:cNvSpPr txBox="1"/>
          <p:nvPr/>
        </p:nvSpPr>
        <p:spPr>
          <a:xfrm>
            <a:off x="1051560" y="3922776"/>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消化液の分泌抑制</a:t>
            </a:r>
            <a:endParaRPr lang="en-US" sz="15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74320"/>
            <a:ext cx="868680" cy="384048"/>
          </a:xfrm>
          <a:prstGeom prst="roundRect">
            <a:avLst>
              <a:gd name="adj" fmla="val 19048"/>
            </a:avLst>
          </a:prstGeom>
          <a:solidFill>
            <a:srgbClr val="D9534F"/>
          </a:solidFill>
          <a:ln/>
        </p:spPr>
      </p:sp>
      <p:sp>
        <p:nvSpPr>
          <p:cNvPr id="3" name="Text 1"/>
          <p:cNvSpPr txBox="1"/>
          <p:nvPr/>
        </p:nvSpPr>
        <p:spPr>
          <a:xfrm>
            <a:off x="457200" y="274320"/>
            <a:ext cx="86868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解説</a:t>
            </a:r>
            <a:endParaRPr lang="en-US" sz="1300" dirty="0"/>
          </a:p>
        </p:txBody>
      </p:sp>
      <p:sp>
        <p:nvSpPr>
          <p:cNvPr id="4" name="Text 2"/>
          <p:cNvSpPr txBox="1"/>
          <p:nvPr/>
        </p:nvSpPr>
        <p:spPr>
          <a:xfrm>
            <a:off x="1417320" y="274320"/>
            <a:ext cx="731520" cy="384048"/>
          </a:xfrm>
          <a:prstGeom prst="rect">
            <a:avLst/>
          </a:prstGeom>
          <a:noFill/>
          <a:ln/>
        </p:spPr>
        <p:txBody>
          <a:bodyPr wrap="square" lIns="0" tIns="0" rIns="0" bIns="0" rtlCol="0" anchor="ctr"/>
          <a:lstStyle/>
          <a:p>
            <a:pPr indent="0" marL="0">
              <a:buNone/>
            </a:pPr>
            <a:r>
              <a:rPr lang="en-US" sz="2000" b="1" dirty="0">
                <a:solidFill>
                  <a:srgbClr val="17324D"/>
                </a:solidFill>
                <a:latin typeface="Arial" pitchFamily="34" charset="0"/>
                <a:ea typeface="Arial" pitchFamily="34" charset="-122"/>
                <a:cs typeface="Arial" pitchFamily="34" charset="-120"/>
              </a:rPr>
              <a:t>[17]</a:t>
            </a:r>
            <a:endParaRPr lang="en-US" sz="2000" dirty="0"/>
          </a:p>
        </p:txBody>
      </p:sp>
      <p:sp>
        <p:nvSpPr>
          <p:cNvPr id="5" name="Text 3"/>
          <p:cNvSpPr txBox="1"/>
          <p:nvPr/>
        </p:nvSpPr>
        <p:spPr>
          <a:xfrm>
            <a:off x="5943600" y="274320"/>
            <a:ext cx="2743200" cy="384048"/>
          </a:xfrm>
          <a:prstGeom prst="rect">
            <a:avLst/>
          </a:prstGeom>
          <a:noFill/>
          <a:ln/>
        </p:spPr>
        <p:txBody>
          <a:bodyPr wrap="square" lIns="0" tIns="0" rIns="0" bIns="0" rtlCol="0" anchor="ctr"/>
          <a:lstStyle/>
          <a:p>
            <a:pPr algn="r" indent="0" marL="0">
              <a:buNone/>
            </a:pPr>
            <a:r>
              <a:rPr lang="en-US" sz="1100" dirty="0">
                <a:solidFill>
                  <a:srgbClr val="5F6B76"/>
                </a:solidFill>
                <a:latin typeface="Meiryo" pitchFamily="34" charset="0"/>
                <a:ea typeface="Meiryo" pitchFamily="34" charset="-122"/>
                <a:cs typeface="Meiryo" pitchFamily="34" charset="-120"/>
              </a:rPr>
              <a:t>51回午後65</a:t>
            </a:r>
            <a:endParaRPr lang="en-US" sz="1100" dirty="0"/>
          </a:p>
        </p:txBody>
      </p:sp>
      <p:sp>
        <p:nvSpPr>
          <p:cNvPr id="6" name="Text 4"/>
          <p:cNvSpPr txBox="1"/>
          <p:nvPr/>
        </p:nvSpPr>
        <p:spPr>
          <a:xfrm>
            <a:off x="457200" y="731520"/>
            <a:ext cx="8229600" cy="594360"/>
          </a:xfrm>
          <a:prstGeom prst="rect">
            <a:avLst/>
          </a:prstGeom>
          <a:noFill/>
          <a:ln/>
        </p:spPr>
        <p:txBody>
          <a:bodyPr wrap="square" lIns="0" tIns="0" rIns="0" bIns="0" rtlCol="0" anchor="t"/>
          <a:lstStyle/>
          <a:p>
            <a:pPr indent="0" marL="0">
              <a:buNone/>
            </a:pPr>
            <a:r>
              <a:rPr lang="en-US" sz="1700" b="1" dirty="0">
                <a:solidFill>
                  <a:srgbClr val="222222"/>
                </a:solidFill>
                <a:latin typeface="Meiryo" pitchFamily="34" charset="0"/>
                <a:ea typeface="Meiryo" pitchFamily="34" charset="-122"/>
                <a:cs typeface="Meiryo" pitchFamily="34" charset="-120"/>
              </a:rPr>
              <a:t>副交感神経の作用はどれか。</a:t>
            </a:r>
            <a:endParaRPr lang="en-US" sz="1700" dirty="0"/>
          </a:p>
        </p:txBody>
      </p:sp>
      <p:sp>
        <p:nvSpPr>
          <p:cNvPr id="7" name="Shape 5"/>
          <p:cNvSpPr/>
          <p:nvPr/>
        </p:nvSpPr>
        <p:spPr>
          <a:xfrm>
            <a:off x="457200" y="1417320"/>
            <a:ext cx="8229600" cy="457200"/>
          </a:xfrm>
          <a:prstGeom prst="roundRect">
            <a:avLst>
              <a:gd name="adj" fmla="val 16000"/>
            </a:avLst>
          </a:prstGeom>
          <a:solidFill>
            <a:srgbClr val="F4F6F8"/>
          </a:solidFill>
          <a:ln/>
        </p:spPr>
      </p:sp>
      <p:sp>
        <p:nvSpPr>
          <p:cNvPr id="8" name="Shape 6"/>
          <p:cNvSpPr/>
          <p:nvPr/>
        </p:nvSpPr>
        <p:spPr>
          <a:xfrm>
            <a:off x="548640" y="1481328"/>
            <a:ext cx="329184" cy="329184"/>
          </a:xfrm>
          <a:prstGeom prst="ellipse">
            <a:avLst/>
          </a:prstGeom>
          <a:solidFill>
            <a:srgbClr val="FFFFFF"/>
          </a:solidFill>
          <a:ln w="12700">
            <a:solidFill>
              <a:srgbClr val="8A96A3"/>
            </a:solidFill>
            <a:prstDash val="solid"/>
          </a:ln>
        </p:spPr>
      </p:sp>
      <p:sp>
        <p:nvSpPr>
          <p:cNvPr id="9" name="Text 7"/>
          <p:cNvSpPr txBox="1"/>
          <p:nvPr/>
        </p:nvSpPr>
        <p:spPr>
          <a:xfrm>
            <a:off x="548640" y="1481328"/>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1</a:t>
            </a:r>
            <a:endParaRPr lang="en-US" sz="1300" dirty="0"/>
          </a:p>
        </p:txBody>
      </p:sp>
      <p:sp>
        <p:nvSpPr>
          <p:cNvPr id="10" name="Text 8"/>
          <p:cNvSpPr txBox="1"/>
          <p:nvPr/>
        </p:nvSpPr>
        <p:spPr>
          <a:xfrm>
            <a:off x="987552" y="1417320"/>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瞳孔散大</a:t>
            </a:r>
            <a:endParaRPr lang="en-US" sz="1200" dirty="0"/>
          </a:p>
        </p:txBody>
      </p:sp>
      <p:sp>
        <p:nvSpPr>
          <p:cNvPr id="11" name="Text 9"/>
          <p:cNvSpPr txBox="1"/>
          <p:nvPr/>
        </p:nvSpPr>
        <p:spPr>
          <a:xfrm>
            <a:off x="4096512" y="1417320"/>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交感</a:t>
            </a:r>
            <a:endParaRPr lang="en-US" sz="1100" dirty="0"/>
          </a:p>
        </p:txBody>
      </p:sp>
      <p:sp>
        <p:nvSpPr>
          <p:cNvPr id="12" name="Shape 10"/>
          <p:cNvSpPr/>
          <p:nvPr/>
        </p:nvSpPr>
        <p:spPr>
          <a:xfrm>
            <a:off x="457200" y="1947672"/>
            <a:ext cx="8229600" cy="457200"/>
          </a:xfrm>
          <a:prstGeom prst="roundRect">
            <a:avLst>
              <a:gd name="adj" fmla="val 16000"/>
            </a:avLst>
          </a:prstGeom>
          <a:solidFill>
            <a:srgbClr val="F4F6F8"/>
          </a:solidFill>
          <a:ln/>
        </p:spPr>
      </p:sp>
      <p:sp>
        <p:nvSpPr>
          <p:cNvPr id="13" name="Shape 11"/>
          <p:cNvSpPr/>
          <p:nvPr/>
        </p:nvSpPr>
        <p:spPr>
          <a:xfrm>
            <a:off x="548640" y="2011680"/>
            <a:ext cx="329184" cy="329184"/>
          </a:xfrm>
          <a:prstGeom prst="ellipse">
            <a:avLst/>
          </a:prstGeom>
          <a:solidFill>
            <a:srgbClr val="FFFFFF"/>
          </a:solidFill>
          <a:ln w="12700">
            <a:solidFill>
              <a:srgbClr val="8A96A3"/>
            </a:solidFill>
            <a:prstDash val="solid"/>
          </a:ln>
        </p:spPr>
      </p:sp>
      <p:sp>
        <p:nvSpPr>
          <p:cNvPr id="14" name="Text 12"/>
          <p:cNvSpPr txBox="1"/>
          <p:nvPr/>
        </p:nvSpPr>
        <p:spPr>
          <a:xfrm>
            <a:off x="548640" y="2011680"/>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2</a:t>
            </a:r>
            <a:endParaRPr lang="en-US" sz="1300" dirty="0"/>
          </a:p>
        </p:txBody>
      </p:sp>
      <p:sp>
        <p:nvSpPr>
          <p:cNvPr id="15" name="Text 13"/>
          <p:cNvSpPr txBox="1"/>
          <p:nvPr/>
        </p:nvSpPr>
        <p:spPr>
          <a:xfrm>
            <a:off x="987552" y="1947672"/>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発汗促進</a:t>
            </a:r>
            <a:endParaRPr lang="en-US" sz="1200" dirty="0"/>
          </a:p>
        </p:txBody>
      </p:sp>
      <p:sp>
        <p:nvSpPr>
          <p:cNvPr id="16" name="Text 14"/>
          <p:cNvSpPr txBox="1"/>
          <p:nvPr/>
        </p:nvSpPr>
        <p:spPr>
          <a:xfrm>
            <a:off x="4096512" y="1947672"/>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交感</a:t>
            </a:r>
            <a:endParaRPr lang="en-US" sz="1100" dirty="0"/>
          </a:p>
        </p:txBody>
      </p:sp>
      <p:sp>
        <p:nvSpPr>
          <p:cNvPr id="17" name="Shape 15"/>
          <p:cNvSpPr/>
          <p:nvPr/>
        </p:nvSpPr>
        <p:spPr>
          <a:xfrm>
            <a:off x="457200" y="2478024"/>
            <a:ext cx="8229600" cy="457200"/>
          </a:xfrm>
          <a:prstGeom prst="roundRect">
            <a:avLst>
              <a:gd name="adj" fmla="val 16000"/>
            </a:avLst>
          </a:prstGeom>
          <a:solidFill>
            <a:srgbClr val="FBE3E2"/>
          </a:solidFill>
          <a:ln w="19050">
            <a:solidFill>
              <a:srgbClr val="D9534F"/>
            </a:solidFill>
            <a:prstDash val="solid"/>
          </a:ln>
        </p:spPr>
      </p:sp>
      <p:sp>
        <p:nvSpPr>
          <p:cNvPr id="18" name="Shape 16"/>
          <p:cNvSpPr/>
          <p:nvPr/>
        </p:nvSpPr>
        <p:spPr>
          <a:xfrm>
            <a:off x="548640" y="2542032"/>
            <a:ext cx="329184" cy="329184"/>
          </a:xfrm>
          <a:prstGeom prst="ellipse">
            <a:avLst/>
          </a:prstGeom>
          <a:solidFill>
            <a:srgbClr val="D9534F"/>
          </a:solidFill>
          <a:ln w="12700">
            <a:solidFill>
              <a:srgbClr val="D9534F"/>
            </a:solidFill>
            <a:prstDash val="solid"/>
          </a:ln>
        </p:spPr>
      </p:sp>
      <p:sp>
        <p:nvSpPr>
          <p:cNvPr id="19" name="Text 17"/>
          <p:cNvSpPr txBox="1"/>
          <p:nvPr/>
        </p:nvSpPr>
        <p:spPr>
          <a:xfrm>
            <a:off x="548640" y="254203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20" name="Text 18"/>
          <p:cNvSpPr txBox="1"/>
          <p:nvPr/>
        </p:nvSpPr>
        <p:spPr>
          <a:xfrm>
            <a:off x="987552" y="2478024"/>
            <a:ext cx="3017520" cy="457200"/>
          </a:xfrm>
          <a:prstGeom prst="rect">
            <a:avLst/>
          </a:prstGeom>
          <a:noFill/>
          <a:ln/>
        </p:spPr>
        <p:txBody>
          <a:bodyPr wrap="square" lIns="0" tIns="0" rIns="0" bIns="0" rtlCol="0" anchor="ctr"/>
          <a:lstStyle/>
          <a:p>
            <a:pPr indent="0" marL="0">
              <a:buNone/>
            </a:pPr>
            <a:r>
              <a:rPr lang="en-US" sz="1200" b="1" dirty="0">
                <a:solidFill>
                  <a:srgbClr val="D9534F"/>
                </a:solidFill>
                <a:latin typeface="Meiryo" pitchFamily="34" charset="0"/>
                <a:ea typeface="Meiryo" pitchFamily="34" charset="-122"/>
                <a:cs typeface="Meiryo" pitchFamily="34" charset="-120"/>
              </a:rPr>
              <a:t>心拍数減少</a:t>
            </a:r>
            <a:endParaRPr lang="en-US" sz="1200" dirty="0"/>
          </a:p>
        </p:txBody>
      </p:sp>
      <p:sp>
        <p:nvSpPr>
          <p:cNvPr id="21" name="Text 19"/>
          <p:cNvSpPr txBox="1"/>
          <p:nvPr/>
        </p:nvSpPr>
        <p:spPr>
          <a:xfrm>
            <a:off x="4096512" y="2478024"/>
            <a:ext cx="4526280" cy="457200"/>
          </a:xfrm>
          <a:prstGeom prst="rect">
            <a:avLst/>
          </a:prstGeom>
          <a:noFill/>
          <a:ln/>
        </p:spPr>
        <p:txBody>
          <a:bodyPr wrap="square" lIns="0" tIns="0" rIns="0" bIns="0" rtlCol="0" anchor="ctr"/>
          <a:lstStyle/>
          <a:p>
            <a:pPr indent="0" marL="0">
              <a:buNone/>
            </a:pPr>
            <a:r>
              <a:rPr lang="en-US" sz="1100" dirty="0">
                <a:solidFill>
                  <a:srgbClr val="222222"/>
                </a:solidFill>
                <a:latin typeface="Meiryo" pitchFamily="34" charset="0"/>
                <a:ea typeface="Meiryo" pitchFamily="34" charset="-122"/>
                <a:cs typeface="Meiryo" pitchFamily="34" charset="-120"/>
              </a:rPr>
              <a:t>副交感 ○</a:t>
            </a:r>
            <a:endParaRPr lang="en-US" sz="1100" dirty="0"/>
          </a:p>
        </p:txBody>
      </p:sp>
      <p:sp>
        <p:nvSpPr>
          <p:cNvPr id="22" name="Shape 20"/>
          <p:cNvSpPr/>
          <p:nvPr/>
        </p:nvSpPr>
        <p:spPr>
          <a:xfrm>
            <a:off x="457200" y="3008376"/>
            <a:ext cx="8229600" cy="457200"/>
          </a:xfrm>
          <a:prstGeom prst="roundRect">
            <a:avLst>
              <a:gd name="adj" fmla="val 16000"/>
            </a:avLst>
          </a:prstGeom>
          <a:solidFill>
            <a:srgbClr val="F4F6F8"/>
          </a:solidFill>
          <a:ln/>
        </p:spPr>
      </p:sp>
      <p:sp>
        <p:nvSpPr>
          <p:cNvPr id="23" name="Shape 21"/>
          <p:cNvSpPr/>
          <p:nvPr/>
        </p:nvSpPr>
        <p:spPr>
          <a:xfrm>
            <a:off x="548640" y="3072384"/>
            <a:ext cx="329184" cy="329184"/>
          </a:xfrm>
          <a:prstGeom prst="ellipse">
            <a:avLst/>
          </a:prstGeom>
          <a:solidFill>
            <a:srgbClr val="FFFFFF"/>
          </a:solidFill>
          <a:ln w="12700">
            <a:solidFill>
              <a:srgbClr val="8A96A3"/>
            </a:solidFill>
            <a:prstDash val="solid"/>
          </a:ln>
        </p:spPr>
      </p:sp>
      <p:sp>
        <p:nvSpPr>
          <p:cNvPr id="24" name="Text 22"/>
          <p:cNvSpPr txBox="1"/>
          <p:nvPr/>
        </p:nvSpPr>
        <p:spPr>
          <a:xfrm>
            <a:off x="548640" y="3072384"/>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4</a:t>
            </a:r>
            <a:endParaRPr lang="en-US" sz="1300" dirty="0"/>
          </a:p>
        </p:txBody>
      </p:sp>
      <p:sp>
        <p:nvSpPr>
          <p:cNvPr id="25" name="Text 23"/>
          <p:cNvSpPr txBox="1"/>
          <p:nvPr/>
        </p:nvSpPr>
        <p:spPr>
          <a:xfrm>
            <a:off x="987552" y="3008376"/>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気管支の拡張</a:t>
            </a:r>
            <a:endParaRPr lang="en-US" sz="1200" dirty="0"/>
          </a:p>
        </p:txBody>
      </p:sp>
      <p:sp>
        <p:nvSpPr>
          <p:cNvPr id="26" name="Text 24"/>
          <p:cNvSpPr txBox="1"/>
          <p:nvPr/>
        </p:nvSpPr>
        <p:spPr>
          <a:xfrm>
            <a:off x="4096512" y="3008376"/>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交感</a:t>
            </a:r>
            <a:endParaRPr lang="en-US" sz="1100" dirty="0"/>
          </a:p>
        </p:txBody>
      </p:sp>
      <p:sp>
        <p:nvSpPr>
          <p:cNvPr id="27" name="Shape 25"/>
          <p:cNvSpPr/>
          <p:nvPr/>
        </p:nvSpPr>
        <p:spPr>
          <a:xfrm>
            <a:off x="457200" y="3538728"/>
            <a:ext cx="8229600" cy="457200"/>
          </a:xfrm>
          <a:prstGeom prst="roundRect">
            <a:avLst>
              <a:gd name="adj" fmla="val 16000"/>
            </a:avLst>
          </a:prstGeom>
          <a:solidFill>
            <a:srgbClr val="F4F6F8"/>
          </a:solidFill>
          <a:ln/>
        </p:spPr>
      </p:sp>
      <p:sp>
        <p:nvSpPr>
          <p:cNvPr id="28" name="Shape 26"/>
          <p:cNvSpPr/>
          <p:nvPr/>
        </p:nvSpPr>
        <p:spPr>
          <a:xfrm>
            <a:off x="548640" y="3602736"/>
            <a:ext cx="329184" cy="329184"/>
          </a:xfrm>
          <a:prstGeom prst="ellipse">
            <a:avLst/>
          </a:prstGeom>
          <a:solidFill>
            <a:srgbClr val="FFFFFF"/>
          </a:solidFill>
          <a:ln w="12700">
            <a:solidFill>
              <a:srgbClr val="8A96A3"/>
            </a:solidFill>
            <a:prstDash val="solid"/>
          </a:ln>
        </p:spPr>
      </p:sp>
      <p:sp>
        <p:nvSpPr>
          <p:cNvPr id="29" name="Text 27"/>
          <p:cNvSpPr txBox="1"/>
          <p:nvPr/>
        </p:nvSpPr>
        <p:spPr>
          <a:xfrm>
            <a:off x="548640" y="3602736"/>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5</a:t>
            </a:r>
            <a:endParaRPr lang="en-US" sz="1300" dirty="0"/>
          </a:p>
        </p:txBody>
      </p:sp>
      <p:sp>
        <p:nvSpPr>
          <p:cNvPr id="30" name="Text 28"/>
          <p:cNvSpPr txBox="1"/>
          <p:nvPr/>
        </p:nvSpPr>
        <p:spPr>
          <a:xfrm>
            <a:off x="987552" y="3538728"/>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消化液の分泌抑制</a:t>
            </a:r>
            <a:endParaRPr lang="en-US" sz="1200" dirty="0"/>
          </a:p>
        </p:txBody>
      </p:sp>
      <p:sp>
        <p:nvSpPr>
          <p:cNvPr id="31" name="Text 29"/>
          <p:cNvSpPr txBox="1"/>
          <p:nvPr/>
        </p:nvSpPr>
        <p:spPr>
          <a:xfrm>
            <a:off x="4096512" y="3538728"/>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交感</a:t>
            </a:r>
            <a:endParaRPr lang="en-US" sz="1100" dirty="0"/>
          </a:p>
        </p:txBody>
      </p:sp>
      <p:sp>
        <p:nvSpPr>
          <p:cNvPr id="32" name="Shape 30"/>
          <p:cNvSpPr/>
          <p:nvPr/>
        </p:nvSpPr>
        <p:spPr>
          <a:xfrm>
            <a:off x="457200" y="4160520"/>
            <a:ext cx="1463040" cy="685800"/>
          </a:xfrm>
          <a:prstGeom prst="roundRect">
            <a:avLst>
              <a:gd name="adj" fmla="val 10667"/>
            </a:avLst>
          </a:prstGeom>
          <a:solidFill>
            <a:srgbClr val="D9534F"/>
          </a:solidFill>
          <a:ln/>
        </p:spPr>
      </p:sp>
      <p:sp>
        <p:nvSpPr>
          <p:cNvPr id="33" name="Text 31"/>
          <p:cNvSpPr txBox="1"/>
          <p:nvPr/>
        </p:nvSpPr>
        <p:spPr>
          <a:xfrm>
            <a:off x="457200" y="4160520"/>
            <a:ext cx="1463040" cy="685800"/>
          </a:xfrm>
          <a:prstGeom prst="rect">
            <a:avLst/>
          </a:prstGeom>
          <a:noFill/>
          <a:ln/>
        </p:spPr>
        <p:txBody>
          <a:bodyPr wrap="square" lIns="0" tIns="0" rIns="0" bIns="0" rtlCol="0" anchor="ctr"/>
          <a:lstStyle/>
          <a:p>
            <a:pPr algn="ctr" indent="0" marL="0">
              <a:buNone/>
            </a:pPr>
            <a:r>
              <a:rPr lang="en-US" sz="1100" dirty="0">
                <a:solidFill>
                  <a:srgbClr val="FFFFFF"/>
                </a:solidFill>
                <a:latin typeface="Meiryo" pitchFamily="34" charset="0"/>
                <a:ea typeface="Meiryo" pitchFamily="34" charset="-122"/>
                <a:cs typeface="Meiryo" pitchFamily="34" charset="-120"/>
              </a:rPr>
              <a:t>正解</a:t>
            </a:r>
            <a:endParaRPr lang="en-US" sz="1100" dirty="0"/>
          </a:p>
          <a:p>
            <a:pPr algn="ctr" indent="0" marL="0">
              <a:buNone/>
            </a:pPr>
            <a:r>
              <a:rPr lang="en-US" sz="2200" b="1" dirty="0">
                <a:solidFill>
                  <a:srgbClr val="FFFFFF"/>
                </a:solidFill>
                <a:latin typeface="Meiryo" pitchFamily="34" charset="0"/>
                <a:ea typeface="Meiryo" pitchFamily="34" charset="-122"/>
                <a:cs typeface="Meiryo" pitchFamily="34" charset="-120"/>
              </a:rPr>
              <a:t>3</a:t>
            </a:r>
            <a:endParaRPr lang="en-US" sz="1100" dirty="0"/>
          </a:p>
        </p:txBody>
      </p:sp>
      <p:sp>
        <p:nvSpPr>
          <p:cNvPr id="34" name="Shape 32"/>
          <p:cNvSpPr/>
          <p:nvPr/>
        </p:nvSpPr>
        <p:spPr>
          <a:xfrm>
            <a:off x="2057400" y="4160520"/>
            <a:ext cx="6629400" cy="685800"/>
          </a:xfrm>
          <a:prstGeom prst="roundRect">
            <a:avLst>
              <a:gd name="adj" fmla="val 10667"/>
            </a:avLst>
          </a:prstGeom>
          <a:solidFill>
            <a:srgbClr val="EAF2F8"/>
          </a:solidFill>
          <a:ln/>
        </p:spPr>
      </p:sp>
      <p:sp>
        <p:nvSpPr>
          <p:cNvPr id="35" name="Text 33"/>
          <p:cNvSpPr txBox="1"/>
          <p:nvPr/>
        </p:nvSpPr>
        <p:spPr>
          <a:xfrm>
            <a:off x="2194560" y="4160520"/>
            <a:ext cx="6400800" cy="685800"/>
          </a:xfrm>
          <a:prstGeom prst="rect">
            <a:avLst/>
          </a:prstGeom>
          <a:noFill/>
          <a:ln/>
        </p:spPr>
        <p:txBody>
          <a:bodyPr wrap="square" lIns="0" tIns="0" rIns="0" bIns="0" rtlCol="0" anchor="ctr"/>
          <a:lstStyle/>
          <a:p>
            <a:pPr indent="0" marL="0">
              <a:buNone/>
            </a:pPr>
            <a:r>
              <a:rPr lang="en-US" sz="1200" b="1" dirty="0">
                <a:solidFill>
                  <a:srgbClr val="2A7F9E"/>
                </a:solidFill>
                <a:latin typeface="Meiryo" pitchFamily="34" charset="0"/>
                <a:ea typeface="Meiryo" pitchFamily="34" charset="-122"/>
                <a:cs typeface="Meiryo" pitchFamily="34" charset="-120"/>
              </a:rPr>
              <a:t>POINT　</a:t>
            </a:r>
            <a:pPr indent="0" marL="0">
              <a:buNone/>
            </a:pPr>
            <a:r>
              <a:rPr lang="en-US" sz="1200" dirty="0">
                <a:solidFill>
                  <a:srgbClr val="222222"/>
                </a:solidFill>
                <a:latin typeface="Meiryo" pitchFamily="34" charset="0"/>
                <a:ea typeface="Meiryo" pitchFamily="34" charset="-122"/>
                <a:cs typeface="Meiryo" pitchFamily="34" charset="-120"/>
              </a:rPr>
              <a:t>迷走神経刺激で心拍数減少。</a:t>
            </a:r>
            <a:endParaRPr lang="en-US" sz="12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74320"/>
            <a:ext cx="868680" cy="384048"/>
          </a:xfrm>
          <a:prstGeom prst="roundRect">
            <a:avLst>
              <a:gd name="adj" fmla="val 19048"/>
            </a:avLst>
          </a:prstGeom>
          <a:solidFill>
            <a:srgbClr val="17324D"/>
          </a:solidFill>
          <a:ln/>
        </p:spPr>
      </p:sp>
      <p:sp>
        <p:nvSpPr>
          <p:cNvPr id="3" name="Text 1"/>
          <p:cNvSpPr txBox="1"/>
          <p:nvPr/>
        </p:nvSpPr>
        <p:spPr>
          <a:xfrm>
            <a:off x="457200" y="274320"/>
            <a:ext cx="86868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問題</a:t>
            </a:r>
            <a:endParaRPr lang="en-US" sz="1300" dirty="0"/>
          </a:p>
        </p:txBody>
      </p:sp>
      <p:sp>
        <p:nvSpPr>
          <p:cNvPr id="4" name="Text 2"/>
          <p:cNvSpPr txBox="1"/>
          <p:nvPr/>
        </p:nvSpPr>
        <p:spPr>
          <a:xfrm>
            <a:off x="1417320" y="274320"/>
            <a:ext cx="731520" cy="384048"/>
          </a:xfrm>
          <a:prstGeom prst="rect">
            <a:avLst/>
          </a:prstGeom>
          <a:noFill/>
          <a:ln/>
        </p:spPr>
        <p:txBody>
          <a:bodyPr wrap="square" lIns="0" tIns="0" rIns="0" bIns="0" rtlCol="0" anchor="ctr"/>
          <a:lstStyle/>
          <a:p>
            <a:pPr indent="0" marL="0">
              <a:buNone/>
            </a:pPr>
            <a:r>
              <a:rPr lang="en-US" sz="2000" b="1" dirty="0">
                <a:solidFill>
                  <a:srgbClr val="17324D"/>
                </a:solidFill>
                <a:latin typeface="Arial" pitchFamily="34" charset="0"/>
                <a:ea typeface="Arial" pitchFamily="34" charset="-122"/>
                <a:cs typeface="Arial" pitchFamily="34" charset="-120"/>
              </a:rPr>
              <a:t>[18]</a:t>
            </a:r>
            <a:endParaRPr lang="en-US" sz="2000" dirty="0"/>
          </a:p>
        </p:txBody>
      </p:sp>
      <p:sp>
        <p:nvSpPr>
          <p:cNvPr id="5" name="Text 3"/>
          <p:cNvSpPr txBox="1"/>
          <p:nvPr/>
        </p:nvSpPr>
        <p:spPr>
          <a:xfrm>
            <a:off x="5943600" y="274320"/>
            <a:ext cx="2743200" cy="384048"/>
          </a:xfrm>
          <a:prstGeom prst="rect">
            <a:avLst/>
          </a:prstGeom>
          <a:noFill/>
          <a:ln/>
        </p:spPr>
        <p:txBody>
          <a:bodyPr wrap="square" lIns="0" tIns="0" rIns="0" bIns="0" rtlCol="0" anchor="ctr"/>
          <a:lstStyle/>
          <a:p>
            <a:pPr algn="r" indent="0" marL="0">
              <a:buNone/>
            </a:pPr>
            <a:r>
              <a:rPr lang="en-US" sz="1100" dirty="0">
                <a:solidFill>
                  <a:srgbClr val="5F6B76"/>
                </a:solidFill>
                <a:latin typeface="Meiryo" pitchFamily="34" charset="0"/>
                <a:ea typeface="Meiryo" pitchFamily="34" charset="-122"/>
                <a:cs typeface="Meiryo" pitchFamily="34" charset="-120"/>
              </a:rPr>
              <a:t>50回午後63</a:t>
            </a:r>
            <a:endParaRPr lang="en-US" sz="1100" dirty="0"/>
          </a:p>
        </p:txBody>
      </p:sp>
      <p:sp>
        <p:nvSpPr>
          <p:cNvPr id="6" name="Text 4"/>
          <p:cNvSpPr txBox="1"/>
          <p:nvPr/>
        </p:nvSpPr>
        <p:spPr>
          <a:xfrm>
            <a:off x="457200" y="731520"/>
            <a:ext cx="8229600" cy="594360"/>
          </a:xfrm>
          <a:prstGeom prst="rect">
            <a:avLst/>
          </a:prstGeom>
          <a:noFill/>
          <a:ln/>
        </p:spPr>
        <p:txBody>
          <a:bodyPr wrap="square" lIns="0" tIns="0" rIns="0" bIns="0" rtlCol="0" anchor="t"/>
          <a:lstStyle/>
          <a:p>
            <a:pPr indent="0" marL="0">
              <a:buNone/>
            </a:pPr>
            <a:r>
              <a:rPr lang="en-US" sz="1700" b="1" dirty="0">
                <a:solidFill>
                  <a:srgbClr val="222222"/>
                </a:solidFill>
                <a:latin typeface="Meiryo" pitchFamily="34" charset="0"/>
                <a:ea typeface="Meiryo" pitchFamily="34" charset="-122"/>
                <a:cs typeface="Meiryo" pitchFamily="34" charset="-120"/>
              </a:rPr>
              <a:t>副交感神経の作用はどれか。</a:t>
            </a:r>
            <a:endParaRPr lang="en-US" sz="1700" dirty="0"/>
          </a:p>
        </p:txBody>
      </p:sp>
      <p:sp>
        <p:nvSpPr>
          <p:cNvPr id="7" name="Shape 5"/>
          <p:cNvSpPr/>
          <p:nvPr/>
        </p:nvSpPr>
        <p:spPr>
          <a:xfrm>
            <a:off x="457200" y="1508760"/>
            <a:ext cx="8229600" cy="493776"/>
          </a:xfrm>
          <a:prstGeom prst="roundRect">
            <a:avLst>
              <a:gd name="adj" fmla="val 14815"/>
            </a:avLst>
          </a:prstGeom>
          <a:solidFill>
            <a:srgbClr val="EAF2F8"/>
          </a:solidFill>
          <a:ln/>
        </p:spPr>
      </p:sp>
      <p:sp>
        <p:nvSpPr>
          <p:cNvPr id="8" name="Shape 6"/>
          <p:cNvSpPr/>
          <p:nvPr/>
        </p:nvSpPr>
        <p:spPr>
          <a:xfrm>
            <a:off x="566928" y="1572768"/>
            <a:ext cx="365760" cy="365760"/>
          </a:xfrm>
          <a:prstGeom prst="ellipse">
            <a:avLst/>
          </a:prstGeom>
          <a:solidFill>
            <a:srgbClr val="FFFFFF"/>
          </a:solidFill>
          <a:ln w="15875">
            <a:solidFill>
              <a:srgbClr val="17324D"/>
            </a:solidFill>
            <a:prstDash val="solid"/>
          </a:ln>
        </p:spPr>
      </p:sp>
      <p:sp>
        <p:nvSpPr>
          <p:cNvPr id="9" name="Text 7"/>
          <p:cNvSpPr txBox="1"/>
          <p:nvPr/>
        </p:nvSpPr>
        <p:spPr>
          <a:xfrm>
            <a:off x="566928" y="1572768"/>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1</a:t>
            </a:r>
            <a:endParaRPr lang="en-US" sz="1400" dirty="0"/>
          </a:p>
        </p:txBody>
      </p:sp>
      <p:sp>
        <p:nvSpPr>
          <p:cNvPr id="10" name="Text 8"/>
          <p:cNvSpPr txBox="1"/>
          <p:nvPr/>
        </p:nvSpPr>
        <p:spPr>
          <a:xfrm>
            <a:off x="1051560" y="1508760"/>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気管支の収縮</a:t>
            </a:r>
            <a:endParaRPr lang="en-US" sz="1500" dirty="0"/>
          </a:p>
        </p:txBody>
      </p:sp>
      <p:sp>
        <p:nvSpPr>
          <p:cNvPr id="11" name="Shape 9"/>
          <p:cNvSpPr/>
          <p:nvPr/>
        </p:nvSpPr>
        <p:spPr>
          <a:xfrm>
            <a:off x="457200" y="2112264"/>
            <a:ext cx="8229600" cy="493776"/>
          </a:xfrm>
          <a:prstGeom prst="roundRect">
            <a:avLst>
              <a:gd name="adj" fmla="val 14815"/>
            </a:avLst>
          </a:prstGeom>
          <a:solidFill>
            <a:srgbClr val="EAF2F8"/>
          </a:solidFill>
          <a:ln/>
        </p:spPr>
      </p:sp>
      <p:sp>
        <p:nvSpPr>
          <p:cNvPr id="12" name="Shape 10"/>
          <p:cNvSpPr/>
          <p:nvPr/>
        </p:nvSpPr>
        <p:spPr>
          <a:xfrm>
            <a:off x="566928" y="2176272"/>
            <a:ext cx="365760" cy="365760"/>
          </a:xfrm>
          <a:prstGeom prst="ellipse">
            <a:avLst/>
          </a:prstGeom>
          <a:solidFill>
            <a:srgbClr val="FFFFFF"/>
          </a:solidFill>
          <a:ln w="15875">
            <a:solidFill>
              <a:srgbClr val="17324D"/>
            </a:solidFill>
            <a:prstDash val="solid"/>
          </a:ln>
        </p:spPr>
      </p:sp>
      <p:sp>
        <p:nvSpPr>
          <p:cNvPr id="13" name="Text 11"/>
          <p:cNvSpPr txBox="1"/>
          <p:nvPr/>
        </p:nvSpPr>
        <p:spPr>
          <a:xfrm>
            <a:off x="566928" y="2176272"/>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2</a:t>
            </a:r>
            <a:endParaRPr lang="en-US" sz="1400" dirty="0"/>
          </a:p>
        </p:txBody>
      </p:sp>
      <p:sp>
        <p:nvSpPr>
          <p:cNvPr id="14" name="Text 12"/>
          <p:cNvSpPr txBox="1"/>
          <p:nvPr/>
        </p:nvSpPr>
        <p:spPr>
          <a:xfrm>
            <a:off x="1051560" y="2112264"/>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心拍数の増加</a:t>
            </a:r>
            <a:endParaRPr lang="en-US" sz="1500" dirty="0"/>
          </a:p>
        </p:txBody>
      </p:sp>
      <p:sp>
        <p:nvSpPr>
          <p:cNvPr id="15" name="Shape 13"/>
          <p:cNvSpPr/>
          <p:nvPr/>
        </p:nvSpPr>
        <p:spPr>
          <a:xfrm>
            <a:off x="457200" y="2715768"/>
            <a:ext cx="8229600" cy="493776"/>
          </a:xfrm>
          <a:prstGeom prst="roundRect">
            <a:avLst>
              <a:gd name="adj" fmla="val 14815"/>
            </a:avLst>
          </a:prstGeom>
          <a:solidFill>
            <a:srgbClr val="EAF2F8"/>
          </a:solidFill>
          <a:ln/>
        </p:spPr>
      </p:sp>
      <p:sp>
        <p:nvSpPr>
          <p:cNvPr id="16" name="Shape 14"/>
          <p:cNvSpPr/>
          <p:nvPr/>
        </p:nvSpPr>
        <p:spPr>
          <a:xfrm>
            <a:off x="566928" y="2779776"/>
            <a:ext cx="365760" cy="365760"/>
          </a:xfrm>
          <a:prstGeom prst="ellipse">
            <a:avLst/>
          </a:prstGeom>
          <a:solidFill>
            <a:srgbClr val="FFFFFF"/>
          </a:solidFill>
          <a:ln w="15875">
            <a:solidFill>
              <a:srgbClr val="17324D"/>
            </a:solidFill>
            <a:prstDash val="solid"/>
          </a:ln>
        </p:spPr>
      </p:sp>
      <p:sp>
        <p:nvSpPr>
          <p:cNvPr id="17" name="Text 15"/>
          <p:cNvSpPr txBox="1"/>
          <p:nvPr/>
        </p:nvSpPr>
        <p:spPr>
          <a:xfrm>
            <a:off x="566928" y="2779776"/>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3</a:t>
            </a:r>
            <a:endParaRPr lang="en-US" sz="1400" dirty="0"/>
          </a:p>
        </p:txBody>
      </p:sp>
      <p:sp>
        <p:nvSpPr>
          <p:cNvPr id="18" name="Text 16"/>
          <p:cNvSpPr txBox="1"/>
          <p:nvPr/>
        </p:nvSpPr>
        <p:spPr>
          <a:xfrm>
            <a:off x="1051560" y="2715768"/>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涙液の分泌抑制</a:t>
            </a:r>
            <a:endParaRPr lang="en-US" sz="1500" dirty="0"/>
          </a:p>
        </p:txBody>
      </p:sp>
      <p:sp>
        <p:nvSpPr>
          <p:cNvPr id="19" name="Shape 17"/>
          <p:cNvSpPr/>
          <p:nvPr/>
        </p:nvSpPr>
        <p:spPr>
          <a:xfrm>
            <a:off x="457200" y="3319272"/>
            <a:ext cx="8229600" cy="493776"/>
          </a:xfrm>
          <a:prstGeom prst="roundRect">
            <a:avLst>
              <a:gd name="adj" fmla="val 14815"/>
            </a:avLst>
          </a:prstGeom>
          <a:solidFill>
            <a:srgbClr val="EAF2F8"/>
          </a:solidFill>
          <a:ln/>
        </p:spPr>
      </p:sp>
      <p:sp>
        <p:nvSpPr>
          <p:cNvPr id="20" name="Shape 18"/>
          <p:cNvSpPr/>
          <p:nvPr/>
        </p:nvSpPr>
        <p:spPr>
          <a:xfrm>
            <a:off x="566928" y="3383280"/>
            <a:ext cx="365760" cy="365760"/>
          </a:xfrm>
          <a:prstGeom prst="ellipse">
            <a:avLst/>
          </a:prstGeom>
          <a:solidFill>
            <a:srgbClr val="FFFFFF"/>
          </a:solidFill>
          <a:ln w="15875">
            <a:solidFill>
              <a:srgbClr val="17324D"/>
            </a:solidFill>
            <a:prstDash val="solid"/>
          </a:ln>
        </p:spPr>
      </p:sp>
      <p:sp>
        <p:nvSpPr>
          <p:cNvPr id="21" name="Text 19"/>
          <p:cNvSpPr txBox="1"/>
          <p:nvPr/>
        </p:nvSpPr>
        <p:spPr>
          <a:xfrm>
            <a:off x="566928" y="3383280"/>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4</a:t>
            </a:r>
            <a:endParaRPr lang="en-US" sz="1400" dirty="0"/>
          </a:p>
        </p:txBody>
      </p:sp>
      <p:sp>
        <p:nvSpPr>
          <p:cNvPr id="22" name="Text 20"/>
          <p:cNvSpPr txBox="1"/>
          <p:nvPr/>
        </p:nvSpPr>
        <p:spPr>
          <a:xfrm>
            <a:off x="1051560" y="3319272"/>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膵液の分泌抑制</a:t>
            </a:r>
            <a:endParaRPr lang="en-US" sz="1500" dirty="0"/>
          </a:p>
        </p:txBody>
      </p:sp>
      <p:sp>
        <p:nvSpPr>
          <p:cNvPr id="23" name="Shape 21"/>
          <p:cNvSpPr/>
          <p:nvPr/>
        </p:nvSpPr>
        <p:spPr>
          <a:xfrm>
            <a:off x="457200" y="3922776"/>
            <a:ext cx="8229600" cy="493776"/>
          </a:xfrm>
          <a:prstGeom prst="roundRect">
            <a:avLst>
              <a:gd name="adj" fmla="val 14815"/>
            </a:avLst>
          </a:prstGeom>
          <a:solidFill>
            <a:srgbClr val="EAF2F8"/>
          </a:solidFill>
          <a:ln/>
        </p:spPr>
      </p:sp>
      <p:sp>
        <p:nvSpPr>
          <p:cNvPr id="24" name="Shape 22"/>
          <p:cNvSpPr/>
          <p:nvPr/>
        </p:nvSpPr>
        <p:spPr>
          <a:xfrm>
            <a:off x="566928" y="3986784"/>
            <a:ext cx="365760" cy="365760"/>
          </a:xfrm>
          <a:prstGeom prst="ellipse">
            <a:avLst/>
          </a:prstGeom>
          <a:solidFill>
            <a:srgbClr val="FFFFFF"/>
          </a:solidFill>
          <a:ln w="15875">
            <a:solidFill>
              <a:srgbClr val="17324D"/>
            </a:solidFill>
            <a:prstDash val="solid"/>
          </a:ln>
        </p:spPr>
      </p:sp>
      <p:sp>
        <p:nvSpPr>
          <p:cNvPr id="25" name="Text 23"/>
          <p:cNvSpPr txBox="1"/>
          <p:nvPr/>
        </p:nvSpPr>
        <p:spPr>
          <a:xfrm>
            <a:off x="566928" y="3986784"/>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5</a:t>
            </a:r>
            <a:endParaRPr lang="en-US" sz="1400" dirty="0"/>
          </a:p>
        </p:txBody>
      </p:sp>
      <p:sp>
        <p:nvSpPr>
          <p:cNvPr id="26" name="Text 24"/>
          <p:cNvSpPr txBox="1"/>
          <p:nvPr/>
        </p:nvSpPr>
        <p:spPr>
          <a:xfrm>
            <a:off x="1051560" y="3922776"/>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内肛門括約筋の収縮</a:t>
            </a:r>
            <a:endParaRPr lang="en-US" sz="15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74320"/>
            <a:ext cx="868680" cy="384048"/>
          </a:xfrm>
          <a:prstGeom prst="roundRect">
            <a:avLst>
              <a:gd name="adj" fmla="val 19048"/>
            </a:avLst>
          </a:prstGeom>
          <a:solidFill>
            <a:srgbClr val="D9534F"/>
          </a:solidFill>
          <a:ln/>
        </p:spPr>
      </p:sp>
      <p:sp>
        <p:nvSpPr>
          <p:cNvPr id="3" name="Text 1"/>
          <p:cNvSpPr txBox="1"/>
          <p:nvPr/>
        </p:nvSpPr>
        <p:spPr>
          <a:xfrm>
            <a:off x="457200" y="274320"/>
            <a:ext cx="86868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解説</a:t>
            </a:r>
            <a:endParaRPr lang="en-US" sz="1300" dirty="0"/>
          </a:p>
        </p:txBody>
      </p:sp>
      <p:sp>
        <p:nvSpPr>
          <p:cNvPr id="4" name="Text 2"/>
          <p:cNvSpPr txBox="1"/>
          <p:nvPr/>
        </p:nvSpPr>
        <p:spPr>
          <a:xfrm>
            <a:off x="1417320" y="274320"/>
            <a:ext cx="731520" cy="384048"/>
          </a:xfrm>
          <a:prstGeom prst="rect">
            <a:avLst/>
          </a:prstGeom>
          <a:noFill/>
          <a:ln/>
        </p:spPr>
        <p:txBody>
          <a:bodyPr wrap="square" lIns="0" tIns="0" rIns="0" bIns="0" rtlCol="0" anchor="ctr"/>
          <a:lstStyle/>
          <a:p>
            <a:pPr indent="0" marL="0">
              <a:buNone/>
            </a:pPr>
            <a:r>
              <a:rPr lang="en-US" sz="2000" b="1" dirty="0">
                <a:solidFill>
                  <a:srgbClr val="17324D"/>
                </a:solidFill>
                <a:latin typeface="Arial" pitchFamily="34" charset="0"/>
                <a:ea typeface="Arial" pitchFamily="34" charset="-122"/>
                <a:cs typeface="Arial" pitchFamily="34" charset="-120"/>
              </a:rPr>
              <a:t>[18]</a:t>
            </a:r>
            <a:endParaRPr lang="en-US" sz="2000" dirty="0"/>
          </a:p>
        </p:txBody>
      </p:sp>
      <p:sp>
        <p:nvSpPr>
          <p:cNvPr id="5" name="Text 3"/>
          <p:cNvSpPr txBox="1"/>
          <p:nvPr/>
        </p:nvSpPr>
        <p:spPr>
          <a:xfrm>
            <a:off x="5943600" y="274320"/>
            <a:ext cx="2743200" cy="384048"/>
          </a:xfrm>
          <a:prstGeom prst="rect">
            <a:avLst/>
          </a:prstGeom>
          <a:noFill/>
          <a:ln/>
        </p:spPr>
        <p:txBody>
          <a:bodyPr wrap="square" lIns="0" tIns="0" rIns="0" bIns="0" rtlCol="0" anchor="ctr"/>
          <a:lstStyle/>
          <a:p>
            <a:pPr algn="r" indent="0" marL="0">
              <a:buNone/>
            </a:pPr>
            <a:r>
              <a:rPr lang="en-US" sz="1100" dirty="0">
                <a:solidFill>
                  <a:srgbClr val="5F6B76"/>
                </a:solidFill>
                <a:latin typeface="Meiryo" pitchFamily="34" charset="0"/>
                <a:ea typeface="Meiryo" pitchFamily="34" charset="-122"/>
                <a:cs typeface="Meiryo" pitchFamily="34" charset="-120"/>
              </a:rPr>
              <a:t>50回午後63</a:t>
            </a:r>
            <a:endParaRPr lang="en-US" sz="1100" dirty="0"/>
          </a:p>
        </p:txBody>
      </p:sp>
      <p:sp>
        <p:nvSpPr>
          <p:cNvPr id="6" name="Text 4"/>
          <p:cNvSpPr txBox="1"/>
          <p:nvPr/>
        </p:nvSpPr>
        <p:spPr>
          <a:xfrm>
            <a:off x="457200" y="731520"/>
            <a:ext cx="8229600" cy="594360"/>
          </a:xfrm>
          <a:prstGeom prst="rect">
            <a:avLst/>
          </a:prstGeom>
          <a:noFill/>
          <a:ln/>
        </p:spPr>
        <p:txBody>
          <a:bodyPr wrap="square" lIns="0" tIns="0" rIns="0" bIns="0" rtlCol="0" anchor="t"/>
          <a:lstStyle/>
          <a:p>
            <a:pPr indent="0" marL="0">
              <a:buNone/>
            </a:pPr>
            <a:r>
              <a:rPr lang="en-US" sz="1700" b="1" dirty="0">
                <a:solidFill>
                  <a:srgbClr val="222222"/>
                </a:solidFill>
                <a:latin typeface="Meiryo" pitchFamily="34" charset="0"/>
                <a:ea typeface="Meiryo" pitchFamily="34" charset="-122"/>
                <a:cs typeface="Meiryo" pitchFamily="34" charset="-120"/>
              </a:rPr>
              <a:t>副交感神経の作用はどれか。</a:t>
            </a:r>
            <a:endParaRPr lang="en-US" sz="1700" dirty="0"/>
          </a:p>
        </p:txBody>
      </p:sp>
      <p:sp>
        <p:nvSpPr>
          <p:cNvPr id="7" name="Shape 5"/>
          <p:cNvSpPr/>
          <p:nvPr/>
        </p:nvSpPr>
        <p:spPr>
          <a:xfrm>
            <a:off x="457200" y="1417320"/>
            <a:ext cx="8229600" cy="457200"/>
          </a:xfrm>
          <a:prstGeom prst="roundRect">
            <a:avLst>
              <a:gd name="adj" fmla="val 16000"/>
            </a:avLst>
          </a:prstGeom>
          <a:solidFill>
            <a:srgbClr val="FBE3E2"/>
          </a:solidFill>
          <a:ln w="19050">
            <a:solidFill>
              <a:srgbClr val="D9534F"/>
            </a:solidFill>
            <a:prstDash val="solid"/>
          </a:ln>
        </p:spPr>
      </p:sp>
      <p:sp>
        <p:nvSpPr>
          <p:cNvPr id="8" name="Shape 6"/>
          <p:cNvSpPr/>
          <p:nvPr/>
        </p:nvSpPr>
        <p:spPr>
          <a:xfrm>
            <a:off x="548640" y="1481328"/>
            <a:ext cx="329184" cy="329184"/>
          </a:xfrm>
          <a:prstGeom prst="ellipse">
            <a:avLst/>
          </a:prstGeom>
          <a:solidFill>
            <a:srgbClr val="D9534F"/>
          </a:solidFill>
          <a:ln w="12700">
            <a:solidFill>
              <a:srgbClr val="D9534F"/>
            </a:solidFill>
            <a:prstDash val="solid"/>
          </a:ln>
        </p:spPr>
      </p:sp>
      <p:sp>
        <p:nvSpPr>
          <p:cNvPr id="9" name="Text 7"/>
          <p:cNvSpPr txBox="1"/>
          <p:nvPr/>
        </p:nvSpPr>
        <p:spPr>
          <a:xfrm>
            <a:off x="548640" y="1481328"/>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10" name="Text 8"/>
          <p:cNvSpPr txBox="1"/>
          <p:nvPr/>
        </p:nvSpPr>
        <p:spPr>
          <a:xfrm>
            <a:off x="987552" y="1417320"/>
            <a:ext cx="3017520" cy="457200"/>
          </a:xfrm>
          <a:prstGeom prst="rect">
            <a:avLst/>
          </a:prstGeom>
          <a:noFill/>
          <a:ln/>
        </p:spPr>
        <p:txBody>
          <a:bodyPr wrap="square" lIns="0" tIns="0" rIns="0" bIns="0" rtlCol="0" anchor="ctr"/>
          <a:lstStyle/>
          <a:p>
            <a:pPr indent="0" marL="0">
              <a:buNone/>
            </a:pPr>
            <a:r>
              <a:rPr lang="en-US" sz="1200" b="1" dirty="0">
                <a:solidFill>
                  <a:srgbClr val="D9534F"/>
                </a:solidFill>
                <a:latin typeface="Meiryo" pitchFamily="34" charset="0"/>
                <a:ea typeface="Meiryo" pitchFamily="34" charset="-122"/>
                <a:cs typeface="Meiryo" pitchFamily="34" charset="-120"/>
              </a:rPr>
              <a:t>気管支の収縮</a:t>
            </a:r>
            <a:endParaRPr lang="en-US" sz="1200" dirty="0"/>
          </a:p>
        </p:txBody>
      </p:sp>
      <p:sp>
        <p:nvSpPr>
          <p:cNvPr id="11" name="Text 9"/>
          <p:cNvSpPr txBox="1"/>
          <p:nvPr/>
        </p:nvSpPr>
        <p:spPr>
          <a:xfrm>
            <a:off x="4096512" y="1417320"/>
            <a:ext cx="4526280" cy="457200"/>
          </a:xfrm>
          <a:prstGeom prst="rect">
            <a:avLst/>
          </a:prstGeom>
          <a:noFill/>
          <a:ln/>
        </p:spPr>
        <p:txBody>
          <a:bodyPr wrap="square" lIns="0" tIns="0" rIns="0" bIns="0" rtlCol="0" anchor="ctr"/>
          <a:lstStyle/>
          <a:p>
            <a:pPr indent="0" marL="0">
              <a:buNone/>
            </a:pPr>
            <a:r>
              <a:rPr lang="en-US" sz="1100" dirty="0">
                <a:solidFill>
                  <a:srgbClr val="222222"/>
                </a:solidFill>
                <a:latin typeface="Meiryo" pitchFamily="34" charset="0"/>
                <a:ea typeface="Meiryo" pitchFamily="34" charset="-122"/>
                <a:cs typeface="Meiryo" pitchFamily="34" charset="-120"/>
              </a:rPr>
              <a:t>副交感 ○</a:t>
            </a:r>
            <a:endParaRPr lang="en-US" sz="1100" dirty="0"/>
          </a:p>
        </p:txBody>
      </p:sp>
      <p:sp>
        <p:nvSpPr>
          <p:cNvPr id="12" name="Shape 10"/>
          <p:cNvSpPr/>
          <p:nvPr/>
        </p:nvSpPr>
        <p:spPr>
          <a:xfrm>
            <a:off x="457200" y="1947672"/>
            <a:ext cx="8229600" cy="457200"/>
          </a:xfrm>
          <a:prstGeom prst="roundRect">
            <a:avLst>
              <a:gd name="adj" fmla="val 16000"/>
            </a:avLst>
          </a:prstGeom>
          <a:solidFill>
            <a:srgbClr val="F4F6F8"/>
          </a:solidFill>
          <a:ln/>
        </p:spPr>
      </p:sp>
      <p:sp>
        <p:nvSpPr>
          <p:cNvPr id="13" name="Shape 11"/>
          <p:cNvSpPr/>
          <p:nvPr/>
        </p:nvSpPr>
        <p:spPr>
          <a:xfrm>
            <a:off x="548640" y="2011680"/>
            <a:ext cx="329184" cy="329184"/>
          </a:xfrm>
          <a:prstGeom prst="ellipse">
            <a:avLst/>
          </a:prstGeom>
          <a:solidFill>
            <a:srgbClr val="FFFFFF"/>
          </a:solidFill>
          <a:ln w="12700">
            <a:solidFill>
              <a:srgbClr val="8A96A3"/>
            </a:solidFill>
            <a:prstDash val="solid"/>
          </a:ln>
        </p:spPr>
      </p:sp>
      <p:sp>
        <p:nvSpPr>
          <p:cNvPr id="14" name="Text 12"/>
          <p:cNvSpPr txBox="1"/>
          <p:nvPr/>
        </p:nvSpPr>
        <p:spPr>
          <a:xfrm>
            <a:off x="548640" y="2011680"/>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2</a:t>
            </a:r>
            <a:endParaRPr lang="en-US" sz="1300" dirty="0"/>
          </a:p>
        </p:txBody>
      </p:sp>
      <p:sp>
        <p:nvSpPr>
          <p:cNvPr id="15" name="Text 13"/>
          <p:cNvSpPr txBox="1"/>
          <p:nvPr/>
        </p:nvSpPr>
        <p:spPr>
          <a:xfrm>
            <a:off x="987552" y="1947672"/>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心拍数の増加</a:t>
            </a:r>
            <a:endParaRPr lang="en-US" sz="1200" dirty="0"/>
          </a:p>
        </p:txBody>
      </p:sp>
      <p:sp>
        <p:nvSpPr>
          <p:cNvPr id="16" name="Text 14"/>
          <p:cNvSpPr txBox="1"/>
          <p:nvPr/>
        </p:nvSpPr>
        <p:spPr>
          <a:xfrm>
            <a:off x="4096512" y="1947672"/>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交感</a:t>
            </a:r>
            <a:endParaRPr lang="en-US" sz="1100" dirty="0"/>
          </a:p>
        </p:txBody>
      </p:sp>
      <p:sp>
        <p:nvSpPr>
          <p:cNvPr id="17" name="Shape 15"/>
          <p:cNvSpPr/>
          <p:nvPr/>
        </p:nvSpPr>
        <p:spPr>
          <a:xfrm>
            <a:off x="457200" y="2478024"/>
            <a:ext cx="8229600" cy="457200"/>
          </a:xfrm>
          <a:prstGeom prst="roundRect">
            <a:avLst>
              <a:gd name="adj" fmla="val 16000"/>
            </a:avLst>
          </a:prstGeom>
          <a:solidFill>
            <a:srgbClr val="F4F6F8"/>
          </a:solidFill>
          <a:ln/>
        </p:spPr>
      </p:sp>
      <p:sp>
        <p:nvSpPr>
          <p:cNvPr id="18" name="Shape 16"/>
          <p:cNvSpPr/>
          <p:nvPr/>
        </p:nvSpPr>
        <p:spPr>
          <a:xfrm>
            <a:off x="548640" y="2542032"/>
            <a:ext cx="329184" cy="329184"/>
          </a:xfrm>
          <a:prstGeom prst="ellipse">
            <a:avLst/>
          </a:prstGeom>
          <a:solidFill>
            <a:srgbClr val="FFFFFF"/>
          </a:solidFill>
          <a:ln w="12700">
            <a:solidFill>
              <a:srgbClr val="8A96A3"/>
            </a:solidFill>
            <a:prstDash val="solid"/>
          </a:ln>
        </p:spPr>
      </p:sp>
      <p:sp>
        <p:nvSpPr>
          <p:cNvPr id="19" name="Text 17"/>
          <p:cNvSpPr txBox="1"/>
          <p:nvPr/>
        </p:nvSpPr>
        <p:spPr>
          <a:xfrm>
            <a:off x="548640" y="2542032"/>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3</a:t>
            </a:r>
            <a:endParaRPr lang="en-US" sz="1300" dirty="0"/>
          </a:p>
        </p:txBody>
      </p:sp>
      <p:sp>
        <p:nvSpPr>
          <p:cNvPr id="20" name="Text 18"/>
          <p:cNvSpPr txBox="1"/>
          <p:nvPr/>
        </p:nvSpPr>
        <p:spPr>
          <a:xfrm>
            <a:off x="987552" y="2478024"/>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涙液の分泌抑制</a:t>
            </a:r>
            <a:endParaRPr lang="en-US" sz="1200" dirty="0"/>
          </a:p>
        </p:txBody>
      </p:sp>
      <p:sp>
        <p:nvSpPr>
          <p:cNvPr id="21" name="Text 19"/>
          <p:cNvSpPr txBox="1"/>
          <p:nvPr/>
        </p:nvSpPr>
        <p:spPr>
          <a:xfrm>
            <a:off x="4096512" y="2478024"/>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副交感は促進</a:t>
            </a:r>
            <a:endParaRPr lang="en-US" sz="1100" dirty="0"/>
          </a:p>
        </p:txBody>
      </p:sp>
      <p:sp>
        <p:nvSpPr>
          <p:cNvPr id="22" name="Shape 20"/>
          <p:cNvSpPr/>
          <p:nvPr/>
        </p:nvSpPr>
        <p:spPr>
          <a:xfrm>
            <a:off x="457200" y="3008376"/>
            <a:ext cx="8229600" cy="457200"/>
          </a:xfrm>
          <a:prstGeom prst="roundRect">
            <a:avLst>
              <a:gd name="adj" fmla="val 16000"/>
            </a:avLst>
          </a:prstGeom>
          <a:solidFill>
            <a:srgbClr val="F4F6F8"/>
          </a:solidFill>
          <a:ln/>
        </p:spPr>
      </p:sp>
      <p:sp>
        <p:nvSpPr>
          <p:cNvPr id="23" name="Shape 21"/>
          <p:cNvSpPr/>
          <p:nvPr/>
        </p:nvSpPr>
        <p:spPr>
          <a:xfrm>
            <a:off x="548640" y="3072384"/>
            <a:ext cx="329184" cy="329184"/>
          </a:xfrm>
          <a:prstGeom prst="ellipse">
            <a:avLst/>
          </a:prstGeom>
          <a:solidFill>
            <a:srgbClr val="FFFFFF"/>
          </a:solidFill>
          <a:ln w="12700">
            <a:solidFill>
              <a:srgbClr val="8A96A3"/>
            </a:solidFill>
            <a:prstDash val="solid"/>
          </a:ln>
        </p:spPr>
      </p:sp>
      <p:sp>
        <p:nvSpPr>
          <p:cNvPr id="24" name="Text 22"/>
          <p:cNvSpPr txBox="1"/>
          <p:nvPr/>
        </p:nvSpPr>
        <p:spPr>
          <a:xfrm>
            <a:off x="548640" y="3072384"/>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4</a:t>
            </a:r>
            <a:endParaRPr lang="en-US" sz="1300" dirty="0"/>
          </a:p>
        </p:txBody>
      </p:sp>
      <p:sp>
        <p:nvSpPr>
          <p:cNvPr id="25" name="Text 23"/>
          <p:cNvSpPr txBox="1"/>
          <p:nvPr/>
        </p:nvSpPr>
        <p:spPr>
          <a:xfrm>
            <a:off x="987552" y="3008376"/>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膵液の分泌抑制</a:t>
            </a:r>
            <a:endParaRPr lang="en-US" sz="1200" dirty="0"/>
          </a:p>
        </p:txBody>
      </p:sp>
      <p:sp>
        <p:nvSpPr>
          <p:cNvPr id="26" name="Text 24"/>
          <p:cNvSpPr txBox="1"/>
          <p:nvPr/>
        </p:nvSpPr>
        <p:spPr>
          <a:xfrm>
            <a:off x="4096512" y="3008376"/>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副交感は促進</a:t>
            </a:r>
            <a:endParaRPr lang="en-US" sz="1100" dirty="0"/>
          </a:p>
        </p:txBody>
      </p:sp>
      <p:sp>
        <p:nvSpPr>
          <p:cNvPr id="27" name="Shape 25"/>
          <p:cNvSpPr/>
          <p:nvPr/>
        </p:nvSpPr>
        <p:spPr>
          <a:xfrm>
            <a:off x="457200" y="3538728"/>
            <a:ext cx="8229600" cy="457200"/>
          </a:xfrm>
          <a:prstGeom prst="roundRect">
            <a:avLst>
              <a:gd name="adj" fmla="val 16000"/>
            </a:avLst>
          </a:prstGeom>
          <a:solidFill>
            <a:srgbClr val="F4F6F8"/>
          </a:solidFill>
          <a:ln/>
        </p:spPr>
      </p:sp>
      <p:sp>
        <p:nvSpPr>
          <p:cNvPr id="28" name="Shape 26"/>
          <p:cNvSpPr/>
          <p:nvPr/>
        </p:nvSpPr>
        <p:spPr>
          <a:xfrm>
            <a:off x="548640" y="3602736"/>
            <a:ext cx="329184" cy="329184"/>
          </a:xfrm>
          <a:prstGeom prst="ellipse">
            <a:avLst/>
          </a:prstGeom>
          <a:solidFill>
            <a:srgbClr val="FFFFFF"/>
          </a:solidFill>
          <a:ln w="12700">
            <a:solidFill>
              <a:srgbClr val="8A96A3"/>
            </a:solidFill>
            <a:prstDash val="solid"/>
          </a:ln>
        </p:spPr>
      </p:sp>
      <p:sp>
        <p:nvSpPr>
          <p:cNvPr id="29" name="Text 27"/>
          <p:cNvSpPr txBox="1"/>
          <p:nvPr/>
        </p:nvSpPr>
        <p:spPr>
          <a:xfrm>
            <a:off x="548640" y="3602736"/>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5</a:t>
            </a:r>
            <a:endParaRPr lang="en-US" sz="1300" dirty="0"/>
          </a:p>
        </p:txBody>
      </p:sp>
      <p:sp>
        <p:nvSpPr>
          <p:cNvPr id="30" name="Text 28"/>
          <p:cNvSpPr txBox="1"/>
          <p:nvPr/>
        </p:nvSpPr>
        <p:spPr>
          <a:xfrm>
            <a:off x="987552" y="3538728"/>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内肛門括約筋の収縮</a:t>
            </a:r>
            <a:endParaRPr lang="en-US" sz="1200" dirty="0"/>
          </a:p>
        </p:txBody>
      </p:sp>
      <p:sp>
        <p:nvSpPr>
          <p:cNvPr id="31" name="Text 29"/>
          <p:cNvSpPr txBox="1"/>
          <p:nvPr/>
        </p:nvSpPr>
        <p:spPr>
          <a:xfrm>
            <a:off x="4096512" y="3538728"/>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交感</a:t>
            </a:r>
            <a:endParaRPr lang="en-US" sz="1100" dirty="0"/>
          </a:p>
        </p:txBody>
      </p:sp>
      <p:sp>
        <p:nvSpPr>
          <p:cNvPr id="32" name="Shape 30"/>
          <p:cNvSpPr/>
          <p:nvPr/>
        </p:nvSpPr>
        <p:spPr>
          <a:xfrm>
            <a:off x="457200" y="4160520"/>
            <a:ext cx="1463040" cy="685800"/>
          </a:xfrm>
          <a:prstGeom prst="roundRect">
            <a:avLst>
              <a:gd name="adj" fmla="val 10667"/>
            </a:avLst>
          </a:prstGeom>
          <a:solidFill>
            <a:srgbClr val="D9534F"/>
          </a:solidFill>
          <a:ln/>
        </p:spPr>
      </p:sp>
      <p:sp>
        <p:nvSpPr>
          <p:cNvPr id="33" name="Text 31"/>
          <p:cNvSpPr txBox="1"/>
          <p:nvPr/>
        </p:nvSpPr>
        <p:spPr>
          <a:xfrm>
            <a:off x="457200" y="4160520"/>
            <a:ext cx="1463040" cy="685800"/>
          </a:xfrm>
          <a:prstGeom prst="rect">
            <a:avLst/>
          </a:prstGeom>
          <a:noFill/>
          <a:ln/>
        </p:spPr>
        <p:txBody>
          <a:bodyPr wrap="square" lIns="0" tIns="0" rIns="0" bIns="0" rtlCol="0" anchor="ctr"/>
          <a:lstStyle/>
          <a:p>
            <a:pPr algn="ctr" indent="0" marL="0">
              <a:buNone/>
            </a:pPr>
            <a:r>
              <a:rPr lang="en-US" sz="1100" dirty="0">
                <a:solidFill>
                  <a:srgbClr val="FFFFFF"/>
                </a:solidFill>
                <a:latin typeface="Meiryo" pitchFamily="34" charset="0"/>
                <a:ea typeface="Meiryo" pitchFamily="34" charset="-122"/>
                <a:cs typeface="Meiryo" pitchFamily="34" charset="-120"/>
              </a:rPr>
              <a:t>正解</a:t>
            </a:r>
            <a:endParaRPr lang="en-US" sz="1100" dirty="0"/>
          </a:p>
          <a:p>
            <a:pPr algn="ctr" indent="0" marL="0">
              <a:buNone/>
            </a:pPr>
            <a:r>
              <a:rPr lang="en-US" sz="2200" b="1" dirty="0">
                <a:solidFill>
                  <a:srgbClr val="FFFFFF"/>
                </a:solidFill>
                <a:latin typeface="Meiryo" pitchFamily="34" charset="0"/>
                <a:ea typeface="Meiryo" pitchFamily="34" charset="-122"/>
                <a:cs typeface="Meiryo" pitchFamily="34" charset="-120"/>
              </a:rPr>
              <a:t>1</a:t>
            </a:r>
            <a:endParaRPr lang="en-US" sz="1100" dirty="0"/>
          </a:p>
        </p:txBody>
      </p:sp>
      <p:sp>
        <p:nvSpPr>
          <p:cNvPr id="34" name="Shape 32"/>
          <p:cNvSpPr/>
          <p:nvPr/>
        </p:nvSpPr>
        <p:spPr>
          <a:xfrm>
            <a:off x="2057400" y="4160520"/>
            <a:ext cx="6629400" cy="685800"/>
          </a:xfrm>
          <a:prstGeom prst="roundRect">
            <a:avLst>
              <a:gd name="adj" fmla="val 10667"/>
            </a:avLst>
          </a:prstGeom>
          <a:solidFill>
            <a:srgbClr val="EAF2F8"/>
          </a:solidFill>
          <a:ln/>
        </p:spPr>
      </p:sp>
      <p:sp>
        <p:nvSpPr>
          <p:cNvPr id="35" name="Text 33"/>
          <p:cNvSpPr txBox="1"/>
          <p:nvPr/>
        </p:nvSpPr>
        <p:spPr>
          <a:xfrm>
            <a:off x="2194560" y="4160520"/>
            <a:ext cx="6400800" cy="685800"/>
          </a:xfrm>
          <a:prstGeom prst="rect">
            <a:avLst/>
          </a:prstGeom>
          <a:noFill/>
          <a:ln/>
        </p:spPr>
        <p:txBody>
          <a:bodyPr wrap="square" lIns="0" tIns="0" rIns="0" bIns="0" rtlCol="0" anchor="ctr"/>
          <a:lstStyle/>
          <a:p>
            <a:pPr indent="0" marL="0">
              <a:buNone/>
            </a:pPr>
            <a:r>
              <a:rPr lang="en-US" sz="1200" b="1" dirty="0">
                <a:solidFill>
                  <a:srgbClr val="2A7F9E"/>
                </a:solidFill>
                <a:latin typeface="Meiryo" pitchFamily="34" charset="0"/>
                <a:ea typeface="Meiryo" pitchFamily="34" charset="-122"/>
                <a:cs typeface="Meiryo" pitchFamily="34" charset="-120"/>
              </a:rPr>
              <a:t>POINT　</a:t>
            </a:r>
            <a:pPr indent="0" marL="0">
              <a:buNone/>
            </a:pPr>
            <a:r>
              <a:rPr lang="en-US" sz="1200" dirty="0">
                <a:solidFill>
                  <a:srgbClr val="222222"/>
                </a:solidFill>
                <a:latin typeface="Meiryo" pitchFamily="34" charset="0"/>
                <a:ea typeface="Meiryo" pitchFamily="34" charset="-122"/>
                <a:cs typeface="Meiryo" pitchFamily="34" charset="-120"/>
              </a:rPr>
              <a:t>副交感神経：気管支収縮・分泌促進。</a:t>
            </a:r>
            <a:endParaRPr lang="en-US" sz="12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74320"/>
            <a:ext cx="868680" cy="384048"/>
          </a:xfrm>
          <a:prstGeom prst="roundRect">
            <a:avLst>
              <a:gd name="adj" fmla="val 19048"/>
            </a:avLst>
          </a:prstGeom>
          <a:solidFill>
            <a:srgbClr val="17324D"/>
          </a:solidFill>
          <a:ln/>
        </p:spPr>
      </p:sp>
      <p:sp>
        <p:nvSpPr>
          <p:cNvPr id="3" name="Text 1"/>
          <p:cNvSpPr txBox="1"/>
          <p:nvPr/>
        </p:nvSpPr>
        <p:spPr>
          <a:xfrm>
            <a:off x="457200" y="274320"/>
            <a:ext cx="86868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問題</a:t>
            </a:r>
            <a:endParaRPr lang="en-US" sz="1300" dirty="0"/>
          </a:p>
        </p:txBody>
      </p:sp>
      <p:sp>
        <p:nvSpPr>
          <p:cNvPr id="4" name="Text 2"/>
          <p:cNvSpPr txBox="1"/>
          <p:nvPr/>
        </p:nvSpPr>
        <p:spPr>
          <a:xfrm>
            <a:off x="1417320" y="274320"/>
            <a:ext cx="731520" cy="384048"/>
          </a:xfrm>
          <a:prstGeom prst="rect">
            <a:avLst/>
          </a:prstGeom>
          <a:noFill/>
          <a:ln/>
        </p:spPr>
        <p:txBody>
          <a:bodyPr wrap="square" lIns="0" tIns="0" rIns="0" bIns="0" rtlCol="0" anchor="ctr"/>
          <a:lstStyle/>
          <a:p>
            <a:pPr indent="0" marL="0">
              <a:buNone/>
            </a:pPr>
            <a:r>
              <a:rPr lang="en-US" sz="2000" b="1" dirty="0">
                <a:solidFill>
                  <a:srgbClr val="17324D"/>
                </a:solidFill>
                <a:latin typeface="Arial" pitchFamily="34" charset="0"/>
                <a:ea typeface="Arial" pitchFamily="34" charset="-122"/>
                <a:cs typeface="Arial" pitchFamily="34" charset="-120"/>
              </a:rPr>
              <a:t>[19]</a:t>
            </a:r>
            <a:endParaRPr lang="en-US" sz="2000" dirty="0"/>
          </a:p>
        </p:txBody>
      </p:sp>
      <p:sp>
        <p:nvSpPr>
          <p:cNvPr id="5" name="Text 3"/>
          <p:cNvSpPr txBox="1"/>
          <p:nvPr/>
        </p:nvSpPr>
        <p:spPr>
          <a:xfrm>
            <a:off x="5943600" y="274320"/>
            <a:ext cx="2743200" cy="384048"/>
          </a:xfrm>
          <a:prstGeom prst="rect">
            <a:avLst/>
          </a:prstGeom>
          <a:noFill/>
          <a:ln/>
        </p:spPr>
        <p:txBody>
          <a:bodyPr wrap="square" lIns="0" tIns="0" rIns="0" bIns="0" rtlCol="0" anchor="ctr"/>
          <a:lstStyle/>
          <a:p>
            <a:pPr algn="r" indent="0" marL="0">
              <a:buNone/>
            </a:pPr>
            <a:r>
              <a:rPr lang="en-US" sz="1100" dirty="0">
                <a:solidFill>
                  <a:srgbClr val="5F6B76"/>
                </a:solidFill>
                <a:latin typeface="Meiryo" pitchFamily="34" charset="0"/>
                <a:ea typeface="Meiryo" pitchFamily="34" charset="-122"/>
                <a:cs typeface="Meiryo" pitchFamily="34" charset="-120"/>
              </a:rPr>
              <a:t>49回午後64</a:t>
            </a:r>
            <a:endParaRPr lang="en-US" sz="1100" dirty="0"/>
          </a:p>
        </p:txBody>
      </p:sp>
      <p:sp>
        <p:nvSpPr>
          <p:cNvPr id="6" name="Text 4"/>
          <p:cNvSpPr txBox="1"/>
          <p:nvPr/>
        </p:nvSpPr>
        <p:spPr>
          <a:xfrm>
            <a:off x="457200" y="731520"/>
            <a:ext cx="8229600" cy="594360"/>
          </a:xfrm>
          <a:prstGeom prst="rect">
            <a:avLst/>
          </a:prstGeom>
          <a:noFill/>
          <a:ln/>
        </p:spPr>
        <p:txBody>
          <a:bodyPr wrap="square" lIns="0" tIns="0" rIns="0" bIns="0" rtlCol="0" anchor="t"/>
          <a:lstStyle/>
          <a:p>
            <a:pPr indent="0" marL="0">
              <a:buNone/>
            </a:pPr>
            <a:r>
              <a:rPr lang="en-US" sz="1700" b="1" dirty="0">
                <a:solidFill>
                  <a:srgbClr val="222222"/>
                </a:solidFill>
                <a:latin typeface="Meiryo" pitchFamily="34" charset="0"/>
                <a:ea typeface="Meiryo" pitchFamily="34" charset="-122"/>
                <a:cs typeface="Meiryo" pitchFamily="34" charset="-120"/>
              </a:rPr>
              <a:t>自律神経について正しいのはどれか。</a:t>
            </a:r>
            <a:endParaRPr lang="en-US" sz="1700" dirty="0"/>
          </a:p>
        </p:txBody>
      </p:sp>
      <p:sp>
        <p:nvSpPr>
          <p:cNvPr id="7" name="Shape 5"/>
          <p:cNvSpPr/>
          <p:nvPr/>
        </p:nvSpPr>
        <p:spPr>
          <a:xfrm>
            <a:off x="457200" y="1508760"/>
            <a:ext cx="8229600" cy="493776"/>
          </a:xfrm>
          <a:prstGeom prst="roundRect">
            <a:avLst>
              <a:gd name="adj" fmla="val 14815"/>
            </a:avLst>
          </a:prstGeom>
          <a:solidFill>
            <a:srgbClr val="EAF2F8"/>
          </a:solidFill>
          <a:ln/>
        </p:spPr>
      </p:sp>
      <p:sp>
        <p:nvSpPr>
          <p:cNvPr id="8" name="Shape 6"/>
          <p:cNvSpPr/>
          <p:nvPr/>
        </p:nvSpPr>
        <p:spPr>
          <a:xfrm>
            <a:off x="566928" y="1572768"/>
            <a:ext cx="365760" cy="365760"/>
          </a:xfrm>
          <a:prstGeom prst="ellipse">
            <a:avLst/>
          </a:prstGeom>
          <a:solidFill>
            <a:srgbClr val="FFFFFF"/>
          </a:solidFill>
          <a:ln w="15875">
            <a:solidFill>
              <a:srgbClr val="17324D"/>
            </a:solidFill>
            <a:prstDash val="solid"/>
          </a:ln>
        </p:spPr>
      </p:sp>
      <p:sp>
        <p:nvSpPr>
          <p:cNvPr id="9" name="Text 7"/>
          <p:cNvSpPr txBox="1"/>
          <p:nvPr/>
        </p:nvSpPr>
        <p:spPr>
          <a:xfrm>
            <a:off x="566928" y="1572768"/>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1</a:t>
            </a:r>
            <a:endParaRPr lang="en-US" sz="1400" dirty="0"/>
          </a:p>
        </p:txBody>
      </p:sp>
      <p:sp>
        <p:nvSpPr>
          <p:cNvPr id="10" name="Text 8"/>
          <p:cNvSpPr txBox="1"/>
          <p:nvPr/>
        </p:nvSpPr>
        <p:spPr>
          <a:xfrm>
            <a:off x="1051560" y="1508760"/>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交感神経刺激は膀胱を収縮させる</a:t>
            </a:r>
            <a:endParaRPr lang="en-US" sz="1500" dirty="0"/>
          </a:p>
        </p:txBody>
      </p:sp>
      <p:sp>
        <p:nvSpPr>
          <p:cNvPr id="11" name="Shape 9"/>
          <p:cNvSpPr/>
          <p:nvPr/>
        </p:nvSpPr>
        <p:spPr>
          <a:xfrm>
            <a:off x="457200" y="2112264"/>
            <a:ext cx="8229600" cy="493776"/>
          </a:xfrm>
          <a:prstGeom prst="roundRect">
            <a:avLst>
              <a:gd name="adj" fmla="val 14815"/>
            </a:avLst>
          </a:prstGeom>
          <a:solidFill>
            <a:srgbClr val="EAF2F8"/>
          </a:solidFill>
          <a:ln/>
        </p:spPr>
      </p:sp>
      <p:sp>
        <p:nvSpPr>
          <p:cNvPr id="12" name="Shape 10"/>
          <p:cNvSpPr/>
          <p:nvPr/>
        </p:nvSpPr>
        <p:spPr>
          <a:xfrm>
            <a:off x="566928" y="2176272"/>
            <a:ext cx="365760" cy="365760"/>
          </a:xfrm>
          <a:prstGeom prst="ellipse">
            <a:avLst/>
          </a:prstGeom>
          <a:solidFill>
            <a:srgbClr val="FFFFFF"/>
          </a:solidFill>
          <a:ln w="15875">
            <a:solidFill>
              <a:srgbClr val="17324D"/>
            </a:solidFill>
            <a:prstDash val="solid"/>
          </a:ln>
        </p:spPr>
      </p:sp>
      <p:sp>
        <p:nvSpPr>
          <p:cNvPr id="13" name="Text 11"/>
          <p:cNvSpPr txBox="1"/>
          <p:nvPr/>
        </p:nvSpPr>
        <p:spPr>
          <a:xfrm>
            <a:off x="566928" y="2176272"/>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2</a:t>
            </a:r>
            <a:endParaRPr lang="en-US" sz="1400" dirty="0"/>
          </a:p>
        </p:txBody>
      </p:sp>
      <p:sp>
        <p:nvSpPr>
          <p:cNvPr id="14" name="Text 12"/>
          <p:cNvSpPr txBox="1"/>
          <p:nvPr/>
        </p:nvSpPr>
        <p:spPr>
          <a:xfrm>
            <a:off x="1051560" y="2112264"/>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交感神経刺激は心筋の収縮力を低下させる</a:t>
            </a:r>
            <a:endParaRPr lang="en-US" sz="1500" dirty="0"/>
          </a:p>
        </p:txBody>
      </p:sp>
      <p:sp>
        <p:nvSpPr>
          <p:cNvPr id="15" name="Shape 13"/>
          <p:cNvSpPr/>
          <p:nvPr/>
        </p:nvSpPr>
        <p:spPr>
          <a:xfrm>
            <a:off x="457200" y="2715768"/>
            <a:ext cx="8229600" cy="493776"/>
          </a:xfrm>
          <a:prstGeom prst="roundRect">
            <a:avLst>
              <a:gd name="adj" fmla="val 14815"/>
            </a:avLst>
          </a:prstGeom>
          <a:solidFill>
            <a:srgbClr val="EAF2F8"/>
          </a:solidFill>
          <a:ln/>
        </p:spPr>
      </p:sp>
      <p:sp>
        <p:nvSpPr>
          <p:cNvPr id="16" name="Shape 14"/>
          <p:cNvSpPr/>
          <p:nvPr/>
        </p:nvSpPr>
        <p:spPr>
          <a:xfrm>
            <a:off x="566928" y="2779776"/>
            <a:ext cx="365760" cy="365760"/>
          </a:xfrm>
          <a:prstGeom prst="ellipse">
            <a:avLst/>
          </a:prstGeom>
          <a:solidFill>
            <a:srgbClr val="FFFFFF"/>
          </a:solidFill>
          <a:ln w="15875">
            <a:solidFill>
              <a:srgbClr val="17324D"/>
            </a:solidFill>
            <a:prstDash val="solid"/>
          </a:ln>
        </p:spPr>
      </p:sp>
      <p:sp>
        <p:nvSpPr>
          <p:cNvPr id="17" name="Text 15"/>
          <p:cNvSpPr txBox="1"/>
          <p:nvPr/>
        </p:nvSpPr>
        <p:spPr>
          <a:xfrm>
            <a:off x="566928" y="2779776"/>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3</a:t>
            </a:r>
            <a:endParaRPr lang="en-US" sz="1400" dirty="0"/>
          </a:p>
        </p:txBody>
      </p:sp>
      <p:sp>
        <p:nvSpPr>
          <p:cNvPr id="18" name="Text 16"/>
          <p:cNvSpPr txBox="1"/>
          <p:nvPr/>
        </p:nvSpPr>
        <p:spPr>
          <a:xfrm>
            <a:off x="1051560" y="2715768"/>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副交感神経刺激は消化管運動性を低下させる</a:t>
            </a:r>
            <a:endParaRPr lang="en-US" sz="1500" dirty="0"/>
          </a:p>
        </p:txBody>
      </p:sp>
      <p:sp>
        <p:nvSpPr>
          <p:cNvPr id="19" name="Shape 17"/>
          <p:cNvSpPr/>
          <p:nvPr/>
        </p:nvSpPr>
        <p:spPr>
          <a:xfrm>
            <a:off x="457200" y="3319272"/>
            <a:ext cx="8229600" cy="493776"/>
          </a:xfrm>
          <a:prstGeom prst="roundRect">
            <a:avLst>
              <a:gd name="adj" fmla="val 14815"/>
            </a:avLst>
          </a:prstGeom>
          <a:solidFill>
            <a:srgbClr val="EAF2F8"/>
          </a:solidFill>
          <a:ln/>
        </p:spPr>
      </p:sp>
      <p:sp>
        <p:nvSpPr>
          <p:cNvPr id="20" name="Shape 18"/>
          <p:cNvSpPr/>
          <p:nvPr/>
        </p:nvSpPr>
        <p:spPr>
          <a:xfrm>
            <a:off x="566928" y="3383280"/>
            <a:ext cx="365760" cy="365760"/>
          </a:xfrm>
          <a:prstGeom prst="ellipse">
            <a:avLst/>
          </a:prstGeom>
          <a:solidFill>
            <a:srgbClr val="FFFFFF"/>
          </a:solidFill>
          <a:ln w="15875">
            <a:solidFill>
              <a:srgbClr val="17324D"/>
            </a:solidFill>
            <a:prstDash val="solid"/>
          </a:ln>
        </p:spPr>
      </p:sp>
      <p:sp>
        <p:nvSpPr>
          <p:cNvPr id="21" name="Text 19"/>
          <p:cNvSpPr txBox="1"/>
          <p:nvPr/>
        </p:nvSpPr>
        <p:spPr>
          <a:xfrm>
            <a:off x="566928" y="3383280"/>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4</a:t>
            </a:r>
            <a:endParaRPr lang="en-US" sz="1400" dirty="0"/>
          </a:p>
        </p:txBody>
      </p:sp>
      <p:sp>
        <p:nvSpPr>
          <p:cNvPr id="22" name="Text 20"/>
          <p:cNvSpPr txBox="1"/>
          <p:nvPr/>
        </p:nvSpPr>
        <p:spPr>
          <a:xfrm>
            <a:off x="1051560" y="3319272"/>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副交感神経刺激は唾液分泌を抑制する</a:t>
            </a:r>
            <a:endParaRPr lang="en-US" sz="1500" dirty="0"/>
          </a:p>
        </p:txBody>
      </p:sp>
      <p:sp>
        <p:nvSpPr>
          <p:cNvPr id="23" name="Shape 21"/>
          <p:cNvSpPr/>
          <p:nvPr/>
        </p:nvSpPr>
        <p:spPr>
          <a:xfrm>
            <a:off x="457200" y="3922776"/>
            <a:ext cx="8229600" cy="493776"/>
          </a:xfrm>
          <a:prstGeom prst="roundRect">
            <a:avLst>
              <a:gd name="adj" fmla="val 14815"/>
            </a:avLst>
          </a:prstGeom>
          <a:solidFill>
            <a:srgbClr val="EAF2F8"/>
          </a:solidFill>
          <a:ln/>
        </p:spPr>
      </p:sp>
      <p:sp>
        <p:nvSpPr>
          <p:cNvPr id="24" name="Shape 22"/>
          <p:cNvSpPr/>
          <p:nvPr/>
        </p:nvSpPr>
        <p:spPr>
          <a:xfrm>
            <a:off x="566928" y="3986784"/>
            <a:ext cx="365760" cy="365760"/>
          </a:xfrm>
          <a:prstGeom prst="ellipse">
            <a:avLst/>
          </a:prstGeom>
          <a:solidFill>
            <a:srgbClr val="FFFFFF"/>
          </a:solidFill>
          <a:ln w="15875">
            <a:solidFill>
              <a:srgbClr val="17324D"/>
            </a:solidFill>
            <a:prstDash val="solid"/>
          </a:ln>
        </p:spPr>
      </p:sp>
      <p:sp>
        <p:nvSpPr>
          <p:cNvPr id="25" name="Text 23"/>
          <p:cNvSpPr txBox="1"/>
          <p:nvPr/>
        </p:nvSpPr>
        <p:spPr>
          <a:xfrm>
            <a:off x="566928" y="3986784"/>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5</a:t>
            </a:r>
            <a:endParaRPr lang="en-US" sz="1400" dirty="0"/>
          </a:p>
        </p:txBody>
      </p:sp>
      <p:sp>
        <p:nvSpPr>
          <p:cNvPr id="26" name="Text 24"/>
          <p:cNvSpPr txBox="1"/>
          <p:nvPr/>
        </p:nvSpPr>
        <p:spPr>
          <a:xfrm>
            <a:off x="1051560" y="3922776"/>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副交感神経刺激は縮瞳を引き起こす</a:t>
            </a:r>
            <a:endParaRPr lang="en-US" sz="15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74320"/>
            <a:ext cx="868680" cy="384048"/>
          </a:xfrm>
          <a:prstGeom prst="roundRect">
            <a:avLst>
              <a:gd name="adj" fmla="val 19048"/>
            </a:avLst>
          </a:prstGeom>
          <a:solidFill>
            <a:srgbClr val="D9534F"/>
          </a:solidFill>
          <a:ln/>
        </p:spPr>
      </p:sp>
      <p:sp>
        <p:nvSpPr>
          <p:cNvPr id="3" name="Text 1"/>
          <p:cNvSpPr txBox="1"/>
          <p:nvPr/>
        </p:nvSpPr>
        <p:spPr>
          <a:xfrm>
            <a:off x="457200" y="274320"/>
            <a:ext cx="86868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解説</a:t>
            </a:r>
            <a:endParaRPr lang="en-US" sz="1300" dirty="0"/>
          </a:p>
        </p:txBody>
      </p:sp>
      <p:sp>
        <p:nvSpPr>
          <p:cNvPr id="4" name="Text 2"/>
          <p:cNvSpPr txBox="1"/>
          <p:nvPr/>
        </p:nvSpPr>
        <p:spPr>
          <a:xfrm>
            <a:off x="1417320" y="274320"/>
            <a:ext cx="731520" cy="384048"/>
          </a:xfrm>
          <a:prstGeom prst="rect">
            <a:avLst/>
          </a:prstGeom>
          <a:noFill/>
          <a:ln/>
        </p:spPr>
        <p:txBody>
          <a:bodyPr wrap="square" lIns="0" tIns="0" rIns="0" bIns="0" rtlCol="0" anchor="ctr"/>
          <a:lstStyle/>
          <a:p>
            <a:pPr indent="0" marL="0">
              <a:buNone/>
            </a:pPr>
            <a:r>
              <a:rPr lang="en-US" sz="2000" b="1" dirty="0">
                <a:solidFill>
                  <a:srgbClr val="17324D"/>
                </a:solidFill>
                <a:latin typeface="Arial" pitchFamily="34" charset="0"/>
                <a:ea typeface="Arial" pitchFamily="34" charset="-122"/>
                <a:cs typeface="Arial" pitchFamily="34" charset="-120"/>
              </a:rPr>
              <a:t>[19]</a:t>
            </a:r>
            <a:endParaRPr lang="en-US" sz="2000" dirty="0"/>
          </a:p>
        </p:txBody>
      </p:sp>
      <p:sp>
        <p:nvSpPr>
          <p:cNvPr id="5" name="Text 3"/>
          <p:cNvSpPr txBox="1"/>
          <p:nvPr/>
        </p:nvSpPr>
        <p:spPr>
          <a:xfrm>
            <a:off x="5943600" y="274320"/>
            <a:ext cx="2743200" cy="384048"/>
          </a:xfrm>
          <a:prstGeom prst="rect">
            <a:avLst/>
          </a:prstGeom>
          <a:noFill/>
          <a:ln/>
        </p:spPr>
        <p:txBody>
          <a:bodyPr wrap="square" lIns="0" tIns="0" rIns="0" bIns="0" rtlCol="0" anchor="ctr"/>
          <a:lstStyle/>
          <a:p>
            <a:pPr algn="r" indent="0" marL="0">
              <a:buNone/>
            </a:pPr>
            <a:r>
              <a:rPr lang="en-US" sz="1100" dirty="0">
                <a:solidFill>
                  <a:srgbClr val="5F6B76"/>
                </a:solidFill>
                <a:latin typeface="Meiryo" pitchFamily="34" charset="0"/>
                <a:ea typeface="Meiryo" pitchFamily="34" charset="-122"/>
                <a:cs typeface="Meiryo" pitchFamily="34" charset="-120"/>
              </a:rPr>
              <a:t>49回午後64</a:t>
            </a:r>
            <a:endParaRPr lang="en-US" sz="1100" dirty="0"/>
          </a:p>
        </p:txBody>
      </p:sp>
      <p:sp>
        <p:nvSpPr>
          <p:cNvPr id="6" name="Text 4"/>
          <p:cNvSpPr txBox="1"/>
          <p:nvPr/>
        </p:nvSpPr>
        <p:spPr>
          <a:xfrm>
            <a:off x="457200" y="731520"/>
            <a:ext cx="8229600" cy="594360"/>
          </a:xfrm>
          <a:prstGeom prst="rect">
            <a:avLst/>
          </a:prstGeom>
          <a:noFill/>
          <a:ln/>
        </p:spPr>
        <p:txBody>
          <a:bodyPr wrap="square" lIns="0" tIns="0" rIns="0" bIns="0" rtlCol="0" anchor="t"/>
          <a:lstStyle/>
          <a:p>
            <a:pPr indent="0" marL="0">
              <a:buNone/>
            </a:pPr>
            <a:r>
              <a:rPr lang="en-US" sz="1700" b="1" dirty="0">
                <a:solidFill>
                  <a:srgbClr val="222222"/>
                </a:solidFill>
                <a:latin typeface="Meiryo" pitchFamily="34" charset="0"/>
                <a:ea typeface="Meiryo" pitchFamily="34" charset="-122"/>
                <a:cs typeface="Meiryo" pitchFamily="34" charset="-120"/>
              </a:rPr>
              <a:t>自律神経について正しいのはどれか。</a:t>
            </a:r>
            <a:endParaRPr lang="en-US" sz="1700" dirty="0"/>
          </a:p>
        </p:txBody>
      </p:sp>
      <p:sp>
        <p:nvSpPr>
          <p:cNvPr id="7" name="Shape 5"/>
          <p:cNvSpPr/>
          <p:nvPr/>
        </p:nvSpPr>
        <p:spPr>
          <a:xfrm>
            <a:off x="457200" y="1417320"/>
            <a:ext cx="8229600" cy="457200"/>
          </a:xfrm>
          <a:prstGeom prst="roundRect">
            <a:avLst>
              <a:gd name="adj" fmla="val 16000"/>
            </a:avLst>
          </a:prstGeom>
          <a:solidFill>
            <a:srgbClr val="F4F6F8"/>
          </a:solidFill>
          <a:ln/>
        </p:spPr>
      </p:sp>
      <p:sp>
        <p:nvSpPr>
          <p:cNvPr id="8" name="Shape 6"/>
          <p:cNvSpPr/>
          <p:nvPr/>
        </p:nvSpPr>
        <p:spPr>
          <a:xfrm>
            <a:off x="548640" y="1481328"/>
            <a:ext cx="329184" cy="329184"/>
          </a:xfrm>
          <a:prstGeom prst="ellipse">
            <a:avLst/>
          </a:prstGeom>
          <a:solidFill>
            <a:srgbClr val="FFFFFF"/>
          </a:solidFill>
          <a:ln w="12700">
            <a:solidFill>
              <a:srgbClr val="8A96A3"/>
            </a:solidFill>
            <a:prstDash val="solid"/>
          </a:ln>
        </p:spPr>
      </p:sp>
      <p:sp>
        <p:nvSpPr>
          <p:cNvPr id="9" name="Text 7"/>
          <p:cNvSpPr txBox="1"/>
          <p:nvPr/>
        </p:nvSpPr>
        <p:spPr>
          <a:xfrm>
            <a:off x="548640" y="1481328"/>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1</a:t>
            </a:r>
            <a:endParaRPr lang="en-US" sz="1300" dirty="0"/>
          </a:p>
        </p:txBody>
      </p:sp>
      <p:sp>
        <p:nvSpPr>
          <p:cNvPr id="10" name="Text 8"/>
          <p:cNvSpPr txBox="1"/>
          <p:nvPr/>
        </p:nvSpPr>
        <p:spPr>
          <a:xfrm>
            <a:off x="987552" y="1417320"/>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交感神経刺激は膀胱を収縮させる</a:t>
            </a:r>
            <a:endParaRPr lang="en-US" sz="1200" dirty="0"/>
          </a:p>
        </p:txBody>
      </p:sp>
      <p:sp>
        <p:nvSpPr>
          <p:cNvPr id="11" name="Text 9"/>
          <p:cNvSpPr txBox="1"/>
          <p:nvPr/>
        </p:nvSpPr>
        <p:spPr>
          <a:xfrm>
            <a:off x="4096512" y="1417320"/>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交感は膀胱を弛緩（蓄尿）</a:t>
            </a:r>
            <a:endParaRPr lang="en-US" sz="1100" dirty="0"/>
          </a:p>
        </p:txBody>
      </p:sp>
      <p:sp>
        <p:nvSpPr>
          <p:cNvPr id="12" name="Shape 10"/>
          <p:cNvSpPr/>
          <p:nvPr/>
        </p:nvSpPr>
        <p:spPr>
          <a:xfrm>
            <a:off x="457200" y="1947672"/>
            <a:ext cx="8229600" cy="457200"/>
          </a:xfrm>
          <a:prstGeom prst="roundRect">
            <a:avLst>
              <a:gd name="adj" fmla="val 16000"/>
            </a:avLst>
          </a:prstGeom>
          <a:solidFill>
            <a:srgbClr val="F4F6F8"/>
          </a:solidFill>
          <a:ln/>
        </p:spPr>
      </p:sp>
      <p:sp>
        <p:nvSpPr>
          <p:cNvPr id="13" name="Shape 11"/>
          <p:cNvSpPr/>
          <p:nvPr/>
        </p:nvSpPr>
        <p:spPr>
          <a:xfrm>
            <a:off x="548640" y="2011680"/>
            <a:ext cx="329184" cy="329184"/>
          </a:xfrm>
          <a:prstGeom prst="ellipse">
            <a:avLst/>
          </a:prstGeom>
          <a:solidFill>
            <a:srgbClr val="FFFFFF"/>
          </a:solidFill>
          <a:ln w="12700">
            <a:solidFill>
              <a:srgbClr val="8A96A3"/>
            </a:solidFill>
            <a:prstDash val="solid"/>
          </a:ln>
        </p:spPr>
      </p:sp>
      <p:sp>
        <p:nvSpPr>
          <p:cNvPr id="14" name="Text 12"/>
          <p:cNvSpPr txBox="1"/>
          <p:nvPr/>
        </p:nvSpPr>
        <p:spPr>
          <a:xfrm>
            <a:off x="548640" y="2011680"/>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2</a:t>
            </a:r>
            <a:endParaRPr lang="en-US" sz="1300" dirty="0"/>
          </a:p>
        </p:txBody>
      </p:sp>
      <p:sp>
        <p:nvSpPr>
          <p:cNvPr id="15" name="Text 13"/>
          <p:cNvSpPr txBox="1"/>
          <p:nvPr/>
        </p:nvSpPr>
        <p:spPr>
          <a:xfrm>
            <a:off x="987552" y="1947672"/>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交感神経刺激は心筋の収縮力を低下させる</a:t>
            </a:r>
            <a:endParaRPr lang="en-US" sz="1200" dirty="0"/>
          </a:p>
        </p:txBody>
      </p:sp>
      <p:sp>
        <p:nvSpPr>
          <p:cNvPr id="16" name="Text 14"/>
          <p:cNvSpPr txBox="1"/>
          <p:nvPr/>
        </p:nvSpPr>
        <p:spPr>
          <a:xfrm>
            <a:off x="4096512" y="1947672"/>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交感は収縮力を増強</a:t>
            </a:r>
            <a:endParaRPr lang="en-US" sz="1100" dirty="0"/>
          </a:p>
        </p:txBody>
      </p:sp>
      <p:sp>
        <p:nvSpPr>
          <p:cNvPr id="17" name="Shape 15"/>
          <p:cNvSpPr/>
          <p:nvPr/>
        </p:nvSpPr>
        <p:spPr>
          <a:xfrm>
            <a:off x="457200" y="2478024"/>
            <a:ext cx="8229600" cy="457200"/>
          </a:xfrm>
          <a:prstGeom prst="roundRect">
            <a:avLst>
              <a:gd name="adj" fmla="val 16000"/>
            </a:avLst>
          </a:prstGeom>
          <a:solidFill>
            <a:srgbClr val="F4F6F8"/>
          </a:solidFill>
          <a:ln/>
        </p:spPr>
      </p:sp>
      <p:sp>
        <p:nvSpPr>
          <p:cNvPr id="18" name="Shape 16"/>
          <p:cNvSpPr/>
          <p:nvPr/>
        </p:nvSpPr>
        <p:spPr>
          <a:xfrm>
            <a:off x="548640" y="2542032"/>
            <a:ext cx="329184" cy="329184"/>
          </a:xfrm>
          <a:prstGeom prst="ellipse">
            <a:avLst/>
          </a:prstGeom>
          <a:solidFill>
            <a:srgbClr val="FFFFFF"/>
          </a:solidFill>
          <a:ln w="12700">
            <a:solidFill>
              <a:srgbClr val="8A96A3"/>
            </a:solidFill>
            <a:prstDash val="solid"/>
          </a:ln>
        </p:spPr>
      </p:sp>
      <p:sp>
        <p:nvSpPr>
          <p:cNvPr id="19" name="Text 17"/>
          <p:cNvSpPr txBox="1"/>
          <p:nvPr/>
        </p:nvSpPr>
        <p:spPr>
          <a:xfrm>
            <a:off x="548640" y="2542032"/>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3</a:t>
            </a:r>
            <a:endParaRPr lang="en-US" sz="1300" dirty="0"/>
          </a:p>
        </p:txBody>
      </p:sp>
      <p:sp>
        <p:nvSpPr>
          <p:cNvPr id="20" name="Text 18"/>
          <p:cNvSpPr txBox="1"/>
          <p:nvPr/>
        </p:nvSpPr>
        <p:spPr>
          <a:xfrm>
            <a:off x="987552" y="2478024"/>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副交感神経刺激は消化管運動性を低下させる</a:t>
            </a:r>
            <a:endParaRPr lang="en-US" sz="1200" dirty="0"/>
          </a:p>
        </p:txBody>
      </p:sp>
      <p:sp>
        <p:nvSpPr>
          <p:cNvPr id="21" name="Text 19"/>
          <p:cNvSpPr txBox="1"/>
          <p:nvPr/>
        </p:nvSpPr>
        <p:spPr>
          <a:xfrm>
            <a:off x="4096512" y="2478024"/>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副交感は亢進</a:t>
            </a:r>
            <a:endParaRPr lang="en-US" sz="1100" dirty="0"/>
          </a:p>
        </p:txBody>
      </p:sp>
      <p:sp>
        <p:nvSpPr>
          <p:cNvPr id="22" name="Shape 20"/>
          <p:cNvSpPr/>
          <p:nvPr/>
        </p:nvSpPr>
        <p:spPr>
          <a:xfrm>
            <a:off x="457200" y="3008376"/>
            <a:ext cx="8229600" cy="457200"/>
          </a:xfrm>
          <a:prstGeom prst="roundRect">
            <a:avLst>
              <a:gd name="adj" fmla="val 16000"/>
            </a:avLst>
          </a:prstGeom>
          <a:solidFill>
            <a:srgbClr val="F4F6F8"/>
          </a:solidFill>
          <a:ln/>
        </p:spPr>
      </p:sp>
      <p:sp>
        <p:nvSpPr>
          <p:cNvPr id="23" name="Shape 21"/>
          <p:cNvSpPr/>
          <p:nvPr/>
        </p:nvSpPr>
        <p:spPr>
          <a:xfrm>
            <a:off x="548640" y="3072384"/>
            <a:ext cx="329184" cy="329184"/>
          </a:xfrm>
          <a:prstGeom prst="ellipse">
            <a:avLst/>
          </a:prstGeom>
          <a:solidFill>
            <a:srgbClr val="FFFFFF"/>
          </a:solidFill>
          <a:ln w="12700">
            <a:solidFill>
              <a:srgbClr val="8A96A3"/>
            </a:solidFill>
            <a:prstDash val="solid"/>
          </a:ln>
        </p:spPr>
      </p:sp>
      <p:sp>
        <p:nvSpPr>
          <p:cNvPr id="24" name="Text 22"/>
          <p:cNvSpPr txBox="1"/>
          <p:nvPr/>
        </p:nvSpPr>
        <p:spPr>
          <a:xfrm>
            <a:off x="548640" y="3072384"/>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4</a:t>
            </a:r>
            <a:endParaRPr lang="en-US" sz="1300" dirty="0"/>
          </a:p>
        </p:txBody>
      </p:sp>
      <p:sp>
        <p:nvSpPr>
          <p:cNvPr id="25" name="Text 23"/>
          <p:cNvSpPr txBox="1"/>
          <p:nvPr/>
        </p:nvSpPr>
        <p:spPr>
          <a:xfrm>
            <a:off x="987552" y="3008376"/>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副交感神経刺激は唾液分泌を抑制する</a:t>
            </a:r>
            <a:endParaRPr lang="en-US" sz="1200" dirty="0"/>
          </a:p>
        </p:txBody>
      </p:sp>
      <p:sp>
        <p:nvSpPr>
          <p:cNvPr id="26" name="Text 24"/>
          <p:cNvSpPr txBox="1"/>
          <p:nvPr/>
        </p:nvSpPr>
        <p:spPr>
          <a:xfrm>
            <a:off x="4096512" y="3008376"/>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副交感は促進</a:t>
            </a:r>
            <a:endParaRPr lang="en-US" sz="1100" dirty="0"/>
          </a:p>
        </p:txBody>
      </p:sp>
      <p:sp>
        <p:nvSpPr>
          <p:cNvPr id="27" name="Shape 25"/>
          <p:cNvSpPr/>
          <p:nvPr/>
        </p:nvSpPr>
        <p:spPr>
          <a:xfrm>
            <a:off x="457200" y="3538728"/>
            <a:ext cx="8229600" cy="457200"/>
          </a:xfrm>
          <a:prstGeom prst="roundRect">
            <a:avLst>
              <a:gd name="adj" fmla="val 16000"/>
            </a:avLst>
          </a:prstGeom>
          <a:solidFill>
            <a:srgbClr val="FBE3E2"/>
          </a:solidFill>
          <a:ln w="19050">
            <a:solidFill>
              <a:srgbClr val="D9534F"/>
            </a:solidFill>
            <a:prstDash val="solid"/>
          </a:ln>
        </p:spPr>
      </p:sp>
      <p:sp>
        <p:nvSpPr>
          <p:cNvPr id="28" name="Shape 26"/>
          <p:cNvSpPr/>
          <p:nvPr/>
        </p:nvSpPr>
        <p:spPr>
          <a:xfrm>
            <a:off x="548640" y="3602736"/>
            <a:ext cx="329184" cy="329184"/>
          </a:xfrm>
          <a:prstGeom prst="ellipse">
            <a:avLst/>
          </a:prstGeom>
          <a:solidFill>
            <a:srgbClr val="D9534F"/>
          </a:solidFill>
          <a:ln w="12700">
            <a:solidFill>
              <a:srgbClr val="D9534F"/>
            </a:solidFill>
            <a:prstDash val="solid"/>
          </a:ln>
        </p:spPr>
      </p:sp>
      <p:sp>
        <p:nvSpPr>
          <p:cNvPr id="29" name="Text 27"/>
          <p:cNvSpPr txBox="1"/>
          <p:nvPr/>
        </p:nvSpPr>
        <p:spPr>
          <a:xfrm>
            <a:off x="548640" y="3602736"/>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5</a:t>
            </a:r>
            <a:endParaRPr lang="en-US" sz="1300" dirty="0"/>
          </a:p>
        </p:txBody>
      </p:sp>
      <p:sp>
        <p:nvSpPr>
          <p:cNvPr id="30" name="Text 28"/>
          <p:cNvSpPr txBox="1"/>
          <p:nvPr/>
        </p:nvSpPr>
        <p:spPr>
          <a:xfrm>
            <a:off x="987552" y="3538728"/>
            <a:ext cx="3017520" cy="457200"/>
          </a:xfrm>
          <a:prstGeom prst="rect">
            <a:avLst/>
          </a:prstGeom>
          <a:noFill/>
          <a:ln/>
        </p:spPr>
        <p:txBody>
          <a:bodyPr wrap="square" lIns="0" tIns="0" rIns="0" bIns="0" rtlCol="0" anchor="ctr"/>
          <a:lstStyle/>
          <a:p>
            <a:pPr indent="0" marL="0">
              <a:buNone/>
            </a:pPr>
            <a:r>
              <a:rPr lang="en-US" sz="1200" b="1" dirty="0">
                <a:solidFill>
                  <a:srgbClr val="D9534F"/>
                </a:solidFill>
                <a:latin typeface="Meiryo" pitchFamily="34" charset="0"/>
                <a:ea typeface="Meiryo" pitchFamily="34" charset="-122"/>
                <a:cs typeface="Meiryo" pitchFamily="34" charset="-120"/>
              </a:rPr>
              <a:t>副交感神経刺激は縮瞳を引き起こす</a:t>
            </a:r>
            <a:endParaRPr lang="en-US" sz="1200" dirty="0"/>
          </a:p>
        </p:txBody>
      </p:sp>
      <p:sp>
        <p:nvSpPr>
          <p:cNvPr id="31" name="Text 29"/>
          <p:cNvSpPr txBox="1"/>
          <p:nvPr/>
        </p:nvSpPr>
        <p:spPr>
          <a:xfrm>
            <a:off x="4096512" y="3538728"/>
            <a:ext cx="4526280" cy="457200"/>
          </a:xfrm>
          <a:prstGeom prst="rect">
            <a:avLst/>
          </a:prstGeom>
          <a:noFill/>
          <a:ln/>
        </p:spPr>
        <p:txBody>
          <a:bodyPr wrap="square" lIns="0" tIns="0" rIns="0" bIns="0" rtlCol="0" anchor="ctr"/>
          <a:lstStyle/>
          <a:p>
            <a:pPr indent="0" marL="0">
              <a:buNone/>
            </a:pPr>
            <a:r>
              <a:rPr lang="en-US" sz="1100" dirty="0">
                <a:solidFill>
                  <a:srgbClr val="222222"/>
                </a:solidFill>
                <a:latin typeface="Meiryo" pitchFamily="34" charset="0"/>
                <a:ea typeface="Meiryo" pitchFamily="34" charset="-122"/>
                <a:cs typeface="Meiryo" pitchFamily="34" charset="-120"/>
              </a:rPr>
              <a:t>正しい（瞳孔括約筋収縮）</a:t>
            </a:r>
            <a:endParaRPr lang="en-US" sz="1100" dirty="0"/>
          </a:p>
        </p:txBody>
      </p:sp>
      <p:sp>
        <p:nvSpPr>
          <p:cNvPr id="32" name="Shape 30"/>
          <p:cNvSpPr/>
          <p:nvPr/>
        </p:nvSpPr>
        <p:spPr>
          <a:xfrm>
            <a:off x="457200" y="4160520"/>
            <a:ext cx="1463040" cy="685800"/>
          </a:xfrm>
          <a:prstGeom prst="roundRect">
            <a:avLst>
              <a:gd name="adj" fmla="val 10667"/>
            </a:avLst>
          </a:prstGeom>
          <a:solidFill>
            <a:srgbClr val="D9534F"/>
          </a:solidFill>
          <a:ln/>
        </p:spPr>
      </p:sp>
      <p:sp>
        <p:nvSpPr>
          <p:cNvPr id="33" name="Text 31"/>
          <p:cNvSpPr txBox="1"/>
          <p:nvPr/>
        </p:nvSpPr>
        <p:spPr>
          <a:xfrm>
            <a:off x="457200" y="4160520"/>
            <a:ext cx="1463040" cy="685800"/>
          </a:xfrm>
          <a:prstGeom prst="rect">
            <a:avLst/>
          </a:prstGeom>
          <a:noFill/>
          <a:ln/>
        </p:spPr>
        <p:txBody>
          <a:bodyPr wrap="square" lIns="0" tIns="0" rIns="0" bIns="0" rtlCol="0" anchor="ctr"/>
          <a:lstStyle/>
          <a:p>
            <a:pPr algn="ctr" indent="0" marL="0">
              <a:buNone/>
            </a:pPr>
            <a:r>
              <a:rPr lang="en-US" sz="1100" dirty="0">
                <a:solidFill>
                  <a:srgbClr val="FFFFFF"/>
                </a:solidFill>
                <a:latin typeface="Meiryo" pitchFamily="34" charset="0"/>
                <a:ea typeface="Meiryo" pitchFamily="34" charset="-122"/>
                <a:cs typeface="Meiryo" pitchFamily="34" charset="-120"/>
              </a:rPr>
              <a:t>正解</a:t>
            </a:r>
            <a:endParaRPr lang="en-US" sz="1100" dirty="0"/>
          </a:p>
          <a:p>
            <a:pPr algn="ctr" indent="0" marL="0">
              <a:buNone/>
            </a:pPr>
            <a:r>
              <a:rPr lang="en-US" sz="2200" b="1" dirty="0">
                <a:solidFill>
                  <a:srgbClr val="FFFFFF"/>
                </a:solidFill>
                <a:latin typeface="Meiryo" pitchFamily="34" charset="0"/>
                <a:ea typeface="Meiryo" pitchFamily="34" charset="-122"/>
                <a:cs typeface="Meiryo" pitchFamily="34" charset="-120"/>
              </a:rPr>
              <a:t>5</a:t>
            </a:r>
            <a:endParaRPr lang="en-US" sz="1100" dirty="0"/>
          </a:p>
        </p:txBody>
      </p:sp>
      <p:sp>
        <p:nvSpPr>
          <p:cNvPr id="34" name="Shape 32"/>
          <p:cNvSpPr/>
          <p:nvPr/>
        </p:nvSpPr>
        <p:spPr>
          <a:xfrm>
            <a:off x="2057400" y="4160520"/>
            <a:ext cx="6629400" cy="685800"/>
          </a:xfrm>
          <a:prstGeom prst="roundRect">
            <a:avLst>
              <a:gd name="adj" fmla="val 10667"/>
            </a:avLst>
          </a:prstGeom>
          <a:solidFill>
            <a:srgbClr val="EAF2F8"/>
          </a:solidFill>
          <a:ln/>
        </p:spPr>
      </p:sp>
      <p:sp>
        <p:nvSpPr>
          <p:cNvPr id="35" name="Text 33"/>
          <p:cNvSpPr txBox="1"/>
          <p:nvPr/>
        </p:nvSpPr>
        <p:spPr>
          <a:xfrm>
            <a:off x="2194560" y="4160520"/>
            <a:ext cx="6400800" cy="685800"/>
          </a:xfrm>
          <a:prstGeom prst="rect">
            <a:avLst/>
          </a:prstGeom>
          <a:noFill/>
          <a:ln/>
        </p:spPr>
        <p:txBody>
          <a:bodyPr wrap="square" lIns="0" tIns="0" rIns="0" bIns="0" rtlCol="0" anchor="ctr"/>
          <a:lstStyle/>
          <a:p>
            <a:pPr indent="0" marL="0">
              <a:buNone/>
            </a:pPr>
            <a:r>
              <a:rPr lang="en-US" sz="1200" b="1" dirty="0">
                <a:solidFill>
                  <a:srgbClr val="2A7F9E"/>
                </a:solidFill>
                <a:latin typeface="Meiryo" pitchFamily="34" charset="0"/>
                <a:ea typeface="Meiryo" pitchFamily="34" charset="-122"/>
                <a:cs typeface="Meiryo" pitchFamily="34" charset="-120"/>
              </a:rPr>
              <a:t>POINT　</a:t>
            </a:r>
            <a:pPr indent="0" marL="0">
              <a:buNone/>
            </a:pPr>
            <a:r>
              <a:rPr lang="en-US" sz="1200" dirty="0">
                <a:solidFill>
                  <a:srgbClr val="222222"/>
                </a:solidFill>
                <a:latin typeface="Meiryo" pitchFamily="34" charset="0"/>
                <a:ea typeface="Meiryo" pitchFamily="34" charset="-122"/>
                <a:cs typeface="Meiryo" pitchFamily="34" charset="-120"/>
              </a:rPr>
              <a:t>縮瞳＝動眼神経（副交感）→ 瞳孔括約筋。</a:t>
            </a:r>
            <a:endParaRPr lang="en-US" sz="12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74320"/>
            <a:ext cx="868680" cy="384048"/>
          </a:xfrm>
          <a:prstGeom prst="roundRect">
            <a:avLst>
              <a:gd name="adj" fmla="val 19048"/>
            </a:avLst>
          </a:prstGeom>
          <a:solidFill>
            <a:srgbClr val="17324D"/>
          </a:solidFill>
          <a:ln/>
        </p:spPr>
      </p:sp>
      <p:sp>
        <p:nvSpPr>
          <p:cNvPr id="3" name="Text 1"/>
          <p:cNvSpPr txBox="1"/>
          <p:nvPr/>
        </p:nvSpPr>
        <p:spPr>
          <a:xfrm>
            <a:off x="457200" y="274320"/>
            <a:ext cx="86868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問題</a:t>
            </a:r>
            <a:endParaRPr lang="en-US" sz="1300" dirty="0"/>
          </a:p>
        </p:txBody>
      </p:sp>
      <p:sp>
        <p:nvSpPr>
          <p:cNvPr id="4" name="Text 2"/>
          <p:cNvSpPr txBox="1"/>
          <p:nvPr/>
        </p:nvSpPr>
        <p:spPr>
          <a:xfrm>
            <a:off x="1417320" y="274320"/>
            <a:ext cx="731520" cy="384048"/>
          </a:xfrm>
          <a:prstGeom prst="rect">
            <a:avLst/>
          </a:prstGeom>
          <a:noFill/>
          <a:ln/>
        </p:spPr>
        <p:txBody>
          <a:bodyPr wrap="square" lIns="0" tIns="0" rIns="0" bIns="0" rtlCol="0" anchor="ctr"/>
          <a:lstStyle/>
          <a:p>
            <a:pPr indent="0" marL="0">
              <a:buNone/>
            </a:pPr>
            <a:r>
              <a:rPr lang="en-US" sz="2000" b="1" dirty="0">
                <a:solidFill>
                  <a:srgbClr val="17324D"/>
                </a:solidFill>
                <a:latin typeface="Arial" pitchFamily="34" charset="0"/>
                <a:ea typeface="Arial" pitchFamily="34" charset="-122"/>
                <a:cs typeface="Arial" pitchFamily="34" charset="-120"/>
              </a:rPr>
              <a:t>[20]</a:t>
            </a:r>
            <a:endParaRPr lang="en-US" sz="2000" dirty="0"/>
          </a:p>
        </p:txBody>
      </p:sp>
      <p:sp>
        <p:nvSpPr>
          <p:cNvPr id="5" name="Text 3"/>
          <p:cNvSpPr txBox="1"/>
          <p:nvPr/>
        </p:nvSpPr>
        <p:spPr>
          <a:xfrm>
            <a:off x="5943600" y="274320"/>
            <a:ext cx="2743200" cy="384048"/>
          </a:xfrm>
          <a:prstGeom prst="rect">
            <a:avLst/>
          </a:prstGeom>
          <a:noFill/>
          <a:ln/>
        </p:spPr>
        <p:txBody>
          <a:bodyPr wrap="square" lIns="0" tIns="0" rIns="0" bIns="0" rtlCol="0" anchor="ctr"/>
          <a:lstStyle/>
          <a:p>
            <a:pPr algn="r" indent="0" marL="0">
              <a:buNone/>
            </a:pPr>
            <a:r>
              <a:rPr lang="en-US" sz="1100" dirty="0">
                <a:solidFill>
                  <a:srgbClr val="5F6B76"/>
                </a:solidFill>
                <a:latin typeface="Meiryo" pitchFamily="34" charset="0"/>
                <a:ea typeface="Meiryo" pitchFamily="34" charset="-122"/>
                <a:cs typeface="Meiryo" pitchFamily="34" charset="-120"/>
              </a:rPr>
              <a:t>48回午後64</a:t>
            </a:r>
            <a:endParaRPr lang="en-US" sz="1100" dirty="0"/>
          </a:p>
        </p:txBody>
      </p:sp>
      <p:sp>
        <p:nvSpPr>
          <p:cNvPr id="6" name="Text 4"/>
          <p:cNvSpPr txBox="1"/>
          <p:nvPr/>
        </p:nvSpPr>
        <p:spPr>
          <a:xfrm>
            <a:off x="457200" y="731520"/>
            <a:ext cx="8229600" cy="594360"/>
          </a:xfrm>
          <a:prstGeom prst="rect">
            <a:avLst/>
          </a:prstGeom>
          <a:noFill/>
          <a:ln/>
        </p:spPr>
        <p:txBody>
          <a:bodyPr wrap="square" lIns="0" tIns="0" rIns="0" bIns="0" rtlCol="0" anchor="t"/>
          <a:lstStyle/>
          <a:p>
            <a:pPr indent="0" marL="0">
              <a:buNone/>
            </a:pPr>
            <a:r>
              <a:rPr lang="en-US" sz="1700" b="1" dirty="0">
                <a:solidFill>
                  <a:srgbClr val="222222"/>
                </a:solidFill>
                <a:latin typeface="Meiryo" pitchFamily="34" charset="0"/>
                <a:ea typeface="Meiryo" pitchFamily="34" charset="-122"/>
                <a:cs typeface="Meiryo" pitchFamily="34" charset="-120"/>
              </a:rPr>
              <a:t>副交感神経が交感神経より優位に働いたときの反応はどれか。</a:t>
            </a:r>
            <a:endParaRPr lang="en-US" sz="1700" dirty="0"/>
          </a:p>
        </p:txBody>
      </p:sp>
      <p:sp>
        <p:nvSpPr>
          <p:cNvPr id="7" name="Shape 5"/>
          <p:cNvSpPr/>
          <p:nvPr/>
        </p:nvSpPr>
        <p:spPr>
          <a:xfrm>
            <a:off x="457200" y="1508760"/>
            <a:ext cx="8229600" cy="493776"/>
          </a:xfrm>
          <a:prstGeom prst="roundRect">
            <a:avLst>
              <a:gd name="adj" fmla="val 14815"/>
            </a:avLst>
          </a:prstGeom>
          <a:solidFill>
            <a:srgbClr val="EAF2F8"/>
          </a:solidFill>
          <a:ln/>
        </p:spPr>
      </p:sp>
      <p:sp>
        <p:nvSpPr>
          <p:cNvPr id="8" name="Shape 6"/>
          <p:cNvSpPr/>
          <p:nvPr/>
        </p:nvSpPr>
        <p:spPr>
          <a:xfrm>
            <a:off x="566928" y="1572768"/>
            <a:ext cx="365760" cy="365760"/>
          </a:xfrm>
          <a:prstGeom prst="ellipse">
            <a:avLst/>
          </a:prstGeom>
          <a:solidFill>
            <a:srgbClr val="FFFFFF"/>
          </a:solidFill>
          <a:ln w="15875">
            <a:solidFill>
              <a:srgbClr val="17324D"/>
            </a:solidFill>
            <a:prstDash val="solid"/>
          </a:ln>
        </p:spPr>
      </p:sp>
      <p:sp>
        <p:nvSpPr>
          <p:cNvPr id="9" name="Text 7"/>
          <p:cNvSpPr txBox="1"/>
          <p:nvPr/>
        </p:nvSpPr>
        <p:spPr>
          <a:xfrm>
            <a:off x="566928" y="1572768"/>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1</a:t>
            </a:r>
            <a:endParaRPr lang="en-US" sz="1400" dirty="0"/>
          </a:p>
        </p:txBody>
      </p:sp>
      <p:sp>
        <p:nvSpPr>
          <p:cNvPr id="10" name="Text 8"/>
          <p:cNvSpPr txBox="1"/>
          <p:nvPr/>
        </p:nvSpPr>
        <p:spPr>
          <a:xfrm>
            <a:off x="1051560" y="1508760"/>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瞳孔散大</a:t>
            </a:r>
            <a:endParaRPr lang="en-US" sz="1500" dirty="0"/>
          </a:p>
        </p:txBody>
      </p:sp>
      <p:sp>
        <p:nvSpPr>
          <p:cNvPr id="11" name="Shape 9"/>
          <p:cNvSpPr/>
          <p:nvPr/>
        </p:nvSpPr>
        <p:spPr>
          <a:xfrm>
            <a:off x="457200" y="2112264"/>
            <a:ext cx="8229600" cy="493776"/>
          </a:xfrm>
          <a:prstGeom prst="roundRect">
            <a:avLst>
              <a:gd name="adj" fmla="val 14815"/>
            </a:avLst>
          </a:prstGeom>
          <a:solidFill>
            <a:srgbClr val="EAF2F8"/>
          </a:solidFill>
          <a:ln/>
        </p:spPr>
      </p:sp>
      <p:sp>
        <p:nvSpPr>
          <p:cNvPr id="12" name="Shape 10"/>
          <p:cNvSpPr/>
          <p:nvPr/>
        </p:nvSpPr>
        <p:spPr>
          <a:xfrm>
            <a:off x="566928" y="2176272"/>
            <a:ext cx="365760" cy="365760"/>
          </a:xfrm>
          <a:prstGeom prst="ellipse">
            <a:avLst/>
          </a:prstGeom>
          <a:solidFill>
            <a:srgbClr val="FFFFFF"/>
          </a:solidFill>
          <a:ln w="15875">
            <a:solidFill>
              <a:srgbClr val="17324D"/>
            </a:solidFill>
            <a:prstDash val="solid"/>
          </a:ln>
        </p:spPr>
      </p:sp>
      <p:sp>
        <p:nvSpPr>
          <p:cNvPr id="13" name="Text 11"/>
          <p:cNvSpPr txBox="1"/>
          <p:nvPr/>
        </p:nvSpPr>
        <p:spPr>
          <a:xfrm>
            <a:off x="566928" y="2176272"/>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2</a:t>
            </a:r>
            <a:endParaRPr lang="en-US" sz="1400" dirty="0"/>
          </a:p>
        </p:txBody>
      </p:sp>
      <p:sp>
        <p:nvSpPr>
          <p:cNvPr id="14" name="Text 12"/>
          <p:cNvSpPr txBox="1"/>
          <p:nvPr/>
        </p:nvSpPr>
        <p:spPr>
          <a:xfrm>
            <a:off x="1051560" y="2112264"/>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排尿筋弛緩</a:t>
            </a:r>
            <a:endParaRPr lang="en-US" sz="1500" dirty="0"/>
          </a:p>
        </p:txBody>
      </p:sp>
      <p:sp>
        <p:nvSpPr>
          <p:cNvPr id="15" name="Shape 13"/>
          <p:cNvSpPr/>
          <p:nvPr/>
        </p:nvSpPr>
        <p:spPr>
          <a:xfrm>
            <a:off x="457200" y="2715768"/>
            <a:ext cx="8229600" cy="493776"/>
          </a:xfrm>
          <a:prstGeom prst="roundRect">
            <a:avLst>
              <a:gd name="adj" fmla="val 14815"/>
            </a:avLst>
          </a:prstGeom>
          <a:solidFill>
            <a:srgbClr val="EAF2F8"/>
          </a:solidFill>
          <a:ln/>
        </p:spPr>
      </p:sp>
      <p:sp>
        <p:nvSpPr>
          <p:cNvPr id="16" name="Shape 14"/>
          <p:cNvSpPr/>
          <p:nvPr/>
        </p:nvSpPr>
        <p:spPr>
          <a:xfrm>
            <a:off x="566928" y="2779776"/>
            <a:ext cx="365760" cy="365760"/>
          </a:xfrm>
          <a:prstGeom prst="ellipse">
            <a:avLst/>
          </a:prstGeom>
          <a:solidFill>
            <a:srgbClr val="FFFFFF"/>
          </a:solidFill>
          <a:ln w="15875">
            <a:solidFill>
              <a:srgbClr val="17324D"/>
            </a:solidFill>
            <a:prstDash val="solid"/>
          </a:ln>
        </p:spPr>
      </p:sp>
      <p:sp>
        <p:nvSpPr>
          <p:cNvPr id="17" name="Text 15"/>
          <p:cNvSpPr txBox="1"/>
          <p:nvPr/>
        </p:nvSpPr>
        <p:spPr>
          <a:xfrm>
            <a:off x="566928" y="2779776"/>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3</a:t>
            </a:r>
            <a:endParaRPr lang="en-US" sz="1400" dirty="0"/>
          </a:p>
        </p:txBody>
      </p:sp>
      <p:sp>
        <p:nvSpPr>
          <p:cNvPr id="18" name="Text 16"/>
          <p:cNvSpPr txBox="1"/>
          <p:nvPr/>
        </p:nvSpPr>
        <p:spPr>
          <a:xfrm>
            <a:off x="1051560" y="2715768"/>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気管支収縮</a:t>
            </a:r>
            <a:endParaRPr lang="en-US" sz="1500" dirty="0"/>
          </a:p>
        </p:txBody>
      </p:sp>
      <p:sp>
        <p:nvSpPr>
          <p:cNvPr id="19" name="Shape 17"/>
          <p:cNvSpPr/>
          <p:nvPr/>
        </p:nvSpPr>
        <p:spPr>
          <a:xfrm>
            <a:off x="457200" y="3319272"/>
            <a:ext cx="8229600" cy="493776"/>
          </a:xfrm>
          <a:prstGeom prst="roundRect">
            <a:avLst>
              <a:gd name="adj" fmla="val 14815"/>
            </a:avLst>
          </a:prstGeom>
          <a:solidFill>
            <a:srgbClr val="EAF2F8"/>
          </a:solidFill>
          <a:ln/>
        </p:spPr>
      </p:sp>
      <p:sp>
        <p:nvSpPr>
          <p:cNvPr id="20" name="Shape 18"/>
          <p:cNvSpPr/>
          <p:nvPr/>
        </p:nvSpPr>
        <p:spPr>
          <a:xfrm>
            <a:off x="566928" y="3383280"/>
            <a:ext cx="365760" cy="365760"/>
          </a:xfrm>
          <a:prstGeom prst="ellipse">
            <a:avLst/>
          </a:prstGeom>
          <a:solidFill>
            <a:srgbClr val="FFFFFF"/>
          </a:solidFill>
          <a:ln w="15875">
            <a:solidFill>
              <a:srgbClr val="17324D"/>
            </a:solidFill>
            <a:prstDash val="solid"/>
          </a:ln>
        </p:spPr>
      </p:sp>
      <p:sp>
        <p:nvSpPr>
          <p:cNvPr id="21" name="Text 19"/>
          <p:cNvSpPr txBox="1"/>
          <p:nvPr/>
        </p:nvSpPr>
        <p:spPr>
          <a:xfrm>
            <a:off x="566928" y="3383280"/>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4</a:t>
            </a:r>
            <a:endParaRPr lang="en-US" sz="1400" dirty="0"/>
          </a:p>
        </p:txBody>
      </p:sp>
      <p:sp>
        <p:nvSpPr>
          <p:cNvPr id="22" name="Text 20"/>
          <p:cNvSpPr txBox="1"/>
          <p:nvPr/>
        </p:nvSpPr>
        <p:spPr>
          <a:xfrm>
            <a:off x="1051560" y="3319272"/>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心拍数増加</a:t>
            </a:r>
            <a:endParaRPr lang="en-US" sz="1500" dirty="0"/>
          </a:p>
        </p:txBody>
      </p:sp>
      <p:sp>
        <p:nvSpPr>
          <p:cNvPr id="23" name="Shape 21"/>
          <p:cNvSpPr/>
          <p:nvPr/>
        </p:nvSpPr>
        <p:spPr>
          <a:xfrm>
            <a:off x="457200" y="3922776"/>
            <a:ext cx="8229600" cy="493776"/>
          </a:xfrm>
          <a:prstGeom prst="roundRect">
            <a:avLst>
              <a:gd name="adj" fmla="val 14815"/>
            </a:avLst>
          </a:prstGeom>
          <a:solidFill>
            <a:srgbClr val="EAF2F8"/>
          </a:solidFill>
          <a:ln/>
        </p:spPr>
      </p:sp>
      <p:sp>
        <p:nvSpPr>
          <p:cNvPr id="24" name="Shape 22"/>
          <p:cNvSpPr/>
          <p:nvPr/>
        </p:nvSpPr>
        <p:spPr>
          <a:xfrm>
            <a:off x="566928" y="3986784"/>
            <a:ext cx="365760" cy="365760"/>
          </a:xfrm>
          <a:prstGeom prst="ellipse">
            <a:avLst/>
          </a:prstGeom>
          <a:solidFill>
            <a:srgbClr val="FFFFFF"/>
          </a:solidFill>
          <a:ln w="15875">
            <a:solidFill>
              <a:srgbClr val="17324D"/>
            </a:solidFill>
            <a:prstDash val="solid"/>
          </a:ln>
        </p:spPr>
      </p:sp>
      <p:sp>
        <p:nvSpPr>
          <p:cNvPr id="25" name="Text 23"/>
          <p:cNvSpPr txBox="1"/>
          <p:nvPr/>
        </p:nvSpPr>
        <p:spPr>
          <a:xfrm>
            <a:off x="566928" y="3986784"/>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5</a:t>
            </a:r>
            <a:endParaRPr lang="en-US" sz="1400" dirty="0"/>
          </a:p>
        </p:txBody>
      </p:sp>
      <p:sp>
        <p:nvSpPr>
          <p:cNvPr id="26" name="Text 24"/>
          <p:cNvSpPr txBox="1"/>
          <p:nvPr/>
        </p:nvSpPr>
        <p:spPr>
          <a:xfrm>
            <a:off x="1051560" y="3922776"/>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筋内血管拡張</a:t>
            </a:r>
            <a:endParaRPr lang="en-US" sz="15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74320"/>
            <a:ext cx="868680" cy="384048"/>
          </a:xfrm>
          <a:prstGeom prst="roundRect">
            <a:avLst>
              <a:gd name="adj" fmla="val 19048"/>
            </a:avLst>
          </a:prstGeom>
          <a:solidFill>
            <a:srgbClr val="D9534F"/>
          </a:solidFill>
          <a:ln/>
        </p:spPr>
      </p:sp>
      <p:sp>
        <p:nvSpPr>
          <p:cNvPr id="3" name="Text 1"/>
          <p:cNvSpPr txBox="1"/>
          <p:nvPr/>
        </p:nvSpPr>
        <p:spPr>
          <a:xfrm>
            <a:off x="457200" y="274320"/>
            <a:ext cx="86868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解説</a:t>
            </a:r>
            <a:endParaRPr lang="en-US" sz="1300" dirty="0"/>
          </a:p>
        </p:txBody>
      </p:sp>
      <p:sp>
        <p:nvSpPr>
          <p:cNvPr id="4" name="Text 2"/>
          <p:cNvSpPr txBox="1"/>
          <p:nvPr/>
        </p:nvSpPr>
        <p:spPr>
          <a:xfrm>
            <a:off x="1417320" y="274320"/>
            <a:ext cx="731520" cy="384048"/>
          </a:xfrm>
          <a:prstGeom prst="rect">
            <a:avLst/>
          </a:prstGeom>
          <a:noFill/>
          <a:ln/>
        </p:spPr>
        <p:txBody>
          <a:bodyPr wrap="square" lIns="0" tIns="0" rIns="0" bIns="0" rtlCol="0" anchor="ctr"/>
          <a:lstStyle/>
          <a:p>
            <a:pPr indent="0" marL="0">
              <a:buNone/>
            </a:pPr>
            <a:r>
              <a:rPr lang="en-US" sz="2000" b="1" dirty="0">
                <a:solidFill>
                  <a:srgbClr val="17324D"/>
                </a:solidFill>
                <a:latin typeface="Arial" pitchFamily="34" charset="0"/>
                <a:ea typeface="Arial" pitchFamily="34" charset="-122"/>
                <a:cs typeface="Arial" pitchFamily="34" charset="-120"/>
              </a:rPr>
              <a:t>[20]</a:t>
            </a:r>
            <a:endParaRPr lang="en-US" sz="2000" dirty="0"/>
          </a:p>
        </p:txBody>
      </p:sp>
      <p:sp>
        <p:nvSpPr>
          <p:cNvPr id="5" name="Text 3"/>
          <p:cNvSpPr txBox="1"/>
          <p:nvPr/>
        </p:nvSpPr>
        <p:spPr>
          <a:xfrm>
            <a:off x="5943600" y="274320"/>
            <a:ext cx="2743200" cy="384048"/>
          </a:xfrm>
          <a:prstGeom prst="rect">
            <a:avLst/>
          </a:prstGeom>
          <a:noFill/>
          <a:ln/>
        </p:spPr>
        <p:txBody>
          <a:bodyPr wrap="square" lIns="0" tIns="0" rIns="0" bIns="0" rtlCol="0" anchor="ctr"/>
          <a:lstStyle/>
          <a:p>
            <a:pPr algn="r" indent="0" marL="0">
              <a:buNone/>
            </a:pPr>
            <a:r>
              <a:rPr lang="en-US" sz="1100" dirty="0">
                <a:solidFill>
                  <a:srgbClr val="5F6B76"/>
                </a:solidFill>
                <a:latin typeface="Meiryo" pitchFamily="34" charset="0"/>
                <a:ea typeface="Meiryo" pitchFamily="34" charset="-122"/>
                <a:cs typeface="Meiryo" pitchFamily="34" charset="-120"/>
              </a:rPr>
              <a:t>48回午後64</a:t>
            </a:r>
            <a:endParaRPr lang="en-US" sz="1100" dirty="0"/>
          </a:p>
        </p:txBody>
      </p:sp>
      <p:sp>
        <p:nvSpPr>
          <p:cNvPr id="6" name="Text 4"/>
          <p:cNvSpPr txBox="1"/>
          <p:nvPr/>
        </p:nvSpPr>
        <p:spPr>
          <a:xfrm>
            <a:off x="457200" y="731520"/>
            <a:ext cx="8229600" cy="594360"/>
          </a:xfrm>
          <a:prstGeom prst="rect">
            <a:avLst/>
          </a:prstGeom>
          <a:noFill/>
          <a:ln/>
        </p:spPr>
        <p:txBody>
          <a:bodyPr wrap="square" lIns="0" tIns="0" rIns="0" bIns="0" rtlCol="0" anchor="t"/>
          <a:lstStyle/>
          <a:p>
            <a:pPr indent="0" marL="0">
              <a:buNone/>
            </a:pPr>
            <a:r>
              <a:rPr lang="en-US" sz="1700" b="1" dirty="0">
                <a:solidFill>
                  <a:srgbClr val="222222"/>
                </a:solidFill>
                <a:latin typeface="Meiryo" pitchFamily="34" charset="0"/>
                <a:ea typeface="Meiryo" pitchFamily="34" charset="-122"/>
                <a:cs typeface="Meiryo" pitchFamily="34" charset="-120"/>
              </a:rPr>
              <a:t>副交感神経が交感神経より優位に働いたときの反応はどれか。</a:t>
            </a:r>
            <a:endParaRPr lang="en-US" sz="1700" dirty="0"/>
          </a:p>
        </p:txBody>
      </p:sp>
      <p:sp>
        <p:nvSpPr>
          <p:cNvPr id="7" name="Shape 5"/>
          <p:cNvSpPr/>
          <p:nvPr/>
        </p:nvSpPr>
        <p:spPr>
          <a:xfrm>
            <a:off x="457200" y="1417320"/>
            <a:ext cx="8229600" cy="457200"/>
          </a:xfrm>
          <a:prstGeom prst="roundRect">
            <a:avLst>
              <a:gd name="adj" fmla="val 16000"/>
            </a:avLst>
          </a:prstGeom>
          <a:solidFill>
            <a:srgbClr val="F4F6F8"/>
          </a:solidFill>
          <a:ln/>
        </p:spPr>
      </p:sp>
      <p:sp>
        <p:nvSpPr>
          <p:cNvPr id="8" name="Shape 6"/>
          <p:cNvSpPr/>
          <p:nvPr/>
        </p:nvSpPr>
        <p:spPr>
          <a:xfrm>
            <a:off x="548640" y="1481328"/>
            <a:ext cx="329184" cy="329184"/>
          </a:xfrm>
          <a:prstGeom prst="ellipse">
            <a:avLst/>
          </a:prstGeom>
          <a:solidFill>
            <a:srgbClr val="FFFFFF"/>
          </a:solidFill>
          <a:ln w="12700">
            <a:solidFill>
              <a:srgbClr val="8A96A3"/>
            </a:solidFill>
            <a:prstDash val="solid"/>
          </a:ln>
        </p:spPr>
      </p:sp>
      <p:sp>
        <p:nvSpPr>
          <p:cNvPr id="9" name="Text 7"/>
          <p:cNvSpPr txBox="1"/>
          <p:nvPr/>
        </p:nvSpPr>
        <p:spPr>
          <a:xfrm>
            <a:off x="548640" y="1481328"/>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1</a:t>
            </a:r>
            <a:endParaRPr lang="en-US" sz="1300" dirty="0"/>
          </a:p>
        </p:txBody>
      </p:sp>
      <p:sp>
        <p:nvSpPr>
          <p:cNvPr id="10" name="Text 8"/>
          <p:cNvSpPr txBox="1"/>
          <p:nvPr/>
        </p:nvSpPr>
        <p:spPr>
          <a:xfrm>
            <a:off x="987552" y="1417320"/>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瞳孔散大</a:t>
            </a:r>
            <a:endParaRPr lang="en-US" sz="1200" dirty="0"/>
          </a:p>
        </p:txBody>
      </p:sp>
      <p:sp>
        <p:nvSpPr>
          <p:cNvPr id="11" name="Text 9"/>
          <p:cNvSpPr txBox="1"/>
          <p:nvPr/>
        </p:nvSpPr>
        <p:spPr>
          <a:xfrm>
            <a:off x="4096512" y="1417320"/>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交感</a:t>
            </a:r>
            <a:endParaRPr lang="en-US" sz="1100" dirty="0"/>
          </a:p>
        </p:txBody>
      </p:sp>
      <p:sp>
        <p:nvSpPr>
          <p:cNvPr id="12" name="Shape 10"/>
          <p:cNvSpPr/>
          <p:nvPr/>
        </p:nvSpPr>
        <p:spPr>
          <a:xfrm>
            <a:off x="457200" y="1947672"/>
            <a:ext cx="8229600" cy="457200"/>
          </a:xfrm>
          <a:prstGeom prst="roundRect">
            <a:avLst>
              <a:gd name="adj" fmla="val 16000"/>
            </a:avLst>
          </a:prstGeom>
          <a:solidFill>
            <a:srgbClr val="F4F6F8"/>
          </a:solidFill>
          <a:ln/>
        </p:spPr>
      </p:sp>
      <p:sp>
        <p:nvSpPr>
          <p:cNvPr id="13" name="Shape 11"/>
          <p:cNvSpPr/>
          <p:nvPr/>
        </p:nvSpPr>
        <p:spPr>
          <a:xfrm>
            <a:off x="548640" y="2011680"/>
            <a:ext cx="329184" cy="329184"/>
          </a:xfrm>
          <a:prstGeom prst="ellipse">
            <a:avLst/>
          </a:prstGeom>
          <a:solidFill>
            <a:srgbClr val="FFFFFF"/>
          </a:solidFill>
          <a:ln w="12700">
            <a:solidFill>
              <a:srgbClr val="8A96A3"/>
            </a:solidFill>
            <a:prstDash val="solid"/>
          </a:ln>
        </p:spPr>
      </p:sp>
      <p:sp>
        <p:nvSpPr>
          <p:cNvPr id="14" name="Text 12"/>
          <p:cNvSpPr txBox="1"/>
          <p:nvPr/>
        </p:nvSpPr>
        <p:spPr>
          <a:xfrm>
            <a:off x="548640" y="2011680"/>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2</a:t>
            </a:r>
            <a:endParaRPr lang="en-US" sz="1300" dirty="0"/>
          </a:p>
        </p:txBody>
      </p:sp>
      <p:sp>
        <p:nvSpPr>
          <p:cNvPr id="15" name="Text 13"/>
          <p:cNvSpPr txBox="1"/>
          <p:nvPr/>
        </p:nvSpPr>
        <p:spPr>
          <a:xfrm>
            <a:off x="987552" y="1947672"/>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排尿筋弛緩</a:t>
            </a:r>
            <a:endParaRPr lang="en-US" sz="1200" dirty="0"/>
          </a:p>
        </p:txBody>
      </p:sp>
      <p:sp>
        <p:nvSpPr>
          <p:cNvPr id="16" name="Text 14"/>
          <p:cNvSpPr txBox="1"/>
          <p:nvPr/>
        </p:nvSpPr>
        <p:spPr>
          <a:xfrm>
            <a:off x="4096512" y="1947672"/>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交感</a:t>
            </a:r>
            <a:endParaRPr lang="en-US" sz="1100" dirty="0"/>
          </a:p>
        </p:txBody>
      </p:sp>
      <p:sp>
        <p:nvSpPr>
          <p:cNvPr id="17" name="Shape 15"/>
          <p:cNvSpPr/>
          <p:nvPr/>
        </p:nvSpPr>
        <p:spPr>
          <a:xfrm>
            <a:off x="457200" y="2478024"/>
            <a:ext cx="8229600" cy="457200"/>
          </a:xfrm>
          <a:prstGeom prst="roundRect">
            <a:avLst>
              <a:gd name="adj" fmla="val 16000"/>
            </a:avLst>
          </a:prstGeom>
          <a:solidFill>
            <a:srgbClr val="FBE3E2"/>
          </a:solidFill>
          <a:ln w="19050">
            <a:solidFill>
              <a:srgbClr val="D9534F"/>
            </a:solidFill>
            <a:prstDash val="solid"/>
          </a:ln>
        </p:spPr>
      </p:sp>
      <p:sp>
        <p:nvSpPr>
          <p:cNvPr id="18" name="Shape 16"/>
          <p:cNvSpPr/>
          <p:nvPr/>
        </p:nvSpPr>
        <p:spPr>
          <a:xfrm>
            <a:off x="548640" y="2542032"/>
            <a:ext cx="329184" cy="329184"/>
          </a:xfrm>
          <a:prstGeom prst="ellipse">
            <a:avLst/>
          </a:prstGeom>
          <a:solidFill>
            <a:srgbClr val="D9534F"/>
          </a:solidFill>
          <a:ln w="12700">
            <a:solidFill>
              <a:srgbClr val="D9534F"/>
            </a:solidFill>
            <a:prstDash val="solid"/>
          </a:ln>
        </p:spPr>
      </p:sp>
      <p:sp>
        <p:nvSpPr>
          <p:cNvPr id="19" name="Text 17"/>
          <p:cNvSpPr txBox="1"/>
          <p:nvPr/>
        </p:nvSpPr>
        <p:spPr>
          <a:xfrm>
            <a:off x="548640" y="254203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20" name="Text 18"/>
          <p:cNvSpPr txBox="1"/>
          <p:nvPr/>
        </p:nvSpPr>
        <p:spPr>
          <a:xfrm>
            <a:off x="987552" y="2478024"/>
            <a:ext cx="3017520" cy="457200"/>
          </a:xfrm>
          <a:prstGeom prst="rect">
            <a:avLst/>
          </a:prstGeom>
          <a:noFill/>
          <a:ln/>
        </p:spPr>
        <p:txBody>
          <a:bodyPr wrap="square" lIns="0" tIns="0" rIns="0" bIns="0" rtlCol="0" anchor="ctr"/>
          <a:lstStyle/>
          <a:p>
            <a:pPr indent="0" marL="0">
              <a:buNone/>
            </a:pPr>
            <a:r>
              <a:rPr lang="en-US" sz="1200" b="1" dirty="0">
                <a:solidFill>
                  <a:srgbClr val="D9534F"/>
                </a:solidFill>
                <a:latin typeface="Meiryo" pitchFamily="34" charset="0"/>
                <a:ea typeface="Meiryo" pitchFamily="34" charset="-122"/>
                <a:cs typeface="Meiryo" pitchFamily="34" charset="-120"/>
              </a:rPr>
              <a:t>気管支収縮</a:t>
            </a:r>
            <a:endParaRPr lang="en-US" sz="1200" dirty="0"/>
          </a:p>
        </p:txBody>
      </p:sp>
      <p:sp>
        <p:nvSpPr>
          <p:cNvPr id="21" name="Text 19"/>
          <p:cNvSpPr txBox="1"/>
          <p:nvPr/>
        </p:nvSpPr>
        <p:spPr>
          <a:xfrm>
            <a:off x="4096512" y="2478024"/>
            <a:ext cx="4526280" cy="457200"/>
          </a:xfrm>
          <a:prstGeom prst="rect">
            <a:avLst/>
          </a:prstGeom>
          <a:noFill/>
          <a:ln/>
        </p:spPr>
        <p:txBody>
          <a:bodyPr wrap="square" lIns="0" tIns="0" rIns="0" bIns="0" rtlCol="0" anchor="ctr"/>
          <a:lstStyle/>
          <a:p>
            <a:pPr indent="0" marL="0">
              <a:buNone/>
            </a:pPr>
            <a:r>
              <a:rPr lang="en-US" sz="1100" dirty="0">
                <a:solidFill>
                  <a:srgbClr val="222222"/>
                </a:solidFill>
                <a:latin typeface="Meiryo" pitchFamily="34" charset="0"/>
                <a:ea typeface="Meiryo" pitchFamily="34" charset="-122"/>
                <a:cs typeface="Meiryo" pitchFamily="34" charset="-120"/>
              </a:rPr>
              <a:t>副交感 ○</a:t>
            </a:r>
            <a:endParaRPr lang="en-US" sz="1100" dirty="0"/>
          </a:p>
        </p:txBody>
      </p:sp>
      <p:sp>
        <p:nvSpPr>
          <p:cNvPr id="22" name="Shape 20"/>
          <p:cNvSpPr/>
          <p:nvPr/>
        </p:nvSpPr>
        <p:spPr>
          <a:xfrm>
            <a:off x="457200" y="3008376"/>
            <a:ext cx="8229600" cy="457200"/>
          </a:xfrm>
          <a:prstGeom prst="roundRect">
            <a:avLst>
              <a:gd name="adj" fmla="val 16000"/>
            </a:avLst>
          </a:prstGeom>
          <a:solidFill>
            <a:srgbClr val="F4F6F8"/>
          </a:solidFill>
          <a:ln/>
        </p:spPr>
      </p:sp>
      <p:sp>
        <p:nvSpPr>
          <p:cNvPr id="23" name="Shape 21"/>
          <p:cNvSpPr/>
          <p:nvPr/>
        </p:nvSpPr>
        <p:spPr>
          <a:xfrm>
            <a:off x="548640" y="3072384"/>
            <a:ext cx="329184" cy="329184"/>
          </a:xfrm>
          <a:prstGeom prst="ellipse">
            <a:avLst/>
          </a:prstGeom>
          <a:solidFill>
            <a:srgbClr val="FFFFFF"/>
          </a:solidFill>
          <a:ln w="12700">
            <a:solidFill>
              <a:srgbClr val="8A96A3"/>
            </a:solidFill>
            <a:prstDash val="solid"/>
          </a:ln>
        </p:spPr>
      </p:sp>
      <p:sp>
        <p:nvSpPr>
          <p:cNvPr id="24" name="Text 22"/>
          <p:cNvSpPr txBox="1"/>
          <p:nvPr/>
        </p:nvSpPr>
        <p:spPr>
          <a:xfrm>
            <a:off x="548640" y="3072384"/>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4</a:t>
            </a:r>
            <a:endParaRPr lang="en-US" sz="1300" dirty="0"/>
          </a:p>
        </p:txBody>
      </p:sp>
      <p:sp>
        <p:nvSpPr>
          <p:cNvPr id="25" name="Text 23"/>
          <p:cNvSpPr txBox="1"/>
          <p:nvPr/>
        </p:nvSpPr>
        <p:spPr>
          <a:xfrm>
            <a:off x="987552" y="3008376"/>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心拍数増加</a:t>
            </a:r>
            <a:endParaRPr lang="en-US" sz="1200" dirty="0"/>
          </a:p>
        </p:txBody>
      </p:sp>
      <p:sp>
        <p:nvSpPr>
          <p:cNvPr id="26" name="Text 24"/>
          <p:cNvSpPr txBox="1"/>
          <p:nvPr/>
        </p:nvSpPr>
        <p:spPr>
          <a:xfrm>
            <a:off x="4096512" y="3008376"/>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交感</a:t>
            </a:r>
            <a:endParaRPr lang="en-US" sz="1100" dirty="0"/>
          </a:p>
        </p:txBody>
      </p:sp>
      <p:sp>
        <p:nvSpPr>
          <p:cNvPr id="27" name="Shape 25"/>
          <p:cNvSpPr/>
          <p:nvPr/>
        </p:nvSpPr>
        <p:spPr>
          <a:xfrm>
            <a:off x="457200" y="3538728"/>
            <a:ext cx="8229600" cy="457200"/>
          </a:xfrm>
          <a:prstGeom prst="roundRect">
            <a:avLst>
              <a:gd name="adj" fmla="val 16000"/>
            </a:avLst>
          </a:prstGeom>
          <a:solidFill>
            <a:srgbClr val="F4F6F8"/>
          </a:solidFill>
          <a:ln/>
        </p:spPr>
      </p:sp>
      <p:sp>
        <p:nvSpPr>
          <p:cNvPr id="28" name="Shape 26"/>
          <p:cNvSpPr/>
          <p:nvPr/>
        </p:nvSpPr>
        <p:spPr>
          <a:xfrm>
            <a:off x="548640" y="3602736"/>
            <a:ext cx="329184" cy="329184"/>
          </a:xfrm>
          <a:prstGeom prst="ellipse">
            <a:avLst/>
          </a:prstGeom>
          <a:solidFill>
            <a:srgbClr val="FFFFFF"/>
          </a:solidFill>
          <a:ln w="12700">
            <a:solidFill>
              <a:srgbClr val="8A96A3"/>
            </a:solidFill>
            <a:prstDash val="solid"/>
          </a:ln>
        </p:spPr>
      </p:sp>
      <p:sp>
        <p:nvSpPr>
          <p:cNvPr id="29" name="Text 27"/>
          <p:cNvSpPr txBox="1"/>
          <p:nvPr/>
        </p:nvSpPr>
        <p:spPr>
          <a:xfrm>
            <a:off x="548640" y="3602736"/>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5</a:t>
            </a:r>
            <a:endParaRPr lang="en-US" sz="1300" dirty="0"/>
          </a:p>
        </p:txBody>
      </p:sp>
      <p:sp>
        <p:nvSpPr>
          <p:cNvPr id="30" name="Text 28"/>
          <p:cNvSpPr txBox="1"/>
          <p:nvPr/>
        </p:nvSpPr>
        <p:spPr>
          <a:xfrm>
            <a:off x="987552" y="3538728"/>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筋内血管拡張</a:t>
            </a:r>
            <a:endParaRPr lang="en-US" sz="1200" dirty="0"/>
          </a:p>
        </p:txBody>
      </p:sp>
      <p:sp>
        <p:nvSpPr>
          <p:cNvPr id="31" name="Text 29"/>
          <p:cNvSpPr txBox="1"/>
          <p:nvPr/>
        </p:nvSpPr>
        <p:spPr>
          <a:xfrm>
            <a:off x="4096512" y="3538728"/>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交感（β2）</a:t>
            </a:r>
            <a:endParaRPr lang="en-US" sz="1100" dirty="0"/>
          </a:p>
        </p:txBody>
      </p:sp>
      <p:sp>
        <p:nvSpPr>
          <p:cNvPr id="32" name="Shape 30"/>
          <p:cNvSpPr/>
          <p:nvPr/>
        </p:nvSpPr>
        <p:spPr>
          <a:xfrm>
            <a:off x="457200" y="4160520"/>
            <a:ext cx="1463040" cy="685800"/>
          </a:xfrm>
          <a:prstGeom prst="roundRect">
            <a:avLst>
              <a:gd name="adj" fmla="val 10667"/>
            </a:avLst>
          </a:prstGeom>
          <a:solidFill>
            <a:srgbClr val="D9534F"/>
          </a:solidFill>
          <a:ln/>
        </p:spPr>
      </p:sp>
      <p:sp>
        <p:nvSpPr>
          <p:cNvPr id="33" name="Text 31"/>
          <p:cNvSpPr txBox="1"/>
          <p:nvPr/>
        </p:nvSpPr>
        <p:spPr>
          <a:xfrm>
            <a:off x="457200" y="4160520"/>
            <a:ext cx="1463040" cy="685800"/>
          </a:xfrm>
          <a:prstGeom prst="rect">
            <a:avLst/>
          </a:prstGeom>
          <a:noFill/>
          <a:ln/>
        </p:spPr>
        <p:txBody>
          <a:bodyPr wrap="square" lIns="0" tIns="0" rIns="0" bIns="0" rtlCol="0" anchor="ctr"/>
          <a:lstStyle/>
          <a:p>
            <a:pPr algn="ctr" indent="0" marL="0">
              <a:buNone/>
            </a:pPr>
            <a:r>
              <a:rPr lang="en-US" sz="1100" dirty="0">
                <a:solidFill>
                  <a:srgbClr val="FFFFFF"/>
                </a:solidFill>
                <a:latin typeface="Meiryo" pitchFamily="34" charset="0"/>
                <a:ea typeface="Meiryo" pitchFamily="34" charset="-122"/>
                <a:cs typeface="Meiryo" pitchFamily="34" charset="-120"/>
              </a:rPr>
              <a:t>正解</a:t>
            </a:r>
            <a:endParaRPr lang="en-US" sz="1100" dirty="0"/>
          </a:p>
          <a:p>
            <a:pPr algn="ctr" indent="0" marL="0">
              <a:buNone/>
            </a:pPr>
            <a:r>
              <a:rPr lang="en-US" sz="2200" b="1" dirty="0">
                <a:solidFill>
                  <a:srgbClr val="FFFFFF"/>
                </a:solidFill>
                <a:latin typeface="Meiryo" pitchFamily="34" charset="0"/>
                <a:ea typeface="Meiryo" pitchFamily="34" charset="-122"/>
                <a:cs typeface="Meiryo" pitchFamily="34" charset="-120"/>
              </a:rPr>
              <a:t>3</a:t>
            </a:r>
            <a:endParaRPr lang="en-US" sz="11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74320"/>
            <a:ext cx="868680" cy="384048"/>
          </a:xfrm>
          <a:prstGeom prst="roundRect">
            <a:avLst>
              <a:gd name="adj" fmla="val 19048"/>
            </a:avLst>
          </a:prstGeom>
          <a:solidFill>
            <a:srgbClr val="17324D"/>
          </a:solidFill>
          <a:ln/>
        </p:spPr>
      </p:sp>
      <p:sp>
        <p:nvSpPr>
          <p:cNvPr id="3" name="Text 1"/>
          <p:cNvSpPr txBox="1"/>
          <p:nvPr/>
        </p:nvSpPr>
        <p:spPr>
          <a:xfrm>
            <a:off x="457200" y="274320"/>
            <a:ext cx="86868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問題</a:t>
            </a:r>
            <a:endParaRPr lang="en-US" sz="1300" dirty="0"/>
          </a:p>
        </p:txBody>
      </p:sp>
      <p:sp>
        <p:nvSpPr>
          <p:cNvPr id="4" name="Text 2"/>
          <p:cNvSpPr txBox="1"/>
          <p:nvPr/>
        </p:nvSpPr>
        <p:spPr>
          <a:xfrm>
            <a:off x="1417320" y="274320"/>
            <a:ext cx="731520" cy="384048"/>
          </a:xfrm>
          <a:prstGeom prst="rect">
            <a:avLst/>
          </a:prstGeom>
          <a:noFill/>
          <a:ln/>
        </p:spPr>
        <p:txBody>
          <a:bodyPr wrap="square" lIns="0" tIns="0" rIns="0" bIns="0" rtlCol="0" anchor="ctr"/>
          <a:lstStyle/>
          <a:p>
            <a:pPr indent="0" marL="0">
              <a:buNone/>
            </a:pPr>
            <a:r>
              <a:rPr lang="en-US" sz="2000" b="1" dirty="0">
                <a:solidFill>
                  <a:srgbClr val="17324D"/>
                </a:solidFill>
                <a:latin typeface="Arial" pitchFamily="34" charset="0"/>
                <a:ea typeface="Arial" pitchFamily="34" charset="-122"/>
                <a:cs typeface="Arial" pitchFamily="34" charset="-120"/>
              </a:rPr>
              <a:t>[21]</a:t>
            </a:r>
            <a:endParaRPr lang="en-US" sz="2000" dirty="0"/>
          </a:p>
        </p:txBody>
      </p:sp>
      <p:sp>
        <p:nvSpPr>
          <p:cNvPr id="5" name="Text 3"/>
          <p:cNvSpPr txBox="1"/>
          <p:nvPr/>
        </p:nvSpPr>
        <p:spPr>
          <a:xfrm>
            <a:off x="5943600" y="274320"/>
            <a:ext cx="2743200" cy="384048"/>
          </a:xfrm>
          <a:prstGeom prst="rect">
            <a:avLst/>
          </a:prstGeom>
          <a:noFill/>
          <a:ln/>
        </p:spPr>
        <p:txBody>
          <a:bodyPr wrap="square" lIns="0" tIns="0" rIns="0" bIns="0" rtlCol="0" anchor="ctr"/>
          <a:lstStyle/>
          <a:p>
            <a:pPr algn="r" indent="0" marL="0">
              <a:buNone/>
            </a:pPr>
            <a:r>
              <a:rPr lang="en-US" sz="1100" dirty="0">
                <a:solidFill>
                  <a:srgbClr val="5F6B76"/>
                </a:solidFill>
                <a:latin typeface="Meiryo" pitchFamily="34" charset="0"/>
                <a:ea typeface="Meiryo" pitchFamily="34" charset="-122"/>
                <a:cs typeface="Meiryo" pitchFamily="34" charset="-120"/>
              </a:rPr>
              <a:t>47回午前62</a:t>
            </a:r>
            <a:endParaRPr lang="en-US" sz="1100" dirty="0"/>
          </a:p>
        </p:txBody>
      </p:sp>
      <p:sp>
        <p:nvSpPr>
          <p:cNvPr id="6" name="Text 4"/>
          <p:cNvSpPr txBox="1"/>
          <p:nvPr/>
        </p:nvSpPr>
        <p:spPr>
          <a:xfrm>
            <a:off x="457200" y="731520"/>
            <a:ext cx="8229600" cy="594360"/>
          </a:xfrm>
          <a:prstGeom prst="rect">
            <a:avLst/>
          </a:prstGeom>
          <a:noFill/>
          <a:ln/>
        </p:spPr>
        <p:txBody>
          <a:bodyPr wrap="square" lIns="0" tIns="0" rIns="0" bIns="0" rtlCol="0" anchor="t"/>
          <a:lstStyle/>
          <a:p>
            <a:pPr indent="0" marL="0">
              <a:buNone/>
            </a:pPr>
            <a:r>
              <a:rPr lang="en-US" sz="1700" b="1" dirty="0">
                <a:solidFill>
                  <a:srgbClr val="222222"/>
                </a:solidFill>
                <a:latin typeface="Meiryo" pitchFamily="34" charset="0"/>
                <a:ea typeface="Meiryo" pitchFamily="34" charset="-122"/>
                <a:cs typeface="Meiryo" pitchFamily="34" charset="-120"/>
              </a:rPr>
              <a:t>交感神経の興奮によって生じるのはどれか。２つ選べ。</a:t>
            </a:r>
            <a:endParaRPr lang="en-US" sz="1700" dirty="0"/>
          </a:p>
        </p:txBody>
      </p:sp>
      <p:sp>
        <p:nvSpPr>
          <p:cNvPr id="7" name="Shape 5"/>
          <p:cNvSpPr/>
          <p:nvPr/>
        </p:nvSpPr>
        <p:spPr>
          <a:xfrm>
            <a:off x="457200" y="1508760"/>
            <a:ext cx="8229600" cy="493776"/>
          </a:xfrm>
          <a:prstGeom prst="roundRect">
            <a:avLst>
              <a:gd name="adj" fmla="val 14815"/>
            </a:avLst>
          </a:prstGeom>
          <a:solidFill>
            <a:srgbClr val="EAF2F8"/>
          </a:solidFill>
          <a:ln/>
        </p:spPr>
      </p:sp>
      <p:sp>
        <p:nvSpPr>
          <p:cNvPr id="8" name="Shape 6"/>
          <p:cNvSpPr/>
          <p:nvPr/>
        </p:nvSpPr>
        <p:spPr>
          <a:xfrm>
            <a:off x="566928" y="1572768"/>
            <a:ext cx="365760" cy="365760"/>
          </a:xfrm>
          <a:prstGeom prst="ellipse">
            <a:avLst/>
          </a:prstGeom>
          <a:solidFill>
            <a:srgbClr val="FFFFFF"/>
          </a:solidFill>
          <a:ln w="15875">
            <a:solidFill>
              <a:srgbClr val="17324D"/>
            </a:solidFill>
            <a:prstDash val="solid"/>
          </a:ln>
        </p:spPr>
      </p:sp>
      <p:sp>
        <p:nvSpPr>
          <p:cNvPr id="9" name="Text 7"/>
          <p:cNvSpPr txBox="1"/>
          <p:nvPr/>
        </p:nvSpPr>
        <p:spPr>
          <a:xfrm>
            <a:off x="566928" y="1572768"/>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1</a:t>
            </a:r>
            <a:endParaRPr lang="en-US" sz="1400" dirty="0"/>
          </a:p>
        </p:txBody>
      </p:sp>
      <p:sp>
        <p:nvSpPr>
          <p:cNvPr id="10" name="Text 8"/>
          <p:cNvSpPr txBox="1"/>
          <p:nvPr/>
        </p:nvSpPr>
        <p:spPr>
          <a:xfrm>
            <a:off x="1051560" y="1508760"/>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気管支の拡張</a:t>
            </a:r>
            <a:endParaRPr lang="en-US" sz="1500" dirty="0"/>
          </a:p>
        </p:txBody>
      </p:sp>
      <p:sp>
        <p:nvSpPr>
          <p:cNvPr id="11" name="Shape 9"/>
          <p:cNvSpPr/>
          <p:nvPr/>
        </p:nvSpPr>
        <p:spPr>
          <a:xfrm>
            <a:off x="457200" y="2112264"/>
            <a:ext cx="8229600" cy="493776"/>
          </a:xfrm>
          <a:prstGeom prst="roundRect">
            <a:avLst>
              <a:gd name="adj" fmla="val 14815"/>
            </a:avLst>
          </a:prstGeom>
          <a:solidFill>
            <a:srgbClr val="EAF2F8"/>
          </a:solidFill>
          <a:ln/>
        </p:spPr>
      </p:sp>
      <p:sp>
        <p:nvSpPr>
          <p:cNvPr id="12" name="Shape 10"/>
          <p:cNvSpPr/>
          <p:nvPr/>
        </p:nvSpPr>
        <p:spPr>
          <a:xfrm>
            <a:off x="566928" y="2176272"/>
            <a:ext cx="365760" cy="365760"/>
          </a:xfrm>
          <a:prstGeom prst="ellipse">
            <a:avLst/>
          </a:prstGeom>
          <a:solidFill>
            <a:srgbClr val="FFFFFF"/>
          </a:solidFill>
          <a:ln w="15875">
            <a:solidFill>
              <a:srgbClr val="17324D"/>
            </a:solidFill>
            <a:prstDash val="solid"/>
          </a:ln>
        </p:spPr>
      </p:sp>
      <p:sp>
        <p:nvSpPr>
          <p:cNvPr id="13" name="Text 11"/>
          <p:cNvSpPr txBox="1"/>
          <p:nvPr/>
        </p:nvSpPr>
        <p:spPr>
          <a:xfrm>
            <a:off x="566928" y="2176272"/>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2</a:t>
            </a:r>
            <a:endParaRPr lang="en-US" sz="1400" dirty="0"/>
          </a:p>
        </p:txBody>
      </p:sp>
      <p:sp>
        <p:nvSpPr>
          <p:cNvPr id="14" name="Text 12"/>
          <p:cNvSpPr txBox="1"/>
          <p:nvPr/>
        </p:nvSpPr>
        <p:spPr>
          <a:xfrm>
            <a:off x="1051560" y="2112264"/>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筋血管の収縮</a:t>
            </a:r>
            <a:endParaRPr lang="en-US" sz="1500" dirty="0"/>
          </a:p>
        </p:txBody>
      </p:sp>
      <p:sp>
        <p:nvSpPr>
          <p:cNvPr id="15" name="Shape 13"/>
          <p:cNvSpPr/>
          <p:nvPr/>
        </p:nvSpPr>
        <p:spPr>
          <a:xfrm>
            <a:off x="457200" y="2715768"/>
            <a:ext cx="8229600" cy="493776"/>
          </a:xfrm>
          <a:prstGeom prst="roundRect">
            <a:avLst>
              <a:gd name="adj" fmla="val 14815"/>
            </a:avLst>
          </a:prstGeom>
          <a:solidFill>
            <a:srgbClr val="EAF2F8"/>
          </a:solidFill>
          <a:ln/>
        </p:spPr>
      </p:sp>
      <p:sp>
        <p:nvSpPr>
          <p:cNvPr id="16" name="Shape 14"/>
          <p:cNvSpPr/>
          <p:nvPr/>
        </p:nvSpPr>
        <p:spPr>
          <a:xfrm>
            <a:off x="566928" y="2779776"/>
            <a:ext cx="365760" cy="365760"/>
          </a:xfrm>
          <a:prstGeom prst="ellipse">
            <a:avLst/>
          </a:prstGeom>
          <a:solidFill>
            <a:srgbClr val="FFFFFF"/>
          </a:solidFill>
          <a:ln w="15875">
            <a:solidFill>
              <a:srgbClr val="17324D"/>
            </a:solidFill>
            <a:prstDash val="solid"/>
          </a:ln>
        </p:spPr>
      </p:sp>
      <p:sp>
        <p:nvSpPr>
          <p:cNvPr id="17" name="Text 15"/>
          <p:cNvSpPr txBox="1"/>
          <p:nvPr/>
        </p:nvSpPr>
        <p:spPr>
          <a:xfrm>
            <a:off x="566928" y="2779776"/>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3</a:t>
            </a:r>
            <a:endParaRPr lang="en-US" sz="1400" dirty="0"/>
          </a:p>
        </p:txBody>
      </p:sp>
      <p:sp>
        <p:nvSpPr>
          <p:cNvPr id="18" name="Text 16"/>
          <p:cNvSpPr txBox="1"/>
          <p:nvPr/>
        </p:nvSpPr>
        <p:spPr>
          <a:xfrm>
            <a:off x="1051560" y="2715768"/>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皮膚血管の収縮</a:t>
            </a:r>
            <a:endParaRPr lang="en-US" sz="1500" dirty="0"/>
          </a:p>
        </p:txBody>
      </p:sp>
      <p:sp>
        <p:nvSpPr>
          <p:cNvPr id="19" name="Shape 17"/>
          <p:cNvSpPr/>
          <p:nvPr/>
        </p:nvSpPr>
        <p:spPr>
          <a:xfrm>
            <a:off x="457200" y="3319272"/>
            <a:ext cx="8229600" cy="493776"/>
          </a:xfrm>
          <a:prstGeom prst="roundRect">
            <a:avLst>
              <a:gd name="adj" fmla="val 14815"/>
            </a:avLst>
          </a:prstGeom>
          <a:solidFill>
            <a:srgbClr val="EAF2F8"/>
          </a:solidFill>
          <a:ln/>
        </p:spPr>
      </p:sp>
      <p:sp>
        <p:nvSpPr>
          <p:cNvPr id="20" name="Shape 18"/>
          <p:cNvSpPr/>
          <p:nvPr/>
        </p:nvSpPr>
        <p:spPr>
          <a:xfrm>
            <a:off x="566928" y="3383280"/>
            <a:ext cx="365760" cy="365760"/>
          </a:xfrm>
          <a:prstGeom prst="ellipse">
            <a:avLst/>
          </a:prstGeom>
          <a:solidFill>
            <a:srgbClr val="FFFFFF"/>
          </a:solidFill>
          <a:ln w="15875">
            <a:solidFill>
              <a:srgbClr val="17324D"/>
            </a:solidFill>
            <a:prstDash val="solid"/>
          </a:ln>
        </p:spPr>
      </p:sp>
      <p:sp>
        <p:nvSpPr>
          <p:cNvPr id="21" name="Text 19"/>
          <p:cNvSpPr txBox="1"/>
          <p:nvPr/>
        </p:nvSpPr>
        <p:spPr>
          <a:xfrm>
            <a:off x="566928" y="3383280"/>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4</a:t>
            </a:r>
            <a:endParaRPr lang="en-US" sz="1400" dirty="0"/>
          </a:p>
        </p:txBody>
      </p:sp>
      <p:sp>
        <p:nvSpPr>
          <p:cNvPr id="22" name="Text 20"/>
          <p:cNvSpPr txBox="1"/>
          <p:nvPr/>
        </p:nvSpPr>
        <p:spPr>
          <a:xfrm>
            <a:off x="1051560" y="3319272"/>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涙腺分泌の亢進</a:t>
            </a:r>
            <a:endParaRPr lang="en-US" sz="1500" dirty="0"/>
          </a:p>
        </p:txBody>
      </p:sp>
      <p:sp>
        <p:nvSpPr>
          <p:cNvPr id="23" name="Shape 21"/>
          <p:cNvSpPr/>
          <p:nvPr/>
        </p:nvSpPr>
        <p:spPr>
          <a:xfrm>
            <a:off x="457200" y="3922776"/>
            <a:ext cx="8229600" cy="493776"/>
          </a:xfrm>
          <a:prstGeom prst="roundRect">
            <a:avLst>
              <a:gd name="adj" fmla="val 14815"/>
            </a:avLst>
          </a:prstGeom>
          <a:solidFill>
            <a:srgbClr val="EAF2F8"/>
          </a:solidFill>
          <a:ln/>
        </p:spPr>
      </p:sp>
      <p:sp>
        <p:nvSpPr>
          <p:cNvPr id="24" name="Shape 22"/>
          <p:cNvSpPr/>
          <p:nvPr/>
        </p:nvSpPr>
        <p:spPr>
          <a:xfrm>
            <a:off x="566928" y="3986784"/>
            <a:ext cx="365760" cy="365760"/>
          </a:xfrm>
          <a:prstGeom prst="ellipse">
            <a:avLst/>
          </a:prstGeom>
          <a:solidFill>
            <a:srgbClr val="FFFFFF"/>
          </a:solidFill>
          <a:ln w="15875">
            <a:solidFill>
              <a:srgbClr val="17324D"/>
            </a:solidFill>
            <a:prstDash val="solid"/>
          </a:ln>
        </p:spPr>
      </p:sp>
      <p:sp>
        <p:nvSpPr>
          <p:cNvPr id="25" name="Text 23"/>
          <p:cNvSpPr txBox="1"/>
          <p:nvPr/>
        </p:nvSpPr>
        <p:spPr>
          <a:xfrm>
            <a:off x="566928" y="3986784"/>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5</a:t>
            </a:r>
            <a:endParaRPr lang="en-US" sz="1400" dirty="0"/>
          </a:p>
        </p:txBody>
      </p:sp>
      <p:sp>
        <p:nvSpPr>
          <p:cNvPr id="26" name="Text 24"/>
          <p:cNvSpPr txBox="1"/>
          <p:nvPr/>
        </p:nvSpPr>
        <p:spPr>
          <a:xfrm>
            <a:off x="1051560" y="3922776"/>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消化腺分泌の亢進</a:t>
            </a:r>
            <a:endParaRPr lang="en-US" sz="15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74320"/>
            <a:ext cx="868680" cy="384048"/>
          </a:xfrm>
          <a:prstGeom prst="roundRect">
            <a:avLst>
              <a:gd name="adj" fmla="val 19048"/>
            </a:avLst>
          </a:prstGeom>
          <a:solidFill>
            <a:srgbClr val="D9534F"/>
          </a:solidFill>
          <a:ln/>
        </p:spPr>
      </p:sp>
      <p:sp>
        <p:nvSpPr>
          <p:cNvPr id="3" name="Text 1"/>
          <p:cNvSpPr txBox="1"/>
          <p:nvPr/>
        </p:nvSpPr>
        <p:spPr>
          <a:xfrm>
            <a:off x="457200" y="274320"/>
            <a:ext cx="86868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解説</a:t>
            </a:r>
            <a:endParaRPr lang="en-US" sz="1300" dirty="0"/>
          </a:p>
        </p:txBody>
      </p:sp>
      <p:sp>
        <p:nvSpPr>
          <p:cNvPr id="4" name="Text 2"/>
          <p:cNvSpPr txBox="1"/>
          <p:nvPr/>
        </p:nvSpPr>
        <p:spPr>
          <a:xfrm>
            <a:off x="1417320" y="274320"/>
            <a:ext cx="731520" cy="384048"/>
          </a:xfrm>
          <a:prstGeom prst="rect">
            <a:avLst/>
          </a:prstGeom>
          <a:noFill/>
          <a:ln/>
        </p:spPr>
        <p:txBody>
          <a:bodyPr wrap="square" lIns="0" tIns="0" rIns="0" bIns="0" rtlCol="0" anchor="ctr"/>
          <a:lstStyle/>
          <a:p>
            <a:pPr indent="0" marL="0">
              <a:buNone/>
            </a:pPr>
            <a:r>
              <a:rPr lang="en-US" sz="2000" b="1" dirty="0">
                <a:solidFill>
                  <a:srgbClr val="17324D"/>
                </a:solidFill>
                <a:latin typeface="Arial" pitchFamily="34" charset="0"/>
                <a:ea typeface="Arial" pitchFamily="34" charset="-122"/>
                <a:cs typeface="Arial" pitchFamily="34" charset="-120"/>
              </a:rPr>
              <a:t>[21]</a:t>
            </a:r>
            <a:endParaRPr lang="en-US" sz="2000" dirty="0"/>
          </a:p>
        </p:txBody>
      </p:sp>
      <p:sp>
        <p:nvSpPr>
          <p:cNvPr id="5" name="Text 3"/>
          <p:cNvSpPr txBox="1"/>
          <p:nvPr/>
        </p:nvSpPr>
        <p:spPr>
          <a:xfrm>
            <a:off x="5943600" y="274320"/>
            <a:ext cx="2743200" cy="384048"/>
          </a:xfrm>
          <a:prstGeom prst="rect">
            <a:avLst/>
          </a:prstGeom>
          <a:noFill/>
          <a:ln/>
        </p:spPr>
        <p:txBody>
          <a:bodyPr wrap="square" lIns="0" tIns="0" rIns="0" bIns="0" rtlCol="0" anchor="ctr"/>
          <a:lstStyle/>
          <a:p>
            <a:pPr algn="r" indent="0" marL="0">
              <a:buNone/>
            </a:pPr>
            <a:r>
              <a:rPr lang="en-US" sz="1100" dirty="0">
                <a:solidFill>
                  <a:srgbClr val="5F6B76"/>
                </a:solidFill>
                <a:latin typeface="Meiryo" pitchFamily="34" charset="0"/>
                <a:ea typeface="Meiryo" pitchFamily="34" charset="-122"/>
                <a:cs typeface="Meiryo" pitchFamily="34" charset="-120"/>
              </a:rPr>
              <a:t>47回午前62</a:t>
            </a:r>
            <a:endParaRPr lang="en-US" sz="1100" dirty="0"/>
          </a:p>
        </p:txBody>
      </p:sp>
      <p:sp>
        <p:nvSpPr>
          <p:cNvPr id="6" name="Text 4"/>
          <p:cNvSpPr txBox="1"/>
          <p:nvPr/>
        </p:nvSpPr>
        <p:spPr>
          <a:xfrm>
            <a:off x="457200" y="731520"/>
            <a:ext cx="8229600" cy="594360"/>
          </a:xfrm>
          <a:prstGeom prst="rect">
            <a:avLst/>
          </a:prstGeom>
          <a:noFill/>
          <a:ln/>
        </p:spPr>
        <p:txBody>
          <a:bodyPr wrap="square" lIns="0" tIns="0" rIns="0" bIns="0" rtlCol="0" anchor="t"/>
          <a:lstStyle/>
          <a:p>
            <a:pPr indent="0" marL="0">
              <a:buNone/>
            </a:pPr>
            <a:r>
              <a:rPr lang="en-US" sz="1700" b="1" dirty="0">
                <a:solidFill>
                  <a:srgbClr val="222222"/>
                </a:solidFill>
                <a:latin typeface="Meiryo" pitchFamily="34" charset="0"/>
                <a:ea typeface="Meiryo" pitchFamily="34" charset="-122"/>
                <a:cs typeface="Meiryo" pitchFamily="34" charset="-120"/>
              </a:rPr>
              <a:t>交感神経の興奮によって生じるのはどれか。２つ選べ。</a:t>
            </a:r>
            <a:endParaRPr lang="en-US" sz="1700" dirty="0"/>
          </a:p>
        </p:txBody>
      </p:sp>
      <p:sp>
        <p:nvSpPr>
          <p:cNvPr id="7" name="Shape 5"/>
          <p:cNvSpPr/>
          <p:nvPr/>
        </p:nvSpPr>
        <p:spPr>
          <a:xfrm>
            <a:off x="457200" y="1417320"/>
            <a:ext cx="8229600" cy="457200"/>
          </a:xfrm>
          <a:prstGeom prst="roundRect">
            <a:avLst>
              <a:gd name="adj" fmla="val 16000"/>
            </a:avLst>
          </a:prstGeom>
          <a:solidFill>
            <a:srgbClr val="FBE3E2"/>
          </a:solidFill>
          <a:ln w="19050">
            <a:solidFill>
              <a:srgbClr val="D9534F"/>
            </a:solidFill>
            <a:prstDash val="solid"/>
          </a:ln>
        </p:spPr>
      </p:sp>
      <p:sp>
        <p:nvSpPr>
          <p:cNvPr id="8" name="Shape 6"/>
          <p:cNvSpPr/>
          <p:nvPr/>
        </p:nvSpPr>
        <p:spPr>
          <a:xfrm>
            <a:off x="548640" y="1481328"/>
            <a:ext cx="329184" cy="329184"/>
          </a:xfrm>
          <a:prstGeom prst="ellipse">
            <a:avLst/>
          </a:prstGeom>
          <a:solidFill>
            <a:srgbClr val="D9534F"/>
          </a:solidFill>
          <a:ln w="12700">
            <a:solidFill>
              <a:srgbClr val="D9534F"/>
            </a:solidFill>
            <a:prstDash val="solid"/>
          </a:ln>
        </p:spPr>
      </p:sp>
      <p:sp>
        <p:nvSpPr>
          <p:cNvPr id="9" name="Text 7"/>
          <p:cNvSpPr txBox="1"/>
          <p:nvPr/>
        </p:nvSpPr>
        <p:spPr>
          <a:xfrm>
            <a:off x="548640" y="1481328"/>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10" name="Text 8"/>
          <p:cNvSpPr txBox="1"/>
          <p:nvPr/>
        </p:nvSpPr>
        <p:spPr>
          <a:xfrm>
            <a:off x="987552" y="1417320"/>
            <a:ext cx="3017520" cy="457200"/>
          </a:xfrm>
          <a:prstGeom prst="rect">
            <a:avLst/>
          </a:prstGeom>
          <a:noFill/>
          <a:ln/>
        </p:spPr>
        <p:txBody>
          <a:bodyPr wrap="square" lIns="0" tIns="0" rIns="0" bIns="0" rtlCol="0" anchor="ctr"/>
          <a:lstStyle/>
          <a:p>
            <a:pPr indent="0" marL="0">
              <a:buNone/>
            </a:pPr>
            <a:r>
              <a:rPr lang="en-US" sz="1200" b="1" dirty="0">
                <a:solidFill>
                  <a:srgbClr val="D9534F"/>
                </a:solidFill>
                <a:latin typeface="Meiryo" pitchFamily="34" charset="0"/>
                <a:ea typeface="Meiryo" pitchFamily="34" charset="-122"/>
                <a:cs typeface="Meiryo" pitchFamily="34" charset="-120"/>
              </a:rPr>
              <a:t>気管支の拡張</a:t>
            </a:r>
            <a:endParaRPr lang="en-US" sz="1200" dirty="0"/>
          </a:p>
        </p:txBody>
      </p:sp>
      <p:sp>
        <p:nvSpPr>
          <p:cNvPr id="11" name="Text 9"/>
          <p:cNvSpPr txBox="1"/>
          <p:nvPr/>
        </p:nvSpPr>
        <p:spPr>
          <a:xfrm>
            <a:off x="4096512" y="1417320"/>
            <a:ext cx="4526280" cy="457200"/>
          </a:xfrm>
          <a:prstGeom prst="rect">
            <a:avLst/>
          </a:prstGeom>
          <a:noFill/>
          <a:ln/>
        </p:spPr>
        <p:txBody>
          <a:bodyPr wrap="square" lIns="0" tIns="0" rIns="0" bIns="0" rtlCol="0" anchor="ctr"/>
          <a:lstStyle/>
          <a:p>
            <a:pPr indent="0" marL="0">
              <a:buNone/>
            </a:pPr>
            <a:r>
              <a:rPr lang="en-US" sz="1100" dirty="0">
                <a:solidFill>
                  <a:srgbClr val="222222"/>
                </a:solidFill>
                <a:latin typeface="Meiryo" pitchFamily="34" charset="0"/>
                <a:ea typeface="Meiryo" pitchFamily="34" charset="-122"/>
                <a:cs typeface="Meiryo" pitchFamily="34" charset="-120"/>
              </a:rPr>
              <a:t>○</a:t>
            </a:r>
            <a:endParaRPr lang="en-US" sz="1100" dirty="0"/>
          </a:p>
        </p:txBody>
      </p:sp>
      <p:sp>
        <p:nvSpPr>
          <p:cNvPr id="12" name="Shape 10"/>
          <p:cNvSpPr/>
          <p:nvPr/>
        </p:nvSpPr>
        <p:spPr>
          <a:xfrm>
            <a:off x="457200" y="1947672"/>
            <a:ext cx="8229600" cy="457200"/>
          </a:xfrm>
          <a:prstGeom prst="roundRect">
            <a:avLst>
              <a:gd name="adj" fmla="val 16000"/>
            </a:avLst>
          </a:prstGeom>
          <a:solidFill>
            <a:srgbClr val="F4F6F8"/>
          </a:solidFill>
          <a:ln/>
        </p:spPr>
      </p:sp>
      <p:sp>
        <p:nvSpPr>
          <p:cNvPr id="13" name="Shape 11"/>
          <p:cNvSpPr/>
          <p:nvPr/>
        </p:nvSpPr>
        <p:spPr>
          <a:xfrm>
            <a:off x="548640" y="2011680"/>
            <a:ext cx="329184" cy="329184"/>
          </a:xfrm>
          <a:prstGeom prst="ellipse">
            <a:avLst/>
          </a:prstGeom>
          <a:solidFill>
            <a:srgbClr val="FFFFFF"/>
          </a:solidFill>
          <a:ln w="12700">
            <a:solidFill>
              <a:srgbClr val="8A96A3"/>
            </a:solidFill>
            <a:prstDash val="solid"/>
          </a:ln>
        </p:spPr>
      </p:sp>
      <p:sp>
        <p:nvSpPr>
          <p:cNvPr id="14" name="Text 12"/>
          <p:cNvSpPr txBox="1"/>
          <p:nvPr/>
        </p:nvSpPr>
        <p:spPr>
          <a:xfrm>
            <a:off x="548640" y="2011680"/>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2</a:t>
            </a:r>
            <a:endParaRPr lang="en-US" sz="1300" dirty="0"/>
          </a:p>
        </p:txBody>
      </p:sp>
      <p:sp>
        <p:nvSpPr>
          <p:cNvPr id="15" name="Text 13"/>
          <p:cNvSpPr txBox="1"/>
          <p:nvPr/>
        </p:nvSpPr>
        <p:spPr>
          <a:xfrm>
            <a:off x="987552" y="1947672"/>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筋血管の収縮</a:t>
            </a:r>
            <a:endParaRPr lang="en-US" sz="1200" dirty="0"/>
          </a:p>
        </p:txBody>
      </p:sp>
      <p:sp>
        <p:nvSpPr>
          <p:cNvPr id="16" name="Text 14"/>
          <p:cNvSpPr txBox="1"/>
          <p:nvPr/>
        </p:nvSpPr>
        <p:spPr>
          <a:xfrm>
            <a:off x="4096512" y="1947672"/>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骨格筋の血管は拡張（β2）</a:t>
            </a:r>
            <a:endParaRPr lang="en-US" sz="1100" dirty="0"/>
          </a:p>
        </p:txBody>
      </p:sp>
      <p:sp>
        <p:nvSpPr>
          <p:cNvPr id="17" name="Shape 15"/>
          <p:cNvSpPr/>
          <p:nvPr/>
        </p:nvSpPr>
        <p:spPr>
          <a:xfrm>
            <a:off x="457200" y="2478024"/>
            <a:ext cx="8229600" cy="457200"/>
          </a:xfrm>
          <a:prstGeom prst="roundRect">
            <a:avLst>
              <a:gd name="adj" fmla="val 16000"/>
            </a:avLst>
          </a:prstGeom>
          <a:solidFill>
            <a:srgbClr val="FBE3E2"/>
          </a:solidFill>
          <a:ln w="19050">
            <a:solidFill>
              <a:srgbClr val="D9534F"/>
            </a:solidFill>
            <a:prstDash val="solid"/>
          </a:ln>
        </p:spPr>
      </p:sp>
      <p:sp>
        <p:nvSpPr>
          <p:cNvPr id="18" name="Shape 16"/>
          <p:cNvSpPr/>
          <p:nvPr/>
        </p:nvSpPr>
        <p:spPr>
          <a:xfrm>
            <a:off x="548640" y="2542032"/>
            <a:ext cx="329184" cy="329184"/>
          </a:xfrm>
          <a:prstGeom prst="ellipse">
            <a:avLst/>
          </a:prstGeom>
          <a:solidFill>
            <a:srgbClr val="D9534F"/>
          </a:solidFill>
          <a:ln w="12700">
            <a:solidFill>
              <a:srgbClr val="D9534F"/>
            </a:solidFill>
            <a:prstDash val="solid"/>
          </a:ln>
        </p:spPr>
      </p:sp>
      <p:sp>
        <p:nvSpPr>
          <p:cNvPr id="19" name="Text 17"/>
          <p:cNvSpPr txBox="1"/>
          <p:nvPr/>
        </p:nvSpPr>
        <p:spPr>
          <a:xfrm>
            <a:off x="548640" y="254203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20" name="Text 18"/>
          <p:cNvSpPr txBox="1"/>
          <p:nvPr/>
        </p:nvSpPr>
        <p:spPr>
          <a:xfrm>
            <a:off x="987552" y="2478024"/>
            <a:ext cx="3017520" cy="457200"/>
          </a:xfrm>
          <a:prstGeom prst="rect">
            <a:avLst/>
          </a:prstGeom>
          <a:noFill/>
          <a:ln/>
        </p:spPr>
        <p:txBody>
          <a:bodyPr wrap="square" lIns="0" tIns="0" rIns="0" bIns="0" rtlCol="0" anchor="ctr"/>
          <a:lstStyle/>
          <a:p>
            <a:pPr indent="0" marL="0">
              <a:buNone/>
            </a:pPr>
            <a:r>
              <a:rPr lang="en-US" sz="1200" b="1" dirty="0">
                <a:solidFill>
                  <a:srgbClr val="D9534F"/>
                </a:solidFill>
                <a:latin typeface="Meiryo" pitchFamily="34" charset="0"/>
                <a:ea typeface="Meiryo" pitchFamily="34" charset="-122"/>
                <a:cs typeface="Meiryo" pitchFamily="34" charset="-120"/>
              </a:rPr>
              <a:t>皮膚血管の収縮</a:t>
            </a:r>
            <a:endParaRPr lang="en-US" sz="1200" dirty="0"/>
          </a:p>
        </p:txBody>
      </p:sp>
      <p:sp>
        <p:nvSpPr>
          <p:cNvPr id="21" name="Text 19"/>
          <p:cNvSpPr txBox="1"/>
          <p:nvPr/>
        </p:nvSpPr>
        <p:spPr>
          <a:xfrm>
            <a:off x="4096512" y="2478024"/>
            <a:ext cx="4526280" cy="457200"/>
          </a:xfrm>
          <a:prstGeom prst="rect">
            <a:avLst/>
          </a:prstGeom>
          <a:noFill/>
          <a:ln/>
        </p:spPr>
        <p:txBody>
          <a:bodyPr wrap="square" lIns="0" tIns="0" rIns="0" bIns="0" rtlCol="0" anchor="ctr"/>
          <a:lstStyle/>
          <a:p>
            <a:pPr indent="0" marL="0">
              <a:buNone/>
            </a:pPr>
            <a:r>
              <a:rPr lang="en-US" sz="1100" dirty="0">
                <a:solidFill>
                  <a:srgbClr val="222222"/>
                </a:solidFill>
                <a:latin typeface="Meiryo" pitchFamily="34" charset="0"/>
                <a:ea typeface="Meiryo" pitchFamily="34" charset="-122"/>
                <a:cs typeface="Meiryo" pitchFamily="34" charset="-120"/>
              </a:rPr>
              <a:t>○（α1）</a:t>
            </a:r>
            <a:endParaRPr lang="en-US" sz="1100" dirty="0"/>
          </a:p>
        </p:txBody>
      </p:sp>
      <p:sp>
        <p:nvSpPr>
          <p:cNvPr id="22" name="Shape 20"/>
          <p:cNvSpPr/>
          <p:nvPr/>
        </p:nvSpPr>
        <p:spPr>
          <a:xfrm>
            <a:off x="457200" y="3008376"/>
            <a:ext cx="8229600" cy="457200"/>
          </a:xfrm>
          <a:prstGeom prst="roundRect">
            <a:avLst>
              <a:gd name="adj" fmla="val 16000"/>
            </a:avLst>
          </a:prstGeom>
          <a:solidFill>
            <a:srgbClr val="F4F6F8"/>
          </a:solidFill>
          <a:ln/>
        </p:spPr>
      </p:sp>
      <p:sp>
        <p:nvSpPr>
          <p:cNvPr id="23" name="Shape 21"/>
          <p:cNvSpPr/>
          <p:nvPr/>
        </p:nvSpPr>
        <p:spPr>
          <a:xfrm>
            <a:off x="548640" y="3072384"/>
            <a:ext cx="329184" cy="329184"/>
          </a:xfrm>
          <a:prstGeom prst="ellipse">
            <a:avLst/>
          </a:prstGeom>
          <a:solidFill>
            <a:srgbClr val="FFFFFF"/>
          </a:solidFill>
          <a:ln w="12700">
            <a:solidFill>
              <a:srgbClr val="8A96A3"/>
            </a:solidFill>
            <a:prstDash val="solid"/>
          </a:ln>
        </p:spPr>
      </p:sp>
      <p:sp>
        <p:nvSpPr>
          <p:cNvPr id="24" name="Text 22"/>
          <p:cNvSpPr txBox="1"/>
          <p:nvPr/>
        </p:nvSpPr>
        <p:spPr>
          <a:xfrm>
            <a:off x="548640" y="3072384"/>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4</a:t>
            </a:r>
            <a:endParaRPr lang="en-US" sz="1300" dirty="0"/>
          </a:p>
        </p:txBody>
      </p:sp>
      <p:sp>
        <p:nvSpPr>
          <p:cNvPr id="25" name="Text 23"/>
          <p:cNvSpPr txBox="1"/>
          <p:nvPr/>
        </p:nvSpPr>
        <p:spPr>
          <a:xfrm>
            <a:off x="987552" y="3008376"/>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涙腺分泌の亢進</a:t>
            </a:r>
            <a:endParaRPr lang="en-US" sz="1200" dirty="0"/>
          </a:p>
        </p:txBody>
      </p:sp>
      <p:sp>
        <p:nvSpPr>
          <p:cNvPr id="26" name="Text 24"/>
          <p:cNvSpPr txBox="1"/>
          <p:nvPr/>
        </p:nvSpPr>
        <p:spPr>
          <a:xfrm>
            <a:off x="4096512" y="3008376"/>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副交感</a:t>
            </a:r>
            <a:endParaRPr lang="en-US" sz="1100" dirty="0"/>
          </a:p>
        </p:txBody>
      </p:sp>
      <p:sp>
        <p:nvSpPr>
          <p:cNvPr id="27" name="Shape 25"/>
          <p:cNvSpPr/>
          <p:nvPr/>
        </p:nvSpPr>
        <p:spPr>
          <a:xfrm>
            <a:off x="457200" y="3538728"/>
            <a:ext cx="8229600" cy="457200"/>
          </a:xfrm>
          <a:prstGeom prst="roundRect">
            <a:avLst>
              <a:gd name="adj" fmla="val 16000"/>
            </a:avLst>
          </a:prstGeom>
          <a:solidFill>
            <a:srgbClr val="F4F6F8"/>
          </a:solidFill>
          <a:ln/>
        </p:spPr>
      </p:sp>
      <p:sp>
        <p:nvSpPr>
          <p:cNvPr id="28" name="Shape 26"/>
          <p:cNvSpPr/>
          <p:nvPr/>
        </p:nvSpPr>
        <p:spPr>
          <a:xfrm>
            <a:off x="548640" y="3602736"/>
            <a:ext cx="329184" cy="329184"/>
          </a:xfrm>
          <a:prstGeom prst="ellipse">
            <a:avLst/>
          </a:prstGeom>
          <a:solidFill>
            <a:srgbClr val="FFFFFF"/>
          </a:solidFill>
          <a:ln w="12700">
            <a:solidFill>
              <a:srgbClr val="8A96A3"/>
            </a:solidFill>
            <a:prstDash val="solid"/>
          </a:ln>
        </p:spPr>
      </p:sp>
      <p:sp>
        <p:nvSpPr>
          <p:cNvPr id="29" name="Text 27"/>
          <p:cNvSpPr txBox="1"/>
          <p:nvPr/>
        </p:nvSpPr>
        <p:spPr>
          <a:xfrm>
            <a:off x="548640" y="3602736"/>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5</a:t>
            </a:r>
            <a:endParaRPr lang="en-US" sz="1300" dirty="0"/>
          </a:p>
        </p:txBody>
      </p:sp>
      <p:sp>
        <p:nvSpPr>
          <p:cNvPr id="30" name="Text 28"/>
          <p:cNvSpPr txBox="1"/>
          <p:nvPr/>
        </p:nvSpPr>
        <p:spPr>
          <a:xfrm>
            <a:off x="987552" y="3538728"/>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消化腺分泌の亢進</a:t>
            </a:r>
            <a:endParaRPr lang="en-US" sz="1200" dirty="0"/>
          </a:p>
        </p:txBody>
      </p:sp>
      <p:sp>
        <p:nvSpPr>
          <p:cNvPr id="31" name="Text 29"/>
          <p:cNvSpPr txBox="1"/>
          <p:nvPr/>
        </p:nvSpPr>
        <p:spPr>
          <a:xfrm>
            <a:off x="4096512" y="3538728"/>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副交感</a:t>
            </a:r>
            <a:endParaRPr lang="en-US" sz="1100" dirty="0"/>
          </a:p>
        </p:txBody>
      </p:sp>
      <p:sp>
        <p:nvSpPr>
          <p:cNvPr id="32" name="Shape 30"/>
          <p:cNvSpPr/>
          <p:nvPr/>
        </p:nvSpPr>
        <p:spPr>
          <a:xfrm>
            <a:off x="457200" y="4160520"/>
            <a:ext cx="1463040" cy="685800"/>
          </a:xfrm>
          <a:prstGeom prst="roundRect">
            <a:avLst>
              <a:gd name="adj" fmla="val 10667"/>
            </a:avLst>
          </a:prstGeom>
          <a:solidFill>
            <a:srgbClr val="D9534F"/>
          </a:solidFill>
          <a:ln/>
        </p:spPr>
      </p:sp>
      <p:sp>
        <p:nvSpPr>
          <p:cNvPr id="33" name="Text 31"/>
          <p:cNvSpPr txBox="1"/>
          <p:nvPr/>
        </p:nvSpPr>
        <p:spPr>
          <a:xfrm>
            <a:off x="457200" y="4160520"/>
            <a:ext cx="1463040" cy="685800"/>
          </a:xfrm>
          <a:prstGeom prst="rect">
            <a:avLst/>
          </a:prstGeom>
          <a:noFill/>
          <a:ln/>
        </p:spPr>
        <p:txBody>
          <a:bodyPr wrap="square" lIns="0" tIns="0" rIns="0" bIns="0" rtlCol="0" anchor="ctr"/>
          <a:lstStyle/>
          <a:p>
            <a:pPr algn="ctr" indent="0" marL="0">
              <a:buNone/>
            </a:pPr>
            <a:r>
              <a:rPr lang="en-US" sz="1100" dirty="0">
                <a:solidFill>
                  <a:srgbClr val="FFFFFF"/>
                </a:solidFill>
                <a:latin typeface="Meiryo" pitchFamily="34" charset="0"/>
                <a:ea typeface="Meiryo" pitchFamily="34" charset="-122"/>
                <a:cs typeface="Meiryo" pitchFamily="34" charset="-120"/>
              </a:rPr>
              <a:t>正解</a:t>
            </a:r>
            <a:endParaRPr lang="en-US" sz="1100" dirty="0"/>
          </a:p>
          <a:p>
            <a:pPr algn="ctr" indent="0" marL="0">
              <a:buNone/>
            </a:pPr>
            <a:r>
              <a:rPr lang="en-US" sz="2200" b="1" dirty="0">
                <a:solidFill>
                  <a:srgbClr val="FFFFFF"/>
                </a:solidFill>
                <a:latin typeface="Meiryo" pitchFamily="34" charset="0"/>
                <a:ea typeface="Meiryo" pitchFamily="34" charset="-122"/>
                <a:cs typeface="Meiryo" pitchFamily="34" charset="-120"/>
              </a:rPr>
              <a:t>1・3</a:t>
            </a:r>
            <a:endParaRPr lang="en-US" sz="1100" dirty="0"/>
          </a:p>
        </p:txBody>
      </p:sp>
      <p:sp>
        <p:nvSpPr>
          <p:cNvPr id="34" name="Shape 32"/>
          <p:cNvSpPr/>
          <p:nvPr/>
        </p:nvSpPr>
        <p:spPr>
          <a:xfrm>
            <a:off x="2057400" y="4160520"/>
            <a:ext cx="6629400" cy="685800"/>
          </a:xfrm>
          <a:prstGeom prst="roundRect">
            <a:avLst>
              <a:gd name="adj" fmla="val 10667"/>
            </a:avLst>
          </a:prstGeom>
          <a:solidFill>
            <a:srgbClr val="EAF2F8"/>
          </a:solidFill>
          <a:ln/>
        </p:spPr>
      </p:sp>
      <p:sp>
        <p:nvSpPr>
          <p:cNvPr id="35" name="Text 33"/>
          <p:cNvSpPr txBox="1"/>
          <p:nvPr/>
        </p:nvSpPr>
        <p:spPr>
          <a:xfrm>
            <a:off x="2194560" y="4160520"/>
            <a:ext cx="6400800" cy="685800"/>
          </a:xfrm>
          <a:prstGeom prst="rect">
            <a:avLst/>
          </a:prstGeom>
          <a:noFill/>
          <a:ln/>
        </p:spPr>
        <p:txBody>
          <a:bodyPr wrap="square" lIns="0" tIns="0" rIns="0" bIns="0" rtlCol="0" anchor="ctr"/>
          <a:lstStyle/>
          <a:p>
            <a:pPr indent="0" marL="0">
              <a:buNone/>
            </a:pPr>
            <a:r>
              <a:rPr lang="en-US" sz="1200" b="1" dirty="0">
                <a:solidFill>
                  <a:srgbClr val="2A7F9E"/>
                </a:solidFill>
                <a:latin typeface="Meiryo" pitchFamily="34" charset="0"/>
                <a:ea typeface="Meiryo" pitchFamily="34" charset="-122"/>
                <a:cs typeface="Meiryo" pitchFamily="34" charset="-120"/>
              </a:rPr>
              <a:t>POINT　</a:t>
            </a:r>
            <a:pPr indent="0" marL="0">
              <a:buNone/>
            </a:pPr>
            <a:r>
              <a:rPr lang="en-US" sz="1200" dirty="0">
                <a:solidFill>
                  <a:srgbClr val="222222"/>
                </a:solidFill>
                <a:latin typeface="Meiryo" pitchFamily="34" charset="0"/>
                <a:ea typeface="Meiryo" pitchFamily="34" charset="-122"/>
                <a:cs typeface="Meiryo" pitchFamily="34" charset="-120"/>
              </a:rPr>
              <a:t>交感神経：皮膚・内臓の血管は収縮、骨格筋の血管は拡張 → 血液を筋へ。</a:t>
            </a:r>
            <a:endParaRPr lang="en-US" sz="12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74320"/>
            <a:ext cx="868680" cy="384048"/>
          </a:xfrm>
          <a:prstGeom prst="roundRect">
            <a:avLst>
              <a:gd name="adj" fmla="val 19048"/>
            </a:avLst>
          </a:prstGeom>
          <a:solidFill>
            <a:srgbClr val="17324D"/>
          </a:solidFill>
          <a:ln/>
        </p:spPr>
      </p:sp>
      <p:sp>
        <p:nvSpPr>
          <p:cNvPr id="3" name="Text 1"/>
          <p:cNvSpPr txBox="1"/>
          <p:nvPr/>
        </p:nvSpPr>
        <p:spPr>
          <a:xfrm>
            <a:off x="457200" y="274320"/>
            <a:ext cx="86868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問題</a:t>
            </a:r>
            <a:endParaRPr lang="en-US" sz="1300" dirty="0"/>
          </a:p>
        </p:txBody>
      </p:sp>
      <p:sp>
        <p:nvSpPr>
          <p:cNvPr id="4" name="Text 2"/>
          <p:cNvSpPr txBox="1"/>
          <p:nvPr/>
        </p:nvSpPr>
        <p:spPr>
          <a:xfrm>
            <a:off x="1417320" y="274320"/>
            <a:ext cx="731520" cy="384048"/>
          </a:xfrm>
          <a:prstGeom prst="rect">
            <a:avLst/>
          </a:prstGeom>
          <a:noFill/>
          <a:ln/>
        </p:spPr>
        <p:txBody>
          <a:bodyPr wrap="square" lIns="0" tIns="0" rIns="0" bIns="0" rtlCol="0" anchor="ctr"/>
          <a:lstStyle/>
          <a:p>
            <a:pPr indent="0" marL="0">
              <a:buNone/>
            </a:pPr>
            <a:r>
              <a:rPr lang="en-US" sz="2000" b="1" dirty="0">
                <a:solidFill>
                  <a:srgbClr val="17324D"/>
                </a:solidFill>
                <a:latin typeface="Arial" pitchFamily="34" charset="0"/>
                <a:ea typeface="Arial" pitchFamily="34" charset="-122"/>
                <a:cs typeface="Arial" pitchFamily="34" charset="-120"/>
              </a:rPr>
              <a:t>[22]</a:t>
            </a:r>
            <a:endParaRPr lang="en-US" sz="2000" dirty="0"/>
          </a:p>
        </p:txBody>
      </p:sp>
      <p:sp>
        <p:nvSpPr>
          <p:cNvPr id="5" name="Text 3"/>
          <p:cNvSpPr txBox="1"/>
          <p:nvPr/>
        </p:nvSpPr>
        <p:spPr>
          <a:xfrm>
            <a:off x="5943600" y="274320"/>
            <a:ext cx="2743200" cy="384048"/>
          </a:xfrm>
          <a:prstGeom prst="rect">
            <a:avLst/>
          </a:prstGeom>
          <a:noFill/>
          <a:ln/>
        </p:spPr>
        <p:txBody>
          <a:bodyPr wrap="square" lIns="0" tIns="0" rIns="0" bIns="0" rtlCol="0" anchor="ctr"/>
          <a:lstStyle/>
          <a:p>
            <a:pPr algn="r" indent="0" marL="0">
              <a:buNone/>
            </a:pPr>
            <a:r>
              <a:rPr lang="en-US" sz="1100" dirty="0">
                <a:solidFill>
                  <a:srgbClr val="5F6B76"/>
                </a:solidFill>
                <a:latin typeface="Meiryo" pitchFamily="34" charset="0"/>
                <a:ea typeface="Meiryo" pitchFamily="34" charset="-122"/>
                <a:cs typeface="Meiryo" pitchFamily="34" charset="-120"/>
              </a:rPr>
              <a:t>47回午後64</a:t>
            </a:r>
            <a:endParaRPr lang="en-US" sz="1100" dirty="0"/>
          </a:p>
        </p:txBody>
      </p:sp>
      <p:sp>
        <p:nvSpPr>
          <p:cNvPr id="6" name="Text 4"/>
          <p:cNvSpPr txBox="1"/>
          <p:nvPr/>
        </p:nvSpPr>
        <p:spPr>
          <a:xfrm>
            <a:off x="457200" y="731520"/>
            <a:ext cx="8229600" cy="594360"/>
          </a:xfrm>
          <a:prstGeom prst="rect">
            <a:avLst/>
          </a:prstGeom>
          <a:noFill/>
          <a:ln/>
        </p:spPr>
        <p:txBody>
          <a:bodyPr wrap="square" lIns="0" tIns="0" rIns="0" bIns="0" rtlCol="0" anchor="t"/>
          <a:lstStyle/>
          <a:p>
            <a:pPr indent="0" marL="0">
              <a:buNone/>
            </a:pPr>
            <a:r>
              <a:rPr lang="en-US" sz="1700" b="1" dirty="0">
                <a:solidFill>
                  <a:srgbClr val="222222"/>
                </a:solidFill>
                <a:latin typeface="Meiryo" pitchFamily="34" charset="0"/>
                <a:ea typeface="Meiryo" pitchFamily="34" charset="-122"/>
                <a:cs typeface="Meiryo" pitchFamily="34" charset="-120"/>
              </a:rPr>
              <a:t>自律神経について正しいのはどれか。</a:t>
            </a:r>
            <a:endParaRPr lang="en-US" sz="1700" dirty="0"/>
          </a:p>
        </p:txBody>
      </p:sp>
      <p:sp>
        <p:nvSpPr>
          <p:cNvPr id="7" name="Shape 5"/>
          <p:cNvSpPr/>
          <p:nvPr/>
        </p:nvSpPr>
        <p:spPr>
          <a:xfrm>
            <a:off x="457200" y="1508760"/>
            <a:ext cx="8229600" cy="493776"/>
          </a:xfrm>
          <a:prstGeom prst="roundRect">
            <a:avLst>
              <a:gd name="adj" fmla="val 14815"/>
            </a:avLst>
          </a:prstGeom>
          <a:solidFill>
            <a:srgbClr val="EAF2F8"/>
          </a:solidFill>
          <a:ln/>
        </p:spPr>
      </p:sp>
      <p:sp>
        <p:nvSpPr>
          <p:cNvPr id="8" name="Shape 6"/>
          <p:cNvSpPr/>
          <p:nvPr/>
        </p:nvSpPr>
        <p:spPr>
          <a:xfrm>
            <a:off x="566928" y="1572768"/>
            <a:ext cx="365760" cy="365760"/>
          </a:xfrm>
          <a:prstGeom prst="ellipse">
            <a:avLst/>
          </a:prstGeom>
          <a:solidFill>
            <a:srgbClr val="FFFFFF"/>
          </a:solidFill>
          <a:ln w="15875">
            <a:solidFill>
              <a:srgbClr val="17324D"/>
            </a:solidFill>
            <a:prstDash val="solid"/>
          </a:ln>
        </p:spPr>
      </p:sp>
      <p:sp>
        <p:nvSpPr>
          <p:cNvPr id="9" name="Text 7"/>
          <p:cNvSpPr txBox="1"/>
          <p:nvPr/>
        </p:nvSpPr>
        <p:spPr>
          <a:xfrm>
            <a:off x="566928" y="1572768"/>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1</a:t>
            </a:r>
            <a:endParaRPr lang="en-US" sz="1400" dirty="0"/>
          </a:p>
        </p:txBody>
      </p:sp>
      <p:sp>
        <p:nvSpPr>
          <p:cNvPr id="10" name="Text 8"/>
          <p:cNvSpPr txBox="1"/>
          <p:nvPr/>
        </p:nvSpPr>
        <p:spPr>
          <a:xfrm>
            <a:off x="1051560" y="1508760"/>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興奮は不随意である</a:t>
            </a:r>
            <a:endParaRPr lang="en-US" sz="1500" dirty="0"/>
          </a:p>
        </p:txBody>
      </p:sp>
      <p:sp>
        <p:nvSpPr>
          <p:cNvPr id="11" name="Shape 9"/>
          <p:cNvSpPr/>
          <p:nvPr/>
        </p:nvSpPr>
        <p:spPr>
          <a:xfrm>
            <a:off x="457200" y="2112264"/>
            <a:ext cx="8229600" cy="493776"/>
          </a:xfrm>
          <a:prstGeom prst="roundRect">
            <a:avLst>
              <a:gd name="adj" fmla="val 14815"/>
            </a:avLst>
          </a:prstGeom>
          <a:solidFill>
            <a:srgbClr val="EAF2F8"/>
          </a:solidFill>
          <a:ln/>
        </p:spPr>
      </p:sp>
      <p:sp>
        <p:nvSpPr>
          <p:cNvPr id="12" name="Shape 10"/>
          <p:cNvSpPr/>
          <p:nvPr/>
        </p:nvSpPr>
        <p:spPr>
          <a:xfrm>
            <a:off x="566928" y="2176272"/>
            <a:ext cx="365760" cy="365760"/>
          </a:xfrm>
          <a:prstGeom prst="ellipse">
            <a:avLst/>
          </a:prstGeom>
          <a:solidFill>
            <a:srgbClr val="FFFFFF"/>
          </a:solidFill>
          <a:ln w="15875">
            <a:solidFill>
              <a:srgbClr val="17324D"/>
            </a:solidFill>
            <a:prstDash val="solid"/>
          </a:ln>
        </p:spPr>
      </p:sp>
      <p:sp>
        <p:nvSpPr>
          <p:cNvPr id="13" name="Text 11"/>
          <p:cNvSpPr txBox="1"/>
          <p:nvPr/>
        </p:nvSpPr>
        <p:spPr>
          <a:xfrm>
            <a:off x="566928" y="2176272"/>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2</a:t>
            </a:r>
            <a:endParaRPr lang="en-US" sz="1400" dirty="0"/>
          </a:p>
        </p:txBody>
      </p:sp>
      <p:sp>
        <p:nvSpPr>
          <p:cNvPr id="14" name="Text 12"/>
          <p:cNvSpPr txBox="1"/>
          <p:nvPr/>
        </p:nvSpPr>
        <p:spPr>
          <a:xfrm>
            <a:off x="1051560" y="2112264"/>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精神的因子は関与しない</a:t>
            </a:r>
            <a:endParaRPr lang="en-US" sz="1500" dirty="0"/>
          </a:p>
        </p:txBody>
      </p:sp>
      <p:sp>
        <p:nvSpPr>
          <p:cNvPr id="15" name="Shape 13"/>
          <p:cNvSpPr/>
          <p:nvPr/>
        </p:nvSpPr>
        <p:spPr>
          <a:xfrm>
            <a:off x="457200" y="2715768"/>
            <a:ext cx="8229600" cy="493776"/>
          </a:xfrm>
          <a:prstGeom prst="roundRect">
            <a:avLst>
              <a:gd name="adj" fmla="val 14815"/>
            </a:avLst>
          </a:prstGeom>
          <a:solidFill>
            <a:srgbClr val="EAF2F8"/>
          </a:solidFill>
          <a:ln/>
        </p:spPr>
      </p:sp>
      <p:sp>
        <p:nvSpPr>
          <p:cNvPr id="16" name="Shape 14"/>
          <p:cNvSpPr/>
          <p:nvPr/>
        </p:nvSpPr>
        <p:spPr>
          <a:xfrm>
            <a:off x="566928" y="2779776"/>
            <a:ext cx="365760" cy="365760"/>
          </a:xfrm>
          <a:prstGeom prst="ellipse">
            <a:avLst/>
          </a:prstGeom>
          <a:solidFill>
            <a:srgbClr val="FFFFFF"/>
          </a:solidFill>
          <a:ln w="15875">
            <a:solidFill>
              <a:srgbClr val="17324D"/>
            </a:solidFill>
            <a:prstDash val="solid"/>
          </a:ln>
        </p:spPr>
      </p:sp>
      <p:sp>
        <p:nvSpPr>
          <p:cNvPr id="17" name="Text 15"/>
          <p:cNvSpPr txBox="1"/>
          <p:nvPr/>
        </p:nvSpPr>
        <p:spPr>
          <a:xfrm>
            <a:off x="566928" y="2779776"/>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3</a:t>
            </a:r>
            <a:endParaRPr lang="en-US" sz="1400" dirty="0"/>
          </a:p>
        </p:txBody>
      </p:sp>
      <p:sp>
        <p:nvSpPr>
          <p:cNvPr id="18" name="Text 16"/>
          <p:cNvSpPr txBox="1"/>
          <p:nvPr/>
        </p:nvSpPr>
        <p:spPr>
          <a:xfrm>
            <a:off x="1051560" y="2715768"/>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体性内臓反射の求心路である</a:t>
            </a:r>
            <a:endParaRPr lang="en-US" sz="1500" dirty="0"/>
          </a:p>
        </p:txBody>
      </p:sp>
      <p:sp>
        <p:nvSpPr>
          <p:cNvPr id="19" name="Shape 17"/>
          <p:cNvSpPr/>
          <p:nvPr/>
        </p:nvSpPr>
        <p:spPr>
          <a:xfrm>
            <a:off x="457200" y="3319272"/>
            <a:ext cx="8229600" cy="493776"/>
          </a:xfrm>
          <a:prstGeom prst="roundRect">
            <a:avLst>
              <a:gd name="adj" fmla="val 14815"/>
            </a:avLst>
          </a:prstGeom>
          <a:solidFill>
            <a:srgbClr val="EAF2F8"/>
          </a:solidFill>
          <a:ln/>
        </p:spPr>
      </p:sp>
      <p:sp>
        <p:nvSpPr>
          <p:cNvPr id="20" name="Shape 18"/>
          <p:cNvSpPr/>
          <p:nvPr/>
        </p:nvSpPr>
        <p:spPr>
          <a:xfrm>
            <a:off x="566928" y="3383280"/>
            <a:ext cx="365760" cy="365760"/>
          </a:xfrm>
          <a:prstGeom prst="ellipse">
            <a:avLst/>
          </a:prstGeom>
          <a:solidFill>
            <a:srgbClr val="FFFFFF"/>
          </a:solidFill>
          <a:ln w="15875">
            <a:solidFill>
              <a:srgbClr val="17324D"/>
            </a:solidFill>
            <a:prstDash val="solid"/>
          </a:ln>
        </p:spPr>
      </p:sp>
      <p:sp>
        <p:nvSpPr>
          <p:cNvPr id="21" name="Text 19"/>
          <p:cNvSpPr txBox="1"/>
          <p:nvPr/>
        </p:nvSpPr>
        <p:spPr>
          <a:xfrm>
            <a:off x="566928" y="3383280"/>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4</a:t>
            </a:r>
            <a:endParaRPr lang="en-US" sz="1400" dirty="0"/>
          </a:p>
        </p:txBody>
      </p:sp>
      <p:sp>
        <p:nvSpPr>
          <p:cNvPr id="22" name="Text 20"/>
          <p:cNvSpPr txBox="1"/>
          <p:nvPr/>
        </p:nvSpPr>
        <p:spPr>
          <a:xfrm>
            <a:off x="1051560" y="3319272"/>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副交感神経の節後線維は交感神経に比べて長い</a:t>
            </a:r>
            <a:endParaRPr lang="en-US" sz="1500" dirty="0"/>
          </a:p>
        </p:txBody>
      </p:sp>
      <p:sp>
        <p:nvSpPr>
          <p:cNvPr id="23" name="Shape 21"/>
          <p:cNvSpPr/>
          <p:nvPr/>
        </p:nvSpPr>
        <p:spPr>
          <a:xfrm>
            <a:off x="457200" y="3922776"/>
            <a:ext cx="8229600" cy="493776"/>
          </a:xfrm>
          <a:prstGeom prst="roundRect">
            <a:avLst>
              <a:gd name="adj" fmla="val 14815"/>
            </a:avLst>
          </a:prstGeom>
          <a:solidFill>
            <a:srgbClr val="EAF2F8"/>
          </a:solidFill>
          <a:ln/>
        </p:spPr>
      </p:sp>
      <p:sp>
        <p:nvSpPr>
          <p:cNvPr id="24" name="Shape 22"/>
          <p:cNvSpPr/>
          <p:nvPr/>
        </p:nvSpPr>
        <p:spPr>
          <a:xfrm>
            <a:off x="566928" y="3986784"/>
            <a:ext cx="365760" cy="365760"/>
          </a:xfrm>
          <a:prstGeom prst="ellipse">
            <a:avLst/>
          </a:prstGeom>
          <a:solidFill>
            <a:srgbClr val="FFFFFF"/>
          </a:solidFill>
          <a:ln w="15875">
            <a:solidFill>
              <a:srgbClr val="17324D"/>
            </a:solidFill>
            <a:prstDash val="solid"/>
          </a:ln>
        </p:spPr>
      </p:sp>
      <p:sp>
        <p:nvSpPr>
          <p:cNvPr id="25" name="Text 23"/>
          <p:cNvSpPr txBox="1"/>
          <p:nvPr/>
        </p:nvSpPr>
        <p:spPr>
          <a:xfrm>
            <a:off x="566928" y="3986784"/>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5</a:t>
            </a:r>
            <a:endParaRPr lang="en-US" sz="1400" dirty="0"/>
          </a:p>
        </p:txBody>
      </p:sp>
      <p:sp>
        <p:nvSpPr>
          <p:cNvPr id="26" name="Text 24"/>
          <p:cNvSpPr txBox="1"/>
          <p:nvPr/>
        </p:nvSpPr>
        <p:spPr>
          <a:xfrm>
            <a:off x="1051560" y="3922776"/>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交感神経節前線維の伝達物質はノルアドレナリンである</a:t>
            </a:r>
            <a:endParaRPr lang="en-US" sz="15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74320"/>
            <a:ext cx="868680" cy="384048"/>
          </a:xfrm>
          <a:prstGeom prst="roundRect">
            <a:avLst>
              <a:gd name="adj" fmla="val 19048"/>
            </a:avLst>
          </a:prstGeom>
          <a:solidFill>
            <a:srgbClr val="D9534F"/>
          </a:solidFill>
          <a:ln/>
        </p:spPr>
      </p:sp>
      <p:sp>
        <p:nvSpPr>
          <p:cNvPr id="3" name="Text 1"/>
          <p:cNvSpPr txBox="1"/>
          <p:nvPr/>
        </p:nvSpPr>
        <p:spPr>
          <a:xfrm>
            <a:off x="457200" y="274320"/>
            <a:ext cx="86868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解説</a:t>
            </a:r>
            <a:endParaRPr lang="en-US" sz="1300" dirty="0"/>
          </a:p>
        </p:txBody>
      </p:sp>
      <p:sp>
        <p:nvSpPr>
          <p:cNvPr id="4" name="Text 2"/>
          <p:cNvSpPr txBox="1"/>
          <p:nvPr/>
        </p:nvSpPr>
        <p:spPr>
          <a:xfrm>
            <a:off x="1417320" y="274320"/>
            <a:ext cx="731520" cy="384048"/>
          </a:xfrm>
          <a:prstGeom prst="rect">
            <a:avLst/>
          </a:prstGeom>
          <a:noFill/>
          <a:ln/>
        </p:spPr>
        <p:txBody>
          <a:bodyPr wrap="square" lIns="0" tIns="0" rIns="0" bIns="0" rtlCol="0" anchor="ctr"/>
          <a:lstStyle/>
          <a:p>
            <a:pPr indent="0" marL="0">
              <a:buNone/>
            </a:pPr>
            <a:r>
              <a:rPr lang="en-US" sz="2000" b="1" dirty="0">
                <a:solidFill>
                  <a:srgbClr val="17324D"/>
                </a:solidFill>
                <a:latin typeface="Arial" pitchFamily="34" charset="0"/>
                <a:ea typeface="Arial" pitchFamily="34" charset="-122"/>
                <a:cs typeface="Arial" pitchFamily="34" charset="-120"/>
              </a:rPr>
              <a:t>[22]</a:t>
            </a:r>
            <a:endParaRPr lang="en-US" sz="2000" dirty="0"/>
          </a:p>
        </p:txBody>
      </p:sp>
      <p:sp>
        <p:nvSpPr>
          <p:cNvPr id="5" name="Text 3"/>
          <p:cNvSpPr txBox="1"/>
          <p:nvPr/>
        </p:nvSpPr>
        <p:spPr>
          <a:xfrm>
            <a:off x="5943600" y="274320"/>
            <a:ext cx="2743200" cy="384048"/>
          </a:xfrm>
          <a:prstGeom prst="rect">
            <a:avLst/>
          </a:prstGeom>
          <a:noFill/>
          <a:ln/>
        </p:spPr>
        <p:txBody>
          <a:bodyPr wrap="square" lIns="0" tIns="0" rIns="0" bIns="0" rtlCol="0" anchor="ctr"/>
          <a:lstStyle/>
          <a:p>
            <a:pPr algn="r" indent="0" marL="0">
              <a:buNone/>
            </a:pPr>
            <a:r>
              <a:rPr lang="en-US" sz="1100" dirty="0">
                <a:solidFill>
                  <a:srgbClr val="5F6B76"/>
                </a:solidFill>
                <a:latin typeface="Meiryo" pitchFamily="34" charset="0"/>
                <a:ea typeface="Meiryo" pitchFamily="34" charset="-122"/>
                <a:cs typeface="Meiryo" pitchFamily="34" charset="-120"/>
              </a:rPr>
              <a:t>47回午後64</a:t>
            </a:r>
            <a:endParaRPr lang="en-US" sz="1100" dirty="0"/>
          </a:p>
        </p:txBody>
      </p:sp>
      <p:sp>
        <p:nvSpPr>
          <p:cNvPr id="6" name="Text 4"/>
          <p:cNvSpPr txBox="1"/>
          <p:nvPr/>
        </p:nvSpPr>
        <p:spPr>
          <a:xfrm>
            <a:off x="457200" y="731520"/>
            <a:ext cx="8229600" cy="594360"/>
          </a:xfrm>
          <a:prstGeom prst="rect">
            <a:avLst/>
          </a:prstGeom>
          <a:noFill/>
          <a:ln/>
        </p:spPr>
        <p:txBody>
          <a:bodyPr wrap="square" lIns="0" tIns="0" rIns="0" bIns="0" rtlCol="0" anchor="t"/>
          <a:lstStyle/>
          <a:p>
            <a:pPr indent="0" marL="0">
              <a:buNone/>
            </a:pPr>
            <a:r>
              <a:rPr lang="en-US" sz="1700" b="1" dirty="0">
                <a:solidFill>
                  <a:srgbClr val="222222"/>
                </a:solidFill>
                <a:latin typeface="Meiryo" pitchFamily="34" charset="0"/>
                <a:ea typeface="Meiryo" pitchFamily="34" charset="-122"/>
                <a:cs typeface="Meiryo" pitchFamily="34" charset="-120"/>
              </a:rPr>
              <a:t>自律神経について正しいのはどれか。</a:t>
            </a:r>
            <a:endParaRPr lang="en-US" sz="1700" dirty="0"/>
          </a:p>
        </p:txBody>
      </p:sp>
      <p:sp>
        <p:nvSpPr>
          <p:cNvPr id="7" name="Shape 5"/>
          <p:cNvSpPr/>
          <p:nvPr/>
        </p:nvSpPr>
        <p:spPr>
          <a:xfrm>
            <a:off x="457200" y="1417320"/>
            <a:ext cx="8229600" cy="457200"/>
          </a:xfrm>
          <a:prstGeom prst="roundRect">
            <a:avLst>
              <a:gd name="adj" fmla="val 16000"/>
            </a:avLst>
          </a:prstGeom>
          <a:solidFill>
            <a:srgbClr val="FBE3E2"/>
          </a:solidFill>
          <a:ln w="19050">
            <a:solidFill>
              <a:srgbClr val="D9534F"/>
            </a:solidFill>
            <a:prstDash val="solid"/>
          </a:ln>
        </p:spPr>
      </p:sp>
      <p:sp>
        <p:nvSpPr>
          <p:cNvPr id="8" name="Shape 6"/>
          <p:cNvSpPr/>
          <p:nvPr/>
        </p:nvSpPr>
        <p:spPr>
          <a:xfrm>
            <a:off x="548640" y="1481328"/>
            <a:ext cx="329184" cy="329184"/>
          </a:xfrm>
          <a:prstGeom prst="ellipse">
            <a:avLst/>
          </a:prstGeom>
          <a:solidFill>
            <a:srgbClr val="D9534F"/>
          </a:solidFill>
          <a:ln w="12700">
            <a:solidFill>
              <a:srgbClr val="D9534F"/>
            </a:solidFill>
            <a:prstDash val="solid"/>
          </a:ln>
        </p:spPr>
      </p:sp>
      <p:sp>
        <p:nvSpPr>
          <p:cNvPr id="9" name="Text 7"/>
          <p:cNvSpPr txBox="1"/>
          <p:nvPr/>
        </p:nvSpPr>
        <p:spPr>
          <a:xfrm>
            <a:off x="548640" y="1481328"/>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10" name="Text 8"/>
          <p:cNvSpPr txBox="1"/>
          <p:nvPr/>
        </p:nvSpPr>
        <p:spPr>
          <a:xfrm>
            <a:off x="987552" y="1417320"/>
            <a:ext cx="3017520" cy="457200"/>
          </a:xfrm>
          <a:prstGeom prst="rect">
            <a:avLst/>
          </a:prstGeom>
          <a:noFill/>
          <a:ln/>
        </p:spPr>
        <p:txBody>
          <a:bodyPr wrap="square" lIns="0" tIns="0" rIns="0" bIns="0" rtlCol="0" anchor="ctr"/>
          <a:lstStyle/>
          <a:p>
            <a:pPr indent="0" marL="0">
              <a:buNone/>
            </a:pPr>
            <a:r>
              <a:rPr lang="en-US" sz="1200" b="1" dirty="0">
                <a:solidFill>
                  <a:srgbClr val="D9534F"/>
                </a:solidFill>
                <a:latin typeface="Meiryo" pitchFamily="34" charset="0"/>
                <a:ea typeface="Meiryo" pitchFamily="34" charset="-122"/>
                <a:cs typeface="Meiryo" pitchFamily="34" charset="-120"/>
              </a:rPr>
              <a:t>興奮は不随意である</a:t>
            </a:r>
            <a:endParaRPr lang="en-US" sz="1200" dirty="0"/>
          </a:p>
        </p:txBody>
      </p:sp>
      <p:sp>
        <p:nvSpPr>
          <p:cNvPr id="11" name="Text 9"/>
          <p:cNvSpPr txBox="1"/>
          <p:nvPr/>
        </p:nvSpPr>
        <p:spPr>
          <a:xfrm>
            <a:off x="4096512" y="1417320"/>
            <a:ext cx="4526280" cy="457200"/>
          </a:xfrm>
          <a:prstGeom prst="rect">
            <a:avLst/>
          </a:prstGeom>
          <a:noFill/>
          <a:ln/>
        </p:spPr>
        <p:txBody>
          <a:bodyPr wrap="square" lIns="0" tIns="0" rIns="0" bIns="0" rtlCol="0" anchor="ctr"/>
          <a:lstStyle/>
          <a:p>
            <a:pPr indent="0" marL="0">
              <a:buNone/>
            </a:pPr>
            <a:r>
              <a:rPr lang="en-US" sz="1100" dirty="0">
                <a:solidFill>
                  <a:srgbClr val="222222"/>
                </a:solidFill>
                <a:latin typeface="Meiryo" pitchFamily="34" charset="0"/>
                <a:ea typeface="Meiryo" pitchFamily="34" charset="-122"/>
                <a:cs typeface="Meiryo" pitchFamily="34" charset="-120"/>
              </a:rPr>
              <a:t>正しい</a:t>
            </a:r>
            <a:endParaRPr lang="en-US" sz="1100" dirty="0"/>
          </a:p>
        </p:txBody>
      </p:sp>
      <p:sp>
        <p:nvSpPr>
          <p:cNvPr id="12" name="Shape 10"/>
          <p:cNvSpPr/>
          <p:nvPr/>
        </p:nvSpPr>
        <p:spPr>
          <a:xfrm>
            <a:off x="457200" y="1947672"/>
            <a:ext cx="8229600" cy="457200"/>
          </a:xfrm>
          <a:prstGeom prst="roundRect">
            <a:avLst>
              <a:gd name="adj" fmla="val 16000"/>
            </a:avLst>
          </a:prstGeom>
          <a:solidFill>
            <a:srgbClr val="F4F6F8"/>
          </a:solidFill>
          <a:ln/>
        </p:spPr>
      </p:sp>
      <p:sp>
        <p:nvSpPr>
          <p:cNvPr id="13" name="Shape 11"/>
          <p:cNvSpPr/>
          <p:nvPr/>
        </p:nvSpPr>
        <p:spPr>
          <a:xfrm>
            <a:off x="548640" y="2011680"/>
            <a:ext cx="329184" cy="329184"/>
          </a:xfrm>
          <a:prstGeom prst="ellipse">
            <a:avLst/>
          </a:prstGeom>
          <a:solidFill>
            <a:srgbClr val="FFFFFF"/>
          </a:solidFill>
          <a:ln w="12700">
            <a:solidFill>
              <a:srgbClr val="8A96A3"/>
            </a:solidFill>
            <a:prstDash val="solid"/>
          </a:ln>
        </p:spPr>
      </p:sp>
      <p:sp>
        <p:nvSpPr>
          <p:cNvPr id="14" name="Text 12"/>
          <p:cNvSpPr txBox="1"/>
          <p:nvPr/>
        </p:nvSpPr>
        <p:spPr>
          <a:xfrm>
            <a:off x="548640" y="2011680"/>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2</a:t>
            </a:r>
            <a:endParaRPr lang="en-US" sz="1300" dirty="0"/>
          </a:p>
        </p:txBody>
      </p:sp>
      <p:sp>
        <p:nvSpPr>
          <p:cNvPr id="15" name="Text 13"/>
          <p:cNvSpPr txBox="1"/>
          <p:nvPr/>
        </p:nvSpPr>
        <p:spPr>
          <a:xfrm>
            <a:off x="987552" y="1947672"/>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精神的因子は関与しない</a:t>
            </a:r>
            <a:endParaRPr lang="en-US" sz="1200" dirty="0"/>
          </a:p>
        </p:txBody>
      </p:sp>
      <p:sp>
        <p:nvSpPr>
          <p:cNvPr id="16" name="Text 14"/>
          <p:cNvSpPr txBox="1"/>
          <p:nvPr/>
        </p:nvSpPr>
        <p:spPr>
          <a:xfrm>
            <a:off x="4096512" y="1947672"/>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情動・ストレスで変化する</a:t>
            </a:r>
            <a:endParaRPr lang="en-US" sz="1100" dirty="0"/>
          </a:p>
        </p:txBody>
      </p:sp>
      <p:sp>
        <p:nvSpPr>
          <p:cNvPr id="17" name="Shape 15"/>
          <p:cNvSpPr/>
          <p:nvPr/>
        </p:nvSpPr>
        <p:spPr>
          <a:xfrm>
            <a:off x="457200" y="2478024"/>
            <a:ext cx="8229600" cy="457200"/>
          </a:xfrm>
          <a:prstGeom prst="roundRect">
            <a:avLst>
              <a:gd name="adj" fmla="val 16000"/>
            </a:avLst>
          </a:prstGeom>
          <a:solidFill>
            <a:srgbClr val="F4F6F8"/>
          </a:solidFill>
          <a:ln/>
        </p:spPr>
      </p:sp>
      <p:sp>
        <p:nvSpPr>
          <p:cNvPr id="18" name="Shape 16"/>
          <p:cNvSpPr/>
          <p:nvPr/>
        </p:nvSpPr>
        <p:spPr>
          <a:xfrm>
            <a:off x="548640" y="2542032"/>
            <a:ext cx="329184" cy="329184"/>
          </a:xfrm>
          <a:prstGeom prst="ellipse">
            <a:avLst/>
          </a:prstGeom>
          <a:solidFill>
            <a:srgbClr val="FFFFFF"/>
          </a:solidFill>
          <a:ln w="12700">
            <a:solidFill>
              <a:srgbClr val="8A96A3"/>
            </a:solidFill>
            <a:prstDash val="solid"/>
          </a:ln>
        </p:spPr>
      </p:sp>
      <p:sp>
        <p:nvSpPr>
          <p:cNvPr id="19" name="Text 17"/>
          <p:cNvSpPr txBox="1"/>
          <p:nvPr/>
        </p:nvSpPr>
        <p:spPr>
          <a:xfrm>
            <a:off x="548640" y="2542032"/>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3</a:t>
            </a:r>
            <a:endParaRPr lang="en-US" sz="1300" dirty="0"/>
          </a:p>
        </p:txBody>
      </p:sp>
      <p:sp>
        <p:nvSpPr>
          <p:cNvPr id="20" name="Text 18"/>
          <p:cNvSpPr txBox="1"/>
          <p:nvPr/>
        </p:nvSpPr>
        <p:spPr>
          <a:xfrm>
            <a:off x="987552" y="2478024"/>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体性内臓反射の求心路である</a:t>
            </a:r>
            <a:endParaRPr lang="en-US" sz="1200" dirty="0"/>
          </a:p>
        </p:txBody>
      </p:sp>
      <p:sp>
        <p:nvSpPr>
          <p:cNvPr id="21" name="Text 19"/>
          <p:cNvSpPr txBox="1"/>
          <p:nvPr/>
        </p:nvSpPr>
        <p:spPr>
          <a:xfrm>
            <a:off x="4096512" y="2478024"/>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体性内臓反射の遠心路</a:t>
            </a:r>
            <a:endParaRPr lang="en-US" sz="1100" dirty="0"/>
          </a:p>
        </p:txBody>
      </p:sp>
      <p:sp>
        <p:nvSpPr>
          <p:cNvPr id="22" name="Shape 20"/>
          <p:cNvSpPr/>
          <p:nvPr/>
        </p:nvSpPr>
        <p:spPr>
          <a:xfrm>
            <a:off x="457200" y="3008376"/>
            <a:ext cx="8229600" cy="457200"/>
          </a:xfrm>
          <a:prstGeom prst="roundRect">
            <a:avLst>
              <a:gd name="adj" fmla="val 16000"/>
            </a:avLst>
          </a:prstGeom>
          <a:solidFill>
            <a:srgbClr val="F4F6F8"/>
          </a:solidFill>
          <a:ln/>
        </p:spPr>
      </p:sp>
      <p:sp>
        <p:nvSpPr>
          <p:cNvPr id="23" name="Shape 21"/>
          <p:cNvSpPr/>
          <p:nvPr/>
        </p:nvSpPr>
        <p:spPr>
          <a:xfrm>
            <a:off x="548640" y="3072384"/>
            <a:ext cx="329184" cy="329184"/>
          </a:xfrm>
          <a:prstGeom prst="ellipse">
            <a:avLst/>
          </a:prstGeom>
          <a:solidFill>
            <a:srgbClr val="FFFFFF"/>
          </a:solidFill>
          <a:ln w="12700">
            <a:solidFill>
              <a:srgbClr val="8A96A3"/>
            </a:solidFill>
            <a:prstDash val="solid"/>
          </a:ln>
        </p:spPr>
      </p:sp>
      <p:sp>
        <p:nvSpPr>
          <p:cNvPr id="24" name="Text 22"/>
          <p:cNvSpPr txBox="1"/>
          <p:nvPr/>
        </p:nvSpPr>
        <p:spPr>
          <a:xfrm>
            <a:off x="548640" y="3072384"/>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4</a:t>
            </a:r>
            <a:endParaRPr lang="en-US" sz="1300" dirty="0"/>
          </a:p>
        </p:txBody>
      </p:sp>
      <p:sp>
        <p:nvSpPr>
          <p:cNvPr id="25" name="Text 23"/>
          <p:cNvSpPr txBox="1"/>
          <p:nvPr/>
        </p:nvSpPr>
        <p:spPr>
          <a:xfrm>
            <a:off x="987552" y="3008376"/>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副交感神経の節後線維は交感神経に比べて長い</a:t>
            </a:r>
            <a:endParaRPr lang="en-US" sz="1200" dirty="0"/>
          </a:p>
        </p:txBody>
      </p:sp>
      <p:sp>
        <p:nvSpPr>
          <p:cNvPr id="26" name="Text 24"/>
          <p:cNvSpPr txBox="1"/>
          <p:nvPr/>
        </p:nvSpPr>
        <p:spPr>
          <a:xfrm>
            <a:off x="4096512" y="3008376"/>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副交感の節後線維は短い（神経節が効果器の近く）</a:t>
            </a:r>
            <a:endParaRPr lang="en-US" sz="1100" dirty="0"/>
          </a:p>
        </p:txBody>
      </p:sp>
      <p:sp>
        <p:nvSpPr>
          <p:cNvPr id="27" name="Shape 25"/>
          <p:cNvSpPr/>
          <p:nvPr/>
        </p:nvSpPr>
        <p:spPr>
          <a:xfrm>
            <a:off x="457200" y="3538728"/>
            <a:ext cx="8229600" cy="457200"/>
          </a:xfrm>
          <a:prstGeom prst="roundRect">
            <a:avLst>
              <a:gd name="adj" fmla="val 16000"/>
            </a:avLst>
          </a:prstGeom>
          <a:solidFill>
            <a:srgbClr val="F4F6F8"/>
          </a:solidFill>
          <a:ln/>
        </p:spPr>
      </p:sp>
      <p:sp>
        <p:nvSpPr>
          <p:cNvPr id="28" name="Shape 26"/>
          <p:cNvSpPr/>
          <p:nvPr/>
        </p:nvSpPr>
        <p:spPr>
          <a:xfrm>
            <a:off x="548640" y="3602736"/>
            <a:ext cx="329184" cy="329184"/>
          </a:xfrm>
          <a:prstGeom prst="ellipse">
            <a:avLst/>
          </a:prstGeom>
          <a:solidFill>
            <a:srgbClr val="FFFFFF"/>
          </a:solidFill>
          <a:ln w="12700">
            <a:solidFill>
              <a:srgbClr val="8A96A3"/>
            </a:solidFill>
            <a:prstDash val="solid"/>
          </a:ln>
        </p:spPr>
      </p:sp>
      <p:sp>
        <p:nvSpPr>
          <p:cNvPr id="29" name="Text 27"/>
          <p:cNvSpPr txBox="1"/>
          <p:nvPr/>
        </p:nvSpPr>
        <p:spPr>
          <a:xfrm>
            <a:off x="548640" y="3602736"/>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5</a:t>
            </a:r>
            <a:endParaRPr lang="en-US" sz="1300" dirty="0"/>
          </a:p>
        </p:txBody>
      </p:sp>
      <p:sp>
        <p:nvSpPr>
          <p:cNvPr id="30" name="Text 28"/>
          <p:cNvSpPr txBox="1"/>
          <p:nvPr/>
        </p:nvSpPr>
        <p:spPr>
          <a:xfrm>
            <a:off x="987552" y="3538728"/>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交感神経節前線維の伝達物質はノルアドレナリンである</a:t>
            </a:r>
            <a:endParaRPr lang="en-US" sz="1200" dirty="0"/>
          </a:p>
        </p:txBody>
      </p:sp>
      <p:sp>
        <p:nvSpPr>
          <p:cNvPr id="31" name="Text 29"/>
          <p:cNvSpPr txBox="1"/>
          <p:nvPr/>
        </p:nvSpPr>
        <p:spPr>
          <a:xfrm>
            <a:off x="4096512" y="3538728"/>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節前線維はアセチルコリン</a:t>
            </a:r>
            <a:endParaRPr lang="en-US" sz="1100" dirty="0"/>
          </a:p>
        </p:txBody>
      </p:sp>
      <p:sp>
        <p:nvSpPr>
          <p:cNvPr id="32" name="Shape 30"/>
          <p:cNvSpPr/>
          <p:nvPr/>
        </p:nvSpPr>
        <p:spPr>
          <a:xfrm>
            <a:off x="457200" y="4160520"/>
            <a:ext cx="1463040" cy="685800"/>
          </a:xfrm>
          <a:prstGeom prst="roundRect">
            <a:avLst>
              <a:gd name="adj" fmla="val 10667"/>
            </a:avLst>
          </a:prstGeom>
          <a:solidFill>
            <a:srgbClr val="D9534F"/>
          </a:solidFill>
          <a:ln/>
        </p:spPr>
      </p:sp>
      <p:sp>
        <p:nvSpPr>
          <p:cNvPr id="33" name="Text 31"/>
          <p:cNvSpPr txBox="1"/>
          <p:nvPr/>
        </p:nvSpPr>
        <p:spPr>
          <a:xfrm>
            <a:off x="457200" y="4160520"/>
            <a:ext cx="1463040" cy="685800"/>
          </a:xfrm>
          <a:prstGeom prst="rect">
            <a:avLst/>
          </a:prstGeom>
          <a:noFill/>
          <a:ln/>
        </p:spPr>
        <p:txBody>
          <a:bodyPr wrap="square" lIns="0" tIns="0" rIns="0" bIns="0" rtlCol="0" anchor="ctr"/>
          <a:lstStyle/>
          <a:p>
            <a:pPr algn="ctr" indent="0" marL="0">
              <a:buNone/>
            </a:pPr>
            <a:r>
              <a:rPr lang="en-US" sz="1100" dirty="0">
                <a:solidFill>
                  <a:srgbClr val="FFFFFF"/>
                </a:solidFill>
                <a:latin typeface="Meiryo" pitchFamily="34" charset="0"/>
                <a:ea typeface="Meiryo" pitchFamily="34" charset="-122"/>
                <a:cs typeface="Meiryo" pitchFamily="34" charset="-120"/>
              </a:rPr>
              <a:t>正解</a:t>
            </a:r>
            <a:endParaRPr lang="en-US" sz="1100" dirty="0"/>
          </a:p>
          <a:p>
            <a:pPr algn="ctr" indent="0" marL="0">
              <a:buNone/>
            </a:pPr>
            <a:r>
              <a:rPr lang="en-US" sz="2200" b="1" dirty="0">
                <a:solidFill>
                  <a:srgbClr val="FFFFFF"/>
                </a:solidFill>
                <a:latin typeface="Meiryo" pitchFamily="34" charset="0"/>
                <a:ea typeface="Meiryo" pitchFamily="34" charset="-122"/>
                <a:cs typeface="Meiryo" pitchFamily="34" charset="-120"/>
              </a:rPr>
              <a:t>1</a:t>
            </a:r>
            <a:endParaRPr lang="en-US" sz="1100" dirty="0"/>
          </a:p>
        </p:txBody>
      </p:sp>
      <p:sp>
        <p:nvSpPr>
          <p:cNvPr id="34" name="Shape 32"/>
          <p:cNvSpPr/>
          <p:nvPr/>
        </p:nvSpPr>
        <p:spPr>
          <a:xfrm>
            <a:off x="2057400" y="4160520"/>
            <a:ext cx="6629400" cy="685800"/>
          </a:xfrm>
          <a:prstGeom prst="roundRect">
            <a:avLst>
              <a:gd name="adj" fmla="val 10667"/>
            </a:avLst>
          </a:prstGeom>
          <a:solidFill>
            <a:srgbClr val="EAF2F8"/>
          </a:solidFill>
          <a:ln/>
        </p:spPr>
      </p:sp>
      <p:sp>
        <p:nvSpPr>
          <p:cNvPr id="35" name="Text 33"/>
          <p:cNvSpPr txBox="1"/>
          <p:nvPr/>
        </p:nvSpPr>
        <p:spPr>
          <a:xfrm>
            <a:off x="2194560" y="4160520"/>
            <a:ext cx="6400800" cy="685800"/>
          </a:xfrm>
          <a:prstGeom prst="rect">
            <a:avLst/>
          </a:prstGeom>
          <a:noFill/>
          <a:ln/>
        </p:spPr>
        <p:txBody>
          <a:bodyPr wrap="square" lIns="0" tIns="0" rIns="0" bIns="0" rtlCol="0" anchor="ctr"/>
          <a:lstStyle/>
          <a:p>
            <a:pPr indent="0" marL="0">
              <a:buNone/>
            </a:pPr>
            <a:r>
              <a:rPr lang="en-US" sz="1200" b="1" dirty="0">
                <a:solidFill>
                  <a:srgbClr val="2A7F9E"/>
                </a:solidFill>
                <a:latin typeface="Meiryo" pitchFamily="34" charset="0"/>
                <a:ea typeface="Meiryo" pitchFamily="34" charset="-122"/>
                <a:cs typeface="Meiryo" pitchFamily="34" charset="-120"/>
              </a:rPr>
              <a:t>POINT　</a:t>
            </a:r>
            <a:pPr indent="0" marL="0">
              <a:buNone/>
            </a:pPr>
            <a:r>
              <a:rPr lang="en-US" sz="1200" dirty="0">
                <a:solidFill>
                  <a:srgbClr val="222222"/>
                </a:solidFill>
                <a:latin typeface="Meiryo" pitchFamily="34" charset="0"/>
                <a:ea typeface="Meiryo" pitchFamily="34" charset="-122"/>
                <a:cs typeface="Meiryo" pitchFamily="34" charset="-120"/>
              </a:rPr>
              <a:t>交感：節前短・節後長、副交感：節前長・節後短。</a:t>
            </a:r>
            <a:endParaRPr lang="en-US" sz="12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74320"/>
            <a:ext cx="868680" cy="384048"/>
          </a:xfrm>
          <a:prstGeom prst="roundRect">
            <a:avLst>
              <a:gd name="adj" fmla="val 19048"/>
            </a:avLst>
          </a:prstGeom>
          <a:solidFill>
            <a:srgbClr val="17324D"/>
          </a:solidFill>
          <a:ln/>
        </p:spPr>
      </p:sp>
      <p:sp>
        <p:nvSpPr>
          <p:cNvPr id="3" name="Text 1"/>
          <p:cNvSpPr txBox="1"/>
          <p:nvPr/>
        </p:nvSpPr>
        <p:spPr>
          <a:xfrm>
            <a:off x="457200" y="274320"/>
            <a:ext cx="86868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問題</a:t>
            </a:r>
            <a:endParaRPr lang="en-US" sz="1300" dirty="0"/>
          </a:p>
        </p:txBody>
      </p:sp>
      <p:sp>
        <p:nvSpPr>
          <p:cNvPr id="4" name="Text 2"/>
          <p:cNvSpPr txBox="1"/>
          <p:nvPr/>
        </p:nvSpPr>
        <p:spPr>
          <a:xfrm>
            <a:off x="1417320" y="274320"/>
            <a:ext cx="731520" cy="384048"/>
          </a:xfrm>
          <a:prstGeom prst="rect">
            <a:avLst/>
          </a:prstGeom>
          <a:noFill/>
          <a:ln/>
        </p:spPr>
        <p:txBody>
          <a:bodyPr wrap="square" lIns="0" tIns="0" rIns="0" bIns="0" rtlCol="0" anchor="ctr"/>
          <a:lstStyle/>
          <a:p>
            <a:pPr indent="0" marL="0">
              <a:buNone/>
            </a:pPr>
            <a:r>
              <a:rPr lang="en-US" sz="2000" b="1" dirty="0">
                <a:solidFill>
                  <a:srgbClr val="17324D"/>
                </a:solidFill>
                <a:latin typeface="Arial" pitchFamily="34" charset="0"/>
                <a:ea typeface="Arial" pitchFamily="34" charset="-122"/>
                <a:cs typeface="Arial" pitchFamily="34" charset="-120"/>
              </a:rPr>
              <a:t>[23]</a:t>
            </a:r>
            <a:endParaRPr lang="en-US" sz="2000" dirty="0"/>
          </a:p>
        </p:txBody>
      </p:sp>
      <p:sp>
        <p:nvSpPr>
          <p:cNvPr id="5" name="Text 3"/>
          <p:cNvSpPr txBox="1"/>
          <p:nvPr/>
        </p:nvSpPr>
        <p:spPr>
          <a:xfrm>
            <a:off x="5943600" y="274320"/>
            <a:ext cx="2743200" cy="384048"/>
          </a:xfrm>
          <a:prstGeom prst="rect">
            <a:avLst/>
          </a:prstGeom>
          <a:noFill/>
          <a:ln/>
        </p:spPr>
        <p:txBody>
          <a:bodyPr wrap="square" lIns="0" tIns="0" rIns="0" bIns="0" rtlCol="0" anchor="ctr"/>
          <a:lstStyle/>
          <a:p>
            <a:pPr algn="r" indent="0" marL="0">
              <a:buNone/>
            </a:pPr>
            <a:r>
              <a:rPr lang="en-US" sz="1100" dirty="0">
                <a:solidFill>
                  <a:srgbClr val="5F6B76"/>
                </a:solidFill>
                <a:latin typeface="Meiryo" pitchFamily="34" charset="0"/>
                <a:ea typeface="Meiryo" pitchFamily="34" charset="-122"/>
                <a:cs typeface="Meiryo" pitchFamily="34" charset="-120"/>
              </a:rPr>
              <a:t>46回午後63</a:t>
            </a:r>
            <a:endParaRPr lang="en-US" sz="1100" dirty="0"/>
          </a:p>
        </p:txBody>
      </p:sp>
      <p:sp>
        <p:nvSpPr>
          <p:cNvPr id="6" name="Text 4"/>
          <p:cNvSpPr txBox="1"/>
          <p:nvPr/>
        </p:nvSpPr>
        <p:spPr>
          <a:xfrm>
            <a:off x="457200" y="731520"/>
            <a:ext cx="8229600" cy="594360"/>
          </a:xfrm>
          <a:prstGeom prst="rect">
            <a:avLst/>
          </a:prstGeom>
          <a:noFill/>
          <a:ln/>
        </p:spPr>
        <p:txBody>
          <a:bodyPr wrap="square" lIns="0" tIns="0" rIns="0" bIns="0" rtlCol="0" anchor="t"/>
          <a:lstStyle/>
          <a:p>
            <a:pPr indent="0" marL="0">
              <a:buNone/>
            </a:pPr>
            <a:r>
              <a:rPr lang="en-US" sz="1700" b="1" dirty="0">
                <a:solidFill>
                  <a:srgbClr val="222222"/>
                </a:solidFill>
                <a:latin typeface="Meiryo" pitchFamily="34" charset="0"/>
                <a:ea typeface="Meiryo" pitchFamily="34" charset="-122"/>
                <a:cs typeface="Meiryo" pitchFamily="34" charset="-120"/>
              </a:rPr>
              <a:t>副交感神経の興奮によるものはどれか。</a:t>
            </a:r>
            <a:endParaRPr lang="en-US" sz="1700" dirty="0"/>
          </a:p>
        </p:txBody>
      </p:sp>
      <p:sp>
        <p:nvSpPr>
          <p:cNvPr id="7" name="Shape 5"/>
          <p:cNvSpPr/>
          <p:nvPr/>
        </p:nvSpPr>
        <p:spPr>
          <a:xfrm>
            <a:off x="457200" y="1508760"/>
            <a:ext cx="8229600" cy="493776"/>
          </a:xfrm>
          <a:prstGeom prst="roundRect">
            <a:avLst>
              <a:gd name="adj" fmla="val 14815"/>
            </a:avLst>
          </a:prstGeom>
          <a:solidFill>
            <a:srgbClr val="EAF2F8"/>
          </a:solidFill>
          <a:ln/>
        </p:spPr>
      </p:sp>
      <p:sp>
        <p:nvSpPr>
          <p:cNvPr id="8" name="Shape 6"/>
          <p:cNvSpPr/>
          <p:nvPr/>
        </p:nvSpPr>
        <p:spPr>
          <a:xfrm>
            <a:off x="566928" y="1572768"/>
            <a:ext cx="365760" cy="365760"/>
          </a:xfrm>
          <a:prstGeom prst="ellipse">
            <a:avLst/>
          </a:prstGeom>
          <a:solidFill>
            <a:srgbClr val="FFFFFF"/>
          </a:solidFill>
          <a:ln w="15875">
            <a:solidFill>
              <a:srgbClr val="17324D"/>
            </a:solidFill>
            <a:prstDash val="solid"/>
          </a:ln>
        </p:spPr>
      </p:sp>
      <p:sp>
        <p:nvSpPr>
          <p:cNvPr id="9" name="Text 7"/>
          <p:cNvSpPr txBox="1"/>
          <p:nvPr/>
        </p:nvSpPr>
        <p:spPr>
          <a:xfrm>
            <a:off x="566928" y="1572768"/>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1</a:t>
            </a:r>
            <a:endParaRPr lang="en-US" sz="1400" dirty="0"/>
          </a:p>
        </p:txBody>
      </p:sp>
      <p:sp>
        <p:nvSpPr>
          <p:cNvPr id="10" name="Text 8"/>
          <p:cNvSpPr txBox="1"/>
          <p:nvPr/>
        </p:nvSpPr>
        <p:spPr>
          <a:xfrm>
            <a:off x="1051560" y="1508760"/>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瞳孔散大</a:t>
            </a:r>
            <a:endParaRPr lang="en-US" sz="1500" dirty="0"/>
          </a:p>
        </p:txBody>
      </p:sp>
      <p:sp>
        <p:nvSpPr>
          <p:cNvPr id="11" name="Shape 9"/>
          <p:cNvSpPr/>
          <p:nvPr/>
        </p:nvSpPr>
        <p:spPr>
          <a:xfrm>
            <a:off x="457200" y="2112264"/>
            <a:ext cx="8229600" cy="493776"/>
          </a:xfrm>
          <a:prstGeom prst="roundRect">
            <a:avLst>
              <a:gd name="adj" fmla="val 14815"/>
            </a:avLst>
          </a:prstGeom>
          <a:solidFill>
            <a:srgbClr val="EAF2F8"/>
          </a:solidFill>
          <a:ln/>
        </p:spPr>
      </p:sp>
      <p:sp>
        <p:nvSpPr>
          <p:cNvPr id="12" name="Shape 10"/>
          <p:cNvSpPr/>
          <p:nvPr/>
        </p:nvSpPr>
        <p:spPr>
          <a:xfrm>
            <a:off x="566928" y="2176272"/>
            <a:ext cx="365760" cy="365760"/>
          </a:xfrm>
          <a:prstGeom prst="ellipse">
            <a:avLst/>
          </a:prstGeom>
          <a:solidFill>
            <a:srgbClr val="FFFFFF"/>
          </a:solidFill>
          <a:ln w="15875">
            <a:solidFill>
              <a:srgbClr val="17324D"/>
            </a:solidFill>
            <a:prstDash val="solid"/>
          </a:ln>
        </p:spPr>
      </p:sp>
      <p:sp>
        <p:nvSpPr>
          <p:cNvPr id="13" name="Text 11"/>
          <p:cNvSpPr txBox="1"/>
          <p:nvPr/>
        </p:nvSpPr>
        <p:spPr>
          <a:xfrm>
            <a:off x="566928" y="2176272"/>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2</a:t>
            </a:r>
            <a:endParaRPr lang="en-US" sz="1400" dirty="0"/>
          </a:p>
        </p:txBody>
      </p:sp>
      <p:sp>
        <p:nvSpPr>
          <p:cNvPr id="14" name="Text 12"/>
          <p:cNvSpPr txBox="1"/>
          <p:nvPr/>
        </p:nvSpPr>
        <p:spPr>
          <a:xfrm>
            <a:off x="1051560" y="2112264"/>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胆嚢弛緩</a:t>
            </a:r>
            <a:endParaRPr lang="en-US" sz="1500" dirty="0"/>
          </a:p>
        </p:txBody>
      </p:sp>
      <p:sp>
        <p:nvSpPr>
          <p:cNvPr id="15" name="Shape 13"/>
          <p:cNvSpPr/>
          <p:nvPr/>
        </p:nvSpPr>
        <p:spPr>
          <a:xfrm>
            <a:off x="457200" y="2715768"/>
            <a:ext cx="8229600" cy="493776"/>
          </a:xfrm>
          <a:prstGeom prst="roundRect">
            <a:avLst>
              <a:gd name="adj" fmla="val 14815"/>
            </a:avLst>
          </a:prstGeom>
          <a:solidFill>
            <a:srgbClr val="EAF2F8"/>
          </a:solidFill>
          <a:ln/>
        </p:spPr>
      </p:sp>
      <p:sp>
        <p:nvSpPr>
          <p:cNvPr id="16" name="Shape 14"/>
          <p:cNvSpPr/>
          <p:nvPr/>
        </p:nvSpPr>
        <p:spPr>
          <a:xfrm>
            <a:off x="566928" y="2779776"/>
            <a:ext cx="365760" cy="365760"/>
          </a:xfrm>
          <a:prstGeom prst="ellipse">
            <a:avLst/>
          </a:prstGeom>
          <a:solidFill>
            <a:srgbClr val="FFFFFF"/>
          </a:solidFill>
          <a:ln w="15875">
            <a:solidFill>
              <a:srgbClr val="17324D"/>
            </a:solidFill>
            <a:prstDash val="solid"/>
          </a:ln>
        </p:spPr>
      </p:sp>
      <p:sp>
        <p:nvSpPr>
          <p:cNvPr id="17" name="Text 15"/>
          <p:cNvSpPr txBox="1"/>
          <p:nvPr/>
        </p:nvSpPr>
        <p:spPr>
          <a:xfrm>
            <a:off x="566928" y="2779776"/>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3</a:t>
            </a:r>
            <a:endParaRPr lang="en-US" sz="1400" dirty="0"/>
          </a:p>
        </p:txBody>
      </p:sp>
      <p:sp>
        <p:nvSpPr>
          <p:cNvPr id="18" name="Text 16"/>
          <p:cNvSpPr txBox="1"/>
          <p:nvPr/>
        </p:nvSpPr>
        <p:spPr>
          <a:xfrm>
            <a:off x="1051560" y="2715768"/>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消化管蠕動抑制</a:t>
            </a:r>
            <a:endParaRPr lang="en-US" sz="1500" dirty="0"/>
          </a:p>
        </p:txBody>
      </p:sp>
      <p:sp>
        <p:nvSpPr>
          <p:cNvPr id="19" name="Shape 17"/>
          <p:cNvSpPr/>
          <p:nvPr/>
        </p:nvSpPr>
        <p:spPr>
          <a:xfrm>
            <a:off x="457200" y="3319272"/>
            <a:ext cx="8229600" cy="493776"/>
          </a:xfrm>
          <a:prstGeom prst="roundRect">
            <a:avLst>
              <a:gd name="adj" fmla="val 14815"/>
            </a:avLst>
          </a:prstGeom>
          <a:solidFill>
            <a:srgbClr val="EAF2F8"/>
          </a:solidFill>
          <a:ln/>
        </p:spPr>
      </p:sp>
      <p:sp>
        <p:nvSpPr>
          <p:cNvPr id="20" name="Shape 18"/>
          <p:cNvSpPr/>
          <p:nvPr/>
        </p:nvSpPr>
        <p:spPr>
          <a:xfrm>
            <a:off x="566928" y="3383280"/>
            <a:ext cx="365760" cy="365760"/>
          </a:xfrm>
          <a:prstGeom prst="ellipse">
            <a:avLst/>
          </a:prstGeom>
          <a:solidFill>
            <a:srgbClr val="FFFFFF"/>
          </a:solidFill>
          <a:ln w="15875">
            <a:solidFill>
              <a:srgbClr val="17324D"/>
            </a:solidFill>
            <a:prstDash val="solid"/>
          </a:ln>
        </p:spPr>
      </p:sp>
      <p:sp>
        <p:nvSpPr>
          <p:cNvPr id="21" name="Text 19"/>
          <p:cNvSpPr txBox="1"/>
          <p:nvPr/>
        </p:nvSpPr>
        <p:spPr>
          <a:xfrm>
            <a:off x="566928" y="3383280"/>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4</a:t>
            </a:r>
            <a:endParaRPr lang="en-US" sz="1400" dirty="0"/>
          </a:p>
        </p:txBody>
      </p:sp>
      <p:sp>
        <p:nvSpPr>
          <p:cNvPr id="22" name="Text 20"/>
          <p:cNvSpPr txBox="1"/>
          <p:nvPr/>
        </p:nvSpPr>
        <p:spPr>
          <a:xfrm>
            <a:off x="1051560" y="3319272"/>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気管支平滑筋収縮</a:t>
            </a:r>
            <a:endParaRPr lang="en-US" sz="1500" dirty="0"/>
          </a:p>
        </p:txBody>
      </p:sp>
      <p:sp>
        <p:nvSpPr>
          <p:cNvPr id="23" name="Shape 21"/>
          <p:cNvSpPr/>
          <p:nvPr/>
        </p:nvSpPr>
        <p:spPr>
          <a:xfrm>
            <a:off x="457200" y="3922776"/>
            <a:ext cx="8229600" cy="493776"/>
          </a:xfrm>
          <a:prstGeom prst="roundRect">
            <a:avLst>
              <a:gd name="adj" fmla="val 14815"/>
            </a:avLst>
          </a:prstGeom>
          <a:solidFill>
            <a:srgbClr val="EAF2F8"/>
          </a:solidFill>
          <a:ln/>
        </p:spPr>
      </p:sp>
      <p:sp>
        <p:nvSpPr>
          <p:cNvPr id="24" name="Shape 22"/>
          <p:cNvSpPr/>
          <p:nvPr/>
        </p:nvSpPr>
        <p:spPr>
          <a:xfrm>
            <a:off x="566928" y="3986784"/>
            <a:ext cx="365760" cy="365760"/>
          </a:xfrm>
          <a:prstGeom prst="ellipse">
            <a:avLst/>
          </a:prstGeom>
          <a:solidFill>
            <a:srgbClr val="FFFFFF"/>
          </a:solidFill>
          <a:ln w="15875">
            <a:solidFill>
              <a:srgbClr val="17324D"/>
            </a:solidFill>
            <a:prstDash val="solid"/>
          </a:ln>
        </p:spPr>
      </p:sp>
      <p:sp>
        <p:nvSpPr>
          <p:cNvPr id="25" name="Text 23"/>
          <p:cNvSpPr txBox="1"/>
          <p:nvPr/>
        </p:nvSpPr>
        <p:spPr>
          <a:xfrm>
            <a:off x="566928" y="3986784"/>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5</a:t>
            </a:r>
            <a:endParaRPr lang="en-US" sz="1400" dirty="0"/>
          </a:p>
        </p:txBody>
      </p:sp>
      <p:sp>
        <p:nvSpPr>
          <p:cNvPr id="26" name="Text 24"/>
          <p:cNvSpPr txBox="1"/>
          <p:nvPr/>
        </p:nvSpPr>
        <p:spPr>
          <a:xfrm>
            <a:off x="1051560" y="3922776"/>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外生殖器血管収縮</a:t>
            </a:r>
            <a:endParaRPr lang="en-US" sz="15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74320"/>
            <a:ext cx="868680" cy="384048"/>
          </a:xfrm>
          <a:prstGeom prst="roundRect">
            <a:avLst>
              <a:gd name="adj" fmla="val 19048"/>
            </a:avLst>
          </a:prstGeom>
          <a:solidFill>
            <a:srgbClr val="D9534F"/>
          </a:solidFill>
          <a:ln/>
        </p:spPr>
      </p:sp>
      <p:sp>
        <p:nvSpPr>
          <p:cNvPr id="3" name="Text 1"/>
          <p:cNvSpPr txBox="1"/>
          <p:nvPr/>
        </p:nvSpPr>
        <p:spPr>
          <a:xfrm>
            <a:off x="457200" y="274320"/>
            <a:ext cx="86868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解説</a:t>
            </a:r>
            <a:endParaRPr lang="en-US" sz="1300" dirty="0"/>
          </a:p>
        </p:txBody>
      </p:sp>
      <p:sp>
        <p:nvSpPr>
          <p:cNvPr id="4" name="Text 2"/>
          <p:cNvSpPr txBox="1"/>
          <p:nvPr/>
        </p:nvSpPr>
        <p:spPr>
          <a:xfrm>
            <a:off x="1417320" y="274320"/>
            <a:ext cx="731520" cy="384048"/>
          </a:xfrm>
          <a:prstGeom prst="rect">
            <a:avLst/>
          </a:prstGeom>
          <a:noFill/>
          <a:ln/>
        </p:spPr>
        <p:txBody>
          <a:bodyPr wrap="square" lIns="0" tIns="0" rIns="0" bIns="0" rtlCol="0" anchor="ctr"/>
          <a:lstStyle/>
          <a:p>
            <a:pPr indent="0" marL="0">
              <a:buNone/>
            </a:pPr>
            <a:r>
              <a:rPr lang="en-US" sz="2000" b="1" dirty="0">
                <a:solidFill>
                  <a:srgbClr val="17324D"/>
                </a:solidFill>
                <a:latin typeface="Arial" pitchFamily="34" charset="0"/>
                <a:ea typeface="Arial" pitchFamily="34" charset="-122"/>
                <a:cs typeface="Arial" pitchFamily="34" charset="-120"/>
              </a:rPr>
              <a:t>[23]</a:t>
            </a:r>
            <a:endParaRPr lang="en-US" sz="2000" dirty="0"/>
          </a:p>
        </p:txBody>
      </p:sp>
      <p:sp>
        <p:nvSpPr>
          <p:cNvPr id="5" name="Text 3"/>
          <p:cNvSpPr txBox="1"/>
          <p:nvPr/>
        </p:nvSpPr>
        <p:spPr>
          <a:xfrm>
            <a:off x="5943600" y="274320"/>
            <a:ext cx="2743200" cy="384048"/>
          </a:xfrm>
          <a:prstGeom prst="rect">
            <a:avLst/>
          </a:prstGeom>
          <a:noFill/>
          <a:ln/>
        </p:spPr>
        <p:txBody>
          <a:bodyPr wrap="square" lIns="0" tIns="0" rIns="0" bIns="0" rtlCol="0" anchor="ctr"/>
          <a:lstStyle/>
          <a:p>
            <a:pPr algn="r" indent="0" marL="0">
              <a:buNone/>
            </a:pPr>
            <a:r>
              <a:rPr lang="en-US" sz="1100" dirty="0">
                <a:solidFill>
                  <a:srgbClr val="5F6B76"/>
                </a:solidFill>
                <a:latin typeface="Meiryo" pitchFamily="34" charset="0"/>
                <a:ea typeface="Meiryo" pitchFamily="34" charset="-122"/>
                <a:cs typeface="Meiryo" pitchFamily="34" charset="-120"/>
              </a:rPr>
              <a:t>46回午後63</a:t>
            </a:r>
            <a:endParaRPr lang="en-US" sz="1100" dirty="0"/>
          </a:p>
        </p:txBody>
      </p:sp>
      <p:sp>
        <p:nvSpPr>
          <p:cNvPr id="6" name="Text 4"/>
          <p:cNvSpPr txBox="1"/>
          <p:nvPr/>
        </p:nvSpPr>
        <p:spPr>
          <a:xfrm>
            <a:off x="457200" y="731520"/>
            <a:ext cx="8229600" cy="594360"/>
          </a:xfrm>
          <a:prstGeom prst="rect">
            <a:avLst/>
          </a:prstGeom>
          <a:noFill/>
          <a:ln/>
        </p:spPr>
        <p:txBody>
          <a:bodyPr wrap="square" lIns="0" tIns="0" rIns="0" bIns="0" rtlCol="0" anchor="t"/>
          <a:lstStyle/>
          <a:p>
            <a:pPr indent="0" marL="0">
              <a:buNone/>
            </a:pPr>
            <a:r>
              <a:rPr lang="en-US" sz="1700" b="1" dirty="0">
                <a:solidFill>
                  <a:srgbClr val="222222"/>
                </a:solidFill>
                <a:latin typeface="Meiryo" pitchFamily="34" charset="0"/>
                <a:ea typeface="Meiryo" pitchFamily="34" charset="-122"/>
                <a:cs typeface="Meiryo" pitchFamily="34" charset="-120"/>
              </a:rPr>
              <a:t>副交感神経の興奮によるものはどれか。</a:t>
            </a:r>
            <a:endParaRPr lang="en-US" sz="1700" dirty="0"/>
          </a:p>
        </p:txBody>
      </p:sp>
      <p:sp>
        <p:nvSpPr>
          <p:cNvPr id="7" name="Shape 5"/>
          <p:cNvSpPr/>
          <p:nvPr/>
        </p:nvSpPr>
        <p:spPr>
          <a:xfrm>
            <a:off x="457200" y="1417320"/>
            <a:ext cx="8229600" cy="457200"/>
          </a:xfrm>
          <a:prstGeom prst="roundRect">
            <a:avLst>
              <a:gd name="adj" fmla="val 16000"/>
            </a:avLst>
          </a:prstGeom>
          <a:solidFill>
            <a:srgbClr val="F4F6F8"/>
          </a:solidFill>
          <a:ln/>
        </p:spPr>
      </p:sp>
      <p:sp>
        <p:nvSpPr>
          <p:cNvPr id="8" name="Shape 6"/>
          <p:cNvSpPr/>
          <p:nvPr/>
        </p:nvSpPr>
        <p:spPr>
          <a:xfrm>
            <a:off x="548640" y="1481328"/>
            <a:ext cx="329184" cy="329184"/>
          </a:xfrm>
          <a:prstGeom prst="ellipse">
            <a:avLst/>
          </a:prstGeom>
          <a:solidFill>
            <a:srgbClr val="FFFFFF"/>
          </a:solidFill>
          <a:ln w="12700">
            <a:solidFill>
              <a:srgbClr val="8A96A3"/>
            </a:solidFill>
            <a:prstDash val="solid"/>
          </a:ln>
        </p:spPr>
      </p:sp>
      <p:sp>
        <p:nvSpPr>
          <p:cNvPr id="9" name="Text 7"/>
          <p:cNvSpPr txBox="1"/>
          <p:nvPr/>
        </p:nvSpPr>
        <p:spPr>
          <a:xfrm>
            <a:off x="548640" y="1481328"/>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1</a:t>
            </a:r>
            <a:endParaRPr lang="en-US" sz="1300" dirty="0"/>
          </a:p>
        </p:txBody>
      </p:sp>
      <p:sp>
        <p:nvSpPr>
          <p:cNvPr id="10" name="Text 8"/>
          <p:cNvSpPr txBox="1"/>
          <p:nvPr/>
        </p:nvSpPr>
        <p:spPr>
          <a:xfrm>
            <a:off x="987552" y="1417320"/>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瞳孔散大</a:t>
            </a:r>
            <a:endParaRPr lang="en-US" sz="1200" dirty="0"/>
          </a:p>
        </p:txBody>
      </p:sp>
      <p:sp>
        <p:nvSpPr>
          <p:cNvPr id="11" name="Text 9"/>
          <p:cNvSpPr txBox="1"/>
          <p:nvPr/>
        </p:nvSpPr>
        <p:spPr>
          <a:xfrm>
            <a:off x="4096512" y="1417320"/>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交感</a:t>
            </a:r>
            <a:endParaRPr lang="en-US" sz="1100" dirty="0"/>
          </a:p>
        </p:txBody>
      </p:sp>
      <p:sp>
        <p:nvSpPr>
          <p:cNvPr id="12" name="Shape 10"/>
          <p:cNvSpPr/>
          <p:nvPr/>
        </p:nvSpPr>
        <p:spPr>
          <a:xfrm>
            <a:off x="457200" y="1947672"/>
            <a:ext cx="8229600" cy="457200"/>
          </a:xfrm>
          <a:prstGeom prst="roundRect">
            <a:avLst>
              <a:gd name="adj" fmla="val 16000"/>
            </a:avLst>
          </a:prstGeom>
          <a:solidFill>
            <a:srgbClr val="F4F6F8"/>
          </a:solidFill>
          <a:ln/>
        </p:spPr>
      </p:sp>
      <p:sp>
        <p:nvSpPr>
          <p:cNvPr id="13" name="Shape 11"/>
          <p:cNvSpPr/>
          <p:nvPr/>
        </p:nvSpPr>
        <p:spPr>
          <a:xfrm>
            <a:off x="548640" y="2011680"/>
            <a:ext cx="329184" cy="329184"/>
          </a:xfrm>
          <a:prstGeom prst="ellipse">
            <a:avLst/>
          </a:prstGeom>
          <a:solidFill>
            <a:srgbClr val="FFFFFF"/>
          </a:solidFill>
          <a:ln w="12700">
            <a:solidFill>
              <a:srgbClr val="8A96A3"/>
            </a:solidFill>
            <a:prstDash val="solid"/>
          </a:ln>
        </p:spPr>
      </p:sp>
      <p:sp>
        <p:nvSpPr>
          <p:cNvPr id="14" name="Text 12"/>
          <p:cNvSpPr txBox="1"/>
          <p:nvPr/>
        </p:nvSpPr>
        <p:spPr>
          <a:xfrm>
            <a:off x="548640" y="2011680"/>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2</a:t>
            </a:r>
            <a:endParaRPr lang="en-US" sz="1300" dirty="0"/>
          </a:p>
        </p:txBody>
      </p:sp>
      <p:sp>
        <p:nvSpPr>
          <p:cNvPr id="15" name="Text 13"/>
          <p:cNvSpPr txBox="1"/>
          <p:nvPr/>
        </p:nvSpPr>
        <p:spPr>
          <a:xfrm>
            <a:off x="987552" y="1947672"/>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胆嚢弛緩</a:t>
            </a:r>
            <a:endParaRPr lang="en-US" sz="1200" dirty="0"/>
          </a:p>
        </p:txBody>
      </p:sp>
      <p:sp>
        <p:nvSpPr>
          <p:cNvPr id="16" name="Text 14"/>
          <p:cNvSpPr txBox="1"/>
          <p:nvPr/>
        </p:nvSpPr>
        <p:spPr>
          <a:xfrm>
            <a:off x="4096512" y="1947672"/>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副交感は胆嚢収縮</a:t>
            </a:r>
            <a:endParaRPr lang="en-US" sz="1100" dirty="0"/>
          </a:p>
        </p:txBody>
      </p:sp>
      <p:sp>
        <p:nvSpPr>
          <p:cNvPr id="17" name="Shape 15"/>
          <p:cNvSpPr/>
          <p:nvPr/>
        </p:nvSpPr>
        <p:spPr>
          <a:xfrm>
            <a:off x="457200" y="2478024"/>
            <a:ext cx="8229600" cy="457200"/>
          </a:xfrm>
          <a:prstGeom prst="roundRect">
            <a:avLst>
              <a:gd name="adj" fmla="val 16000"/>
            </a:avLst>
          </a:prstGeom>
          <a:solidFill>
            <a:srgbClr val="F4F6F8"/>
          </a:solidFill>
          <a:ln/>
        </p:spPr>
      </p:sp>
      <p:sp>
        <p:nvSpPr>
          <p:cNvPr id="18" name="Shape 16"/>
          <p:cNvSpPr/>
          <p:nvPr/>
        </p:nvSpPr>
        <p:spPr>
          <a:xfrm>
            <a:off x="548640" y="2542032"/>
            <a:ext cx="329184" cy="329184"/>
          </a:xfrm>
          <a:prstGeom prst="ellipse">
            <a:avLst/>
          </a:prstGeom>
          <a:solidFill>
            <a:srgbClr val="FFFFFF"/>
          </a:solidFill>
          <a:ln w="12700">
            <a:solidFill>
              <a:srgbClr val="8A96A3"/>
            </a:solidFill>
            <a:prstDash val="solid"/>
          </a:ln>
        </p:spPr>
      </p:sp>
      <p:sp>
        <p:nvSpPr>
          <p:cNvPr id="19" name="Text 17"/>
          <p:cNvSpPr txBox="1"/>
          <p:nvPr/>
        </p:nvSpPr>
        <p:spPr>
          <a:xfrm>
            <a:off x="548640" y="2542032"/>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3</a:t>
            </a:r>
            <a:endParaRPr lang="en-US" sz="1300" dirty="0"/>
          </a:p>
        </p:txBody>
      </p:sp>
      <p:sp>
        <p:nvSpPr>
          <p:cNvPr id="20" name="Text 18"/>
          <p:cNvSpPr txBox="1"/>
          <p:nvPr/>
        </p:nvSpPr>
        <p:spPr>
          <a:xfrm>
            <a:off x="987552" y="2478024"/>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消化管蠕動抑制</a:t>
            </a:r>
            <a:endParaRPr lang="en-US" sz="1200" dirty="0"/>
          </a:p>
        </p:txBody>
      </p:sp>
      <p:sp>
        <p:nvSpPr>
          <p:cNvPr id="21" name="Text 19"/>
          <p:cNvSpPr txBox="1"/>
          <p:nvPr/>
        </p:nvSpPr>
        <p:spPr>
          <a:xfrm>
            <a:off x="4096512" y="2478024"/>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副交感は促進</a:t>
            </a:r>
            <a:endParaRPr lang="en-US" sz="1100" dirty="0"/>
          </a:p>
        </p:txBody>
      </p:sp>
      <p:sp>
        <p:nvSpPr>
          <p:cNvPr id="22" name="Shape 20"/>
          <p:cNvSpPr/>
          <p:nvPr/>
        </p:nvSpPr>
        <p:spPr>
          <a:xfrm>
            <a:off x="457200" y="3008376"/>
            <a:ext cx="8229600" cy="457200"/>
          </a:xfrm>
          <a:prstGeom prst="roundRect">
            <a:avLst>
              <a:gd name="adj" fmla="val 16000"/>
            </a:avLst>
          </a:prstGeom>
          <a:solidFill>
            <a:srgbClr val="FBE3E2"/>
          </a:solidFill>
          <a:ln w="19050">
            <a:solidFill>
              <a:srgbClr val="D9534F"/>
            </a:solidFill>
            <a:prstDash val="solid"/>
          </a:ln>
        </p:spPr>
      </p:sp>
      <p:sp>
        <p:nvSpPr>
          <p:cNvPr id="23" name="Shape 21"/>
          <p:cNvSpPr/>
          <p:nvPr/>
        </p:nvSpPr>
        <p:spPr>
          <a:xfrm>
            <a:off x="548640" y="3072384"/>
            <a:ext cx="329184" cy="329184"/>
          </a:xfrm>
          <a:prstGeom prst="ellipse">
            <a:avLst/>
          </a:prstGeom>
          <a:solidFill>
            <a:srgbClr val="D9534F"/>
          </a:solidFill>
          <a:ln w="12700">
            <a:solidFill>
              <a:srgbClr val="D9534F"/>
            </a:solidFill>
            <a:prstDash val="solid"/>
          </a:ln>
        </p:spPr>
      </p:sp>
      <p:sp>
        <p:nvSpPr>
          <p:cNvPr id="24" name="Text 22"/>
          <p:cNvSpPr txBox="1"/>
          <p:nvPr/>
        </p:nvSpPr>
        <p:spPr>
          <a:xfrm>
            <a:off x="548640" y="3072384"/>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4</a:t>
            </a:r>
            <a:endParaRPr lang="en-US" sz="1300" dirty="0"/>
          </a:p>
        </p:txBody>
      </p:sp>
      <p:sp>
        <p:nvSpPr>
          <p:cNvPr id="25" name="Text 23"/>
          <p:cNvSpPr txBox="1"/>
          <p:nvPr/>
        </p:nvSpPr>
        <p:spPr>
          <a:xfrm>
            <a:off x="987552" y="3008376"/>
            <a:ext cx="3017520" cy="457200"/>
          </a:xfrm>
          <a:prstGeom prst="rect">
            <a:avLst/>
          </a:prstGeom>
          <a:noFill/>
          <a:ln/>
        </p:spPr>
        <p:txBody>
          <a:bodyPr wrap="square" lIns="0" tIns="0" rIns="0" bIns="0" rtlCol="0" anchor="ctr"/>
          <a:lstStyle/>
          <a:p>
            <a:pPr indent="0" marL="0">
              <a:buNone/>
            </a:pPr>
            <a:r>
              <a:rPr lang="en-US" sz="1200" b="1" dirty="0">
                <a:solidFill>
                  <a:srgbClr val="D9534F"/>
                </a:solidFill>
                <a:latin typeface="Meiryo" pitchFamily="34" charset="0"/>
                <a:ea typeface="Meiryo" pitchFamily="34" charset="-122"/>
                <a:cs typeface="Meiryo" pitchFamily="34" charset="-120"/>
              </a:rPr>
              <a:t>気管支平滑筋収縮</a:t>
            </a:r>
            <a:endParaRPr lang="en-US" sz="1200" dirty="0"/>
          </a:p>
        </p:txBody>
      </p:sp>
      <p:sp>
        <p:nvSpPr>
          <p:cNvPr id="26" name="Text 24"/>
          <p:cNvSpPr txBox="1"/>
          <p:nvPr/>
        </p:nvSpPr>
        <p:spPr>
          <a:xfrm>
            <a:off x="4096512" y="3008376"/>
            <a:ext cx="4526280" cy="457200"/>
          </a:xfrm>
          <a:prstGeom prst="rect">
            <a:avLst/>
          </a:prstGeom>
          <a:noFill/>
          <a:ln/>
        </p:spPr>
        <p:txBody>
          <a:bodyPr wrap="square" lIns="0" tIns="0" rIns="0" bIns="0" rtlCol="0" anchor="ctr"/>
          <a:lstStyle/>
          <a:p>
            <a:pPr indent="0" marL="0">
              <a:buNone/>
            </a:pPr>
            <a:r>
              <a:rPr lang="en-US" sz="1100" dirty="0">
                <a:solidFill>
                  <a:srgbClr val="222222"/>
                </a:solidFill>
                <a:latin typeface="Meiryo" pitchFamily="34" charset="0"/>
                <a:ea typeface="Meiryo" pitchFamily="34" charset="-122"/>
                <a:cs typeface="Meiryo" pitchFamily="34" charset="-120"/>
              </a:rPr>
              <a:t>副交感 ○</a:t>
            </a:r>
            <a:endParaRPr lang="en-US" sz="1100" dirty="0"/>
          </a:p>
        </p:txBody>
      </p:sp>
      <p:sp>
        <p:nvSpPr>
          <p:cNvPr id="27" name="Shape 25"/>
          <p:cNvSpPr/>
          <p:nvPr/>
        </p:nvSpPr>
        <p:spPr>
          <a:xfrm>
            <a:off x="457200" y="3538728"/>
            <a:ext cx="8229600" cy="457200"/>
          </a:xfrm>
          <a:prstGeom prst="roundRect">
            <a:avLst>
              <a:gd name="adj" fmla="val 16000"/>
            </a:avLst>
          </a:prstGeom>
          <a:solidFill>
            <a:srgbClr val="F4F6F8"/>
          </a:solidFill>
          <a:ln/>
        </p:spPr>
      </p:sp>
      <p:sp>
        <p:nvSpPr>
          <p:cNvPr id="28" name="Shape 26"/>
          <p:cNvSpPr/>
          <p:nvPr/>
        </p:nvSpPr>
        <p:spPr>
          <a:xfrm>
            <a:off x="548640" y="3602736"/>
            <a:ext cx="329184" cy="329184"/>
          </a:xfrm>
          <a:prstGeom prst="ellipse">
            <a:avLst/>
          </a:prstGeom>
          <a:solidFill>
            <a:srgbClr val="FFFFFF"/>
          </a:solidFill>
          <a:ln w="12700">
            <a:solidFill>
              <a:srgbClr val="8A96A3"/>
            </a:solidFill>
            <a:prstDash val="solid"/>
          </a:ln>
        </p:spPr>
      </p:sp>
      <p:sp>
        <p:nvSpPr>
          <p:cNvPr id="29" name="Text 27"/>
          <p:cNvSpPr txBox="1"/>
          <p:nvPr/>
        </p:nvSpPr>
        <p:spPr>
          <a:xfrm>
            <a:off x="548640" y="3602736"/>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5</a:t>
            </a:r>
            <a:endParaRPr lang="en-US" sz="1300" dirty="0"/>
          </a:p>
        </p:txBody>
      </p:sp>
      <p:sp>
        <p:nvSpPr>
          <p:cNvPr id="30" name="Text 28"/>
          <p:cNvSpPr txBox="1"/>
          <p:nvPr/>
        </p:nvSpPr>
        <p:spPr>
          <a:xfrm>
            <a:off x="987552" y="3538728"/>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外生殖器血管収縮</a:t>
            </a:r>
            <a:endParaRPr lang="en-US" sz="1200" dirty="0"/>
          </a:p>
        </p:txBody>
      </p:sp>
      <p:sp>
        <p:nvSpPr>
          <p:cNvPr id="31" name="Text 29"/>
          <p:cNvSpPr txBox="1"/>
          <p:nvPr/>
        </p:nvSpPr>
        <p:spPr>
          <a:xfrm>
            <a:off x="4096512" y="3538728"/>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副交感は血管拡張（勃起）</a:t>
            </a:r>
            <a:endParaRPr lang="en-US" sz="1100" dirty="0"/>
          </a:p>
        </p:txBody>
      </p:sp>
      <p:sp>
        <p:nvSpPr>
          <p:cNvPr id="32" name="Shape 30"/>
          <p:cNvSpPr/>
          <p:nvPr/>
        </p:nvSpPr>
        <p:spPr>
          <a:xfrm>
            <a:off x="457200" y="4160520"/>
            <a:ext cx="1463040" cy="685800"/>
          </a:xfrm>
          <a:prstGeom prst="roundRect">
            <a:avLst>
              <a:gd name="adj" fmla="val 10667"/>
            </a:avLst>
          </a:prstGeom>
          <a:solidFill>
            <a:srgbClr val="D9534F"/>
          </a:solidFill>
          <a:ln/>
        </p:spPr>
      </p:sp>
      <p:sp>
        <p:nvSpPr>
          <p:cNvPr id="33" name="Text 31"/>
          <p:cNvSpPr txBox="1"/>
          <p:nvPr/>
        </p:nvSpPr>
        <p:spPr>
          <a:xfrm>
            <a:off x="457200" y="4160520"/>
            <a:ext cx="1463040" cy="685800"/>
          </a:xfrm>
          <a:prstGeom prst="rect">
            <a:avLst/>
          </a:prstGeom>
          <a:noFill/>
          <a:ln/>
        </p:spPr>
        <p:txBody>
          <a:bodyPr wrap="square" lIns="0" tIns="0" rIns="0" bIns="0" rtlCol="0" anchor="ctr"/>
          <a:lstStyle/>
          <a:p>
            <a:pPr algn="ctr" indent="0" marL="0">
              <a:buNone/>
            </a:pPr>
            <a:r>
              <a:rPr lang="en-US" sz="1100" dirty="0">
                <a:solidFill>
                  <a:srgbClr val="FFFFFF"/>
                </a:solidFill>
                <a:latin typeface="Meiryo" pitchFamily="34" charset="0"/>
                <a:ea typeface="Meiryo" pitchFamily="34" charset="-122"/>
                <a:cs typeface="Meiryo" pitchFamily="34" charset="-120"/>
              </a:rPr>
              <a:t>正解</a:t>
            </a:r>
            <a:endParaRPr lang="en-US" sz="1100" dirty="0"/>
          </a:p>
          <a:p>
            <a:pPr algn="ctr" indent="0" marL="0">
              <a:buNone/>
            </a:pPr>
            <a:r>
              <a:rPr lang="en-US" sz="2200" b="1" dirty="0">
                <a:solidFill>
                  <a:srgbClr val="FFFFFF"/>
                </a:solidFill>
                <a:latin typeface="Meiryo" pitchFamily="34" charset="0"/>
                <a:ea typeface="Meiryo" pitchFamily="34" charset="-122"/>
                <a:cs typeface="Meiryo" pitchFamily="34" charset="-120"/>
              </a:rPr>
              <a:t>4</a:t>
            </a:r>
            <a:endParaRPr lang="en-US" sz="11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74320"/>
            <a:ext cx="868680" cy="384048"/>
          </a:xfrm>
          <a:prstGeom prst="roundRect">
            <a:avLst>
              <a:gd name="adj" fmla="val 19048"/>
            </a:avLst>
          </a:prstGeom>
          <a:solidFill>
            <a:srgbClr val="17324D"/>
          </a:solidFill>
          <a:ln/>
        </p:spPr>
      </p:sp>
      <p:sp>
        <p:nvSpPr>
          <p:cNvPr id="3" name="Text 1"/>
          <p:cNvSpPr txBox="1"/>
          <p:nvPr/>
        </p:nvSpPr>
        <p:spPr>
          <a:xfrm>
            <a:off x="457200" y="274320"/>
            <a:ext cx="86868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問題</a:t>
            </a:r>
            <a:endParaRPr lang="en-US" sz="1300" dirty="0"/>
          </a:p>
        </p:txBody>
      </p:sp>
      <p:sp>
        <p:nvSpPr>
          <p:cNvPr id="4" name="Text 2"/>
          <p:cNvSpPr txBox="1"/>
          <p:nvPr/>
        </p:nvSpPr>
        <p:spPr>
          <a:xfrm>
            <a:off x="1417320" y="274320"/>
            <a:ext cx="731520" cy="384048"/>
          </a:xfrm>
          <a:prstGeom prst="rect">
            <a:avLst/>
          </a:prstGeom>
          <a:noFill/>
          <a:ln/>
        </p:spPr>
        <p:txBody>
          <a:bodyPr wrap="square" lIns="0" tIns="0" rIns="0" bIns="0" rtlCol="0" anchor="ctr"/>
          <a:lstStyle/>
          <a:p>
            <a:pPr indent="0" marL="0">
              <a:buNone/>
            </a:pPr>
            <a:r>
              <a:rPr lang="en-US" sz="2000" b="1" dirty="0">
                <a:solidFill>
                  <a:srgbClr val="17324D"/>
                </a:solidFill>
                <a:latin typeface="Arial" pitchFamily="34" charset="0"/>
                <a:ea typeface="Arial" pitchFamily="34" charset="-122"/>
                <a:cs typeface="Arial" pitchFamily="34" charset="-120"/>
              </a:rPr>
              <a:t>[24]</a:t>
            </a:r>
            <a:endParaRPr lang="en-US" sz="2000" dirty="0"/>
          </a:p>
        </p:txBody>
      </p:sp>
      <p:sp>
        <p:nvSpPr>
          <p:cNvPr id="5" name="Text 3"/>
          <p:cNvSpPr txBox="1"/>
          <p:nvPr/>
        </p:nvSpPr>
        <p:spPr>
          <a:xfrm>
            <a:off x="5943600" y="274320"/>
            <a:ext cx="2743200" cy="384048"/>
          </a:xfrm>
          <a:prstGeom prst="rect">
            <a:avLst/>
          </a:prstGeom>
          <a:noFill/>
          <a:ln/>
        </p:spPr>
        <p:txBody>
          <a:bodyPr wrap="square" lIns="0" tIns="0" rIns="0" bIns="0" rtlCol="0" anchor="ctr"/>
          <a:lstStyle/>
          <a:p>
            <a:pPr algn="r" indent="0" marL="0">
              <a:buNone/>
            </a:pPr>
            <a:r>
              <a:rPr lang="en-US" sz="1100" dirty="0">
                <a:solidFill>
                  <a:srgbClr val="5F6B76"/>
                </a:solidFill>
                <a:latin typeface="Meiryo" pitchFamily="34" charset="0"/>
                <a:ea typeface="Meiryo" pitchFamily="34" charset="-122"/>
                <a:cs typeface="Meiryo" pitchFamily="34" charset="-120"/>
              </a:rPr>
              <a:t>45回午前64</a:t>
            </a:r>
            <a:endParaRPr lang="en-US" sz="1100" dirty="0"/>
          </a:p>
        </p:txBody>
      </p:sp>
      <p:sp>
        <p:nvSpPr>
          <p:cNvPr id="6" name="Text 4"/>
          <p:cNvSpPr txBox="1"/>
          <p:nvPr/>
        </p:nvSpPr>
        <p:spPr>
          <a:xfrm>
            <a:off x="457200" y="731520"/>
            <a:ext cx="8229600" cy="594360"/>
          </a:xfrm>
          <a:prstGeom prst="rect">
            <a:avLst/>
          </a:prstGeom>
          <a:noFill/>
          <a:ln/>
        </p:spPr>
        <p:txBody>
          <a:bodyPr wrap="square" lIns="0" tIns="0" rIns="0" bIns="0" rtlCol="0" anchor="t"/>
          <a:lstStyle/>
          <a:p>
            <a:pPr indent="0" marL="0">
              <a:buNone/>
            </a:pPr>
            <a:r>
              <a:rPr lang="en-US" sz="1700" b="1" dirty="0">
                <a:solidFill>
                  <a:srgbClr val="222222"/>
                </a:solidFill>
                <a:latin typeface="Meiryo" pitchFamily="34" charset="0"/>
                <a:ea typeface="Meiryo" pitchFamily="34" charset="-122"/>
                <a:cs typeface="Meiryo" pitchFamily="34" charset="-120"/>
              </a:rPr>
              <a:t>副交感神経が優位に働いたときの反応はどれか。</a:t>
            </a:r>
            <a:endParaRPr lang="en-US" sz="1700" dirty="0"/>
          </a:p>
        </p:txBody>
      </p:sp>
      <p:sp>
        <p:nvSpPr>
          <p:cNvPr id="7" name="Shape 5"/>
          <p:cNvSpPr/>
          <p:nvPr/>
        </p:nvSpPr>
        <p:spPr>
          <a:xfrm>
            <a:off x="457200" y="1508760"/>
            <a:ext cx="8229600" cy="493776"/>
          </a:xfrm>
          <a:prstGeom prst="roundRect">
            <a:avLst>
              <a:gd name="adj" fmla="val 14815"/>
            </a:avLst>
          </a:prstGeom>
          <a:solidFill>
            <a:srgbClr val="EAF2F8"/>
          </a:solidFill>
          <a:ln/>
        </p:spPr>
      </p:sp>
      <p:sp>
        <p:nvSpPr>
          <p:cNvPr id="8" name="Shape 6"/>
          <p:cNvSpPr/>
          <p:nvPr/>
        </p:nvSpPr>
        <p:spPr>
          <a:xfrm>
            <a:off x="566928" y="1572768"/>
            <a:ext cx="365760" cy="365760"/>
          </a:xfrm>
          <a:prstGeom prst="ellipse">
            <a:avLst/>
          </a:prstGeom>
          <a:solidFill>
            <a:srgbClr val="FFFFFF"/>
          </a:solidFill>
          <a:ln w="15875">
            <a:solidFill>
              <a:srgbClr val="17324D"/>
            </a:solidFill>
            <a:prstDash val="solid"/>
          </a:ln>
        </p:spPr>
      </p:sp>
      <p:sp>
        <p:nvSpPr>
          <p:cNvPr id="9" name="Text 7"/>
          <p:cNvSpPr txBox="1"/>
          <p:nvPr/>
        </p:nvSpPr>
        <p:spPr>
          <a:xfrm>
            <a:off x="566928" y="1572768"/>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1</a:t>
            </a:r>
            <a:endParaRPr lang="en-US" sz="1400" dirty="0"/>
          </a:p>
        </p:txBody>
      </p:sp>
      <p:sp>
        <p:nvSpPr>
          <p:cNvPr id="10" name="Text 8"/>
          <p:cNvSpPr txBox="1"/>
          <p:nvPr/>
        </p:nvSpPr>
        <p:spPr>
          <a:xfrm>
            <a:off x="1051560" y="1508760"/>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散瞳</a:t>
            </a:r>
            <a:endParaRPr lang="en-US" sz="1500" dirty="0"/>
          </a:p>
        </p:txBody>
      </p:sp>
      <p:sp>
        <p:nvSpPr>
          <p:cNvPr id="11" name="Shape 9"/>
          <p:cNvSpPr/>
          <p:nvPr/>
        </p:nvSpPr>
        <p:spPr>
          <a:xfrm>
            <a:off x="457200" y="2112264"/>
            <a:ext cx="8229600" cy="493776"/>
          </a:xfrm>
          <a:prstGeom prst="roundRect">
            <a:avLst>
              <a:gd name="adj" fmla="val 14815"/>
            </a:avLst>
          </a:prstGeom>
          <a:solidFill>
            <a:srgbClr val="EAF2F8"/>
          </a:solidFill>
          <a:ln/>
        </p:spPr>
      </p:sp>
      <p:sp>
        <p:nvSpPr>
          <p:cNvPr id="12" name="Shape 10"/>
          <p:cNvSpPr/>
          <p:nvPr/>
        </p:nvSpPr>
        <p:spPr>
          <a:xfrm>
            <a:off x="566928" y="2176272"/>
            <a:ext cx="365760" cy="365760"/>
          </a:xfrm>
          <a:prstGeom prst="ellipse">
            <a:avLst/>
          </a:prstGeom>
          <a:solidFill>
            <a:srgbClr val="FFFFFF"/>
          </a:solidFill>
          <a:ln w="15875">
            <a:solidFill>
              <a:srgbClr val="17324D"/>
            </a:solidFill>
            <a:prstDash val="solid"/>
          </a:ln>
        </p:spPr>
      </p:sp>
      <p:sp>
        <p:nvSpPr>
          <p:cNvPr id="13" name="Text 11"/>
          <p:cNvSpPr txBox="1"/>
          <p:nvPr/>
        </p:nvSpPr>
        <p:spPr>
          <a:xfrm>
            <a:off x="566928" y="2176272"/>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2</a:t>
            </a:r>
            <a:endParaRPr lang="en-US" sz="1400" dirty="0"/>
          </a:p>
        </p:txBody>
      </p:sp>
      <p:sp>
        <p:nvSpPr>
          <p:cNvPr id="14" name="Text 12"/>
          <p:cNvSpPr txBox="1"/>
          <p:nvPr/>
        </p:nvSpPr>
        <p:spPr>
          <a:xfrm>
            <a:off x="1051560" y="2112264"/>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心拍数増加</a:t>
            </a:r>
            <a:endParaRPr lang="en-US" sz="1500" dirty="0"/>
          </a:p>
        </p:txBody>
      </p:sp>
      <p:sp>
        <p:nvSpPr>
          <p:cNvPr id="15" name="Shape 13"/>
          <p:cNvSpPr/>
          <p:nvPr/>
        </p:nvSpPr>
        <p:spPr>
          <a:xfrm>
            <a:off x="457200" y="2715768"/>
            <a:ext cx="8229600" cy="493776"/>
          </a:xfrm>
          <a:prstGeom prst="roundRect">
            <a:avLst>
              <a:gd name="adj" fmla="val 14815"/>
            </a:avLst>
          </a:prstGeom>
          <a:solidFill>
            <a:srgbClr val="EAF2F8"/>
          </a:solidFill>
          <a:ln/>
        </p:spPr>
      </p:sp>
      <p:sp>
        <p:nvSpPr>
          <p:cNvPr id="16" name="Shape 14"/>
          <p:cNvSpPr/>
          <p:nvPr/>
        </p:nvSpPr>
        <p:spPr>
          <a:xfrm>
            <a:off x="566928" y="2779776"/>
            <a:ext cx="365760" cy="365760"/>
          </a:xfrm>
          <a:prstGeom prst="ellipse">
            <a:avLst/>
          </a:prstGeom>
          <a:solidFill>
            <a:srgbClr val="FFFFFF"/>
          </a:solidFill>
          <a:ln w="15875">
            <a:solidFill>
              <a:srgbClr val="17324D"/>
            </a:solidFill>
            <a:prstDash val="solid"/>
          </a:ln>
        </p:spPr>
      </p:sp>
      <p:sp>
        <p:nvSpPr>
          <p:cNvPr id="17" name="Text 15"/>
          <p:cNvSpPr txBox="1"/>
          <p:nvPr/>
        </p:nvSpPr>
        <p:spPr>
          <a:xfrm>
            <a:off x="566928" y="2779776"/>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3</a:t>
            </a:r>
            <a:endParaRPr lang="en-US" sz="1400" dirty="0"/>
          </a:p>
        </p:txBody>
      </p:sp>
      <p:sp>
        <p:nvSpPr>
          <p:cNvPr id="18" name="Text 16"/>
          <p:cNvSpPr txBox="1"/>
          <p:nvPr/>
        </p:nvSpPr>
        <p:spPr>
          <a:xfrm>
            <a:off x="1051560" y="2715768"/>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気管支収縮</a:t>
            </a:r>
            <a:endParaRPr lang="en-US" sz="1500" dirty="0"/>
          </a:p>
        </p:txBody>
      </p:sp>
      <p:sp>
        <p:nvSpPr>
          <p:cNvPr id="19" name="Shape 17"/>
          <p:cNvSpPr/>
          <p:nvPr/>
        </p:nvSpPr>
        <p:spPr>
          <a:xfrm>
            <a:off x="457200" y="3319272"/>
            <a:ext cx="8229600" cy="493776"/>
          </a:xfrm>
          <a:prstGeom prst="roundRect">
            <a:avLst>
              <a:gd name="adj" fmla="val 14815"/>
            </a:avLst>
          </a:prstGeom>
          <a:solidFill>
            <a:srgbClr val="EAF2F8"/>
          </a:solidFill>
          <a:ln/>
        </p:spPr>
      </p:sp>
      <p:sp>
        <p:nvSpPr>
          <p:cNvPr id="20" name="Shape 18"/>
          <p:cNvSpPr/>
          <p:nvPr/>
        </p:nvSpPr>
        <p:spPr>
          <a:xfrm>
            <a:off x="566928" y="3383280"/>
            <a:ext cx="365760" cy="365760"/>
          </a:xfrm>
          <a:prstGeom prst="ellipse">
            <a:avLst/>
          </a:prstGeom>
          <a:solidFill>
            <a:srgbClr val="FFFFFF"/>
          </a:solidFill>
          <a:ln w="15875">
            <a:solidFill>
              <a:srgbClr val="17324D"/>
            </a:solidFill>
            <a:prstDash val="solid"/>
          </a:ln>
        </p:spPr>
      </p:sp>
      <p:sp>
        <p:nvSpPr>
          <p:cNvPr id="21" name="Text 19"/>
          <p:cNvSpPr txBox="1"/>
          <p:nvPr/>
        </p:nvSpPr>
        <p:spPr>
          <a:xfrm>
            <a:off x="566928" y="3383280"/>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4</a:t>
            </a:r>
            <a:endParaRPr lang="en-US" sz="1400" dirty="0"/>
          </a:p>
        </p:txBody>
      </p:sp>
      <p:sp>
        <p:nvSpPr>
          <p:cNvPr id="22" name="Text 20"/>
          <p:cNvSpPr txBox="1"/>
          <p:nvPr/>
        </p:nvSpPr>
        <p:spPr>
          <a:xfrm>
            <a:off x="1051560" y="3319272"/>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皮膚血管収縮</a:t>
            </a:r>
            <a:endParaRPr lang="en-US" sz="1500" dirty="0"/>
          </a:p>
        </p:txBody>
      </p:sp>
      <p:sp>
        <p:nvSpPr>
          <p:cNvPr id="23" name="Shape 21"/>
          <p:cNvSpPr/>
          <p:nvPr/>
        </p:nvSpPr>
        <p:spPr>
          <a:xfrm>
            <a:off x="457200" y="3922776"/>
            <a:ext cx="8229600" cy="493776"/>
          </a:xfrm>
          <a:prstGeom prst="roundRect">
            <a:avLst>
              <a:gd name="adj" fmla="val 14815"/>
            </a:avLst>
          </a:prstGeom>
          <a:solidFill>
            <a:srgbClr val="EAF2F8"/>
          </a:solidFill>
          <a:ln/>
        </p:spPr>
      </p:sp>
      <p:sp>
        <p:nvSpPr>
          <p:cNvPr id="24" name="Shape 22"/>
          <p:cNvSpPr/>
          <p:nvPr/>
        </p:nvSpPr>
        <p:spPr>
          <a:xfrm>
            <a:off x="566928" y="3986784"/>
            <a:ext cx="365760" cy="365760"/>
          </a:xfrm>
          <a:prstGeom prst="ellipse">
            <a:avLst/>
          </a:prstGeom>
          <a:solidFill>
            <a:srgbClr val="FFFFFF"/>
          </a:solidFill>
          <a:ln w="15875">
            <a:solidFill>
              <a:srgbClr val="17324D"/>
            </a:solidFill>
            <a:prstDash val="solid"/>
          </a:ln>
        </p:spPr>
      </p:sp>
      <p:sp>
        <p:nvSpPr>
          <p:cNvPr id="25" name="Text 23"/>
          <p:cNvSpPr txBox="1"/>
          <p:nvPr/>
        </p:nvSpPr>
        <p:spPr>
          <a:xfrm>
            <a:off x="566928" y="3986784"/>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5</a:t>
            </a:r>
            <a:endParaRPr lang="en-US" sz="1400" dirty="0"/>
          </a:p>
        </p:txBody>
      </p:sp>
      <p:sp>
        <p:nvSpPr>
          <p:cNvPr id="26" name="Text 24"/>
          <p:cNvSpPr txBox="1"/>
          <p:nvPr/>
        </p:nvSpPr>
        <p:spPr>
          <a:xfrm>
            <a:off x="1051560" y="3922776"/>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膀胱括約筋収縮</a:t>
            </a:r>
            <a:endParaRPr lang="en-US" sz="15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74320"/>
            <a:ext cx="868680" cy="384048"/>
          </a:xfrm>
          <a:prstGeom prst="roundRect">
            <a:avLst>
              <a:gd name="adj" fmla="val 19048"/>
            </a:avLst>
          </a:prstGeom>
          <a:solidFill>
            <a:srgbClr val="D9534F"/>
          </a:solidFill>
          <a:ln/>
        </p:spPr>
      </p:sp>
      <p:sp>
        <p:nvSpPr>
          <p:cNvPr id="3" name="Text 1"/>
          <p:cNvSpPr txBox="1"/>
          <p:nvPr/>
        </p:nvSpPr>
        <p:spPr>
          <a:xfrm>
            <a:off x="457200" y="274320"/>
            <a:ext cx="86868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解説</a:t>
            </a:r>
            <a:endParaRPr lang="en-US" sz="1300" dirty="0"/>
          </a:p>
        </p:txBody>
      </p:sp>
      <p:sp>
        <p:nvSpPr>
          <p:cNvPr id="4" name="Text 2"/>
          <p:cNvSpPr txBox="1"/>
          <p:nvPr/>
        </p:nvSpPr>
        <p:spPr>
          <a:xfrm>
            <a:off x="1417320" y="274320"/>
            <a:ext cx="731520" cy="384048"/>
          </a:xfrm>
          <a:prstGeom prst="rect">
            <a:avLst/>
          </a:prstGeom>
          <a:noFill/>
          <a:ln/>
        </p:spPr>
        <p:txBody>
          <a:bodyPr wrap="square" lIns="0" tIns="0" rIns="0" bIns="0" rtlCol="0" anchor="ctr"/>
          <a:lstStyle/>
          <a:p>
            <a:pPr indent="0" marL="0">
              <a:buNone/>
            </a:pPr>
            <a:r>
              <a:rPr lang="en-US" sz="2000" b="1" dirty="0">
                <a:solidFill>
                  <a:srgbClr val="17324D"/>
                </a:solidFill>
                <a:latin typeface="Arial" pitchFamily="34" charset="0"/>
                <a:ea typeface="Arial" pitchFamily="34" charset="-122"/>
                <a:cs typeface="Arial" pitchFamily="34" charset="-120"/>
              </a:rPr>
              <a:t>[24]</a:t>
            </a:r>
            <a:endParaRPr lang="en-US" sz="2000" dirty="0"/>
          </a:p>
        </p:txBody>
      </p:sp>
      <p:sp>
        <p:nvSpPr>
          <p:cNvPr id="5" name="Text 3"/>
          <p:cNvSpPr txBox="1"/>
          <p:nvPr/>
        </p:nvSpPr>
        <p:spPr>
          <a:xfrm>
            <a:off x="5943600" y="274320"/>
            <a:ext cx="2743200" cy="384048"/>
          </a:xfrm>
          <a:prstGeom prst="rect">
            <a:avLst/>
          </a:prstGeom>
          <a:noFill/>
          <a:ln/>
        </p:spPr>
        <p:txBody>
          <a:bodyPr wrap="square" lIns="0" tIns="0" rIns="0" bIns="0" rtlCol="0" anchor="ctr"/>
          <a:lstStyle/>
          <a:p>
            <a:pPr algn="r" indent="0" marL="0">
              <a:buNone/>
            </a:pPr>
            <a:r>
              <a:rPr lang="en-US" sz="1100" dirty="0">
                <a:solidFill>
                  <a:srgbClr val="5F6B76"/>
                </a:solidFill>
                <a:latin typeface="Meiryo" pitchFamily="34" charset="0"/>
                <a:ea typeface="Meiryo" pitchFamily="34" charset="-122"/>
                <a:cs typeface="Meiryo" pitchFamily="34" charset="-120"/>
              </a:rPr>
              <a:t>45回午前64</a:t>
            </a:r>
            <a:endParaRPr lang="en-US" sz="1100" dirty="0"/>
          </a:p>
        </p:txBody>
      </p:sp>
      <p:sp>
        <p:nvSpPr>
          <p:cNvPr id="6" name="Text 4"/>
          <p:cNvSpPr txBox="1"/>
          <p:nvPr/>
        </p:nvSpPr>
        <p:spPr>
          <a:xfrm>
            <a:off x="457200" y="731520"/>
            <a:ext cx="8229600" cy="594360"/>
          </a:xfrm>
          <a:prstGeom prst="rect">
            <a:avLst/>
          </a:prstGeom>
          <a:noFill/>
          <a:ln/>
        </p:spPr>
        <p:txBody>
          <a:bodyPr wrap="square" lIns="0" tIns="0" rIns="0" bIns="0" rtlCol="0" anchor="t"/>
          <a:lstStyle/>
          <a:p>
            <a:pPr indent="0" marL="0">
              <a:buNone/>
            </a:pPr>
            <a:r>
              <a:rPr lang="en-US" sz="1700" b="1" dirty="0">
                <a:solidFill>
                  <a:srgbClr val="222222"/>
                </a:solidFill>
                <a:latin typeface="Meiryo" pitchFamily="34" charset="0"/>
                <a:ea typeface="Meiryo" pitchFamily="34" charset="-122"/>
                <a:cs typeface="Meiryo" pitchFamily="34" charset="-120"/>
              </a:rPr>
              <a:t>副交感神経が優位に働いたときの反応はどれか。</a:t>
            </a:r>
            <a:endParaRPr lang="en-US" sz="1700" dirty="0"/>
          </a:p>
        </p:txBody>
      </p:sp>
      <p:sp>
        <p:nvSpPr>
          <p:cNvPr id="7" name="Shape 5"/>
          <p:cNvSpPr/>
          <p:nvPr/>
        </p:nvSpPr>
        <p:spPr>
          <a:xfrm>
            <a:off x="457200" y="1417320"/>
            <a:ext cx="8229600" cy="457200"/>
          </a:xfrm>
          <a:prstGeom prst="roundRect">
            <a:avLst>
              <a:gd name="adj" fmla="val 16000"/>
            </a:avLst>
          </a:prstGeom>
          <a:solidFill>
            <a:srgbClr val="F4F6F8"/>
          </a:solidFill>
          <a:ln/>
        </p:spPr>
      </p:sp>
      <p:sp>
        <p:nvSpPr>
          <p:cNvPr id="8" name="Shape 6"/>
          <p:cNvSpPr/>
          <p:nvPr/>
        </p:nvSpPr>
        <p:spPr>
          <a:xfrm>
            <a:off x="548640" y="1481328"/>
            <a:ext cx="329184" cy="329184"/>
          </a:xfrm>
          <a:prstGeom prst="ellipse">
            <a:avLst/>
          </a:prstGeom>
          <a:solidFill>
            <a:srgbClr val="FFFFFF"/>
          </a:solidFill>
          <a:ln w="12700">
            <a:solidFill>
              <a:srgbClr val="8A96A3"/>
            </a:solidFill>
            <a:prstDash val="solid"/>
          </a:ln>
        </p:spPr>
      </p:sp>
      <p:sp>
        <p:nvSpPr>
          <p:cNvPr id="9" name="Text 7"/>
          <p:cNvSpPr txBox="1"/>
          <p:nvPr/>
        </p:nvSpPr>
        <p:spPr>
          <a:xfrm>
            <a:off x="548640" y="1481328"/>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1</a:t>
            </a:r>
            <a:endParaRPr lang="en-US" sz="1300" dirty="0"/>
          </a:p>
        </p:txBody>
      </p:sp>
      <p:sp>
        <p:nvSpPr>
          <p:cNvPr id="10" name="Text 8"/>
          <p:cNvSpPr txBox="1"/>
          <p:nvPr/>
        </p:nvSpPr>
        <p:spPr>
          <a:xfrm>
            <a:off x="987552" y="1417320"/>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散瞳</a:t>
            </a:r>
            <a:endParaRPr lang="en-US" sz="1200" dirty="0"/>
          </a:p>
        </p:txBody>
      </p:sp>
      <p:sp>
        <p:nvSpPr>
          <p:cNvPr id="11" name="Text 9"/>
          <p:cNvSpPr txBox="1"/>
          <p:nvPr/>
        </p:nvSpPr>
        <p:spPr>
          <a:xfrm>
            <a:off x="4096512" y="1417320"/>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交感</a:t>
            </a:r>
            <a:endParaRPr lang="en-US" sz="1100" dirty="0"/>
          </a:p>
        </p:txBody>
      </p:sp>
      <p:sp>
        <p:nvSpPr>
          <p:cNvPr id="12" name="Shape 10"/>
          <p:cNvSpPr/>
          <p:nvPr/>
        </p:nvSpPr>
        <p:spPr>
          <a:xfrm>
            <a:off x="457200" y="1947672"/>
            <a:ext cx="8229600" cy="457200"/>
          </a:xfrm>
          <a:prstGeom prst="roundRect">
            <a:avLst>
              <a:gd name="adj" fmla="val 16000"/>
            </a:avLst>
          </a:prstGeom>
          <a:solidFill>
            <a:srgbClr val="F4F6F8"/>
          </a:solidFill>
          <a:ln/>
        </p:spPr>
      </p:sp>
      <p:sp>
        <p:nvSpPr>
          <p:cNvPr id="13" name="Shape 11"/>
          <p:cNvSpPr/>
          <p:nvPr/>
        </p:nvSpPr>
        <p:spPr>
          <a:xfrm>
            <a:off x="548640" y="2011680"/>
            <a:ext cx="329184" cy="329184"/>
          </a:xfrm>
          <a:prstGeom prst="ellipse">
            <a:avLst/>
          </a:prstGeom>
          <a:solidFill>
            <a:srgbClr val="FFFFFF"/>
          </a:solidFill>
          <a:ln w="12700">
            <a:solidFill>
              <a:srgbClr val="8A96A3"/>
            </a:solidFill>
            <a:prstDash val="solid"/>
          </a:ln>
        </p:spPr>
      </p:sp>
      <p:sp>
        <p:nvSpPr>
          <p:cNvPr id="14" name="Text 12"/>
          <p:cNvSpPr txBox="1"/>
          <p:nvPr/>
        </p:nvSpPr>
        <p:spPr>
          <a:xfrm>
            <a:off x="548640" y="2011680"/>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2</a:t>
            </a:r>
            <a:endParaRPr lang="en-US" sz="1300" dirty="0"/>
          </a:p>
        </p:txBody>
      </p:sp>
      <p:sp>
        <p:nvSpPr>
          <p:cNvPr id="15" name="Text 13"/>
          <p:cNvSpPr txBox="1"/>
          <p:nvPr/>
        </p:nvSpPr>
        <p:spPr>
          <a:xfrm>
            <a:off x="987552" y="1947672"/>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心拍数増加</a:t>
            </a:r>
            <a:endParaRPr lang="en-US" sz="1200" dirty="0"/>
          </a:p>
        </p:txBody>
      </p:sp>
      <p:sp>
        <p:nvSpPr>
          <p:cNvPr id="16" name="Text 14"/>
          <p:cNvSpPr txBox="1"/>
          <p:nvPr/>
        </p:nvSpPr>
        <p:spPr>
          <a:xfrm>
            <a:off x="4096512" y="1947672"/>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交感</a:t>
            </a:r>
            <a:endParaRPr lang="en-US" sz="1100" dirty="0"/>
          </a:p>
        </p:txBody>
      </p:sp>
      <p:sp>
        <p:nvSpPr>
          <p:cNvPr id="17" name="Shape 15"/>
          <p:cNvSpPr/>
          <p:nvPr/>
        </p:nvSpPr>
        <p:spPr>
          <a:xfrm>
            <a:off x="457200" y="2478024"/>
            <a:ext cx="8229600" cy="457200"/>
          </a:xfrm>
          <a:prstGeom prst="roundRect">
            <a:avLst>
              <a:gd name="adj" fmla="val 16000"/>
            </a:avLst>
          </a:prstGeom>
          <a:solidFill>
            <a:srgbClr val="FBE3E2"/>
          </a:solidFill>
          <a:ln w="19050">
            <a:solidFill>
              <a:srgbClr val="D9534F"/>
            </a:solidFill>
            <a:prstDash val="solid"/>
          </a:ln>
        </p:spPr>
      </p:sp>
      <p:sp>
        <p:nvSpPr>
          <p:cNvPr id="18" name="Shape 16"/>
          <p:cNvSpPr/>
          <p:nvPr/>
        </p:nvSpPr>
        <p:spPr>
          <a:xfrm>
            <a:off x="548640" y="2542032"/>
            <a:ext cx="329184" cy="329184"/>
          </a:xfrm>
          <a:prstGeom prst="ellipse">
            <a:avLst/>
          </a:prstGeom>
          <a:solidFill>
            <a:srgbClr val="D9534F"/>
          </a:solidFill>
          <a:ln w="12700">
            <a:solidFill>
              <a:srgbClr val="D9534F"/>
            </a:solidFill>
            <a:prstDash val="solid"/>
          </a:ln>
        </p:spPr>
      </p:sp>
      <p:sp>
        <p:nvSpPr>
          <p:cNvPr id="19" name="Text 17"/>
          <p:cNvSpPr txBox="1"/>
          <p:nvPr/>
        </p:nvSpPr>
        <p:spPr>
          <a:xfrm>
            <a:off x="548640" y="254203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20" name="Text 18"/>
          <p:cNvSpPr txBox="1"/>
          <p:nvPr/>
        </p:nvSpPr>
        <p:spPr>
          <a:xfrm>
            <a:off x="987552" y="2478024"/>
            <a:ext cx="3017520" cy="457200"/>
          </a:xfrm>
          <a:prstGeom prst="rect">
            <a:avLst/>
          </a:prstGeom>
          <a:noFill/>
          <a:ln/>
        </p:spPr>
        <p:txBody>
          <a:bodyPr wrap="square" lIns="0" tIns="0" rIns="0" bIns="0" rtlCol="0" anchor="ctr"/>
          <a:lstStyle/>
          <a:p>
            <a:pPr indent="0" marL="0">
              <a:buNone/>
            </a:pPr>
            <a:r>
              <a:rPr lang="en-US" sz="1200" b="1" dirty="0">
                <a:solidFill>
                  <a:srgbClr val="D9534F"/>
                </a:solidFill>
                <a:latin typeface="Meiryo" pitchFamily="34" charset="0"/>
                <a:ea typeface="Meiryo" pitchFamily="34" charset="-122"/>
                <a:cs typeface="Meiryo" pitchFamily="34" charset="-120"/>
              </a:rPr>
              <a:t>気管支収縮</a:t>
            </a:r>
            <a:endParaRPr lang="en-US" sz="1200" dirty="0"/>
          </a:p>
        </p:txBody>
      </p:sp>
      <p:sp>
        <p:nvSpPr>
          <p:cNvPr id="21" name="Text 19"/>
          <p:cNvSpPr txBox="1"/>
          <p:nvPr/>
        </p:nvSpPr>
        <p:spPr>
          <a:xfrm>
            <a:off x="4096512" y="2478024"/>
            <a:ext cx="4526280" cy="457200"/>
          </a:xfrm>
          <a:prstGeom prst="rect">
            <a:avLst/>
          </a:prstGeom>
          <a:noFill/>
          <a:ln/>
        </p:spPr>
        <p:txBody>
          <a:bodyPr wrap="square" lIns="0" tIns="0" rIns="0" bIns="0" rtlCol="0" anchor="ctr"/>
          <a:lstStyle/>
          <a:p>
            <a:pPr indent="0" marL="0">
              <a:buNone/>
            </a:pPr>
            <a:r>
              <a:rPr lang="en-US" sz="1100" dirty="0">
                <a:solidFill>
                  <a:srgbClr val="222222"/>
                </a:solidFill>
                <a:latin typeface="Meiryo" pitchFamily="34" charset="0"/>
                <a:ea typeface="Meiryo" pitchFamily="34" charset="-122"/>
                <a:cs typeface="Meiryo" pitchFamily="34" charset="-120"/>
              </a:rPr>
              <a:t>副交感 ○</a:t>
            </a:r>
            <a:endParaRPr lang="en-US" sz="1100" dirty="0"/>
          </a:p>
        </p:txBody>
      </p:sp>
      <p:sp>
        <p:nvSpPr>
          <p:cNvPr id="22" name="Shape 20"/>
          <p:cNvSpPr/>
          <p:nvPr/>
        </p:nvSpPr>
        <p:spPr>
          <a:xfrm>
            <a:off x="457200" y="3008376"/>
            <a:ext cx="8229600" cy="457200"/>
          </a:xfrm>
          <a:prstGeom prst="roundRect">
            <a:avLst>
              <a:gd name="adj" fmla="val 16000"/>
            </a:avLst>
          </a:prstGeom>
          <a:solidFill>
            <a:srgbClr val="F4F6F8"/>
          </a:solidFill>
          <a:ln/>
        </p:spPr>
      </p:sp>
      <p:sp>
        <p:nvSpPr>
          <p:cNvPr id="23" name="Shape 21"/>
          <p:cNvSpPr/>
          <p:nvPr/>
        </p:nvSpPr>
        <p:spPr>
          <a:xfrm>
            <a:off x="548640" y="3072384"/>
            <a:ext cx="329184" cy="329184"/>
          </a:xfrm>
          <a:prstGeom prst="ellipse">
            <a:avLst/>
          </a:prstGeom>
          <a:solidFill>
            <a:srgbClr val="FFFFFF"/>
          </a:solidFill>
          <a:ln w="12700">
            <a:solidFill>
              <a:srgbClr val="8A96A3"/>
            </a:solidFill>
            <a:prstDash val="solid"/>
          </a:ln>
        </p:spPr>
      </p:sp>
      <p:sp>
        <p:nvSpPr>
          <p:cNvPr id="24" name="Text 22"/>
          <p:cNvSpPr txBox="1"/>
          <p:nvPr/>
        </p:nvSpPr>
        <p:spPr>
          <a:xfrm>
            <a:off x="548640" y="3072384"/>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4</a:t>
            </a:r>
            <a:endParaRPr lang="en-US" sz="1300" dirty="0"/>
          </a:p>
        </p:txBody>
      </p:sp>
      <p:sp>
        <p:nvSpPr>
          <p:cNvPr id="25" name="Text 23"/>
          <p:cNvSpPr txBox="1"/>
          <p:nvPr/>
        </p:nvSpPr>
        <p:spPr>
          <a:xfrm>
            <a:off x="987552" y="3008376"/>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皮膚血管収縮</a:t>
            </a:r>
            <a:endParaRPr lang="en-US" sz="1200" dirty="0"/>
          </a:p>
        </p:txBody>
      </p:sp>
      <p:sp>
        <p:nvSpPr>
          <p:cNvPr id="26" name="Text 24"/>
          <p:cNvSpPr txBox="1"/>
          <p:nvPr/>
        </p:nvSpPr>
        <p:spPr>
          <a:xfrm>
            <a:off x="4096512" y="3008376"/>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交感</a:t>
            </a:r>
            <a:endParaRPr lang="en-US" sz="1100" dirty="0"/>
          </a:p>
        </p:txBody>
      </p:sp>
      <p:sp>
        <p:nvSpPr>
          <p:cNvPr id="27" name="Shape 25"/>
          <p:cNvSpPr/>
          <p:nvPr/>
        </p:nvSpPr>
        <p:spPr>
          <a:xfrm>
            <a:off x="457200" y="3538728"/>
            <a:ext cx="8229600" cy="457200"/>
          </a:xfrm>
          <a:prstGeom prst="roundRect">
            <a:avLst>
              <a:gd name="adj" fmla="val 16000"/>
            </a:avLst>
          </a:prstGeom>
          <a:solidFill>
            <a:srgbClr val="F4F6F8"/>
          </a:solidFill>
          <a:ln/>
        </p:spPr>
      </p:sp>
      <p:sp>
        <p:nvSpPr>
          <p:cNvPr id="28" name="Shape 26"/>
          <p:cNvSpPr/>
          <p:nvPr/>
        </p:nvSpPr>
        <p:spPr>
          <a:xfrm>
            <a:off x="548640" y="3602736"/>
            <a:ext cx="329184" cy="329184"/>
          </a:xfrm>
          <a:prstGeom prst="ellipse">
            <a:avLst/>
          </a:prstGeom>
          <a:solidFill>
            <a:srgbClr val="FFFFFF"/>
          </a:solidFill>
          <a:ln w="12700">
            <a:solidFill>
              <a:srgbClr val="8A96A3"/>
            </a:solidFill>
            <a:prstDash val="solid"/>
          </a:ln>
        </p:spPr>
      </p:sp>
      <p:sp>
        <p:nvSpPr>
          <p:cNvPr id="29" name="Text 27"/>
          <p:cNvSpPr txBox="1"/>
          <p:nvPr/>
        </p:nvSpPr>
        <p:spPr>
          <a:xfrm>
            <a:off x="548640" y="3602736"/>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5</a:t>
            </a:r>
            <a:endParaRPr lang="en-US" sz="1300" dirty="0"/>
          </a:p>
        </p:txBody>
      </p:sp>
      <p:sp>
        <p:nvSpPr>
          <p:cNvPr id="30" name="Text 28"/>
          <p:cNvSpPr txBox="1"/>
          <p:nvPr/>
        </p:nvSpPr>
        <p:spPr>
          <a:xfrm>
            <a:off x="987552" y="3538728"/>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膀胱括約筋収縮</a:t>
            </a:r>
            <a:endParaRPr lang="en-US" sz="1200" dirty="0"/>
          </a:p>
        </p:txBody>
      </p:sp>
      <p:sp>
        <p:nvSpPr>
          <p:cNvPr id="31" name="Text 29"/>
          <p:cNvSpPr txBox="1"/>
          <p:nvPr/>
        </p:nvSpPr>
        <p:spPr>
          <a:xfrm>
            <a:off x="4096512" y="3538728"/>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交感</a:t>
            </a:r>
            <a:endParaRPr lang="en-US" sz="1100" dirty="0"/>
          </a:p>
        </p:txBody>
      </p:sp>
      <p:sp>
        <p:nvSpPr>
          <p:cNvPr id="32" name="Shape 30"/>
          <p:cNvSpPr/>
          <p:nvPr/>
        </p:nvSpPr>
        <p:spPr>
          <a:xfrm>
            <a:off x="457200" y="4160520"/>
            <a:ext cx="1463040" cy="685800"/>
          </a:xfrm>
          <a:prstGeom prst="roundRect">
            <a:avLst>
              <a:gd name="adj" fmla="val 10667"/>
            </a:avLst>
          </a:prstGeom>
          <a:solidFill>
            <a:srgbClr val="D9534F"/>
          </a:solidFill>
          <a:ln/>
        </p:spPr>
      </p:sp>
      <p:sp>
        <p:nvSpPr>
          <p:cNvPr id="33" name="Text 31"/>
          <p:cNvSpPr txBox="1"/>
          <p:nvPr/>
        </p:nvSpPr>
        <p:spPr>
          <a:xfrm>
            <a:off x="457200" y="4160520"/>
            <a:ext cx="1463040" cy="685800"/>
          </a:xfrm>
          <a:prstGeom prst="rect">
            <a:avLst/>
          </a:prstGeom>
          <a:noFill/>
          <a:ln/>
        </p:spPr>
        <p:txBody>
          <a:bodyPr wrap="square" lIns="0" tIns="0" rIns="0" bIns="0" rtlCol="0" anchor="ctr"/>
          <a:lstStyle/>
          <a:p>
            <a:pPr algn="ctr" indent="0" marL="0">
              <a:buNone/>
            </a:pPr>
            <a:r>
              <a:rPr lang="en-US" sz="1100" dirty="0">
                <a:solidFill>
                  <a:srgbClr val="FFFFFF"/>
                </a:solidFill>
                <a:latin typeface="Meiryo" pitchFamily="34" charset="0"/>
                <a:ea typeface="Meiryo" pitchFamily="34" charset="-122"/>
                <a:cs typeface="Meiryo" pitchFamily="34" charset="-120"/>
              </a:rPr>
              <a:t>正解</a:t>
            </a:r>
            <a:endParaRPr lang="en-US" sz="1100" dirty="0"/>
          </a:p>
          <a:p>
            <a:pPr algn="ctr" indent="0" marL="0">
              <a:buNone/>
            </a:pPr>
            <a:r>
              <a:rPr lang="en-US" sz="2200" b="1" dirty="0">
                <a:solidFill>
                  <a:srgbClr val="FFFFFF"/>
                </a:solidFill>
                <a:latin typeface="Meiryo" pitchFamily="34" charset="0"/>
                <a:ea typeface="Meiryo" pitchFamily="34" charset="-122"/>
                <a:cs typeface="Meiryo" pitchFamily="34" charset="-120"/>
              </a:rPr>
              <a:t>3</a:t>
            </a:r>
            <a:endParaRPr lang="en-US" sz="11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74320"/>
            <a:ext cx="868680" cy="384048"/>
          </a:xfrm>
          <a:prstGeom prst="roundRect">
            <a:avLst>
              <a:gd name="adj" fmla="val 19048"/>
            </a:avLst>
          </a:prstGeom>
          <a:solidFill>
            <a:srgbClr val="17324D"/>
          </a:solidFill>
          <a:ln/>
        </p:spPr>
      </p:sp>
      <p:sp>
        <p:nvSpPr>
          <p:cNvPr id="3" name="Text 1"/>
          <p:cNvSpPr txBox="1"/>
          <p:nvPr/>
        </p:nvSpPr>
        <p:spPr>
          <a:xfrm>
            <a:off x="457200" y="274320"/>
            <a:ext cx="86868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問題</a:t>
            </a:r>
            <a:endParaRPr lang="en-US" sz="1300" dirty="0"/>
          </a:p>
        </p:txBody>
      </p:sp>
      <p:sp>
        <p:nvSpPr>
          <p:cNvPr id="4" name="Text 2"/>
          <p:cNvSpPr txBox="1"/>
          <p:nvPr/>
        </p:nvSpPr>
        <p:spPr>
          <a:xfrm>
            <a:off x="1417320" y="274320"/>
            <a:ext cx="731520" cy="384048"/>
          </a:xfrm>
          <a:prstGeom prst="rect">
            <a:avLst/>
          </a:prstGeom>
          <a:noFill/>
          <a:ln/>
        </p:spPr>
        <p:txBody>
          <a:bodyPr wrap="square" lIns="0" tIns="0" rIns="0" bIns="0" rtlCol="0" anchor="ctr"/>
          <a:lstStyle/>
          <a:p>
            <a:pPr indent="0" marL="0">
              <a:buNone/>
            </a:pPr>
            <a:r>
              <a:rPr lang="en-US" sz="2000" b="1" dirty="0">
                <a:solidFill>
                  <a:srgbClr val="17324D"/>
                </a:solidFill>
                <a:latin typeface="Arial" pitchFamily="34" charset="0"/>
                <a:ea typeface="Arial" pitchFamily="34" charset="-122"/>
                <a:cs typeface="Arial" pitchFamily="34" charset="-120"/>
              </a:rPr>
              <a:t>[25]</a:t>
            </a:r>
            <a:endParaRPr lang="en-US" sz="2000" dirty="0"/>
          </a:p>
        </p:txBody>
      </p:sp>
      <p:sp>
        <p:nvSpPr>
          <p:cNvPr id="5" name="Text 3"/>
          <p:cNvSpPr txBox="1"/>
          <p:nvPr/>
        </p:nvSpPr>
        <p:spPr>
          <a:xfrm>
            <a:off x="5943600" y="274320"/>
            <a:ext cx="2743200" cy="384048"/>
          </a:xfrm>
          <a:prstGeom prst="rect">
            <a:avLst/>
          </a:prstGeom>
          <a:noFill/>
          <a:ln/>
        </p:spPr>
        <p:txBody>
          <a:bodyPr wrap="square" lIns="0" tIns="0" rIns="0" bIns="0" rtlCol="0" anchor="ctr"/>
          <a:lstStyle/>
          <a:p>
            <a:pPr algn="r" indent="0" marL="0">
              <a:buNone/>
            </a:pPr>
            <a:r>
              <a:rPr lang="en-US" sz="1100" dirty="0">
                <a:solidFill>
                  <a:srgbClr val="5F6B76"/>
                </a:solidFill>
                <a:latin typeface="Meiryo" pitchFamily="34" charset="0"/>
                <a:ea typeface="Meiryo" pitchFamily="34" charset="-122"/>
                <a:cs typeface="Meiryo" pitchFamily="34" charset="-120"/>
              </a:rPr>
              <a:t>44回午後25</a:t>
            </a:r>
            <a:endParaRPr lang="en-US" sz="1100" dirty="0"/>
          </a:p>
        </p:txBody>
      </p:sp>
      <p:sp>
        <p:nvSpPr>
          <p:cNvPr id="6" name="Text 4"/>
          <p:cNvSpPr txBox="1"/>
          <p:nvPr/>
        </p:nvSpPr>
        <p:spPr>
          <a:xfrm>
            <a:off x="457200" y="731520"/>
            <a:ext cx="8229600" cy="594360"/>
          </a:xfrm>
          <a:prstGeom prst="rect">
            <a:avLst/>
          </a:prstGeom>
          <a:noFill/>
          <a:ln/>
        </p:spPr>
        <p:txBody>
          <a:bodyPr wrap="square" lIns="0" tIns="0" rIns="0" bIns="0" rtlCol="0" anchor="t"/>
          <a:lstStyle/>
          <a:p>
            <a:pPr indent="0" marL="0">
              <a:buNone/>
            </a:pPr>
            <a:r>
              <a:rPr lang="en-US" sz="1700" b="1" dirty="0">
                <a:solidFill>
                  <a:srgbClr val="222222"/>
                </a:solidFill>
                <a:latin typeface="Meiryo" pitchFamily="34" charset="0"/>
                <a:ea typeface="Meiryo" pitchFamily="34" charset="-122"/>
                <a:cs typeface="Meiryo" pitchFamily="34" charset="-120"/>
              </a:rPr>
              <a:t>副交感神経の作用で正しいのはどれか。２つ選べ。</a:t>
            </a:r>
            <a:endParaRPr lang="en-US" sz="1700" dirty="0"/>
          </a:p>
        </p:txBody>
      </p:sp>
      <p:sp>
        <p:nvSpPr>
          <p:cNvPr id="7" name="Shape 5"/>
          <p:cNvSpPr/>
          <p:nvPr/>
        </p:nvSpPr>
        <p:spPr>
          <a:xfrm>
            <a:off x="457200" y="1508760"/>
            <a:ext cx="8229600" cy="493776"/>
          </a:xfrm>
          <a:prstGeom prst="roundRect">
            <a:avLst>
              <a:gd name="adj" fmla="val 14815"/>
            </a:avLst>
          </a:prstGeom>
          <a:solidFill>
            <a:srgbClr val="EAF2F8"/>
          </a:solidFill>
          <a:ln/>
        </p:spPr>
      </p:sp>
      <p:sp>
        <p:nvSpPr>
          <p:cNvPr id="8" name="Shape 6"/>
          <p:cNvSpPr/>
          <p:nvPr/>
        </p:nvSpPr>
        <p:spPr>
          <a:xfrm>
            <a:off x="566928" y="1572768"/>
            <a:ext cx="365760" cy="365760"/>
          </a:xfrm>
          <a:prstGeom prst="ellipse">
            <a:avLst/>
          </a:prstGeom>
          <a:solidFill>
            <a:srgbClr val="FFFFFF"/>
          </a:solidFill>
          <a:ln w="15875">
            <a:solidFill>
              <a:srgbClr val="17324D"/>
            </a:solidFill>
            <a:prstDash val="solid"/>
          </a:ln>
        </p:spPr>
      </p:sp>
      <p:sp>
        <p:nvSpPr>
          <p:cNvPr id="9" name="Text 7"/>
          <p:cNvSpPr txBox="1"/>
          <p:nvPr/>
        </p:nvSpPr>
        <p:spPr>
          <a:xfrm>
            <a:off x="566928" y="1572768"/>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1</a:t>
            </a:r>
            <a:endParaRPr lang="en-US" sz="1400" dirty="0"/>
          </a:p>
        </p:txBody>
      </p:sp>
      <p:sp>
        <p:nvSpPr>
          <p:cNvPr id="10" name="Text 8"/>
          <p:cNvSpPr txBox="1"/>
          <p:nvPr/>
        </p:nvSpPr>
        <p:spPr>
          <a:xfrm>
            <a:off x="1051560" y="1508760"/>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発汗</a:t>
            </a:r>
            <a:endParaRPr lang="en-US" sz="1500" dirty="0"/>
          </a:p>
        </p:txBody>
      </p:sp>
      <p:sp>
        <p:nvSpPr>
          <p:cNvPr id="11" name="Shape 9"/>
          <p:cNvSpPr/>
          <p:nvPr/>
        </p:nvSpPr>
        <p:spPr>
          <a:xfrm>
            <a:off x="457200" y="2112264"/>
            <a:ext cx="8229600" cy="493776"/>
          </a:xfrm>
          <a:prstGeom prst="roundRect">
            <a:avLst>
              <a:gd name="adj" fmla="val 14815"/>
            </a:avLst>
          </a:prstGeom>
          <a:solidFill>
            <a:srgbClr val="EAF2F8"/>
          </a:solidFill>
          <a:ln/>
        </p:spPr>
      </p:sp>
      <p:sp>
        <p:nvSpPr>
          <p:cNvPr id="12" name="Shape 10"/>
          <p:cNvSpPr/>
          <p:nvPr/>
        </p:nvSpPr>
        <p:spPr>
          <a:xfrm>
            <a:off x="566928" y="2176272"/>
            <a:ext cx="365760" cy="365760"/>
          </a:xfrm>
          <a:prstGeom prst="ellipse">
            <a:avLst/>
          </a:prstGeom>
          <a:solidFill>
            <a:srgbClr val="FFFFFF"/>
          </a:solidFill>
          <a:ln w="15875">
            <a:solidFill>
              <a:srgbClr val="17324D"/>
            </a:solidFill>
            <a:prstDash val="solid"/>
          </a:ln>
        </p:spPr>
      </p:sp>
      <p:sp>
        <p:nvSpPr>
          <p:cNvPr id="13" name="Text 11"/>
          <p:cNvSpPr txBox="1"/>
          <p:nvPr/>
        </p:nvSpPr>
        <p:spPr>
          <a:xfrm>
            <a:off x="566928" y="2176272"/>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2</a:t>
            </a:r>
            <a:endParaRPr lang="en-US" sz="1400" dirty="0"/>
          </a:p>
        </p:txBody>
      </p:sp>
      <p:sp>
        <p:nvSpPr>
          <p:cNvPr id="14" name="Text 12"/>
          <p:cNvSpPr txBox="1"/>
          <p:nvPr/>
        </p:nvSpPr>
        <p:spPr>
          <a:xfrm>
            <a:off x="1051560" y="2112264"/>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涙液分泌</a:t>
            </a:r>
            <a:endParaRPr lang="en-US" sz="1500" dirty="0"/>
          </a:p>
        </p:txBody>
      </p:sp>
      <p:sp>
        <p:nvSpPr>
          <p:cNvPr id="15" name="Shape 13"/>
          <p:cNvSpPr/>
          <p:nvPr/>
        </p:nvSpPr>
        <p:spPr>
          <a:xfrm>
            <a:off x="457200" y="2715768"/>
            <a:ext cx="8229600" cy="493776"/>
          </a:xfrm>
          <a:prstGeom prst="roundRect">
            <a:avLst>
              <a:gd name="adj" fmla="val 14815"/>
            </a:avLst>
          </a:prstGeom>
          <a:solidFill>
            <a:srgbClr val="EAF2F8"/>
          </a:solidFill>
          <a:ln/>
        </p:spPr>
      </p:sp>
      <p:sp>
        <p:nvSpPr>
          <p:cNvPr id="16" name="Shape 14"/>
          <p:cNvSpPr/>
          <p:nvPr/>
        </p:nvSpPr>
        <p:spPr>
          <a:xfrm>
            <a:off x="566928" y="2779776"/>
            <a:ext cx="365760" cy="365760"/>
          </a:xfrm>
          <a:prstGeom prst="ellipse">
            <a:avLst/>
          </a:prstGeom>
          <a:solidFill>
            <a:srgbClr val="FFFFFF"/>
          </a:solidFill>
          <a:ln w="15875">
            <a:solidFill>
              <a:srgbClr val="17324D"/>
            </a:solidFill>
            <a:prstDash val="solid"/>
          </a:ln>
        </p:spPr>
      </p:sp>
      <p:sp>
        <p:nvSpPr>
          <p:cNvPr id="17" name="Text 15"/>
          <p:cNvSpPr txBox="1"/>
          <p:nvPr/>
        </p:nvSpPr>
        <p:spPr>
          <a:xfrm>
            <a:off x="566928" y="2779776"/>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3</a:t>
            </a:r>
            <a:endParaRPr lang="en-US" sz="1400" dirty="0"/>
          </a:p>
        </p:txBody>
      </p:sp>
      <p:sp>
        <p:nvSpPr>
          <p:cNvPr id="18" name="Text 16"/>
          <p:cNvSpPr txBox="1"/>
          <p:nvPr/>
        </p:nvSpPr>
        <p:spPr>
          <a:xfrm>
            <a:off x="1051560" y="2715768"/>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立毛筋収縮</a:t>
            </a:r>
            <a:endParaRPr lang="en-US" sz="1500" dirty="0"/>
          </a:p>
        </p:txBody>
      </p:sp>
      <p:sp>
        <p:nvSpPr>
          <p:cNvPr id="19" name="Shape 17"/>
          <p:cNvSpPr/>
          <p:nvPr/>
        </p:nvSpPr>
        <p:spPr>
          <a:xfrm>
            <a:off x="457200" y="3319272"/>
            <a:ext cx="8229600" cy="493776"/>
          </a:xfrm>
          <a:prstGeom prst="roundRect">
            <a:avLst>
              <a:gd name="adj" fmla="val 14815"/>
            </a:avLst>
          </a:prstGeom>
          <a:solidFill>
            <a:srgbClr val="EAF2F8"/>
          </a:solidFill>
          <a:ln/>
        </p:spPr>
      </p:sp>
      <p:sp>
        <p:nvSpPr>
          <p:cNvPr id="20" name="Shape 18"/>
          <p:cNvSpPr/>
          <p:nvPr/>
        </p:nvSpPr>
        <p:spPr>
          <a:xfrm>
            <a:off x="566928" y="3383280"/>
            <a:ext cx="365760" cy="365760"/>
          </a:xfrm>
          <a:prstGeom prst="ellipse">
            <a:avLst/>
          </a:prstGeom>
          <a:solidFill>
            <a:srgbClr val="FFFFFF"/>
          </a:solidFill>
          <a:ln w="15875">
            <a:solidFill>
              <a:srgbClr val="17324D"/>
            </a:solidFill>
            <a:prstDash val="solid"/>
          </a:ln>
        </p:spPr>
      </p:sp>
      <p:sp>
        <p:nvSpPr>
          <p:cNvPr id="21" name="Text 19"/>
          <p:cNvSpPr txBox="1"/>
          <p:nvPr/>
        </p:nvSpPr>
        <p:spPr>
          <a:xfrm>
            <a:off x="566928" y="3383280"/>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4</a:t>
            </a:r>
            <a:endParaRPr lang="en-US" sz="1400" dirty="0"/>
          </a:p>
        </p:txBody>
      </p:sp>
      <p:sp>
        <p:nvSpPr>
          <p:cNvPr id="22" name="Text 20"/>
          <p:cNvSpPr txBox="1"/>
          <p:nvPr/>
        </p:nvSpPr>
        <p:spPr>
          <a:xfrm>
            <a:off x="1051560" y="3319272"/>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筋血管拡張</a:t>
            </a:r>
            <a:endParaRPr lang="en-US" sz="1500" dirty="0"/>
          </a:p>
        </p:txBody>
      </p:sp>
      <p:sp>
        <p:nvSpPr>
          <p:cNvPr id="23" name="Shape 21"/>
          <p:cNvSpPr/>
          <p:nvPr/>
        </p:nvSpPr>
        <p:spPr>
          <a:xfrm>
            <a:off x="457200" y="3922776"/>
            <a:ext cx="8229600" cy="493776"/>
          </a:xfrm>
          <a:prstGeom prst="roundRect">
            <a:avLst>
              <a:gd name="adj" fmla="val 14815"/>
            </a:avLst>
          </a:prstGeom>
          <a:solidFill>
            <a:srgbClr val="EAF2F8"/>
          </a:solidFill>
          <a:ln/>
        </p:spPr>
      </p:sp>
      <p:sp>
        <p:nvSpPr>
          <p:cNvPr id="24" name="Shape 22"/>
          <p:cNvSpPr/>
          <p:nvPr/>
        </p:nvSpPr>
        <p:spPr>
          <a:xfrm>
            <a:off x="566928" y="3986784"/>
            <a:ext cx="365760" cy="365760"/>
          </a:xfrm>
          <a:prstGeom prst="ellipse">
            <a:avLst/>
          </a:prstGeom>
          <a:solidFill>
            <a:srgbClr val="FFFFFF"/>
          </a:solidFill>
          <a:ln w="15875">
            <a:solidFill>
              <a:srgbClr val="17324D"/>
            </a:solidFill>
            <a:prstDash val="solid"/>
          </a:ln>
        </p:spPr>
      </p:sp>
      <p:sp>
        <p:nvSpPr>
          <p:cNvPr id="25" name="Text 23"/>
          <p:cNvSpPr txBox="1"/>
          <p:nvPr/>
        </p:nvSpPr>
        <p:spPr>
          <a:xfrm>
            <a:off x="566928" y="3986784"/>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5</a:t>
            </a:r>
            <a:endParaRPr lang="en-US" sz="1400" dirty="0"/>
          </a:p>
        </p:txBody>
      </p:sp>
      <p:sp>
        <p:nvSpPr>
          <p:cNvPr id="26" name="Text 24"/>
          <p:cNvSpPr txBox="1"/>
          <p:nvPr/>
        </p:nvSpPr>
        <p:spPr>
          <a:xfrm>
            <a:off x="1051560" y="3922776"/>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気管支収縮</a:t>
            </a:r>
            <a:endParaRPr lang="en-US" sz="15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74320"/>
            <a:ext cx="868680" cy="384048"/>
          </a:xfrm>
          <a:prstGeom prst="roundRect">
            <a:avLst>
              <a:gd name="adj" fmla="val 19048"/>
            </a:avLst>
          </a:prstGeom>
          <a:solidFill>
            <a:srgbClr val="D9534F"/>
          </a:solidFill>
          <a:ln/>
        </p:spPr>
      </p:sp>
      <p:sp>
        <p:nvSpPr>
          <p:cNvPr id="3" name="Text 1"/>
          <p:cNvSpPr txBox="1"/>
          <p:nvPr/>
        </p:nvSpPr>
        <p:spPr>
          <a:xfrm>
            <a:off x="457200" y="274320"/>
            <a:ext cx="86868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解説</a:t>
            </a:r>
            <a:endParaRPr lang="en-US" sz="1300" dirty="0"/>
          </a:p>
        </p:txBody>
      </p:sp>
      <p:sp>
        <p:nvSpPr>
          <p:cNvPr id="4" name="Text 2"/>
          <p:cNvSpPr txBox="1"/>
          <p:nvPr/>
        </p:nvSpPr>
        <p:spPr>
          <a:xfrm>
            <a:off x="1417320" y="274320"/>
            <a:ext cx="731520" cy="384048"/>
          </a:xfrm>
          <a:prstGeom prst="rect">
            <a:avLst/>
          </a:prstGeom>
          <a:noFill/>
          <a:ln/>
        </p:spPr>
        <p:txBody>
          <a:bodyPr wrap="square" lIns="0" tIns="0" rIns="0" bIns="0" rtlCol="0" anchor="ctr"/>
          <a:lstStyle/>
          <a:p>
            <a:pPr indent="0" marL="0">
              <a:buNone/>
            </a:pPr>
            <a:r>
              <a:rPr lang="en-US" sz="2000" b="1" dirty="0">
                <a:solidFill>
                  <a:srgbClr val="17324D"/>
                </a:solidFill>
                <a:latin typeface="Arial" pitchFamily="34" charset="0"/>
                <a:ea typeface="Arial" pitchFamily="34" charset="-122"/>
                <a:cs typeface="Arial" pitchFamily="34" charset="-120"/>
              </a:rPr>
              <a:t>[25]</a:t>
            </a:r>
            <a:endParaRPr lang="en-US" sz="2000" dirty="0"/>
          </a:p>
        </p:txBody>
      </p:sp>
      <p:sp>
        <p:nvSpPr>
          <p:cNvPr id="5" name="Text 3"/>
          <p:cNvSpPr txBox="1"/>
          <p:nvPr/>
        </p:nvSpPr>
        <p:spPr>
          <a:xfrm>
            <a:off x="5943600" y="274320"/>
            <a:ext cx="2743200" cy="384048"/>
          </a:xfrm>
          <a:prstGeom prst="rect">
            <a:avLst/>
          </a:prstGeom>
          <a:noFill/>
          <a:ln/>
        </p:spPr>
        <p:txBody>
          <a:bodyPr wrap="square" lIns="0" tIns="0" rIns="0" bIns="0" rtlCol="0" anchor="ctr"/>
          <a:lstStyle/>
          <a:p>
            <a:pPr algn="r" indent="0" marL="0">
              <a:buNone/>
            </a:pPr>
            <a:r>
              <a:rPr lang="en-US" sz="1100" dirty="0">
                <a:solidFill>
                  <a:srgbClr val="5F6B76"/>
                </a:solidFill>
                <a:latin typeface="Meiryo" pitchFamily="34" charset="0"/>
                <a:ea typeface="Meiryo" pitchFamily="34" charset="-122"/>
                <a:cs typeface="Meiryo" pitchFamily="34" charset="-120"/>
              </a:rPr>
              <a:t>44回午後25</a:t>
            </a:r>
            <a:endParaRPr lang="en-US" sz="1100" dirty="0"/>
          </a:p>
        </p:txBody>
      </p:sp>
      <p:sp>
        <p:nvSpPr>
          <p:cNvPr id="6" name="Text 4"/>
          <p:cNvSpPr txBox="1"/>
          <p:nvPr/>
        </p:nvSpPr>
        <p:spPr>
          <a:xfrm>
            <a:off x="457200" y="731520"/>
            <a:ext cx="8229600" cy="594360"/>
          </a:xfrm>
          <a:prstGeom prst="rect">
            <a:avLst/>
          </a:prstGeom>
          <a:noFill/>
          <a:ln/>
        </p:spPr>
        <p:txBody>
          <a:bodyPr wrap="square" lIns="0" tIns="0" rIns="0" bIns="0" rtlCol="0" anchor="t"/>
          <a:lstStyle/>
          <a:p>
            <a:pPr indent="0" marL="0">
              <a:buNone/>
            </a:pPr>
            <a:r>
              <a:rPr lang="en-US" sz="1700" b="1" dirty="0">
                <a:solidFill>
                  <a:srgbClr val="222222"/>
                </a:solidFill>
                <a:latin typeface="Meiryo" pitchFamily="34" charset="0"/>
                <a:ea typeface="Meiryo" pitchFamily="34" charset="-122"/>
                <a:cs typeface="Meiryo" pitchFamily="34" charset="-120"/>
              </a:rPr>
              <a:t>副交感神経の作用で正しいのはどれか。２つ選べ。</a:t>
            </a:r>
            <a:endParaRPr lang="en-US" sz="1700" dirty="0"/>
          </a:p>
        </p:txBody>
      </p:sp>
      <p:sp>
        <p:nvSpPr>
          <p:cNvPr id="7" name="Shape 5"/>
          <p:cNvSpPr/>
          <p:nvPr/>
        </p:nvSpPr>
        <p:spPr>
          <a:xfrm>
            <a:off x="457200" y="1417320"/>
            <a:ext cx="8229600" cy="457200"/>
          </a:xfrm>
          <a:prstGeom prst="roundRect">
            <a:avLst>
              <a:gd name="adj" fmla="val 16000"/>
            </a:avLst>
          </a:prstGeom>
          <a:solidFill>
            <a:srgbClr val="F4F6F8"/>
          </a:solidFill>
          <a:ln/>
        </p:spPr>
      </p:sp>
      <p:sp>
        <p:nvSpPr>
          <p:cNvPr id="8" name="Shape 6"/>
          <p:cNvSpPr/>
          <p:nvPr/>
        </p:nvSpPr>
        <p:spPr>
          <a:xfrm>
            <a:off x="548640" y="1481328"/>
            <a:ext cx="329184" cy="329184"/>
          </a:xfrm>
          <a:prstGeom prst="ellipse">
            <a:avLst/>
          </a:prstGeom>
          <a:solidFill>
            <a:srgbClr val="FFFFFF"/>
          </a:solidFill>
          <a:ln w="12700">
            <a:solidFill>
              <a:srgbClr val="8A96A3"/>
            </a:solidFill>
            <a:prstDash val="solid"/>
          </a:ln>
        </p:spPr>
      </p:sp>
      <p:sp>
        <p:nvSpPr>
          <p:cNvPr id="9" name="Text 7"/>
          <p:cNvSpPr txBox="1"/>
          <p:nvPr/>
        </p:nvSpPr>
        <p:spPr>
          <a:xfrm>
            <a:off x="548640" y="1481328"/>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1</a:t>
            </a:r>
            <a:endParaRPr lang="en-US" sz="1300" dirty="0"/>
          </a:p>
        </p:txBody>
      </p:sp>
      <p:sp>
        <p:nvSpPr>
          <p:cNvPr id="10" name="Text 8"/>
          <p:cNvSpPr txBox="1"/>
          <p:nvPr/>
        </p:nvSpPr>
        <p:spPr>
          <a:xfrm>
            <a:off x="987552" y="1417320"/>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発汗</a:t>
            </a:r>
            <a:endParaRPr lang="en-US" sz="1200" dirty="0"/>
          </a:p>
        </p:txBody>
      </p:sp>
      <p:sp>
        <p:nvSpPr>
          <p:cNvPr id="11" name="Text 9"/>
          <p:cNvSpPr txBox="1"/>
          <p:nvPr/>
        </p:nvSpPr>
        <p:spPr>
          <a:xfrm>
            <a:off x="4096512" y="1417320"/>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交感</a:t>
            </a:r>
            <a:endParaRPr lang="en-US" sz="1100" dirty="0"/>
          </a:p>
        </p:txBody>
      </p:sp>
      <p:sp>
        <p:nvSpPr>
          <p:cNvPr id="12" name="Shape 10"/>
          <p:cNvSpPr/>
          <p:nvPr/>
        </p:nvSpPr>
        <p:spPr>
          <a:xfrm>
            <a:off x="457200" y="1947672"/>
            <a:ext cx="8229600" cy="457200"/>
          </a:xfrm>
          <a:prstGeom prst="roundRect">
            <a:avLst>
              <a:gd name="adj" fmla="val 16000"/>
            </a:avLst>
          </a:prstGeom>
          <a:solidFill>
            <a:srgbClr val="FBE3E2"/>
          </a:solidFill>
          <a:ln w="19050">
            <a:solidFill>
              <a:srgbClr val="D9534F"/>
            </a:solidFill>
            <a:prstDash val="solid"/>
          </a:ln>
        </p:spPr>
      </p:sp>
      <p:sp>
        <p:nvSpPr>
          <p:cNvPr id="13" name="Shape 11"/>
          <p:cNvSpPr/>
          <p:nvPr/>
        </p:nvSpPr>
        <p:spPr>
          <a:xfrm>
            <a:off x="548640" y="2011680"/>
            <a:ext cx="329184" cy="329184"/>
          </a:xfrm>
          <a:prstGeom prst="ellipse">
            <a:avLst/>
          </a:prstGeom>
          <a:solidFill>
            <a:srgbClr val="D9534F"/>
          </a:solidFill>
          <a:ln w="12700">
            <a:solidFill>
              <a:srgbClr val="D9534F"/>
            </a:solidFill>
            <a:prstDash val="solid"/>
          </a:ln>
        </p:spPr>
      </p:sp>
      <p:sp>
        <p:nvSpPr>
          <p:cNvPr id="14" name="Text 12"/>
          <p:cNvSpPr txBox="1"/>
          <p:nvPr/>
        </p:nvSpPr>
        <p:spPr>
          <a:xfrm>
            <a:off x="548640" y="2011680"/>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5" name="Text 13"/>
          <p:cNvSpPr txBox="1"/>
          <p:nvPr/>
        </p:nvSpPr>
        <p:spPr>
          <a:xfrm>
            <a:off x="987552" y="1947672"/>
            <a:ext cx="3017520" cy="457200"/>
          </a:xfrm>
          <a:prstGeom prst="rect">
            <a:avLst/>
          </a:prstGeom>
          <a:noFill/>
          <a:ln/>
        </p:spPr>
        <p:txBody>
          <a:bodyPr wrap="square" lIns="0" tIns="0" rIns="0" bIns="0" rtlCol="0" anchor="ctr"/>
          <a:lstStyle/>
          <a:p>
            <a:pPr indent="0" marL="0">
              <a:buNone/>
            </a:pPr>
            <a:r>
              <a:rPr lang="en-US" sz="1200" b="1" dirty="0">
                <a:solidFill>
                  <a:srgbClr val="D9534F"/>
                </a:solidFill>
                <a:latin typeface="Meiryo" pitchFamily="34" charset="0"/>
                <a:ea typeface="Meiryo" pitchFamily="34" charset="-122"/>
                <a:cs typeface="Meiryo" pitchFamily="34" charset="-120"/>
              </a:rPr>
              <a:t>涙液分泌</a:t>
            </a:r>
            <a:endParaRPr lang="en-US" sz="1200" dirty="0"/>
          </a:p>
        </p:txBody>
      </p:sp>
      <p:sp>
        <p:nvSpPr>
          <p:cNvPr id="16" name="Text 14"/>
          <p:cNvSpPr txBox="1"/>
          <p:nvPr/>
        </p:nvSpPr>
        <p:spPr>
          <a:xfrm>
            <a:off x="4096512" y="1947672"/>
            <a:ext cx="4526280" cy="457200"/>
          </a:xfrm>
          <a:prstGeom prst="rect">
            <a:avLst/>
          </a:prstGeom>
          <a:noFill/>
          <a:ln/>
        </p:spPr>
        <p:txBody>
          <a:bodyPr wrap="square" lIns="0" tIns="0" rIns="0" bIns="0" rtlCol="0" anchor="ctr"/>
          <a:lstStyle/>
          <a:p>
            <a:pPr indent="0" marL="0">
              <a:buNone/>
            </a:pPr>
            <a:r>
              <a:rPr lang="en-US" sz="1100" dirty="0">
                <a:solidFill>
                  <a:srgbClr val="222222"/>
                </a:solidFill>
                <a:latin typeface="Meiryo" pitchFamily="34" charset="0"/>
                <a:ea typeface="Meiryo" pitchFamily="34" charset="-122"/>
                <a:cs typeface="Meiryo" pitchFamily="34" charset="-120"/>
              </a:rPr>
              <a:t>副交感 ○</a:t>
            </a:r>
            <a:endParaRPr lang="en-US" sz="1100" dirty="0"/>
          </a:p>
        </p:txBody>
      </p:sp>
      <p:sp>
        <p:nvSpPr>
          <p:cNvPr id="17" name="Shape 15"/>
          <p:cNvSpPr/>
          <p:nvPr/>
        </p:nvSpPr>
        <p:spPr>
          <a:xfrm>
            <a:off x="457200" y="2478024"/>
            <a:ext cx="8229600" cy="457200"/>
          </a:xfrm>
          <a:prstGeom prst="roundRect">
            <a:avLst>
              <a:gd name="adj" fmla="val 16000"/>
            </a:avLst>
          </a:prstGeom>
          <a:solidFill>
            <a:srgbClr val="F4F6F8"/>
          </a:solidFill>
          <a:ln/>
        </p:spPr>
      </p:sp>
      <p:sp>
        <p:nvSpPr>
          <p:cNvPr id="18" name="Shape 16"/>
          <p:cNvSpPr/>
          <p:nvPr/>
        </p:nvSpPr>
        <p:spPr>
          <a:xfrm>
            <a:off x="548640" y="2542032"/>
            <a:ext cx="329184" cy="329184"/>
          </a:xfrm>
          <a:prstGeom prst="ellipse">
            <a:avLst/>
          </a:prstGeom>
          <a:solidFill>
            <a:srgbClr val="FFFFFF"/>
          </a:solidFill>
          <a:ln w="12700">
            <a:solidFill>
              <a:srgbClr val="8A96A3"/>
            </a:solidFill>
            <a:prstDash val="solid"/>
          </a:ln>
        </p:spPr>
      </p:sp>
      <p:sp>
        <p:nvSpPr>
          <p:cNvPr id="19" name="Text 17"/>
          <p:cNvSpPr txBox="1"/>
          <p:nvPr/>
        </p:nvSpPr>
        <p:spPr>
          <a:xfrm>
            <a:off x="548640" y="2542032"/>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3</a:t>
            </a:r>
            <a:endParaRPr lang="en-US" sz="1300" dirty="0"/>
          </a:p>
        </p:txBody>
      </p:sp>
      <p:sp>
        <p:nvSpPr>
          <p:cNvPr id="20" name="Text 18"/>
          <p:cNvSpPr txBox="1"/>
          <p:nvPr/>
        </p:nvSpPr>
        <p:spPr>
          <a:xfrm>
            <a:off x="987552" y="2478024"/>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立毛筋収縮</a:t>
            </a:r>
            <a:endParaRPr lang="en-US" sz="1200" dirty="0"/>
          </a:p>
        </p:txBody>
      </p:sp>
      <p:sp>
        <p:nvSpPr>
          <p:cNvPr id="21" name="Text 19"/>
          <p:cNvSpPr txBox="1"/>
          <p:nvPr/>
        </p:nvSpPr>
        <p:spPr>
          <a:xfrm>
            <a:off x="4096512" y="2478024"/>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交感</a:t>
            </a:r>
            <a:endParaRPr lang="en-US" sz="1100" dirty="0"/>
          </a:p>
        </p:txBody>
      </p:sp>
      <p:sp>
        <p:nvSpPr>
          <p:cNvPr id="22" name="Shape 20"/>
          <p:cNvSpPr/>
          <p:nvPr/>
        </p:nvSpPr>
        <p:spPr>
          <a:xfrm>
            <a:off x="457200" y="3008376"/>
            <a:ext cx="8229600" cy="457200"/>
          </a:xfrm>
          <a:prstGeom prst="roundRect">
            <a:avLst>
              <a:gd name="adj" fmla="val 16000"/>
            </a:avLst>
          </a:prstGeom>
          <a:solidFill>
            <a:srgbClr val="F4F6F8"/>
          </a:solidFill>
          <a:ln/>
        </p:spPr>
      </p:sp>
      <p:sp>
        <p:nvSpPr>
          <p:cNvPr id="23" name="Shape 21"/>
          <p:cNvSpPr/>
          <p:nvPr/>
        </p:nvSpPr>
        <p:spPr>
          <a:xfrm>
            <a:off x="548640" y="3072384"/>
            <a:ext cx="329184" cy="329184"/>
          </a:xfrm>
          <a:prstGeom prst="ellipse">
            <a:avLst/>
          </a:prstGeom>
          <a:solidFill>
            <a:srgbClr val="FFFFFF"/>
          </a:solidFill>
          <a:ln w="12700">
            <a:solidFill>
              <a:srgbClr val="8A96A3"/>
            </a:solidFill>
            <a:prstDash val="solid"/>
          </a:ln>
        </p:spPr>
      </p:sp>
      <p:sp>
        <p:nvSpPr>
          <p:cNvPr id="24" name="Text 22"/>
          <p:cNvSpPr txBox="1"/>
          <p:nvPr/>
        </p:nvSpPr>
        <p:spPr>
          <a:xfrm>
            <a:off x="548640" y="3072384"/>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4</a:t>
            </a:r>
            <a:endParaRPr lang="en-US" sz="1300" dirty="0"/>
          </a:p>
        </p:txBody>
      </p:sp>
      <p:sp>
        <p:nvSpPr>
          <p:cNvPr id="25" name="Text 23"/>
          <p:cNvSpPr txBox="1"/>
          <p:nvPr/>
        </p:nvSpPr>
        <p:spPr>
          <a:xfrm>
            <a:off x="987552" y="3008376"/>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筋血管拡張</a:t>
            </a:r>
            <a:endParaRPr lang="en-US" sz="1200" dirty="0"/>
          </a:p>
        </p:txBody>
      </p:sp>
      <p:sp>
        <p:nvSpPr>
          <p:cNvPr id="26" name="Text 24"/>
          <p:cNvSpPr txBox="1"/>
          <p:nvPr/>
        </p:nvSpPr>
        <p:spPr>
          <a:xfrm>
            <a:off x="4096512" y="3008376"/>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交感</a:t>
            </a:r>
            <a:endParaRPr lang="en-US" sz="1100" dirty="0"/>
          </a:p>
        </p:txBody>
      </p:sp>
      <p:sp>
        <p:nvSpPr>
          <p:cNvPr id="27" name="Shape 25"/>
          <p:cNvSpPr/>
          <p:nvPr/>
        </p:nvSpPr>
        <p:spPr>
          <a:xfrm>
            <a:off x="457200" y="3538728"/>
            <a:ext cx="8229600" cy="457200"/>
          </a:xfrm>
          <a:prstGeom prst="roundRect">
            <a:avLst>
              <a:gd name="adj" fmla="val 16000"/>
            </a:avLst>
          </a:prstGeom>
          <a:solidFill>
            <a:srgbClr val="FBE3E2"/>
          </a:solidFill>
          <a:ln w="19050">
            <a:solidFill>
              <a:srgbClr val="D9534F"/>
            </a:solidFill>
            <a:prstDash val="solid"/>
          </a:ln>
        </p:spPr>
      </p:sp>
      <p:sp>
        <p:nvSpPr>
          <p:cNvPr id="28" name="Shape 26"/>
          <p:cNvSpPr/>
          <p:nvPr/>
        </p:nvSpPr>
        <p:spPr>
          <a:xfrm>
            <a:off x="548640" y="3602736"/>
            <a:ext cx="329184" cy="329184"/>
          </a:xfrm>
          <a:prstGeom prst="ellipse">
            <a:avLst/>
          </a:prstGeom>
          <a:solidFill>
            <a:srgbClr val="D9534F"/>
          </a:solidFill>
          <a:ln w="12700">
            <a:solidFill>
              <a:srgbClr val="D9534F"/>
            </a:solidFill>
            <a:prstDash val="solid"/>
          </a:ln>
        </p:spPr>
      </p:sp>
      <p:sp>
        <p:nvSpPr>
          <p:cNvPr id="29" name="Text 27"/>
          <p:cNvSpPr txBox="1"/>
          <p:nvPr/>
        </p:nvSpPr>
        <p:spPr>
          <a:xfrm>
            <a:off x="548640" y="3602736"/>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5</a:t>
            </a:r>
            <a:endParaRPr lang="en-US" sz="1300" dirty="0"/>
          </a:p>
        </p:txBody>
      </p:sp>
      <p:sp>
        <p:nvSpPr>
          <p:cNvPr id="30" name="Text 28"/>
          <p:cNvSpPr txBox="1"/>
          <p:nvPr/>
        </p:nvSpPr>
        <p:spPr>
          <a:xfrm>
            <a:off x="987552" y="3538728"/>
            <a:ext cx="3017520" cy="457200"/>
          </a:xfrm>
          <a:prstGeom prst="rect">
            <a:avLst/>
          </a:prstGeom>
          <a:noFill/>
          <a:ln/>
        </p:spPr>
        <p:txBody>
          <a:bodyPr wrap="square" lIns="0" tIns="0" rIns="0" bIns="0" rtlCol="0" anchor="ctr"/>
          <a:lstStyle/>
          <a:p>
            <a:pPr indent="0" marL="0">
              <a:buNone/>
            </a:pPr>
            <a:r>
              <a:rPr lang="en-US" sz="1200" b="1" dirty="0">
                <a:solidFill>
                  <a:srgbClr val="D9534F"/>
                </a:solidFill>
                <a:latin typeface="Meiryo" pitchFamily="34" charset="0"/>
                <a:ea typeface="Meiryo" pitchFamily="34" charset="-122"/>
                <a:cs typeface="Meiryo" pitchFamily="34" charset="-120"/>
              </a:rPr>
              <a:t>気管支収縮</a:t>
            </a:r>
            <a:endParaRPr lang="en-US" sz="1200" dirty="0"/>
          </a:p>
        </p:txBody>
      </p:sp>
      <p:sp>
        <p:nvSpPr>
          <p:cNvPr id="31" name="Text 29"/>
          <p:cNvSpPr txBox="1"/>
          <p:nvPr/>
        </p:nvSpPr>
        <p:spPr>
          <a:xfrm>
            <a:off x="4096512" y="3538728"/>
            <a:ext cx="4526280" cy="457200"/>
          </a:xfrm>
          <a:prstGeom prst="rect">
            <a:avLst/>
          </a:prstGeom>
          <a:noFill/>
          <a:ln/>
        </p:spPr>
        <p:txBody>
          <a:bodyPr wrap="square" lIns="0" tIns="0" rIns="0" bIns="0" rtlCol="0" anchor="ctr"/>
          <a:lstStyle/>
          <a:p>
            <a:pPr indent="0" marL="0">
              <a:buNone/>
            </a:pPr>
            <a:r>
              <a:rPr lang="en-US" sz="1100" dirty="0">
                <a:solidFill>
                  <a:srgbClr val="222222"/>
                </a:solidFill>
                <a:latin typeface="Meiryo" pitchFamily="34" charset="0"/>
                <a:ea typeface="Meiryo" pitchFamily="34" charset="-122"/>
                <a:cs typeface="Meiryo" pitchFamily="34" charset="-120"/>
              </a:rPr>
              <a:t>副交感 ○</a:t>
            </a:r>
            <a:endParaRPr lang="en-US" sz="1100" dirty="0"/>
          </a:p>
        </p:txBody>
      </p:sp>
      <p:sp>
        <p:nvSpPr>
          <p:cNvPr id="32" name="Shape 30"/>
          <p:cNvSpPr/>
          <p:nvPr/>
        </p:nvSpPr>
        <p:spPr>
          <a:xfrm>
            <a:off x="457200" y="4160520"/>
            <a:ext cx="1463040" cy="685800"/>
          </a:xfrm>
          <a:prstGeom prst="roundRect">
            <a:avLst>
              <a:gd name="adj" fmla="val 10667"/>
            </a:avLst>
          </a:prstGeom>
          <a:solidFill>
            <a:srgbClr val="D9534F"/>
          </a:solidFill>
          <a:ln/>
        </p:spPr>
      </p:sp>
      <p:sp>
        <p:nvSpPr>
          <p:cNvPr id="33" name="Text 31"/>
          <p:cNvSpPr txBox="1"/>
          <p:nvPr/>
        </p:nvSpPr>
        <p:spPr>
          <a:xfrm>
            <a:off x="457200" y="4160520"/>
            <a:ext cx="1463040" cy="685800"/>
          </a:xfrm>
          <a:prstGeom prst="rect">
            <a:avLst/>
          </a:prstGeom>
          <a:noFill/>
          <a:ln/>
        </p:spPr>
        <p:txBody>
          <a:bodyPr wrap="square" lIns="0" tIns="0" rIns="0" bIns="0" rtlCol="0" anchor="ctr"/>
          <a:lstStyle/>
          <a:p>
            <a:pPr algn="ctr" indent="0" marL="0">
              <a:buNone/>
            </a:pPr>
            <a:r>
              <a:rPr lang="en-US" sz="1100" dirty="0">
                <a:solidFill>
                  <a:srgbClr val="FFFFFF"/>
                </a:solidFill>
                <a:latin typeface="Meiryo" pitchFamily="34" charset="0"/>
                <a:ea typeface="Meiryo" pitchFamily="34" charset="-122"/>
                <a:cs typeface="Meiryo" pitchFamily="34" charset="-120"/>
              </a:rPr>
              <a:t>正解</a:t>
            </a:r>
            <a:endParaRPr lang="en-US" sz="1100" dirty="0"/>
          </a:p>
          <a:p>
            <a:pPr algn="ctr" indent="0" marL="0">
              <a:buNone/>
            </a:pPr>
            <a:r>
              <a:rPr lang="en-US" sz="2200" b="1" dirty="0">
                <a:solidFill>
                  <a:srgbClr val="FFFFFF"/>
                </a:solidFill>
                <a:latin typeface="Meiryo" pitchFamily="34" charset="0"/>
                <a:ea typeface="Meiryo" pitchFamily="34" charset="-122"/>
                <a:cs typeface="Meiryo" pitchFamily="34" charset="-120"/>
              </a:rPr>
              <a:t>2・5</a:t>
            </a:r>
            <a:endParaRPr lang="en-US" sz="11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74320"/>
            <a:ext cx="868680" cy="384048"/>
          </a:xfrm>
          <a:prstGeom prst="roundRect">
            <a:avLst>
              <a:gd name="adj" fmla="val 19048"/>
            </a:avLst>
          </a:prstGeom>
          <a:solidFill>
            <a:srgbClr val="17324D"/>
          </a:solidFill>
          <a:ln/>
        </p:spPr>
      </p:sp>
      <p:sp>
        <p:nvSpPr>
          <p:cNvPr id="3" name="Text 1"/>
          <p:cNvSpPr txBox="1"/>
          <p:nvPr/>
        </p:nvSpPr>
        <p:spPr>
          <a:xfrm>
            <a:off x="457200" y="274320"/>
            <a:ext cx="86868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問題</a:t>
            </a:r>
            <a:endParaRPr lang="en-US" sz="1300" dirty="0"/>
          </a:p>
        </p:txBody>
      </p:sp>
      <p:sp>
        <p:nvSpPr>
          <p:cNvPr id="4" name="Text 2"/>
          <p:cNvSpPr txBox="1"/>
          <p:nvPr/>
        </p:nvSpPr>
        <p:spPr>
          <a:xfrm>
            <a:off x="1417320" y="274320"/>
            <a:ext cx="731520" cy="384048"/>
          </a:xfrm>
          <a:prstGeom prst="rect">
            <a:avLst/>
          </a:prstGeom>
          <a:noFill/>
          <a:ln/>
        </p:spPr>
        <p:txBody>
          <a:bodyPr wrap="square" lIns="0" tIns="0" rIns="0" bIns="0" rtlCol="0" anchor="ctr"/>
          <a:lstStyle/>
          <a:p>
            <a:pPr indent="0" marL="0">
              <a:buNone/>
            </a:pPr>
            <a:r>
              <a:rPr lang="en-US" sz="2000" b="1" dirty="0">
                <a:solidFill>
                  <a:srgbClr val="17324D"/>
                </a:solidFill>
                <a:latin typeface="Arial" pitchFamily="34" charset="0"/>
                <a:ea typeface="Arial" pitchFamily="34" charset="-122"/>
                <a:cs typeface="Arial" pitchFamily="34" charset="-120"/>
              </a:rPr>
              <a:t>[26]</a:t>
            </a:r>
            <a:endParaRPr lang="en-US" sz="2000" dirty="0"/>
          </a:p>
        </p:txBody>
      </p:sp>
      <p:sp>
        <p:nvSpPr>
          <p:cNvPr id="5" name="Text 3"/>
          <p:cNvSpPr txBox="1"/>
          <p:nvPr/>
        </p:nvSpPr>
        <p:spPr>
          <a:xfrm>
            <a:off x="5943600" y="274320"/>
            <a:ext cx="2743200" cy="384048"/>
          </a:xfrm>
          <a:prstGeom prst="rect">
            <a:avLst/>
          </a:prstGeom>
          <a:noFill/>
          <a:ln/>
        </p:spPr>
        <p:txBody>
          <a:bodyPr wrap="square" lIns="0" tIns="0" rIns="0" bIns="0" rtlCol="0" anchor="ctr"/>
          <a:lstStyle/>
          <a:p>
            <a:pPr algn="r" indent="0" marL="0">
              <a:buNone/>
            </a:pPr>
            <a:r>
              <a:rPr lang="en-US" sz="1100" dirty="0">
                <a:solidFill>
                  <a:srgbClr val="5F6B76"/>
                </a:solidFill>
                <a:latin typeface="Meiryo" pitchFamily="34" charset="0"/>
                <a:ea typeface="Meiryo" pitchFamily="34" charset="-122"/>
                <a:cs typeface="Meiryo" pitchFamily="34" charset="-120"/>
              </a:rPr>
              <a:t>43回午後25</a:t>
            </a:r>
            <a:endParaRPr lang="en-US" sz="1100" dirty="0"/>
          </a:p>
        </p:txBody>
      </p:sp>
      <p:sp>
        <p:nvSpPr>
          <p:cNvPr id="6" name="Text 4"/>
          <p:cNvSpPr txBox="1"/>
          <p:nvPr/>
        </p:nvSpPr>
        <p:spPr>
          <a:xfrm>
            <a:off x="457200" y="731520"/>
            <a:ext cx="8229600" cy="594360"/>
          </a:xfrm>
          <a:prstGeom prst="rect">
            <a:avLst/>
          </a:prstGeom>
          <a:noFill/>
          <a:ln/>
        </p:spPr>
        <p:txBody>
          <a:bodyPr wrap="square" lIns="0" tIns="0" rIns="0" bIns="0" rtlCol="0" anchor="t"/>
          <a:lstStyle/>
          <a:p>
            <a:pPr indent="0" marL="0">
              <a:buNone/>
            </a:pPr>
            <a:r>
              <a:rPr lang="en-US" sz="1700" b="1" dirty="0">
                <a:solidFill>
                  <a:srgbClr val="222222"/>
                </a:solidFill>
                <a:latin typeface="Meiryo" pitchFamily="34" charset="0"/>
                <a:ea typeface="Meiryo" pitchFamily="34" charset="-122"/>
                <a:cs typeface="Meiryo" pitchFamily="34" charset="-120"/>
              </a:rPr>
              <a:t>副交感神経作用があるのはどれか。２つ選べ。</a:t>
            </a:r>
            <a:endParaRPr lang="en-US" sz="1700" dirty="0"/>
          </a:p>
        </p:txBody>
      </p:sp>
      <p:sp>
        <p:nvSpPr>
          <p:cNvPr id="7" name="Shape 5"/>
          <p:cNvSpPr/>
          <p:nvPr/>
        </p:nvSpPr>
        <p:spPr>
          <a:xfrm>
            <a:off x="457200" y="1508760"/>
            <a:ext cx="8229600" cy="493776"/>
          </a:xfrm>
          <a:prstGeom prst="roundRect">
            <a:avLst>
              <a:gd name="adj" fmla="val 14815"/>
            </a:avLst>
          </a:prstGeom>
          <a:solidFill>
            <a:srgbClr val="EAF2F8"/>
          </a:solidFill>
          <a:ln/>
        </p:spPr>
      </p:sp>
      <p:sp>
        <p:nvSpPr>
          <p:cNvPr id="8" name="Shape 6"/>
          <p:cNvSpPr/>
          <p:nvPr/>
        </p:nvSpPr>
        <p:spPr>
          <a:xfrm>
            <a:off x="566928" y="1572768"/>
            <a:ext cx="365760" cy="365760"/>
          </a:xfrm>
          <a:prstGeom prst="ellipse">
            <a:avLst/>
          </a:prstGeom>
          <a:solidFill>
            <a:srgbClr val="FFFFFF"/>
          </a:solidFill>
          <a:ln w="15875">
            <a:solidFill>
              <a:srgbClr val="17324D"/>
            </a:solidFill>
            <a:prstDash val="solid"/>
          </a:ln>
        </p:spPr>
      </p:sp>
      <p:sp>
        <p:nvSpPr>
          <p:cNvPr id="9" name="Text 7"/>
          <p:cNvSpPr txBox="1"/>
          <p:nvPr/>
        </p:nvSpPr>
        <p:spPr>
          <a:xfrm>
            <a:off x="566928" y="1572768"/>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1</a:t>
            </a:r>
            <a:endParaRPr lang="en-US" sz="1400" dirty="0"/>
          </a:p>
        </p:txBody>
      </p:sp>
      <p:sp>
        <p:nvSpPr>
          <p:cNvPr id="10" name="Text 8"/>
          <p:cNvSpPr txBox="1"/>
          <p:nvPr/>
        </p:nvSpPr>
        <p:spPr>
          <a:xfrm>
            <a:off x="1051560" y="1508760"/>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嗅神経</a:t>
            </a:r>
            <a:endParaRPr lang="en-US" sz="1500" dirty="0"/>
          </a:p>
        </p:txBody>
      </p:sp>
      <p:sp>
        <p:nvSpPr>
          <p:cNvPr id="11" name="Shape 9"/>
          <p:cNvSpPr/>
          <p:nvPr/>
        </p:nvSpPr>
        <p:spPr>
          <a:xfrm>
            <a:off x="457200" y="2112264"/>
            <a:ext cx="8229600" cy="493776"/>
          </a:xfrm>
          <a:prstGeom prst="roundRect">
            <a:avLst>
              <a:gd name="adj" fmla="val 14815"/>
            </a:avLst>
          </a:prstGeom>
          <a:solidFill>
            <a:srgbClr val="EAF2F8"/>
          </a:solidFill>
          <a:ln/>
        </p:spPr>
      </p:sp>
      <p:sp>
        <p:nvSpPr>
          <p:cNvPr id="12" name="Shape 10"/>
          <p:cNvSpPr/>
          <p:nvPr/>
        </p:nvSpPr>
        <p:spPr>
          <a:xfrm>
            <a:off x="566928" y="2176272"/>
            <a:ext cx="365760" cy="365760"/>
          </a:xfrm>
          <a:prstGeom prst="ellipse">
            <a:avLst/>
          </a:prstGeom>
          <a:solidFill>
            <a:srgbClr val="FFFFFF"/>
          </a:solidFill>
          <a:ln w="15875">
            <a:solidFill>
              <a:srgbClr val="17324D"/>
            </a:solidFill>
            <a:prstDash val="solid"/>
          </a:ln>
        </p:spPr>
      </p:sp>
      <p:sp>
        <p:nvSpPr>
          <p:cNvPr id="13" name="Text 11"/>
          <p:cNvSpPr txBox="1"/>
          <p:nvPr/>
        </p:nvSpPr>
        <p:spPr>
          <a:xfrm>
            <a:off x="566928" y="2176272"/>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2</a:t>
            </a:r>
            <a:endParaRPr lang="en-US" sz="1400" dirty="0"/>
          </a:p>
        </p:txBody>
      </p:sp>
      <p:sp>
        <p:nvSpPr>
          <p:cNvPr id="14" name="Text 12"/>
          <p:cNvSpPr txBox="1"/>
          <p:nvPr/>
        </p:nvSpPr>
        <p:spPr>
          <a:xfrm>
            <a:off x="1051560" y="2112264"/>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視神経</a:t>
            </a:r>
            <a:endParaRPr lang="en-US" sz="1500" dirty="0"/>
          </a:p>
        </p:txBody>
      </p:sp>
      <p:sp>
        <p:nvSpPr>
          <p:cNvPr id="15" name="Shape 13"/>
          <p:cNvSpPr/>
          <p:nvPr/>
        </p:nvSpPr>
        <p:spPr>
          <a:xfrm>
            <a:off x="457200" y="2715768"/>
            <a:ext cx="8229600" cy="493776"/>
          </a:xfrm>
          <a:prstGeom prst="roundRect">
            <a:avLst>
              <a:gd name="adj" fmla="val 14815"/>
            </a:avLst>
          </a:prstGeom>
          <a:solidFill>
            <a:srgbClr val="EAF2F8"/>
          </a:solidFill>
          <a:ln/>
        </p:spPr>
      </p:sp>
      <p:sp>
        <p:nvSpPr>
          <p:cNvPr id="16" name="Shape 14"/>
          <p:cNvSpPr/>
          <p:nvPr/>
        </p:nvSpPr>
        <p:spPr>
          <a:xfrm>
            <a:off x="566928" y="2779776"/>
            <a:ext cx="365760" cy="365760"/>
          </a:xfrm>
          <a:prstGeom prst="ellipse">
            <a:avLst/>
          </a:prstGeom>
          <a:solidFill>
            <a:srgbClr val="FFFFFF"/>
          </a:solidFill>
          <a:ln w="15875">
            <a:solidFill>
              <a:srgbClr val="17324D"/>
            </a:solidFill>
            <a:prstDash val="solid"/>
          </a:ln>
        </p:spPr>
      </p:sp>
      <p:sp>
        <p:nvSpPr>
          <p:cNvPr id="17" name="Text 15"/>
          <p:cNvSpPr txBox="1"/>
          <p:nvPr/>
        </p:nvSpPr>
        <p:spPr>
          <a:xfrm>
            <a:off x="566928" y="2779776"/>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3</a:t>
            </a:r>
            <a:endParaRPr lang="en-US" sz="1400" dirty="0"/>
          </a:p>
        </p:txBody>
      </p:sp>
      <p:sp>
        <p:nvSpPr>
          <p:cNvPr id="18" name="Text 16"/>
          <p:cNvSpPr txBox="1"/>
          <p:nvPr/>
        </p:nvSpPr>
        <p:spPr>
          <a:xfrm>
            <a:off x="1051560" y="2715768"/>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動眼神経</a:t>
            </a:r>
            <a:endParaRPr lang="en-US" sz="1500" dirty="0"/>
          </a:p>
        </p:txBody>
      </p:sp>
      <p:sp>
        <p:nvSpPr>
          <p:cNvPr id="19" name="Shape 17"/>
          <p:cNvSpPr/>
          <p:nvPr/>
        </p:nvSpPr>
        <p:spPr>
          <a:xfrm>
            <a:off x="457200" y="3319272"/>
            <a:ext cx="8229600" cy="493776"/>
          </a:xfrm>
          <a:prstGeom prst="roundRect">
            <a:avLst>
              <a:gd name="adj" fmla="val 14815"/>
            </a:avLst>
          </a:prstGeom>
          <a:solidFill>
            <a:srgbClr val="EAF2F8"/>
          </a:solidFill>
          <a:ln/>
        </p:spPr>
      </p:sp>
      <p:sp>
        <p:nvSpPr>
          <p:cNvPr id="20" name="Shape 18"/>
          <p:cNvSpPr/>
          <p:nvPr/>
        </p:nvSpPr>
        <p:spPr>
          <a:xfrm>
            <a:off x="566928" y="3383280"/>
            <a:ext cx="365760" cy="365760"/>
          </a:xfrm>
          <a:prstGeom prst="ellipse">
            <a:avLst/>
          </a:prstGeom>
          <a:solidFill>
            <a:srgbClr val="FFFFFF"/>
          </a:solidFill>
          <a:ln w="15875">
            <a:solidFill>
              <a:srgbClr val="17324D"/>
            </a:solidFill>
            <a:prstDash val="solid"/>
          </a:ln>
        </p:spPr>
      </p:sp>
      <p:sp>
        <p:nvSpPr>
          <p:cNvPr id="21" name="Text 19"/>
          <p:cNvSpPr txBox="1"/>
          <p:nvPr/>
        </p:nvSpPr>
        <p:spPr>
          <a:xfrm>
            <a:off x="566928" y="3383280"/>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4</a:t>
            </a:r>
            <a:endParaRPr lang="en-US" sz="1400" dirty="0"/>
          </a:p>
        </p:txBody>
      </p:sp>
      <p:sp>
        <p:nvSpPr>
          <p:cNvPr id="22" name="Text 20"/>
          <p:cNvSpPr txBox="1"/>
          <p:nvPr/>
        </p:nvSpPr>
        <p:spPr>
          <a:xfrm>
            <a:off x="1051560" y="3319272"/>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三叉神経</a:t>
            </a:r>
            <a:endParaRPr lang="en-US" sz="1500" dirty="0"/>
          </a:p>
        </p:txBody>
      </p:sp>
      <p:sp>
        <p:nvSpPr>
          <p:cNvPr id="23" name="Shape 21"/>
          <p:cNvSpPr/>
          <p:nvPr/>
        </p:nvSpPr>
        <p:spPr>
          <a:xfrm>
            <a:off x="457200" y="3922776"/>
            <a:ext cx="8229600" cy="493776"/>
          </a:xfrm>
          <a:prstGeom prst="roundRect">
            <a:avLst>
              <a:gd name="adj" fmla="val 14815"/>
            </a:avLst>
          </a:prstGeom>
          <a:solidFill>
            <a:srgbClr val="EAF2F8"/>
          </a:solidFill>
          <a:ln/>
        </p:spPr>
      </p:sp>
      <p:sp>
        <p:nvSpPr>
          <p:cNvPr id="24" name="Shape 22"/>
          <p:cNvSpPr/>
          <p:nvPr/>
        </p:nvSpPr>
        <p:spPr>
          <a:xfrm>
            <a:off x="566928" y="3986784"/>
            <a:ext cx="365760" cy="365760"/>
          </a:xfrm>
          <a:prstGeom prst="ellipse">
            <a:avLst/>
          </a:prstGeom>
          <a:solidFill>
            <a:srgbClr val="FFFFFF"/>
          </a:solidFill>
          <a:ln w="15875">
            <a:solidFill>
              <a:srgbClr val="17324D"/>
            </a:solidFill>
            <a:prstDash val="solid"/>
          </a:ln>
        </p:spPr>
      </p:sp>
      <p:sp>
        <p:nvSpPr>
          <p:cNvPr id="25" name="Text 23"/>
          <p:cNvSpPr txBox="1"/>
          <p:nvPr/>
        </p:nvSpPr>
        <p:spPr>
          <a:xfrm>
            <a:off x="566928" y="3986784"/>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5</a:t>
            </a:r>
            <a:endParaRPr lang="en-US" sz="1400" dirty="0"/>
          </a:p>
        </p:txBody>
      </p:sp>
      <p:sp>
        <p:nvSpPr>
          <p:cNvPr id="26" name="Text 24"/>
          <p:cNvSpPr txBox="1"/>
          <p:nvPr/>
        </p:nvSpPr>
        <p:spPr>
          <a:xfrm>
            <a:off x="1051560" y="3922776"/>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顔面神経</a:t>
            </a:r>
            <a:endParaRPr lang="en-US" sz="15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74320"/>
            <a:ext cx="868680" cy="384048"/>
          </a:xfrm>
          <a:prstGeom prst="roundRect">
            <a:avLst>
              <a:gd name="adj" fmla="val 19048"/>
            </a:avLst>
          </a:prstGeom>
          <a:solidFill>
            <a:srgbClr val="D9534F"/>
          </a:solidFill>
          <a:ln/>
        </p:spPr>
      </p:sp>
      <p:sp>
        <p:nvSpPr>
          <p:cNvPr id="3" name="Text 1"/>
          <p:cNvSpPr txBox="1"/>
          <p:nvPr/>
        </p:nvSpPr>
        <p:spPr>
          <a:xfrm>
            <a:off x="457200" y="274320"/>
            <a:ext cx="86868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解説</a:t>
            </a:r>
            <a:endParaRPr lang="en-US" sz="1300" dirty="0"/>
          </a:p>
        </p:txBody>
      </p:sp>
      <p:sp>
        <p:nvSpPr>
          <p:cNvPr id="4" name="Text 2"/>
          <p:cNvSpPr txBox="1"/>
          <p:nvPr/>
        </p:nvSpPr>
        <p:spPr>
          <a:xfrm>
            <a:off x="1417320" y="274320"/>
            <a:ext cx="731520" cy="384048"/>
          </a:xfrm>
          <a:prstGeom prst="rect">
            <a:avLst/>
          </a:prstGeom>
          <a:noFill/>
          <a:ln/>
        </p:spPr>
        <p:txBody>
          <a:bodyPr wrap="square" lIns="0" tIns="0" rIns="0" bIns="0" rtlCol="0" anchor="ctr"/>
          <a:lstStyle/>
          <a:p>
            <a:pPr indent="0" marL="0">
              <a:buNone/>
            </a:pPr>
            <a:r>
              <a:rPr lang="en-US" sz="2000" b="1" dirty="0">
                <a:solidFill>
                  <a:srgbClr val="17324D"/>
                </a:solidFill>
                <a:latin typeface="Arial" pitchFamily="34" charset="0"/>
                <a:ea typeface="Arial" pitchFamily="34" charset="-122"/>
                <a:cs typeface="Arial" pitchFamily="34" charset="-120"/>
              </a:rPr>
              <a:t>[26]</a:t>
            </a:r>
            <a:endParaRPr lang="en-US" sz="2000" dirty="0"/>
          </a:p>
        </p:txBody>
      </p:sp>
      <p:sp>
        <p:nvSpPr>
          <p:cNvPr id="5" name="Text 3"/>
          <p:cNvSpPr txBox="1"/>
          <p:nvPr/>
        </p:nvSpPr>
        <p:spPr>
          <a:xfrm>
            <a:off x="5943600" y="274320"/>
            <a:ext cx="2743200" cy="384048"/>
          </a:xfrm>
          <a:prstGeom prst="rect">
            <a:avLst/>
          </a:prstGeom>
          <a:noFill/>
          <a:ln/>
        </p:spPr>
        <p:txBody>
          <a:bodyPr wrap="square" lIns="0" tIns="0" rIns="0" bIns="0" rtlCol="0" anchor="ctr"/>
          <a:lstStyle/>
          <a:p>
            <a:pPr algn="r" indent="0" marL="0">
              <a:buNone/>
            </a:pPr>
            <a:r>
              <a:rPr lang="en-US" sz="1100" dirty="0">
                <a:solidFill>
                  <a:srgbClr val="5F6B76"/>
                </a:solidFill>
                <a:latin typeface="Meiryo" pitchFamily="34" charset="0"/>
                <a:ea typeface="Meiryo" pitchFamily="34" charset="-122"/>
                <a:cs typeface="Meiryo" pitchFamily="34" charset="-120"/>
              </a:rPr>
              <a:t>43回午後25</a:t>
            </a:r>
            <a:endParaRPr lang="en-US" sz="1100" dirty="0"/>
          </a:p>
        </p:txBody>
      </p:sp>
      <p:sp>
        <p:nvSpPr>
          <p:cNvPr id="6" name="Text 4"/>
          <p:cNvSpPr txBox="1"/>
          <p:nvPr/>
        </p:nvSpPr>
        <p:spPr>
          <a:xfrm>
            <a:off x="457200" y="731520"/>
            <a:ext cx="8229600" cy="594360"/>
          </a:xfrm>
          <a:prstGeom prst="rect">
            <a:avLst/>
          </a:prstGeom>
          <a:noFill/>
          <a:ln/>
        </p:spPr>
        <p:txBody>
          <a:bodyPr wrap="square" lIns="0" tIns="0" rIns="0" bIns="0" rtlCol="0" anchor="t"/>
          <a:lstStyle/>
          <a:p>
            <a:pPr indent="0" marL="0">
              <a:buNone/>
            </a:pPr>
            <a:r>
              <a:rPr lang="en-US" sz="1700" b="1" dirty="0">
                <a:solidFill>
                  <a:srgbClr val="222222"/>
                </a:solidFill>
                <a:latin typeface="Meiryo" pitchFamily="34" charset="0"/>
                <a:ea typeface="Meiryo" pitchFamily="34" charset="-122"/>
                <a:cs typeface="Meiryo" pitchFamily="34" charset="-120"/>
              </a:rPr>
              <a:t>副交感神経作用があるのはどれか。２つ選べ。</a:t>
            </a:r>
            <a:endParaRPr lang="en-US" sz="1700" dirty="0"/>
          </a:p>
        </p:txBody>
      </p:sp>
      <p:sp>
        <p:nvSpPr>
          <p:cNvPr id="7" name="Shape 5"/>
          <p:cNvSpPr/>
          <p:nvPr/>
        </p:nvSpPr>
        <p:spPr>
          <a:xfrm>
            <a:off x="457200" y="1417320"/>
            <a:ext cx="8229600" cy="457200"/>
          </a:xfrm>
          <a:prstGeom prst="roundRect">
            <a:avLst>
              <a:gd name="adj" fmla="val 16000"/>
            </a:avLst>
          </a:prstGeom>
          <a:solidFill>
            <a:srgbClr val="F4F6F8"/>
          </a:solidFill>
          <a:ln/>
        </p:spPr>
      </p:sp>
      <p:sp>
        <p:nvSpPr>
          <p:cNvPr id="8" name="Shape 6"/>
          <p:cNvSpPr/>
          <p:nvPr/>
        </p:nvSpPr>
        <p:spPr>
          <a:xfrm>
            <a:off x="548640" y="1481328"/>
            <a:ext cx="329184" cy="329184"/>
          </a:xfrm>
          <a:prstGeom prst="ellipse">
            <a:avLst/>
          </a:prstGeom>
          <a:solidFill>
            <a:srgbClr val="FFFFFF"/>
          </a:solidFill>
          <a:ln w="12700">
            <a:solidFill>
              <a:srgbClr val="8A96A3"/>
            </a:solidFill>
            <a:prstDash val="solid"/>
          </a:ln>
        </p:spPr>
      </p:sp>
      <p:sp>
        <p:nvSpPr>
          <p:cNvPr id="9" name="Text 7"/>
          <p:cNvSpPr txBox="1"/>
          <p:nvPr/>
        </p:nvSpPr>
        <p:spPr>
          <a:xfrm>
            <a:off x="548640" y="1481328"/>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1</a:t>
            </a:r>
            <a:endParaRPr lang="en-US" sz="1300" dirty="0"/>
          </a:p>
        </p:txBody>
      </p:sp>
      <p:sp>
        <p:nvSpPr>
          <p:cNvPr id="10" name="Text 8"/>
          <p:cNvSpPr txBox="1"/>
          <p:nvPr/>
        </p:nvSpPr>
        <p:spPr>
          <a:xfrm>
            <a:off x="987552" y="1417320"/>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嗅神経</a:t>
            </a:r>
            <a:endParaRPr lang="en-US" sz="1200" dirty="0"/>
          </a:p>
        </p:txBody>
      </p:sp>
      <p:sp>
        <p:nvSpPr>
          <p:cNvPr id="11" name="Text 9"/>
          <p:cNvSpPr txBox="1"/>
          <p:nvPr/>
        </p:nvSpPr>
        <p:spPr>
          <a:xfrm>
            <a:off x="4096512" y="1417320"/>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感覚のみ</a:t>
            </a:r>
            <a:endParaRPr lang="en-US" sz="1100" dirty="0"/>
          </a:p>
        </p:txBody>
      </p:sp>
      <p:sp>
        <p:nvSpPr>
          <p:cNvPr id="12" name="Shape 10"/>
          <p:cNvSpPr/>
          <p:nvPr/>
        </p:nvSpPr>
        <p:spPr>
          <a:xfrm>
            <a:off x="457200" y="1947672"/>
            <a:ext cx="8229600" cy="457200"/>
          </a:xfrm>
          <a:prstGeom prst="roundRect">
            <a:avLst>
              <a:gd name="adj" fmla="val 16000"/>
            </a:avLst>
          </a:prstGeom>
          <a:solidFill>
            <a:srgbClr val="F4F6F8"/>
          </a:solidFill>
          <a:ln/>
        </p:spPr>
      </p:sp>
      <p:sp>
        <p:nvSpPr>
          <p:cNvPr id="13" name="Shape 11"/>
          <p:cNvSpPr/>
          <p:nvPr/>
        </p:nvSpPr>
        <p:spPr>
          <a:xfrm>
            <a:off x="548640" y="2011680"/>
            <a:ext cx="329184" cy="329184"/>
          </a:xfrm>
          <a:prstGeom prst="ellipse">
            <a:avLst/>
          </a:prstGeom>
          <a:solidFill>
            <a:srgbClr val="FFFFFF"/>
          </a:solidFill>
          <a:ln w="12700">
            <a:solidFill>
              <a:srgbClr val="8A96A3"/>
            </a:solidFill>
            <a:prstDash val="solid"/>
          </a:ln>
        </p:spPr>
      </p:sp>
      <p:sp>
        <p:nvSpPr>
          <p:cNvPr id="14" name="Text 12"/>
          <p:cNvSpPr txBox="1"/>
          <p:nvPr/>
        </p:nvSpPr>
        <p:spPr>
          <a:xfrm>
            <a:off x="548640" y="2011680"/>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2</a:t>
            </a:r>
            <a:endParaRPr lang="en-US" sz="1300" dirty="0"/>
          </a:p>
        </p:txBody>
      </p:sp>
      <p:sp>
        <p:nvSpPr>
          <p:cNvPr id="15" name="Text 13"/>
          <p:cNvSpPr txBox="1"/>
          <p:nvPr/>
        </p:nvSpPr>
        <p:spPr>
          <a:xfrm>
            <a:off x="987552" y="1947672"/>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視神経</a:t>
            </a:r>
            <a:endParaRPr lang="en-US" sz="1200" dirty="0"/>
          </a:p>
        </p:txBody>
      </p:sp>
      <p:sp>
        <p:nvSpPr>
          <p:cNvPr id="16" name="Text 14"/>
          <p:cNvSpPr txBox="1"/>
          <p:nvPr/>
        </p:nvSpPr>
        <p:spPr>
          <a:xfrm>
            <a:off x="4096512" y="1947672"/>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感覚のみ</a:t>
            </a:r>
            <a:endParaRPr lang="en-US" sz="1100" dirty="0"/>
          </a:p>
        </p:txBody>
      </p:sp>
      <p:sp>
        <p:nvSpPr>
          <p:cNvPr id="17" name="Shape 15"/>
          <p:cNvSpPr/>
          <p:nvPr/>
        </p:nvSpPr>
        <p:spPr>
          <a:xfrm>
            <a:off x="457200" y="2478024"/>
            <a:ext cx="8229600" cy="457200"/>
          </a:xfrm>
          <a:prstGeom prst="roundRect">
            <a:avLst>
              <a:gd name="adj" fmla="val 16000"/>
            </a:avLst>
          </a:prstGeom>
          <a:solidFill>
            <a:srgbClr val="FBE3E2"/>
          </a:solidFill>
          <a:ln w="19050">
            <a:solidFill>
              <a:srgbClr val="D9534F"/>
            </a:solidFill>
            <a:prstDash val="solid"/>
          </a:ln>
        </p:spPr>
      </p:sp>
      <p:sp>
        <p:nvSpPr>
          <p:cNvPr id="18" name="Shape 16"/>
          <p:cNvSpPr/>
          <p:nvPr/>
        </p:nvSpPr>
        <p:spPr>
          <a:xfrm>
            <a:off x="548640" y="2542032"/>
            <a:ext cx="329184" cy="329184"/>
          </a:xfrm>
          <a:prstGeom prst="ellipse">
            <a:avLst/>
          </a:prstGeom>
          <a:solidFill>
            <a:srgbClr val="D9534F"/>
          </a:solidFill>
          <a:ln w="12700">
            <a:solidFill>
              <a:srgbClr val="D9534F"/>
            </a:solidFill>
            <a:prstDash val="solid"/>
          </a:ln>
        </p:spPr>
      </p:sp>
      <p:sp>
        <p:nvSpPr>
          <p:cNvPr id="19" name="Text 17"/>
          <p:cNvSpPr txBox="1"/>
          <p:nvPr/>
        </p:nvSpPr>
        <p:spPr>
          <a:xfrm>
            <a:off x="548640" y="254203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20" name="Text 18"/>
          <p:cNvSpPr txBox="1"/>
          <p:nvPr/>
        </p:nvSpPr>
        <p:spPr>
          <a:xfrm>
            <a:off x="987552" y="2478024"/>
            <a:ext cx="3017520" cy="457200"/>
          </a:xfrm>
          <a:prstGeom prst="rect">
            <a:avLst/>
          </a:prstGeom>
          <a:noFill/>
          <a:ln/>
        </p:spPr>
        <p:txBody>
          <a:bodyPr wrap="square" lIns="0" tIns="0" rIns="0" bIns="0" rtlCol="0" anchor="ctr"/>
          <a:lstStyle/>
          <a:p>
            <a:pPr indent="0" marL="0">
              <a:buNone/>
            </a:pPr>
            <a:r>
              <a:rPr lang="en-US" sz="1200" b="1" dirty="0">
                <a:solidFill>
                  <a:srgbClr val="D9534F"/>
                </a:solidFill>
                <a:latin typeface="Meiryo" pitchFamily="34" charset="0"/>
                <a:ea typeface="Meiryo" pitchFamily="34" charset="-122"/>
                <a:cs typeface="Meiryo" pitchFamily="34" charset="-120"/>
              </a:rPr>
              <a:t>動眼神経</a:t>
            </a:r>
            <a:endParaRPr lang="en-US" sz="1200" dirty="0"/>
          </a:p>
        </p:txBody>
      </p:sp>
      <p:sp>
        <p:nvSpPr>
          <p:cNvPr id="21" name="Text 19"/>
          <p:cNvSpPr txBox="1"/>
          <p:nvPr/>
        </p:nvSpPr>
        <p:spPr>
          <a:xfrm>
            <a:off x="4096512" y="2478024"/>
            <a:ext cx="4526280" cy="457200"/>
          </a:xfrm>
          <a:prstGeom prst="rect">
            <a:avLst/>
          </a:prstGeom>
          <a:noFill/>
          <a:ln/>
        </p:spPr>
        <p:txBody>
          <a:bodyPr wrap="square" lIns="0" tIns="0" rIns="0" bIns="0" rtlCol="0" anchor="ctr"/>
          <a:lstStyle/>
          <a:p>
            <a:pPr indent="0" marL="0">
              <a:buNone/>
            </a:pPr>
            <a:r>
              <a:rPr lang="en-US" sz="1100" dirty="0">
                <a:solidFill>
                  <a:srgbClr val="222222"/>
                </a:solidFill>
                <a:latin typeface="Meiryo" pitchFamily="34" charset="0"/>
                <a:ea typeface="Meiryo" pitchFamily="34" charset="-122"/>
                <a:cs typeface="Meiryo" pitchFamily="34" charset="-120"/>
              </a:rPr>
              <a:t>Ⅲ ○</a:t>
            </a:r>
            <a:endParaRPr lang="en-US" sz="1100" dirty="0"/>
          </a:p>
        </p:txBody>
      </p:sp>
      <p:sp>
        <p:nvSpPr>
          <p:cNvPr id="22" name="Shape 20"/>
          <p:cNvSpPr/>
          <p:nvPr/>
        </p:nvSpPr>
        <p:spPr>
          <a:xfrm>
            <a:off x="457200" y="3008376"/>
            <a:ext cx="8229600" cy="457200"/>
          </a:xfrm>
          <a:prstGeom prst="roundRect">
            <a:avLst>
              <a:gd name="adj" fmla="val 16000"/>
            </a:avLst>
          </a:prstGeom>
          <a:solidFill>
            <a:srgbClr val="F4F6F8"/>
          </a:solidFill>
          <a:ln/>
        </p:spPr>
      </p:sp>
      <p:sp>
        <p:nvSpPr>
          <p:cNvPr id="23" name="Shape 21"/>
          <p:cNvSpPr/>
          <p:nvPr/>
        </p:nvSpPr>
        <p:spPr>
          <a:xfrm>
            <a:off x="548640" y="3072384"/>
            <a:ext cx="329184" cy="329184"/>
          </a:xfrm>
          <a:prstGeom prst="ellipse">
            <a:avLst/>
          </a:prstGeom>
          <a:solidFill>
            <a:srgbClr val="FFFFFF"/>
          </a:solidFill>
          <a:ln w="12700">
            <a:solidFill>
              <a:srgbClr val="8A96A3"/>
            </a:solidFill>
            <a:prstDash val="solid"/>
          </a:ln>
        </p:spPr>
      </p:sp>
      <p:sp>
        <p:nvSpPr>
          <p:cNvPr id="24" name="Text 22"/>
          <p:cNvSpPr txBox="1"/>
          <p:nvPr/>
        </p:nvSpPr>
        <p:spPr>
          <a:xfrm>
            <a:off x="548640" y="3072384"/>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4</a:t>
            </a:r>
            <a:endParaRPr lang="en-US" sz="1300" dirty="0"/>
          </a:p>
        </p:txBody>
      </p:sp>
      <p:sp>
        <p:nvSpPr>
          <p:cNvPr id="25" name="Text 23"/>
          <p:cNvSpPr txBox="1"/>
          <p:nvPr/>
        </p:nvSpPr>
        <p:spPr>
          <a:xfrm>
            <a:off x="987552" y="3008376"/>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三叉神経</a:t>
            </a:r>
            <a:endParaRPr lang="en-US" sz="1200" dirty="0"/>
          </a:p>
        </p:txBody>
      </p:sp>
      <p:sp>
        <p:nvSpPr>
          <p:cNvPr id="26" name="Text 24"/>
          <p:cNvSpPr txBox="1"/>
          <p:nvPr/>
        </p:nvSpPr>
        <p:spPr>
          <a:xfrm>
            <a:off x="4096512" y="3008376"/>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感覚・運動（副交感線維を含まない）</a:t>
            </a:r>
            <a:endParaRPr lang="en-US" sz="1100" dirty="0"/>
          </a:p>
        </p:txBody>
      </p:sp>
      <p:sp>
        <p:nvSpPr>
          <p:cNvPr id="27" name="Shape 25"/>
          <p:cNvSpPr/>
          <p:nvPr/>
        </p:nvSpPr>
        <p:spPr>
          <a:xfrm>
            <a:off x="457200" y="3538728"/>
            <a:ext cx="8229600" cy="457200"/>
          </a:xfrm>
          <a:prstGeom prst="roundRect">
            <a:avLst>
              <a:gd name="adj" fmla="val 16000"/>
            </a:avLst>
          </a:prstGeom>
          <a:solidFill>
            <a:srgbClr val="FBE3E2"/>
          </a:solidFill>
          <a:ln w="19050">
            <a:solidFill>
              <a:srgbClr val="D9534F"/>
            </a:solidFill>
            <a:prstDash val="solid"/>
          </a:ln>
        </p:spPr>
      </p:sp>
      <p:sp>
        <p:nvSpPr>
          <p:cNvPr id="28" name="Shape 26"/>
          <p:cNvSpPr/>
          <p:nvPr/>
        </p:nvSpPr>
        <p:spPr>
          <a:xfrm>
            <a:off x="548640" y="3602736"/>
            <a:ext cx="329184" cy="329184"/>
          </a:xfrm>
          <a:prstGeom prst="ellipse">
            <a:avLst/>
          </a:prstGeom>
          <a:solidFill>
            <a:srgbClr val="D9534F"/>
          </a:solidFill>
          <a:ln w="12700">
            <a:solidFill>
              <a:srgbClr val="D9534F"/>
            </a:solidFill>
            <a:prstDash val="solid"/>
          </a:ln>
        </p:spPr>
      </p:sp>
      <p:sp>
        <p:nvSpPr>
          <p:cNvPr id="29" name="Text 27"/>
          <p:cNvSpPr txBox="1"/>
          <p:nvPr/>
        </p:nvSpPr>
        <p:spPr>
          <a:xfrm>
            <a:off x="548640" y="3602736"/>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5</a:t>
            </a:r>
            <a:endParaRPr lang="en-US" sz="1300" dirty="0"/>
          </a:p>
        </p:txBody>
      </p:sp>
      <p:sp>
        <p:nvSpPr>
          <p:cNvPr id="30" name="Text 28"/>
          <p:cNvSpPr txBox="1"/>
          <p:nvPr/>
        </p:nvSpPr>
        <p:spPr>
          <a:xfrm>
            <a:off x="987552" y="3538728"/>
            <a:ext cx="3017520" cy="457200"/>
          </a:xfrm>
          <a:prstGeom prst="rect">
            <a:avLst/>
          </a:prstGeom>
          <a:noFill/>
          <a:ln/>
        </p:spPr>
        <p:txBody>
          <a:bodyPr wrap="square" lIns="0" tIns="0" rIns="0" bIns="0" rtlCol="0" anchor="ctr"/>
          <a:lstStyle/>
          <a:p>
            <a:pPr indent="0" marL="0">
              <a:buNone/>
            </a:pPr>
            <a:r>
              <a:rPr lang="en-US" sz="1200" b="1" dirty="0">
                <a:solidFill>
                  <a:srgbClr val="D9534F"/>
                </a:solidFill>
                <a:latin typeface="Meiryo" pitchFamily="34" charset="0"/>
                <a:ea typeface="Meiryo" pitchFamily="34" charset="-122"/>
                <a:cs typeface="Meiryo" pitchFamily="34" charset="-120"/>
              </a:rPr>
              <a:t>顔面神経</a:t>
            </a:r>
            <a:endParaRPr lang="en-US" sz="1200" dirty="0"/>
          </a:p>
        </p:txBody>
      </p:sp>
      <p:sp>
        <p:nvSpPr>
          <p:cNvPr id="31" name="Text 29"/>
          <p:cNvSpPr txBox="1"/>
          <p:nvPr/>
        </p:nvSpPr>
        <p:spPr>
          <a:xfrm>
            <a:off x="4096512" y="3538728"/>
            <a:ext cx="4526280" cy="457200"/>
          </a:xfrm>
          <a:prstGeom prst="rect">
            <a:avLst/>
          </a:prstGeom>
          <a:noFill/>
          <a:ln/>
        </p:spPr>
        <p:txBody>
          <a:bodyPr wrap="square" lIns="0" tIns="0" rIns="0" bIns="0" rtlCol="0" anchor="ctr"/>
          <a:lstStyle/>
          <a:p>
            <a:pPr indent="0" marL="0">
              <a:buNone/>
            </a:pPr>
            <a:r>
              <a:rPr lang="en-US" sz="1100" dirty="0">
                <a:solidFill>
                  <a:srgbClr val="222222"/>
                </a:solidFill>
                <a:latin typeface="Meiryo" pitchFamily="34" charset="0"/>
                <a:ea typeface="Meiryo" pitchFamily="34" charset="-122"/>
                <a:cs typeface="Meiryo" pitchFamily="34" charset="-120"/>
              </a:rPr>
              <a:t>Ⅶ ○</a:t>
            </a:r>
            <a:endParaRPr lang="en-US" sz="1100" dirty="0"/>
          </a:p>
        </p:txBody>
      </p:sp>
      <p:sp>
        <p:nvSpPr>
          <p:cNvPr id="32" name="Shape 30"/>
          <p:cNvSpPr/>
          <p:nvPr/>
        </p:nvSpPr>
        <p:spPr>
          <a:xfrm>
            <a:off x="457200" y="4160520"/>
            <a:ext cx="1463040" cy="685800"/>
          </a:xfrm>
          <a:prstGeom prst="roundRect">
            <a:avLst>
              <a:gd name="adj" fmla="val 10667"/>
            </a:avLst>
          </a:prstGeom>
          <a:solidFill>
            <a:srgbClr val="D9534F"/>
          </a:solidFill>
          <a:ln/>
        </p:spPr>
      </p:sp>
      <p:sp>
        <p:nvSpPr>
          <p:cNvPr id="33" name="Text 31"/>
          <p:cNvSpPr txBox="1"/>
          <p:nvPr/>
        </p:nvSpPr>
        <p:spPr>
          <a:xfrm>
            <a:off x="457200" y="4160520"/>
            <a:ext cx="1463040" cy="685800"/>
          </a:xfrm>
          <a:prstGeom prst="rect">
            <a:avLst/>
          </a:prstGeom>
          <a:noFill/>
          <a:ln/>
        </p:spPr>
        <p:txBody>
          <a:bodyPr wrap="square" lIns="0" tIns="0" rIns="0" bIns="0" rtlCol="0" anchor="ctr"/>
          <a:lstStyle/>
          <a:p>
            <a:pPr algn="ctr" indent="0" marL="0">
              <a:buNone/>
            </a:pPr>
            <a:r>
              <a:rPr lang="en-US" sz="1100" dirty="0">
                <a:solidFill>
                  <a:srgbClr val="FFFFFF"/>
                </a:solidFill>
                <a:latin typeface="Meiryo" pitchFamily="34" charset="0"/>
                <a:ea typeface="Meiryo" pitchFamily="34" charset="-122"/>
                <a:cs typeface="Meiryo" pitchFamily="34" charset="-120"/>
              </a:rPr>
              <a:t>正解</a:t>
            </a:r>
            <a:endParaRPr lang="en-US" sz="1100" dirty="0"/>
          </a:p>
          <a:p>
            <a:pPr algn="ctr" indent="0" marL="0">
              <a:buNone/>
            </a:pPr>
            <a:r>
              <a:rPr lang="en-US" sz="2200" b="1" dirty="0">
                <a:solidFill>
                  <a:srgbClr val="FFFFFF"/>
                </a:solidFill>
                <a:latin typeface="Meiryo" pitchFamily="34" charset="0"/>
                <a:ea typeface="Meiryo" pitchFamily="34" charset="-122"/>
                <a:cs typeface="Meiryo" pitchFamily="34" charset="-120"/>
              </a:rPr>
              <a:t>3・5</a:t>
            </a:r>
            <a:endParaRPr lang="en-US" sz="1100" dirty="0"/>
          </a:p>
        </p:txBody>
      </p:sp>
      <p:sp>
        <p:nvSpPr>
          <p:cNvPr id="34" name="Shape 32"/>
          <p:cNvSpPr/>
          <p:nvPr/>
        </p:nvSpPr>
        <p:spPr>
          <a:xfrm>
            <a:off x="2057400" y="4160520"/>
            <a:ext cx="6629400" cy="685800"/>
          </a:xfrm>
          <a:prstGeom prst="roundRect">
            <a:avLst>
              <a:gd name="adj" fmla="val 10667"/>
            </a:avLst>
          </a:prstGeom>
          <a:solidFill>
            <a:srgbClr val="EAF2F8"/>
          </a:solidFill>
          <a:ln/>
        </p:spPr>
      </p:sp>
      <p:sp>
        <p:nvSpPr>
          <p:cNvPr id="35" name="Text 33"/>
          <p:cNvSpPr txBox="1"/>
          <p:nvPr/>
        </p:nvSpPr>
        <p:spPr>
          <a:xfrm>
            <a:off x="2194560" y="4160520"/>
            <a:ext cx="6400800" cy="685800"/>
          </a:xfrm>
          <a:prstGeom prst="rect">
            <a:avLst/>
          </a:prstGeom>
          <a:noFill/>
          <a:ln/>
        </p:spPr>
        <p:txBody>
          <a:bodyPr wrap="square" lIns="0" tIns="0" rIns="0" bIns="0" rtlCol="0" anchor="ctr"/>
          <a:lstStyle/>
          <a:p>
            <a:pPr indent="0" marL="0">
              <a:buNone/>
            </a:pPr>
            <a:r>
              <a:rPr lang="en-US" sz="1200" b="1" dirty="0">
                <a:solidFill>
                  <a:srgbClr val="2A7F9E"/>
                </a:solidFill>
                <a:latin typeface="Meiryo" pitchFamily="34" charset="0"/>
                <a:ea typeface="Meiryo" pitchFamily="34" charset="-122"/>
                <a:cs typeface="Meiryo" pitchFamily="34" charset="-120"/>
              </a:rPr>
              <a:t>POINT　</a:t>
            </a:r>
            <a:pPr indent="0" marL="0">
              <a:buNone/>
            </a:pPr>
            <a:r>
              <a:rPr lang="en-US" sz="1200" dirty="0">
                <a:solidFill>
                  <a:srgbClr val="222222"/>
                </a:solidFill>
                <a:latin typeface="Meiryo" pitchFamily="34" charset="0"/>
                <a:ea typeface="Meiryo" pitchFamily="34" charset="-122"/>
                <a:cs typeface="Meiryo" pitchFamily="34" charset="-120"/>
              </a:rPr>
              <a:t>Ⅲ・Ⅶ・Ⅸ・Ⅹの4つを確実に覚える。</a:t>
            </a:r>
            <a:endParaRPr lang="en-US" sz="12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74320"/>
            <a:ext cx="868680" cy="384048"/>
          </a:xfrm>
          <a:prstGeom prst="roundRect">
            <a:avLst>
              <a:gd name="adj" fmla="val 19048"/>
            </a:avLst>
          </a:prstGeom>
          <a:solidFill>
            <a:srgbClr val="17324D"/>
          </a:solidFill>
          <a:ln/>
        </p:spPr>
      </p:sp>
      <p:sp>
        <p:nvSpPr>
          <p:cNvPr id="3" name="Text 1"/>
          <p:cNvSpPr txBox="1"/>
          <p:nvPr/>
        </p:nvSpPr>
        <p:spPr>
          <a:xfrm>
            <a:off x="457200" y="274320"/>
            <a:ext cx="86868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問題</a:t>
            </a:r>
            <a:endParaRPr lang="en-US" sz="1300" dirty="0"/>
          </a:p>
        </p:txBody>
      </p:sp>
      <p:sp>
        <p:nvSpPr>
          <p:cNvPr id="4" name="Text 2"/>
          <p:cNvSpPr txBox="1"/>
          <p:nvPr/>
        </p:nvSpPr>
        <p:spPr>
          <a:xfrm>
            <a:off x="1417320" y="274320"/>
            <a:ext cx="731520" cy="384048"/>
          </a:xfrm>
          <a:prstGeom prst="rect">
            <a:avLst/>
          </a:prstGeom>
          <a:noFill/>
          <a:ln/>
        </p:spPr>
        <p:txBody>
          <a:bodyPr wrap="square" lIns="0" tIns="0" rIns="0" bIns="0" rtlCol="0" anchor="ctr"/>
          <a:lstStyle/>
          <a:p>
            <a:pPr indent="0" marL="0">
              <a:buNone/>
            </a:pPr>
            <a:r>
              <a:rPr lang="en-US" sz="2000" b="1" dirty="0">
                <a:solidFill>
                  <a:srgbClr val="17324D"/>
                </a:solidFill>
                <a:latin typeface="Arial" pitchFamily="34" charset="0"/>
                <a:ea typeface="Arial" pitchFamily="34" charset="-122"/>
                <a:cs typeface="Arial" pitchFamily="34" charset="-120"/>
              </a:rPr>
              <a:t>[27]</a:t>
            </a:r>
            <a:endParaRPr lang="en-US" sz="2000" dirty="0"/>
          </a:p>
        </p:txBody>
      </p:sp>
      <p:sp>
        <p:nvSpPr>
          <p:cNvPr id="5" name="Text 3"/>
          <p:cNvSpPr txBox="1"/>
          <p:nvPr/>
        </p:nvSpPr>
        <p:spPr>
          <a:xfrm>
            <a:off x="5943600" y="274320"/>
            <a:ext cx="2743200" cy="384048"/>
          </a:xfrm>
          <a:prstGeom prst="rect">
            <a:avLst/>
          </a:prstGeom>
          <a:noFill/>
          <a:ln/>
        </p:spPr>
        <p:txBody>
          <a:bodyPr wrap="square" lIns="0" tIns="0" rIns="0" bIns="0" rtlCol="0" anchor="ctr"/>
          <a:lstStyle/>
          <a:p>
            <a:pPr algn="r" indent="0" marL="0">
              <a:buNone/>
            </a:pPr>
            <a:r>
              <a:rPr lang="en-US" sz="1100" dirty="0">
                <a:solidFill>
                  <a:srgbClr val="5F6B76"/>
                </a:solidFill>
                <a:latin typeface="Meiryo" pitchFamily="34" charset="0"/>
                <a:ea typeface="Meiryo" pitchFamily="34" charset="-122"/>
                <a:cs typeface="Meiryo" pitchFamily="34" charset="-120"/>
              </a:rPr>
              <a:t>42回午後25</a:t>
            </a:r>
            <a:endParaRPr lang="en-US" sz="1100" dirty="0"/>
          </a:p>
        </p:txBody>
      </p:sp>
      <p:sp>
        <p:nvSpPr>
          <p:cNvPr id="6" name="Text 4"/>
          <p:cNvSpPr txBox="1"/>
          <p:nvPr/>
        </p:nvSpPr>
        <p:spPr>
          <a:xfrm>
            <a:off x="457200" y="731520"/>
            <a:ext cx="8229600" cy="594360"/>
          </a:xfrm>
          <a:prstGeom prst="rect">
            <a:avLst/>
          </a:prstGeom>
          <a:noFill/>
          <a:ln/>
        </p:spPr>
        <p:txBody>
          <a:bodyPr wrap="square" lIns="0" tIns="0" rIns="0" bIns="0" rtlCol="0" anchor="t"/>
          <a:lstStyle/>
          <a:p>
            <a:pPr indent="0" marL="0">
              <a:buNone/>
            </a:pPr>
            <a:r>
              <a:rPr lang="en-US" sz="1700" b="1" dirty="0">
                <a:solidFill>
                  <a:srgbClr val="222222"/>
                </a:solidFill>
                <a:latin typeface="Meiryo" pitchFamily="34" charset="0"/>
                <a:ea typeface="Meiryo" pitchFamily="34" charset="-122"/>
                <a:cs typeface="Meiryo" pitchFamily="34" charset="-120"/>
              </a:rPr>
              <a:t>副交感神経優位時の臓器とその働きとの組合せで誤っているのはどれか。</a:t>
            </a:r>
            <a:endParaRPr lang="en-US" sz="1700" dirty="0"/>
          </a:p>
        </p:txBody>
      </p:sp>
      <p:sp>
        <p:nvSpPr>
          <p:cNvPr id="7" name="Shape 5"/>
          <p:cNvSpPr/>
          <p:nvPr/>
        </p:nvSpPr>
        <p:spPr>
          <a:xfrm>
            <a:off x="457200" y="1508760"/>
            <a:ext cx="8229600" cy="493776"/>
          </a:xfrm>
          <a:prstGeom prst="roundRect">
            <a:avLst>
              <a:gd name="adj" fmla="val 14815"/>
            </a:avLst>
          </a:prstGeom>
          <a:solidFill>
            <a:srgbClr val="EAF2F8"/>
          </a:solidFill>
          <a:ln/>
        </p:spPr>
      </p:sp>
      <p:sp>
        <p:nvSpPr>
          <p:cNvPr id="8" name="Shape 6"/>
          <p:cNvSpPr/>
          <p:nvPr/>
        </p:nvSpPr>
        <p:spPr>
          <a:xfrm>
            <a:off x="566928" y="1572768"/>
            <a:ext cx="365760" cy="365760"/>
          </a:xfrm>
          <a:prstGeom prst="ellipse">
            <a:avLst/>
          </a:prstGeom>
          <a:solidFill>
            <a:srgbClr val="FFFFFF"/>
          </a:solidFill>
          <a:ln w="15875">
            <a:solidFill>
              <a:srgbClr val="17324D"/>
            </a:solidFill>
            <a:prstDash val="solid"/>
          </a:ln>
        </p:spPr>
      </p:sp>
      <p:sp>
        <p:nvSpPr>
          <p:cNvPr id="9" name="Text 7"/>
          <p:cNvSpPr txBox="1"/>
          <p:nvPr/>
        </p:nvSpPr>
        <p:spPr>
          <a:xfrm>
            <a:off x="566928" y="1572768"/>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1</a:t>
            </a:r>
            <a:endParaRPr lang="en-US" sz="1400" dirty="0"/>
          </a:p>
        </p:txBody>
      </p:sp>
      <p:sp>
        <p:nvSpPr>
          <p:cNvPr id="10" name="Text 8"/>
          <p:cNvSpPr txBox="1"/>
          <p:nvPr/>
        </p:nvSpPr>
        <p:spPr>
          <a:xfrm>
            <a:off x="1051560" y="1508760"/>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眼 ― 縮瞳</a:t>
            </a:r>
            <a:endParaRPr lang="en-US" sz="1500" dirty="0"/>
          </a:p>
        </p:txBody>
      </p:sp>
      <p:sp>
        <p:nvSpPr>
          <p:cNvPr id="11" name="Shape 9"/>
          <p:cNvSpPr/>
          <p:nvPr/>
        </p:nvSpPr>
        <p:spPr>
          <a:xfrm>
            <a:off x="457200" y="2112264"/>
            <a:ext cx="8229600" cy="493776"/>
          </a:xfrm>
          <a:prstGeom prst="roundRect">
            <a:avLst>
              <a:gd name="adj" fmla="val 14815"/>
            </a:avLst>
          </a:prstGeom>
          <a:solidFill>
            <a:srgbClr val="EAF2F8"/>
          </a:solidFill>
          <a:ln/>
        </p:spPr>
      </p:sp>
      <p:sp>
        <p:nvSpPr>
          <p:cNvPr id="12" name="Shape 10"/>
          <p:cNvSpPr/>
          <p:nvPr/>
        </p:nvSpPr>
        <p:spPr>
          <a:xfrm>
            <a:off x="566928" y="2176272"/>
            <a:ext cx="365760" cy="365760"/>
          </a:xfrm>
          <a:prstGeom prst="ellipse">
            <a:avLst/>
          </a:prstGeom>
          <a:solidFill>
            <a:srgbClr val="FFFFFF"/>
          </a:solidFill>
          <a:ln w="15875">
            <a:solidFill>
              <a:srgbClr val="17324D"/>
            </a:solidFill>
            <a:prstDash val="solid"/>
          </a:ln>
        </p:spPr>
      </p:sp>
      <p:sp>
        <p:nvSpPr>
          <p:cNvPr id="13" name="Text 11"/>
          <p:cNvSpPr txBox="1"/>
          <p:nvPr/>
        </p:nvSpPr>
        <p:spPr>
          <a:xfrm>
            <a:off x="566928" y="2176272"/>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2</a:t>
            </a:r>
            <a:endParaRPr lang="en-US" sz="1400" dirty="0"/>
          </a:p>
        </p:txBody>
      </p:sp>
      <p:sp>
        <p:nvSpPr>
          <p:cNvPr id="14" name="Text 12"/>
          <p:cNvSpPr txBox="1"/>
          <p:nvPr/>
        </p:nvSpPr>
        <p:spPr>
          <a:xfrm>
            <a:off x="1051560" y="2112264"/>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心臓 ― 心拍数減少</a:t>
            </a:r>
            <a:endParaRPr lang="en-US" sz="1500" dirty="0"/>
          </a:p>
        </p:txBody>
      </p:sp>
      <p:sp>
        <p:nvSpPr>
          <p:cNvPr id="15" name="Shape 13"/>
          <p:cNvSpPr/>
          <p:nvPr/>
        </p:nvSpPr>
        <p:spPr>
          <a:xfrm>
            <a:off x="457200" y="2715768"/>
            <a:ext cx="8229600" cy="493776"/>
          </a:xfrm>
          <a:prstGeom prst="roundRect">
            <a:avLst>
              <a:gd name="adj" fmla="val 14815"/>
            </a:avLst>
          </a:prstGeom>
          <a:solidFill>
            <a:srgbClr val="EAF2F8"/>
          </a:solidFill>
          <a:ln/>
        </p:spPr>
      </p:sp>
      <p:sp>
        <p:nvSpPr>
          <p:cNvPr id="16" name="Shape 14"/>
          <p:cNvSpPr/>
          <p:nvPr/>
        </p:nvSpPr>
        <p:spPr>
          <a:xfrm>
            <a:off x="566928" y="2779776"/>
            <a:ext cx="365760" cy="365760"/>
          </a:xfrm>
          <a:prstGeom prst="ellipse">
            <a:avLst/>
          </a:prstGeom>
          <a:solidFill>
            <a:srgbClr val="FFFFFF"/>
          </a:solidFill>
          <a:ln w="15875">
            <a:solidFill>
              <a:srgbClr val="17324D"/>
            </a:solidFill>
            <a:prstDash val="solid"/>
          </a:ln>
        </p:spPr>
      </p:sp>
      <p:sp>
        <p:nvSpPr>
          <p:cNvPr id="17" name="Text 15"/>
          <p:cNvSpPr txBox="1"/>
          <p:nvPr/>
        </p:nvSpPr>
        <p:spPr>
          <a:xfrm>
            <a:off x="566928" y="2779776"/>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3</a:t>
            </a:r>
            <a:endParaRPr lang="en-US" sz="1400" dirty="0"/>
          </a:p>
        </p:txBody>
      </p:sp>
      <p:sp>
        <p:nvSpPr>
          <p:cNvPr id="18" name="Text 16"/>
          <p:cNvSpPr txBox="1"/>
          <p:nvPr/>
        </p:nvSpPr>
        <p:spPr>
          <a:xfrm>
            <a:off x="1051560" y="2715768"/>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肝臓 ― グリコーゲン分解</a:t>
            </a:r>
            <a:endParaRPr lang="en-US" sz="1500" dirty="0"/>
          </a:p>
        </p:txBody>
      </p:sp>
      <p:sp>
        <p:nvSpPr>
          <p:cNvPr id="19" name="Shape 17"/>
          <p:cNvSpPr/>
          <p:nvPr/>
        </p:nvSpPr>
        <p:spPr>
          <a:xfrm>
            <a:off x="457200" y="3319272"/>
            <a:ext cx="8229600" cy="493776"/>
          </a:xfrm>
          <a:prstGeom prst="roundRect">
            <a:avLst>
              <a:gd name="adj" fmla="val 14815"/>
            </a:avLst>
          </a:prstGeom>
          <a:solidFill>
            <a:srgbClr val="EAF2F8"/>
          </a:solidFill>
          <a:ln/>
        </p:spPr>
      </p:sp>
      <p:sp>
        <p:nvSpPr>
          <p:cNvPr id="20" name="Shape 18"/>
          <p:cNvSpPr/>
          <p:nvPr/>
        </p:nvSpPr>
        <p:spPr>
          <a:xfrm>
            <a:off x="566928" y="3383280"/>
            <a:ext cx="365760" cy="365760"/>
          </a:xfrm>
          <a:prstGeom prst="ellipse">
            <a:avLst/>
          </a:prstGeom>
          <a:solidFill>
            <a:srgbClr val="FFFFFF"/>
          </a:solidFill>
          <a:ln w="15875">
            <a:solidFill>
              <a:srgbClr val="17324D"/>
            </a:solidFill>
            <a:prstDash val="solid"/>
          </a:ln>
        </p:spPr>
      </p:sp>
      <p:sp>
        <p:nvSpPr>
          <p:cNvPr id="21" name="Text 19"/>
          <p:cNvSpPr txBox="1"/>
          <p:nvPr/>
        </p:nvSpPr>
        <p:spPr>
          <a:xfrm>
            <a:off x="566928" y="3383280"/>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4</a:t>
            </a:r>
            <a:endParaRPr lang="en-US" sz="1400" dirty="0"/>
          </a:p>
        </p:txBody>
      </p:sp>
      <p:sp>
        <p:nvSpPr>
          <p:cNvPr id="22" name="Text 20"/>
          <p:cNvSpPr txBox="1"/>
          <p:nvPr/>
        </p:nvSpPr>
        <p:spPr>
          <a:xfrm>
            <a:off x="1051560" y="3319272"/>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膵臓 ― 膵液分泌</a:t>
            </a:r>
            <a:endParaRPr lang="en-US" sz="1500" dirty="0"/>
          </a:p>
        </p:txBody>
      </p:sp>
      <p:sp>
        <p:nvSpPr>
          <p:cNvPr id="23" name="Shape 21"/>
          <p:cNvSpPr/>
          <p:nvPr/>
        </p:nvSpPr>
        <p:spPr>
          <a:xfrm>
            <a:off x="457200" y="3922776"/>
            <a:ext cx="8229600" cy="493776"/>
          </a:xfrm>
          <a:prstGeom prst="roundRect">
            <a:avLst>
              <a:gd name="adj" fmla="val 14815"/>
            </a:avLst>
          </a:prstGeom>
          <a:solidFill>
            <a:srgbClr val="EAF2F8"/>
          </a:solidFill>
          <a:ln/>
        </p:spPr>
      </p:sp>
      <p:sp>
        <p:nvSpPr>
          <p:cNvPr id="24" name="Shape 22"/>
          <p:cNvSpPr/>
          <p:nvPr/>
        </p:nvSpPr>
        <p:spPr>
          <a:xfrm>
            <a:off x="566928" y="3986784"/>
            <a:ext cx="365760" cy="365760"/>
          </a:xfrm>
          <a:prstGeom prst="ellipse">
            <a:avLst/>
          </a:prstGeom>
          <a:solidFill>
            <a:srgbClr val="FFFFFF"/>
          </a:solidFill>
          <a:ln w="15875">
            <a:solidFill>
              <a:srgbClr val="17324D"/>
            </a:solidFill>
            <a:prstDash val="solid"/>
          </a:ln>
        </p:spPr>
      </p:sp>
      <p:sp>
        <p:nvSpPr>
          <p:cNvPr id="25" name="Text 23"/>
          <p:cNvSpPr txBox="1"/>
          <p:nvPr/>
        </p:nvSpPr>
        <p:spPr>
          <a:xfrm>
            <a:off x="566928" y="3986784"/>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5</a:t>
            </a:r>
            <a:endParaRPr lang="en-US" sz="1400" dirty="0"/>
          </a:p>
        </p:txBody>
      </p:sp>
      <p:sp>
        <p:nvSpPr>
          <p:cNvPr id="26" name="Text 24"/>
          <p:cNvSpPr txBox="1"/>
          <p:nvPr/>
        </p:nvSpPr>
        <p:spPr>
          <a:xfrm>
            <a:off x="1051560" y="3922776"/>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膀胱 ― 排尿筋収縮</a:t>
            </a:r>
            <a:endParaRPr lang="en-US" sz="15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74320"/>
            <a:ext cx="868680" cy="384048"/>
          </a:xfrm>
          <a:prstGeom prst="roundRect">
            <a:avLst>
              <a:gd name="adj" fmla="val 19048"/>
            </a:avLst>
          </a:prstGeom>
          <a:solidFill>
            <a:srgbClr val="D9534F"/>
          </a:solidFill>
          <a:ln/>
        </p:spPr>
      </p:sp>
      <p:sp>
        <p:nvSpPr>
          <p:cNvPr id="3" name="Text 1"/>
          <p:cNvSpPr txBox="1"/>
          <p:nvPr/>
        </p:nvSpPr>
        <p:spPr>
          <a:xfrm>
            <a:off x="457200" y="274320"/>
            <a:ext cx="86868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解説</a:t>
            </a:r>
            <a:endParaRPr lang="en-US" sz="1300" dirty="0"/>
          </a:p>
        </p:txBody>
      </p:sp>
      <p:sp>
        <p:nvSpPr>
          <p:cNvPr id="4" name="Text 2"/>
          <p:cNvSpPr txBox="1"/>
          <p:nvPr/>
        </p:nvSpPr>
        <p:spPr>
          <a:xfrm>
            <a:off x="1417320" y="274320"/>
            <a:ext cx="731520" cy="384048"/>
          </a:xfrm>
          <a:prstGeom prst="rect">
            <a:avLst/>
          </a:prstGeom>
          <a:noFill/>
          <a:ln/>
        </p:spPr>
        <p:txBody>
          <a:bodyPr wrap="square" lIns="0" tIns="0" rIns="0" bIns="0" rtlCol="0" anchor="ctr"/>
          <a:lstStyle/>
          <a:p>
            <a:pPr indent="0" marL="0">
              <a:buNone/>
            </a:pPr>
            <a:r>
              <a:rPr lang="en-US" sz="2000" b="1" dirty="0">
                <a:solidFill>
                  <a:srgbClr val="17324D"/>
                </a:solidFill>
                <a:latin typeface="Arial" pitchFamily="34" charset="0"/>
                <a:ea typeface="Arial" pitchFamily="34" charset="-122"/>
                <a:cs typeface="Arial" pitchFamily="34" charset="-120"/>
              </a:rPr>
              <a:t>[27]</a:t>
            </a:r>
            <a:endParaRPr lang="en-US" sz="2000" dirty="0"/>
          </a:p>
        </p:txBody>
      </p:sp>
      <p:sp>
        <p:nvSpPr>
          <p:cNvPr id="5" name="Text 3"/>
          <p:cNvSpPr txBox="1"/>
          <p:nvPr/>
        </p:nvSpPr>
        <p:spPr>
          <a:xfrm>
            <a:off x="5943600" y="274320"/>
            <a:ext cx="2743200" cy="384048"/>
          </a:xfrm>
          <a:prstGeom prst="rect">
            <a:avLst/>
          </a:prstGeom>
          <a:noFill/>
          <a:ln/>
        </p:spPr>
        <p:txBody>
          <a:bodyPr wrap="square" lIns="0" tIns="0" rIns="0" bIns="0" rtlCol="0" anchor="ctr"/>
          <a:lstStyle/>
          <a:p>
            <a:pPr algn="r" indent="0" marL="0">
              <a:buNone/>
            </a:pPr>
            <a:r>
              <a:rPr lang="en-US" sz="1100" dirty="0">
                <a:solidFill>
                  <a:srgbClr val="5F6B76"/>
                </a:solidFill>
                <a:latin typeface="Meiryo" pitchFamily="34" charset="0"/>
                <a:ea typeface="Meiryo" pitchFamily="34" charset="-122"/>
                <a:cs typeface="Meiryo" pitchFamily="34" charset="-120"/>
              </a:rPr>
              <a:t>42回午後25</a:t>
            </a:r>
            <a:endParaRPr lang="en-US" sz="1100" dirty="0"/>
          </a:p>
        </p:txBody>
      </p:sp>
      <p:sp>
        <p:nvSpPr>
          <p:cNvPr id="6" name="Text 4"/>
          <p:cNvSpPr txBox="1"/>
          <p:nvPr/>
        </p:nvSpPr>
        <p:spPr>
          <a:xfrm>
            <a:off x="457200" y="731520"/>
            <a:ext cx="8229600" cy="594360"/>
          </a:xfrm>
          <a:prstGeom prst="rect">
            <a:avLst/>
          </a:prstGeom>
          <a:noFill/>
          <a:ln/>
        </p:spPr>
        <p:txBody>
          <a:bodyPr wrap="square" lIns="0" tIns="0" rIns="0" bIns="0" rtlCol="0" anchor="t"/>
          <a:lstStyle/>
          <a:p>
            <a:pPr indent="0" marL="0">
              <a:buNone/>
            </a:pPr>
            <a:r>
              <a:rPr lang="en-US" sz="1700" b="1" dirty="0">
                <a:solidFill>
                  <a:srgbClr val="222222"/>
                </a:solidFill>
                <a:latin typeface="Meiryo" pitchFamily="34" charset="0"/>
                <a:ea typeface="Meiryo" pitchFamily="34" charset="-122"/>
                <a:cs typeface="Meiryo" pitchFamily="34" charset="-120"/>
              </a:rPr>
              <a:t>副交感神経優位時の臓器とその働きとの組合せで誤っているのはどれか。</a:t>
            </a:r>
            <a:endParaRPr lang="en-US" sz="1700" dirty="0"/>
          </a:p>
        </p:txBody>
      </p:sp>
      <p:sp>
        <p:nvSpPr>
          <p:cNvPr id="7" name="Shape 5"/>
          <p:cNvSpPr/>
          <p:nvPr/>
        </p:nvSpPr>
        <p:spPr>
          <a:xfrm>
            <a:off x="457200" y="1417320"/>
            <a:ext cx="8229600" cy="457200"/>
          </a:xfrm>
          <a:prstGeom prst="roundRect">
            <a:avLst>
              <a:gd name="adj" fmla="val 16000"/>
            </a:avLst>
          </a:prstGeom>
          <a:solidFill>
            <a:srgbClr val="F4F6F8"/>
          </a:solidFill>
          <a:ln/>
        </p:spPr>
      </p:sp>
      <p:sp>
        <p:nvSpPr>
          <p:cNvPr id="8" name="Shape 6"/>
          <p:cNvSpPr/>
          <p:nvPr/>
        </p:nvSpPr>
        <p:spPr>
          <a:xfrm>
            <a:off x="548640" y="1481328"/>
            <a:ext cx="329184" cy="329184"/>
          </a:xfrm>
          <a:prstGeom prst="ellipse">
            <a:avLst/>
          </a:prstGeom>
          <a:solidFill>
            <a:srgbClr val="FFFFFF"/>
          </a:solidFill>
          <a:ln w="12700">
            <a:solidFill>
              <a:srgbClr val="8A96A3"/>
            </a:solidFill>
            <a:prstDash val="solid"/>
          </a:ln>
        </p:spPr>
      </p:sp>
      <p:sp>
        <p:nvSpPr>
          <p:cNvPr id="9" name="Text 7"/>
          <p:cNvSpPr txBox="1"/>
          <p:nvPr/>
        </p:nvSpPr>
        <p:spPr>
          <a:xfrm>
            <a:off x="548640" y="1481328"/>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1</a:t>
            </a:r>
            <a:endParaRPr lang="en-US" sz="1300" dirty="0"/>
          </a:p>
        </p:txBody>
      </p:sp>
      <p:sp>
        <p:nvSpPr>
          <p:cNvPr id="10" name="Text 8"/>
          <p:cNvSpPr txBox="1"/>
          <p:nvPr/>
        </p:nvSpPr>
        <p:spPr>
          <a:xfrm>
            <a:off x="987552" y="1417320"/>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眼 ― 縮瞳</a:t>
            </a:r>
            <a:endParaRPr lang="en-US" sz="1200" dirty="0"/>
          </a:p>
        </p:txBody>
      </p:sp>
      <p:sp>
        <p:nvSpPr>
          <p:cNvPr id="11" name="Text 9"/>
          <p:cNvSpPr txBox="1"/>
          <p:nvPr/>
        </p:nvSpPr>
        <p:spPr>
          <a:xfrm>
            <a:off x="4096512" y="1417320"/>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正しい</a:t>
            </a:r>
            <a:endParaRPr lang="en-US" sz="1100" dirty="0"/>
          </a:p>
        </p:txBody>
      </p:sp>
      <p:sp>
        <p:nvSpPr>
          <p:cNvPr id="12" name="Shape 10"/>
          <p:cNvSpPr/>
          <p:nvPr/>
        </p:nvSpPr>
        <p:spPr>
          <a:xfrm>
            <a:off x="457200" y="1947672"/>
            <a:ext cx="8229600" cy="457200"/>
          </a:xfrm>
          <a:prstGeom prst="roundRect">
            <a:avLst>
              <a:gd name="adj" fmla="val 16000"/>
            </a:avLst>
          </a:prstGeom>
          <a:solidFill>
            <a:srgbClr val="F4F6F8"/>
          </a:solidFill>
          <a:ln/>
        </p:spPr>
      </p:sp>
      <p:sp>
        <p:nvSpPr>
          <p:cNvPr id="13" name="Shape 11"/>
          <p:cNvSpPr/>
          <p:nvPr/>
        </p:nvSpPr>
        <p:spPr>
          <a:xfrm>
            <a:off x="548640" y="2011680"/>
            <a:ext cx="329184" cy="329184"/>
          </a:xfrm>
          <a:prstGeom prst="ellipse">
            <a:avLst/>
          </a:prstGeom>
          <a:solidFill>
            <a:srgbClr val="FFFFFF"/>
          </a:solidFill>
          <a:ln w="12700">
            <a:solidFill>
              <a:srgbClr val="8A96A3"/>
            </a:solidFill>
            <a:prstDash val="solid"/>
          </a:ln>
        </p:spPr>
      </p:sp>
      <p:sp>
        <p:nvSpPr>
          <p:cNvPr id="14" name="Text 12"/>
          <p:cNvSpPr txBox="1"/>
          <p:nvPr/>
        </p:nvSpPr>
        <p:spPr>
          <a:xfrm>
            <a:off x="548640" y="2011680"/>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2</a:t>
            </a:r>
            <a:endParaRPr lang="en-US" sz="1300" dirty="0"/>
          </a:p>
        </p:txBody>
      </p:sp>
      <p:sp>
        <p:nvSpPr>
          <p:cNvPr id="15" name="Text 13"/>
          <p:cNvSpPr txBox="1"/>
          <p:nvPr/>
        </p:nvSpPr>
        <p:spPr>
          <a:xfrm>
            <a:off x="987552" y="1947672"/>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心臓 ― 心拍数減少</a:t>
            </a:r>
            <a:endParaRPr lang="en-US" sz="1200" dirty="0"/>
          </a:p>
        </p:txBody>
      </p:sp>
      <p:sp>
        <p:nvSpPr>
          <p:cNvPr id="16" name="Text 14"/>
          <p:cNvSpPr txBox="1"/>
          <p:nvPr/>
        </p:nvSpPr>
        <p:spPr>
          <a:xfrm>
            <a:off x="4096512" y="1947672"/>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正しい</a:t>
            </a:r>
            <a:endParaRPr lang="en-US" sz="1100" dirty="0"/>
          </a:p>
        </p:txBody>
      </p:sp>
      <p:sp>
        <p:nvSpPr>
          <p:cNvPr id="17" name="Shape 15"/>
          <p:cNvSpPr/>
          <p:nvPr/>
        </p:nvSpPr>
        <p:spPr>
          <a:xfrm>
            <a:off x="457200" y="2478024"/>
            <a:ext cx="8229600" cy="457200"/>
          </a:xfrm>
          <a:prstGeom prst="roundRect">
            <a:avLst>
              <a:gd name="adj" fmla="val 16000"/>
            </a:avLst>
          </a:prstGeom>
          <a:solidFill>
            <a:srgbClr val="FBE3E2"/>
          </a:solidFill>
          <a:ln w="19050">
            <a:solidFill>
              <a:srgbClr val="D9534F"/>
            </a:solidFill>
            <a:prstDash val="solid"/>
          </a:ln>
        </p:spPr>
      </p:sp>
      <p:sp>
        <p:nvSpPr>
          <p:cNvPr id="18" name="Shape 16"/>
          <p:cNvSpPr/>
          <p:nvPr/>
        </p:nvSpPr>
        <p:spPr>
          <a:xfrm>
            <a:off x="548640" y="2542032"/>
            <a:ext cx="329184" cy="329184"/>
          </a:xfrm>
          <a:prstGeom prst="ellipse">
            <a:avLst/>
          </a:prstGeom>
          <a:solidFill>
            <a:srgbClr val="D9534F"/>
          </a:solidFill>
          <a:ln w="12700">
            <a:solidFill>
              <a:srgbClr val="D9534F"/>
            </a:solidFill>
            <a:prstDash val="solid"/>
          </a:ln>
        </p:spPr>
      </p:sp>
      <p:sp>
        <p:nvSpPr>
          <p:cNvPr id="19" name="Text 17"/>
          <p:cNvSpPr txBox="1"/>
          <p:nvPr/>
        </p:nvSpPr>
        <p:spPr>
          <a:xfrm>
            <a:off x="548640" y="254203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20" name="Text 18"/>
          <p:cNvSpPr txBox="1"/>
          <p:nvPr/>
        </p:nvSpPr>
        <p:spPr>
          <a:xfrm>
            <a:off x="987552" y="2478024"/>
            <a:ext cx="3017520" cy="457200"/>
          </a:xfrm>
          <a:prstGeom prst="rect">
            <a:avLst/>
          </a:prstGeom>
          <a:noFill/>
          <a:ln/>
        </p:spPr>
        <p:txBody>
          <a:bodyPr wrap="square" lIns="0" tIns="0" rIns="0" bIns="0" rtlCol="0" anchor="ctr"/>
          <a:lstStyle/>
          <a:p>
            <a:pPr indent="0" marL="0">
              <a:buNone/>
            </a:pPr>
            <a:r>
              <a:rPr lang="en-US" sz="1200" b="1" dirty="0">
                <a:solidFill>
                  <a:srgbClr val="D9534F"/>
                </a:solidFill>
                <a:latin typeface="Meiryo" pitchFamily="34" charset="0"/>
                <a:ea typeface="Meiryo" pitchFamily="34" charset="-122"/>
                <a:cs typeface="Meiryo" pitchFamily="34" charset="-120"/>
              </a:rPr>
              <a:t>肝臓 ― グリコーゲン分解</a:t>
            </a:r>
            <a:endParaRPr lang="en-US" sz="1200" dirty="0"/>
          </a:p>
        </p:txBody>
      </p:sp>
      <p:sp>
        <p:nvSpPr>
          <p:cNvPr id="21" name="Text 19"/>
          <p:cNvSpPr txBox="1"/>
          <p:nvPr/>
        </p:nvSpPr>
        <p:spPr>
          <a:xfrm>
            <a:off x="4096512" y="2478024"/>
            <a:ext cx="4526280" cy="457200"/>
          </a:xfrm>
          <a:prstGeom prst="rect">
            <a:avLst/>
          </a:prstGeom>
          <a:noFill/>
          <a:ln/>
        </p:spPr>
        <p:txBody>
          <a:bodyPr wrap="square" lIns="0" tIns="0" rIns="0" bIns="0" rtlCol="0" anchor="ctr"/>
          <a:lstStyle/>
          <a:p>
            <a:pPr indent="0" marL="0">
              <a:buNone/>
            </a:pPr>
            <a:r>
              <a:rPr lang="en-US" sz="1100" dirty="0">
                <a:solidFill>
                  <a:srgbClr val="222222"/>
                </a:solidFill>
                <a:latin typeface="Meiryo" pitchFamily="34" charset="0"/>
                <a:ea typeface="Meiryo" pitchFamily="34" charset="-122"/>
                <a:cs typeface="Meiryo" pitchFamily="34" charset="-120"/>
              </a:rPr>
              <a:t>グリコーゲン分解は交感神経 → 誤り（副交感は合成）</a:t>
            </a:r>
            <a:endParaRPr lang="en-US" sz="1100" dirty="0"/>
          </a:p>
        </p:txBody>
      </p:sp>
      <p:sp>
        <p:nvSpPr>
          <p:cNvPr id="22" name="Shape 20"/>
          <p:cNvSpPr/>
          <p:nvPr/>
        </p:nvSpPr>
        <p:spPr>
          <a:xfrm>
            <a:off x="457200" y="3008376"/>
            <a:ext cx="8229600" cy="457200"/>
          </a:xfrm>
          <a:prstGeom prst="roundRect">
            <a:avLst>
              <a:gd name="adj" fmla="val 16000"/>
            </a:avLst>
          </a:prstGeom>
          <a:solidFill>
            <a:srgbClr val="F4F6F8"/>
          </a:solidFill>
          <a:ln/>
        </p:spPr>
      </p:sp>
      <p:sp>
        <p:nvSpPr>
          <p:cNvPr id="23" name="Shape 21"/>
          <p:cNvSpPr/>
          <p:nvPr/>
        </p:nvSpPr>
        <p:spPr>
          <a:xfrm>
            <a:off x="548640" y="3072384"/>
            <a:ext cx="329184" cy="329184"/>
          </a:xfrm>
          <a:prstGeom prst="ellipse">
            <a:avLst/>
          </a:prstGeom>
          <a:solidFill>
            <a:srgbClr val="FFFFFF"/>
          </a:solidFill>
          <a:ln w="12700">
            <a:solidFill>
              <a:srgbClr val="8A96A3"/>
            </a:solidFill>
            <a:prstDash val="solid"/>
          </a:ln>
        </p:spPr>
      </p:sp>
      <p:sp>
        <p:nvSpPr>
          <p:cNvPr id="24" name="Text 22"/>
          <p:cNvSpPr txBox="1"/>
          <p:nvPr/>
        </p:nvSpPr>
        <p:spPr>
          <a:xfrm>
            <a:off x="548640" y="3072384"/>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4</a:t>
            </a:r>
            <a:endParaRPr lang="en-US" sz="1300" dirty="0"/>
          </a:p>
        </p:txBody>
      </p:sp>
      <p:sp>
        <p:nvSpPr>
          <p:cNvPr id="25" name="Text 23"/>
          <p:cNvSpPr txBox="1"/>
          <p:nvPr/>
        </p:nvSpPr>
        <p:spPr>
          <a:xfrm>
            <a:off x="987552" y="3008376"/>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膵臓 ― 膵液分泌</a:t>
            </a:r>
            <a:endParaRPr lang="en-US" sz="1200" dirty="0"/>
          </a:p>
        </p:txBody>
      </p:sp>
      <p:sp>
        <p:nvSpPr>
          <p:cNvPr id="26" name="Text 24"/>
          <p:cNvSpPr txBox="1"/>
          <p:nvPr/>
        </p:nvSpPr>
        <p:spPr>
          <a:xfrm>
            <a:off x="4096512" y="3008376"/>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正しい</a:t>
            </a:r>
            <a:endParaRPr lang="en-US" sz="1100" dirty="0"/>
          </a:p>
        </p:txBody>
      </p:sp>
      <p:sp>
        <p:nvSpPr>
          <p:cNvPr id="27" name="Shape 25"/>
          <p:cNvSpPr/>
          <p:nvPr/>
        </p:nvSpPr>
        <p:spPr>
          <a:xfrm>
            <a:off x="457200" y="3538728"/>
            <a:ext cx="8229600" cy="457200"/>
          </a:xfrm>
          <a:prstGeom prst="roundRect">
            <a:avLst>
              <a:gd name="adj" fmla="val 16000"/>
            </a:avLst>
          </a:prstGeom>
          <a:solidFill>
            <a:srgbClr val="F4F6F8"/>
          </a:solidFill>
          <a:ln/>
        </p:spPr>
      </p:sp>
      <p:sp>
        <p:nvSpPr>
          <p:cNvPr id="28" name="Shape 26"/>
          <p:cNvSpPr/>
          <p:nvPr/>
        </p:nvSpPr>
        <p:spPr>
          <a:xfrm>
            <a:off x="548640" y="3602736"/>
            <a:ext cx="329184" cy="329184"/>
          </a:xfrm>
          <a:prstGeom prst="ellipse">
            <a:avLst/>
          </a:prstGeom>
          <a:solidFill>
            <a:srgbClr val="FFFFFF"/>
          </a:solidFill>
          <a:ln w="12700">
            <a:solidFill>
              <a:srgbClr val="8A96A3"/>
            </a:solidFill>
            <a:prstDash val="solid"/>
          </a:ln>
        </p:spPr>
      </p:sp>
      <p:sp>
        <p:nvSpPr>
          <p:cNvPr id="29" name="Text 27"/>
          <p:cNvSpPr txBox="1"/>
          <p:nvPr/>
        </p:nvSpPr>
        <p:spPr>
          <a:xfrm>
            <a:off x="548640" y="3602736"/>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5</a:t>
            </a:r>
            <a:endParaRPr lang="en-US" sz="1300" dirty="0"/>
          </a:p>
        </p:txBody>
      </p:sp>
      <p:sp>
        <p:nvSpPr>
          <p:cNvPr id="30" name="Text 28"/>
          <p:cNvSpPr txBox="1"/>
          <p:nvPr/>
        </p:nvSpPr>
        <p:spPr>
          <a:xfrm>
            <a:off x="987552" y="3538728"/>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膀胱 ― 排尿筋収縮</a:t>
            </a:r>
            <a:endParaRPr lang="en-US" sz="1200" dirty="0"/>
          </a:p>
        </p:txBody>
      </p:sp>
      <p:sp>
        <p:nvSpPr>
          <p:cNvPr id="31" name="Text 29"/>
          <p:cNvSpPr txBox="1"/>
          <p:nvPr/>
        </p:nvSpPr>
        <p:spPr>
          <a:xfrm>
            <a:off x="4096512" y="3538728"/>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正しい</a:t>
            </a:r>
            <a:endParaRPr lang="en-US" sz="1100" dirty="0"/>
          </a:p>
        </p:txBody>
      </p:sp>
      <p:sp>
        <p:nvSpPr>
          <p:cNvPr id="32" name="Shape 30"/>
          <p:cNvSpPr/>
          <p:nvPr/>
        </p:nvSpPr>
        <p:spPr>
          <a:xfrm>
            <a:off x="457200" y="4160520"/>
            <a:ext cx="1463040" cy="685800"/>
          </a:xfrm>
          <a:prstGeom prst="roundRect">
            <a:avLst>
              <a:gd name="adj" fmla="val 10667"/>
            </a:avLst>
          </a:prstGeom>
          <a:solidFill>
            <a:srgbClr val="D9534F"/>
          </a:solidFill>
          <a:ln/>
        </p:spPr>
      </p:sp>
      <p:sp>
        <p:nvSpPr>
          <p:cNvPr id="33" name="Text 31"/>
          <p:cNvSpPr txBox="1"/>
          <p:nvPr/>
        </p:nvSpPr>
        <p:spPr>
          <a:xfrm>
            <a:off x="457200" y="4160520"/>
            <a:ext cx="1463040" cy="685800"/>
          </a:xfrm>
          <a:prstGeom prst="rect">
            <a:avLst/>
          </a:prstGeom>
          <a:noFill/>
          <a:ln/>
        </p:spPr>
        <p:txBody>
          <a:bodyPr wrap="square" lIns="0" tIns="0" rIns="0" bIns="0" rtlCol="0" anchor="ctr"/>
          <a:lstStyle/>
          <a:p>
            <a:pPr algn="ctr" indent="0" marL="0">
              <a:buNone/>
            </a:pPr>
            <a:r>
              <a:rPr lang="en-US" sz="1100" dirty="0">
                <a:solidFill>
                  <a:srgbClr val="FFFFFF"/>
                </a:solidFill>
                <a:latin typeface="Meiryo" pitchFamily="34" charset="0"/>
                <a:ea typeface="Meiryo" pitchFamily="34" charset="-122"/>
                <a:cs typeface="Meiryo" pitchFamily="34" charset="-120"/>
              </a:rPr>
              <a:t>正解</a:t>
            </a:r>
            <a:endParaRPr lang="en-US" sz="1100" dirty="0"/>
          </a:p>
          <a:p>
            <a:pPr algn="ctr" indent="0" marL="0">
              <a:buNone/>
            </a:pPr>
            <a:r>
              <a:rPr lang="en-US" sz="2200" b="1" dirty="0">
                <a:solidFill>
                  <a:srgbClr val="FFFFFF"/>
                </a:solidFill>
                <a:latin typeface="Meiryo" pitchFamily="34" charset="0"/>
                <a:ea typeface="Meiryo" pitchFamily="34" charset="-122"/>
                <a:cs typeface="Meiryo" pitchFamily="34" charset="-120"/>
              </a:rPr>
              <a:t>3</a:t>
            </a:r>
            <a:endParaRPr lang="en-US" sz="11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74320"/>
            <a:ext cx="868680" cy="384048"/>
          </a:xfrm>
          <a:prstGeom prst="roundRect">
            <a:avLst>
              <a:gd name="adj" fmla="val 19048"/>
            </a:avLst>
          </a:prstGeom>
          <a:solidFill>
            <a:srgbClr val="17324D"/>
          </a:solidFill>
          <a:ln/>
        </p:spPr>
      </p:sp>
      <p:sp>
        <p:nvSpPr>
          <p:cNvPr id="3" name="Text 1"/>
          <p:cNvSpPr txBox="1"/>
          <p:nvPr/>
        </p:nvSpPr>
        <p:spPr>
          <a:xfrm>
            <a:off x="457200" y="274320"/>
            <a:ext cx="86868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問題</a:t>
            </a:r>
            <a:endParaRPr lang="en-US" sz="1300" dirty="0"/>
          </a:p>
        </p:txBody>
      </p:sp>
      <p:sp>
        <p:nvSpPr>
          <p:cNvPr id="4" name="Text 2"/>
          <p:cNvSpPr txBox="1"/>
          <p:nvPr/>
        </p:nvSpPr>
        <p:spPr>
          <a:xfrm>
            <a:off x="1417320" y="274320"/>
            <a:ext cx="731520" cy="384048"/>
          </a:xfrm>
          <a:prstGeom prst="rect">
            <a:avLst/>
          </a:prstGeom>
          <a:noFill/>
          <a:ln/>
        </p:spPr>
        <p:txBody>
          <a:bodyPr wrap="square" lIns="0" tIns="0" rIns="0" bIns="0" rtlCol="0" anchor="ctr"/>
          <a:lstStyle/>
          <a:p>
            <a:pPr indent="0" marL="0">
              <a:buNone/>
            </a:pPr>
            <a:r>
              <a:rPr lang="en-US" sz="2000" b="1" dirty="0">
                <a:solidFill>
                  <a:srgbClr val="17324D"/>
                </a:solidFill>
                <a:latin typeface="Arial" pitchFamily="34" charset="0"/>
                <a:ea typeface="Arial" pitchFamily="34" charset="-122"/>
                <a:cs typeface="Arial" pitchFamily="34" charset="-120"/>
              </a:rPr>
              <a:t>[28]</a:t>
            </a:r>
            <a:endParaRPr lang="en-US" sz="2000" dirty="0"/>
          </a:p>
        </p:txBody>
      </p:sp>
      <p:sp>
        <p:nvSpPr>
          <p:cNvPr id="5" name="Text 3"/>
          <p:cNvSpPr txBox="1"/>
          <p:nvPr/>
        </p:nvSpPr>
        <p:spPr>
          <a:xfrm>
            <a:off x="5943600" y="274320"/>
            <a:ext cx="2743200" cy="384048"/>
          </a:xfrm>
          <a:prstGeom prst="rect">
            <a:avLst/>
          </a:prstGeom>
          <a:noFill/>
          <a:ln/>
        </p:spPr>
        <p:txBody>
          <a:bodyPr wrap="square" lIns="0" tIns="0" rIns="0" bIns="0" rtlCol="0" anchor="ctr"/>
          <a:lstStyle/>
          <a:p>
            <a:pPr algn="r" indent="0" marL="0">
              <a:buNone/>
            </a:pPr>
            <a:r>
              <a:rPr lang="en-US" sz="1100" dirty="0">
                <a:solidFill>
                  <a:srgbClr val="5F6B76"/>
                </a:solidFill>
                <a:latin typeface="Meiryo" pitchFamily="34" charset="0"/>
                <a:ea typeface="Meiryo" pitchFamily="34" charset="-122"/>
                <a:cs typeface="Meiryo" pitchFamily="34" charset="-120"/>
              </a:rPr>
              <a:t>41回午後9</a:t>
            </a:r>
            <a:endParaRPr lang="en-US" sz="1100" dirty="0"/>
          </a:p>
        </p:txBody>
      </p:sp>
      <p:sp>
        <p:nvSpPr>
          <p:cNvPr id="6" name="Text 4"/>
          <p:cNvSpPr txBox="1"/>
          <p:nvPr/>
        </p:nvSpPr>
        <p:spPr>
          <a:xfrm>
            <a:off x="457200" y="731520"/>
            <a:ext cx="8229600" cy="594360"/>
          </a:xfrm>
          <a:prstGeom prst="rect">
            <a:avLst/>
          </a:prstGeom>
          <a:noFill/>
          <a:ln/>
        </p:spPr>
        <p:txBody>
          <a:bodyPr wrap="square" lIns="0" tIns="0" rIns="0" bIns="0" rtlCol="0" anchor="t"/>
          <a:lstStyle/>
          <a:p>
            <a:pPr indent="0" marL="0">
              <a:buNone/>
            </a:pPr>
            <a:r>
              <a:rPr lang="en-US" sz="1700" b="1" dirty="0">
                <a:solidFill>
                  <a:srgbClr val="222222"/>
                </a:solidFill>
                <a:latin typeface="Meiryo" pitchFamily="34" charset="0"/>
                <a:ea typeface="Meiryo" pitchFamily="34" charset="-122"/>
                <a:cs typeface="Meiryo" pitchFamily="34" charset="-120"/>
              </a:rPr>
              <a:t>脳神経の中で副交感神経線維を含まないのはどれか。</a:t>
            </a:r>
            <a:endParaRPr lang="en-US" sz="1700" dirty="0"/>
          </a:p>
        </p:txBody>
      </p:sp>
      <p:sp>
        <p:nvSpPr>
          <p:cNvPr id="7" name="Shape 5"/>
          <p:cNvSpPr/>
          <p:nvPr/>
        </p:nvSpPr>
        <p:spPr>
          <a:xfrm>
            <a:off x="457200" y="1508760"/>
            <a:ext cx="8229600" cy="493776"/>
          </a:xfrm>
          <a:prstGeom prst="roundRect">
            <a:avLst>
              <a:gd name="adj" fmla="val 14815"/>
            </a:avLst>
          </a:prstGeom>
          <a:solidFill>
            <a:srgbClr val="EAF2F8"/>
          </a:solidFill>
          <a:ln/>
        </p:spPr>
      </p:sp>
      <p:sp>
        <p:nvSpPr>
          <p:cNvPr id="8" name="Shape 6"/>
          <p:cNvSpPr/>
          <p:nvPr/>
        </p:nvSpPr>
        <p:spPr>
          <a:xfrm>
            <a:off x="566928" y="1572768"/>
            <a:ext cx="365760" cy="365760"/>
          </a:xfrm>
          <a:prstGeom prst="ellipse">
            <a:avLst/>
          </a:prstGeom>
          <a:solidFill>
            <a:srgbClr val="FFFFFF"/>
          </a:solidFill>
          <a:ln w="15875">
            <a:solidFill>
              <a:srgbClr val="17324D"/>
            </a:solidFill>
            <a:prstDash val="solid"/>
          </a:ln>
        </p:spPr>
      </p:sp>
      <p:sp>
        <p:nvSpPr>
          <p:cNvPr id="9" name="Text 7"/>
          <p:cNvSpPr txBox="1"/>
          <p:nvPr/>
        </p:nvSpPr>
        <p:spPr>
          <a:xfrm>
            <a:off x="566928" y="1572768"/>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1</a:t>
            </a:r>
            <a:endParaRPr lang="en-US" sz="1400" dirty="0"/>
          </a:p>
        </p:txBody>
      </p:sp>
      <p:sp>
        <p:nvSpPr>
          <p:cNvPr id="10" name="Text 8"/>
          <p:cNvSpPr txBox="1"/>
          <p:nvPr/>
        </p:nvSpPr>
        <p:spPr>
          <a:xfrm>
            <a:off x="1051560" y="1508760"/>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動眼神経</a:t>
            </a:r>
            <a:endParaRPr lang="en-US" sz="1500" dirty="0"/>
          </a:p>
        </p:txBody>
      </p:sp>
      <p:sp>
        <p:nvSpPr>
          <p:cNvPr id="11" name="Shape 9"/>
          <p:cNvSpPr/>
          <p:nvPr/>
        </p:nvSpPr>
        <p:spPr>
          <a:xfrm>
            <a:off x="457200" y="2112264"/>
            <a:ext cx="8229600" cy="493776"/>
          </a:xfrm>
          <a:prstGeom prst="roundRect">
            <a:avLst>
              <a:gd name="adj" fmla="val 14815"/>
            </a:avLst>
          </a:prstGeom>
          <a:solidFill>
            <a:srgbClr val="EAF2F8"/>
          </a:solidFill>
          <a:ln/>
        </p:spPr>
      </p:sp>
      <p:sp>
        <p:nvSpPr>
          <p:cNvPr id="12" name="Shape 10"/>
          <p:cNvSpPr/>
          <p:nvPr/>
        </p:nvSpPr>
        <p:spPr>
          <a:xfrm>
            <a:off x="566928" y="2176272"/>
            <a:ext cx="365760" cy="365760"/>
          </a:xfrm>
          <a:prstGeom prst="ellipse">
            <a:avLst/>
          </a:prstGeom>
          <a:solidFill>
            <a:srgbClr val="FFFFFF"/>
          </a:solidFill>
          <a:ln w="15875">
            <a:solidFill>
              <a:srgbClr val="17324D"/>
            </a:solidFill>
            <a:prstDash val="solid"/>
          </a:ln>
        </p:spPr>
      </p:sp>
      <p:sp>
        <p:nvSpPr>
          <p:cNvPr id="13" name="Text 11"/>
          <p:cNvSpPr txBox="1"/>
          <p:nvPr/>
        </p:nvSpPr>
        <p:spPr>
          <a:xfrm>
            <a:off x="566928" y="2176272"/>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2</a:t>
            </a:r>
            <a:endParaRPr lang="en-US" sz="1400" dirty="0"/>
          </a:p>
        </p:txBody>
      </p:sp>
      <p:sp>
        <p:nvSpPr>
          <p:cNvPr id="14" name="Text 12"/>
          <p:cNvSpPr txBox="1"/>
          <p:nvPr/>
        </p:nvSpPr>
        <p:spPr>
          <a:xfrm>
            <a:off x="1051560" y="2112264"/>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三叉神経</a:t>
            </a:r>
            <a:endParaRPr lang="en-US" sz="1500" dirty="0"/>
          </a:p>
        </p:txBody>
      </p:sp>
      <p:sp>
        <p:nvSpPr>
          <p:cNvPr id="15" name="Shape 13"/>
          <p:cNvSpPr/>
          <p:nvPr/>
        </p:nvSpPr>
        <p:spPr>
          <a:xfrm>
            <a:off x="457200" y="2715768"/>
            <a:ext cx="8229600" cy="493776"/>
          </a:xfrm>
          <a:prstGeom prst="roundRect">
            <a:avLst>
              <a:gd name="adj" fmla="val 14815"/>
            </a:avLst>
          </a:prstGeom>
          <a:solidFill>
            <a:srgbClr val="EAF2F8"/>
          </a:solidFill>
          <a:ln/>
        </p:spPr>
      </p:sp>
      <p:sp>
        <p:nvSpPr>
          <p:cNvPr id="16" name="Shape 14"/>
          <p:cNvSpPr/>
          <p:nvPr/>
        </p:nvSpPr>
        <p:spPr>
          <a:xfrm>
            <a:off x="566928" y="2779776"/>
            <a:ext cx="365760" cy="365760"/>
          </a:xfrm>
          <a:prstGeom prst="ellipse">
            <a:avLst/>
          </a:prstGeom>
          <a:solidFill>
            <a:srgbClr val="FFFFFF"/>
          </a:solidFill>
          <a:ln w="15875">
            <a:solidFill>
              <a:srgbClr val="17324D"/>
            </a:solidFill>
            <a:prstDash val="solid"/>
          </a:ln>
        </p:spPr>
      </p:sp>
      <p:sp>
        <p:nvSpPr>
          <p:cNvPr id="17" name="Text 15"/>
          <p:cNvSpPr txBox="1"/>
          <p:nvPr/>
        </p:nvSpPr>
        <p:spPr>
          <a:xfrm>
            <a:off x="566928" y="2779776"/>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3</a:t>
            </a:r>
            <a:endParaRPr lang="en-US" sz="1400" dirty="0"/>
          </a:p>
        </p:txBody>
      </p:sp>
      <p:sp>
        <p:nvSpPr>
          <p:cNvPr id="18" name="Text 16"/>
          <p:cNvSpPr txBox="1"/>
          <p:nvPr/>
        </p:nvSpPr>
        <p:spPr>
          <a:xfrm>
            <a:off x="1051560" y="2715768"/>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顔面神経</a:t>
            </a:r>
            <a:endParaRPr lang="en-US" sz="1500" dirty="0"/>
          </a:p>
        </p:txBody>
      </p:sp>
      <p:sp>
        <p:nvSpPr>
          <p:cNvPr id="19" name="Shape 17"/>
          <p:cNvSpPr/>
          <p:nvPr/>
        </p:nvSpPr>
        <p:spPr>
          <a:xfrm>
            <a:off x="457200" y="3319272"/>
            <a:ext cx="8229600" cy="493776"/>
          </a:xfrm>
          <a:prstGeom prst="roundRect">
            <a:avLst>
              <a:gd name="adj" fmla="val 14815"/>
            </a:avLst>
          </a:prstGeom>
          <a:solidFill>
            <a:srgbClr val="EAF2F8"/>
          </a:solidFill>
          <a:ln/>
        </p:spPr>
      </p:sp>
      <p:sp>
        <p:nvSpPr>
          <p:cNvPr id="20" name="Shape 18"/>
          <p:cNvSpPr/>
          <p:nvPr/>
        </p:nvSpPr>
        <p:spPr>
          <a:xfrm>
            <a:off x="566928" y="3383280"/>
            <a:ext cx="365760" cy="365760"/>
          </a:xfrm>
          <a:prstGeom prst="ellipse">
            <a:avLst/>
          </a:prstGeom>
          <a:solidFill>
            <a:srgbClr val="FFFFFF"/>
          </a:solidFill>
          <a:ln w="15875">
            <a:solidFill>
              <a:srgbClr val="17324D"/>
            </a:solidFill>
            <a:prstDash val="solid"/>
          </a:ln>
        </p:spPr>
      </p:sp>
      <p:sp>
        <p:nvSpPr>
          <p:cNvPr id="21" name="Text 19"/>
          <p:cNvSpPr txBox="1"/>
          <p:nvPr/>
        </p:nvSpPr>
        <p:spPr>
          <a:xfrm>
            <a:off x="566928" y="3383280"/>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4</a:t>
            </a:r>
            <a:endParaRPr lang="en-US" sz="1400" dirty="0"/>
          </a:p>
        </p:txBody>
      </p:sp>
      <p:sp>
        <p:nvSpPr>
          <p:cNvPr id="22" name="Text 20"/>
          <p:cNvSpPr txBox="1"/>
          <p:nvPr/>
        </p:nvSpPr>
        <p:spPr>
          <a:xfrm>
            <a:off x="1051560" y="3319272"/>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舌咽神経</a:t>
            </a:r>
            <a:endParaRPr lang="en-US" sz="1500" dirty="0"/>
          </a:p>
        </p:txBody>
      </p:sp>
      <p:sp>
        <p:nvSpPr>
          <p:cNvPr id="23" name="Shape 21"/>
          <p:cNvSpPr/>
          <p:nvPr/>
        </p:nvSpPr>
        <p:spPr>
          <a:xfrm>
            <a:off x="457200" y="3922776"/>
            <a:ext cx="8229600" cy="493776"/>
          </a:xfrm>
          <a:prstGeom prst="roundRect">
            <a:avLst>
              <a:gd name="adj" fmla="val 14815"/>
            </a:avLst>
          </a:prstGeom>
          <a:solidFill>
            <a:srgbClr val="EAF2F8"/>
          </a:solidFill>
          <a:ln/>
        </p:spPr>
      </p:sp>
      <p:sp>
        <p:nvSpPr>
          <p:cNvPr id="24" name="Shape 22"/>
          <p:cNvSpPr/>
          <p:nvPr/>
        </p:nvSpPr>
        <p:spPr>
          <a:xfrm>
            <a:off x="566928" y="3986784"/>
            <a:ext cx="365760" cy="365760"/>
          </a:xfrm>
          <a:prstGeom prst="ellipse">
            <a:avLst/>
          </a:prstGeom>
          <a:solidFill>
            <a:srgbClr val="FFFFFF"/>
          </a:solidFill>
          <a:ln w="15875">
            <a:solidFill>
              <a:srgbClr val="17324D"/>
            </a:solidFill>
            <a:prstDash val="solid"/>
          </a:ln>
        </p:spPr>
      </p:sp>
      <p:sp>
        <p:nvSpPr>
          <p:cNvPr id="25" name="Text 23"/>
          <p:cNvSpPr txBox="1"/>
          <p:nvPr/>
        </p:nvSpPr>
        <p:spPr>
          <a:xfrm>
            <a:off x="566928" y="3986784"/>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5</a:t>
            </a:r>
            <a:endParaRPr lang="en-US" sz="1400" dirty="0"/>
          </a:p>
        </p:txBody>
      </p:sp>
      <p:sp>
        <p:nvSpPr>
          <p:cNvPr id="26" name="Text 24"/>
          <p:cNvSpPr txBox="1"/>
          <p:nvPr/>
        </p:nvSpPr>
        <p:spPr>
          <a:xfrm>
            <a:off x="1051560" y="3922776"/>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迷走神経</a:t>
            </a:r>
            <a:endParaRPr lang="en-US" sz="15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74320"/>
            <a:ext cx="868680" cy="384048"/>
          </a:xfrm>
          <a:prstGeom prst="roundRect">
            <a:avLst>
              <a:gd name="adj" fmla="val 19048"/>
            </a:avLst>
          </a:prstGeom>
          <a:solidFill>
            <a:srgbClr val="D9534F"/>
          </a:solidFill>
          <a:ln/>
        </p:spPr>
      </p:sp>
      <p:sp>
        <p:nvSpPr>
          <p:cNvPr id="3" name="Text 1"/>
          <p:cNvSpPr txBox="1"/>
          <p:nvPr/>
        </p:nvSpPr>
        <p:spPr>
          <a:xfrm>
            <a:off x="457200" y="274320"/>
            <a:ext cx="86868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解説</a:t>
            </a:r>
            <a:endParaRPr lang="en-US" sz="1300" dirty="0"/>
          </a:p>
        </p:txBody>
      </p:sp>
      <p:sp>
        <p:nvSpPr>
          <p:cNvPr id="4" name="Text 2"/>
          <p:cNvSpPr txBox="1"/>
          <p:nvPr/>
        </p:nvSpPr>
        <p:spPr>
          <a:xfrm>
            <a:off x="1417320" y="274320"/>
            <a:ext cx="731520" cy="384048"/>
          </a:xfrm>
          <a:prstGeom prst="rect">
            <a:avLst/>
          </a:prstGeom>
          <a:noFill/>
          <a:ln/>
        </p:spPr>
        <p:txBody>
          <a:bodyPr wrap="square" lIns="0" tIns="0" rIns="0" bIns="0" rtlCol="0" anchor="ctr"/>
          <a:lstStyle/>
          <a:p>
            <a:pPr indent="0" marL="0">
              <a:buNone/>
            </a:pPr>
            <a:r>
              <a:rPr lang="en-US" sz="2000" b="1" dirty="0">
                <a:solidFill>
                  <a:srgbClr val="17324D"/>
                </a:solidFill>
                <a:latin typeface="Arial" pitchFamily="34" charset="0"/>
                <a:ea typeface="Arial" pitchFamily="34" charset="-122"/>
                <a:cs typeface="Arial" pitchFamily="34" charset="-120"/>
              </a:rPr>
              <a:t>[28]</a:t>
            </a:r>
            <a:endParaRPr lang="en-US" sz="2000" dirty="0"/>
          </a:p>
        </p:txBody>
      </p:sp>
      <p:sp>
        <p:nvSpPr>
          <p:cNvPr id="5" name="Text 3"/>
          <p:cNvSpPr txBox="1"/>
          <p:nvPr/>
        </p:nvSpPr>
        <p:spPr>
          <a:xfrm>
            <a:off x="5943600" y="274320"/>
            <a:ext cx="2743200" cy="384048"/>
          </a:xfrm>
          <a:prstGeom prst="rect">
            <a:avLst/>
          </a:prstGeom>
          <a:noFill/>
          <a:ln/>
        </p:spPr>
        <p:txBody>
          <a:bodyPr wrap="square" lIns="0" tIns="0" rIns="0" bIns="0" rtlCol="0" anchor="ctr"/>
          <a:lstStyle/>
          <a:p>
            <a:pPr algn="r" indent="0" marL="0">
              <a:buNone/>
            </a:pPr>
            <a:r>
              <a:rPr lang="en-US" sz="1100" dirty="0">
                <a:solidFill>
                  <a:srgbClr val="5F6B76"/>
                </a:solidFill>
                <a:latin typeface="Meiryo" pitchFamily="34" charset="0"/>
                <a:ea typeface="Meiryo" pitchFamily="34" charset="-122"/>
                <a:cs typeface="Meiryo" pitchFamily="34" charset="-120"/>
              </a:rPr>
              <a:t>41回午後9</a:t>
            </a:r>
            <a:endParaRPr lang="en-US" sz="1100" dirty="0"/>
          </a:p>
        </p:txBody>
      </p:sp>
      <p:sp>
        <p:nvSpPr>
          <p:cNvPr id="6" name="Text 4"/>
          <p:cNvSpPr txBox="1"/>
          <p:nvPr/>
        </p:nvSpPr>
        <p:spPr>
          <a:xfrm>
            <a:off x="457200" y="731520"/>
            <a:ext cx="8229600" cy="594360"/>
          </a:xfrm>
          <a:prstGeom prst="rect">
            <a:avLst/>
          </a:prstGeom>
          <a:noFill/>
          <a:ln/>
        </p:spPr>
        <p:txBody>
          <a:bodyPr wrap="square" lIns="0" tIns="0" rIns="0" bIns="0" rtlCol="0" anchor="t"/>
          <a:lstStyle/>
          <a:p>
            <a:pPr indent="0" marL="0">
              <a:buNone/>
            </a:pPr>
            <a:r>
              <a:rPr lang="en-US" sz="1700" b="1" dirty="0">
                <a:solidFill>
                  <a:srgbClr val="222222"/>
                </a:solidFill>
                <a:latin typeface="Meiryo" pitchFamily="34" charset="0"/>
                <a:ea typeface="Meiryo" pitchFamily="34" charset="-122"/>
                <a:cs typeface="Meiryo" pitchFamily="34" charset="-120"/>
              </a:rPr>
              <a:t>脳神経の中で副交感神経線維を含まないのはどれか。</a:t>
            </a:r>
            <a:endParaRPr lang="en-US" sz="1700" dirty="0"/>
          </a:p>
        </p:txBody>
      </p:sp>
      <p:sp>
        <p:nvSpPr>
          <p:cNvPr id="7" name="Shape 5"/>
          <p:cNvSpPr/>
          <p:nvPr/>
        </p:nvSpPr>
        <p:spPr>
          <a:xfrm>
            <a:off x="457200" y="1417320"/>
            <a:ext cx="8229600" cy="457200"/>
          </a:xfrm>
          <a:prstGeom prst="roundRect">
            <a:avLst>
              <a:gd name="adj" fmla="val 16000"/>
            </a:avLst>
          </a:prstGeom>
          <a:solidFill>
            <a:srgbClr val="F4F6F8"/>
          </a:solidFill>
          <a:ln/>
        </p:spPr>
      </p:sp>
      <p:sp>
        <p:nvSpPr>
          <p:cNvPr id="8" name="Shape 6"/>
          <p:cNvSpPr/>
          <p:nvPr/>
        </p:nvSpPr>
        <p:spPr>
          <a:xfrm>
            <a:off x="548640" y="1481328"/>
            <a:ext cx="329184" cy="329184"/>
          </a:xfrm>
          <a:prstGeom prst="ellipse">
            <a:avLst/>
          </a:prstGeom>
          <a:solidFill>
            <a:srgbClr val="FFFFFF"/>
          </a:solidFill>
          <a:ln w="12700">
            <a:solidFill>
              <a:srgbClr val="8A96A3"/>
            </a:solidFill>
            <a:prstDash val="solid"/>
          </a:ln>
        </p:spPr>
      </p:sp>
      <p:sp>
        <p:nvSpPr>
          <p:cNvPr id="9" name="Text 7"/>
          <p:cNvSpPr txBox="1"/>
          <p:nvPr/>
        </p:nvSpPr>
        <p:spPr>
          <a:xfrm>
            <a:off x="548640" y="1481328"/>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1</a:t>
            </a:r>
            <a:endParaRPr lang="en-US" sz="1300" dirty="0"/>
          </a:p>
        </p:txBody>
      </p:sp>
      <p:sp>
        <p:nvSpPr>
          <p:cNvPr id="10" name="Text 8"/>
          <p:cNvSpPr txBox="1"/>
          <p:nvPr/>
        </p:nvSpPr>
        <p:spPr>
          <a:xfrm>
            <a:off x="987552" y="1417320"/>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動眼神経</a:t>
            </a:r>
            <a:endParaRPr lang="en-US" sz="1200" dirty="0"/>
          </a:p>
        </p:txBody>
      </p:sp>
      <p:sp>
        <p:nvSpPr>
          <p:cNvPr id="11" name="Text 9"/>
          <p:cNvSpPr txBox="1"/>
          <p:nvPr/>
        </p:nvSpPr>
        <p:spPr>
          <a:xfrm>
            <a:off x="4096512" y="1417320"/>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含む</a:t>
            </a:r>
            <a:endParaRPr lang="en-US" sz="1100" dirty="0"/>
          </a:p>
        </p:txBody>
      </p:sp>
      <p:sp>
        <p:nvSpPr>
          <p:cNvPr id="12" name="Shape 10"/>
          <p:cNvSpPr/>
          <p:nvPr/>
        </p:nvSpPr>
        <p:spPr>
          <a:xfrm>
            <a:off x="457200" y="1947672"/>
            <a:ext cx="8229600" cy="457200"/>
          </a:xfrm>
          <a:prstGeom prst="roundRect">
            <a:avLst>
              <a:gd name="adj" fmla="val 16000"/>
            </a:avLst>
          </a:prstGeom>
          <a:solidFill>
            <a:srgbClr val="FBE3E2"/>
          </a:solidFill>
          <a:ln w="19050">
            <a:solidFill>
              <a:srgbClr val="D9534F"/>
            </a:solidFill>
            <a:prstDash val="solid"/>
          </a:ln>
        </p:spPr>
      </p:sp>
      <p:sp>
        <p:nvSpPr>
          <p:cNvPr id="13" name="Shape 11"/>
          <p:cNvSpPr/>
          <p:nvPr/>
        </p:nvSpPr>
        <p:spPr>
          <a:xfrm>
            <a:off x="548640" y="2011680"/>
            <a:ext cx="329184" cy="329184"/>
          </a:xfrm>
          <a:prstGeom prst="ellipse">
            <a:avLst/>
          </a:prstGeom>
          <a:solidFill>
            <a:srgbClr val="D9534F"/>
          </a:solidFill>
          <a:ln w="12700">
            <a:solidFill>
              <a:srgbClr val="D9534F"/>
            </a:solidFill>
            <a:prstDash val="solid"/>
          </a:ln>
        </p:spPr>
      </p:sp>
      <p:sp>
        <p:nvSpPr>
          <p:cNvPr id="14" name="Text 12"/>
          <p:cNvSpPr txBox="1"/>
          <p:nvPr/>
        </p:nvSpPr>
        <p:spPr>
          <a:xfrm>
            <a:off x="548640" y="2011680"/>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5" name="Text 13"/>
          <p:cNvSpPr txBox="1"/>
          <p:nvPr/>
        </p:nvSpPr>
        <p:spPr>
          <a:xfrm>
            <a:off x="987552" y="1947672"/>
            <a:ext cx="3017520" cy="457200"/>
          </a:xfrm>
          <a:prstGeom prst="rect">
            <a:avLst/>
          </a:prstGeom>
          <a:noFill/>
          <a:ln/>
        </p:spPr>
        <p:txBody>
          <a:bodyPr wrap="square" lIns="0" tIns="0" rIns="0" bIns="0" rtlCol="0" anchor="ctr"/>
          <a:lstStyle/>
          <a:p>
            <a:pPr indent="0" marL="0">
              <a:buNone/>
            </a:pPr>
            <a:r>
              <a:rPr lang="en-US" sz="1200" b="1" dirty="0">
                <a:solidFill>
                  <a:srgbClr val="D9534F"/>
                </a:solidFill>
                <a:latin typeface="Meiryo" pitchFamily="34" charset="0"/>
                <a:ea typeface="Meiryo" pitchFamily="34" charset="-122"/>
                <a:cs typeface="Meiryo" pitchFamily="34" charset="-120"/>
              </a:rPr>
              <a:t>三叉神経</a:t>
            </a:r>
            <a:endParaRPr lang="en-US" sz="1200" dirty="0"/>
          </a:p>
        </p:txBody>
      </p:sp>
      <p:sp>
        <p:nvSpPr>
          <p:cNvPr id="16" name="Text 14"/>
          <p:cNvSpPr txBox="1"/>
          <p:nvPr/>
        </p:nvSpPr>
        <p:spPr>
          <a:xfrm>
            <a:off x="4096512" y="1947672"/>
            <a:ext cx="4526280" cy="457200"/>
          </a:xfrm>
          <a:prstGeom prst="rect">
            <a:avLst/>
          </a:prstGeom>
          <a:noFill/>
          <a:ln/>
        </p:spPr>
        <p:txBody>
          <a:bodyPr wrap="square" lIns="0" tIns="0" rIns="0" bIns="0" rtlCol="0" anchor="ctr"/>
          <a:lstStyle/>
          <a:p>
            <a:pPr indent="0" marL="0">
              <a:buNone/>
            </a:pPr>
            <a:r>
              <a:rPr lang="en-US" sz="1100" dirty="0">
                <a:solidFill>
                  <a:srgbClr val="222222"/>
                </a:solidFill>
                <a:latin typeface="Meiryo" pitchFamily="34" charset="0"/>
                <a:ea typeface="Meiryo" pitchFamily="34" charset="-122"/>
                <a:cs typeface="Meiryo" pitchFamily="34" charset="-120"/>
              </a:rPr>
              <a:t>含まない ○</a:t>
            </a:r>
            <a:endParaRPr lang="en-US" sz="1100" dirty="0"/>
          </a:p>
        </p:txBody>
      </p:sp>
      <p:sp>
        <p:nvSpPr>
          <p:cNvPr id="17" name="Shape 15"/>
          <p:cNvSpPr/>
          <p:nvPr/>
        </p:nvSpPr>
        <p:spPr>
          <a:xfrm>
            <a:off x="457200" y="2478024"/>
            <a:ext cx="8229600" cy="457200"/>
          </a:xfrm>
          <a:prstGeom prst="roundRect">
            <a:avLst>
              <a:gd name="adj" fmla="val 16000"/>
            </a:avLst>
          </a:prstGeom>
          <a:solidFill>
            <a:srgbClr val="F4F6F8"/>
          </a:solidFill>
          <a:ln/>
        </p:spPr>
      </p:sp>
      <p:sp>
        <p:nvSpPr>
          <p:cNvPr id="18" name="Shape 16"/>
          <p:cNvSpPr/>
          <p:nvPr/>
        </p:nvSpPr>
        <p:spPr>
          <a:xfrm>
            <a:off x="548640" y="2542032"/>
            <a:ext cx="329184" cy="329184"/>
          </a:xfrm>
          <a:prstGeom prst="ellipse">
            <a:avLst/>
          </a:prstGeom>
          <a:solidFill>
            <a:srgbClr val="FFFFFF"/>
          </a:solidFill>
          <a:ln w="12700">
            <a:solidFill>
              <a:srgbClr val="8A96A3"/>
            </a:solidFill>
            <a:prstDash val="solid"/>
          </a:ln>
        </p:spPr>
      </p:sp>
      <p:sp>
        <p:nvSpPr>
          <p:cNvPr id="19" name="Text 17"/>
          <p:cNvSpPr txBox="1"/>
          <p:nvPr/>
        </p:nvSpPr>
        <p:spPr>
          <a:xfrm>
            <a:off x="548640" y="2542032"/>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3</a:t>
            </a:r>
            <a:endParaRPr lang="en-US" sz="1300" dirty="0"/>
          </a:p>
        </p:txBody>
      </p:sp>
      <p:sp>
        <p:nvSpPr>
          <p:cNvPr id="20" name="Text 18"/>
          <p:cNvSpPr txBox="1"/>
          <p:nvPr/>
        </p:nvSpPr>
        <p:spPr>
          <a:xfrm>
            <a:off x="987552" y="2478024"/>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顔面神経</a:t>
            </a:r>
            <a:endParaRPr lang="en-US" sz="1200" dirty="0"/>
          </a:p>
        </p:txBody>
      </p:sp>
      <p:sp>
        <p:nvSpPr>
          <p:cNvPr id="21" name="Text 19"/>
          <p:cNvSpPr txBox="1"/>
          <p:nvPr/>
        </p:nvSpPr>
        <p:spPr>
          <a:xfrm>
            <a:off x="4096512" y="2478024"/>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含む</a:t>
            </a:r>
            <a:endParaRPr lang="en-US" sz="1100" dirty="0"/>
          </a:p>
        </p:txBody>
      </p:sp>
      <p:sp>
        <p:nvSpPr>
          <p:cNvPr id="22" name="Shape 20"/>
          <p:cNvSpPr/>
          <p:nvPr/>
        </p:nvSpPr>
        <p:spPr>
          <a:xfrm>
            <a:off x="457200" y="3008376"/>
            <a:ext cx="8229600" cy="457200"/>
          </a:xfrm>
          <a:prstGeom prst="roundRect">
            <a:avLst>
              <a:gd name="adj" fmla="val 16000"/>
            </a:avLst>
          </a:prstGeom>
          <a:solidFill>
            <a:srgbClr val="F4F6F8"/>
          </a:solidFill>
          <a:ln/>
        </p:spPr>
      </p:sp>
      <p:sp>
        <p:nvSpPr>
          <p:cNvPr id="23" name="Shape 21"/>
          <p:cNvSpPr/>
          <p:nvPr/>
        </p:nvSpPr>
        <p:spPr>
          <a:xfrm>
            <a:off x="548640" y="3072384"/>
            <a:ext cx="329184" cy="329184"/>
          </a:xfrm>
          <a:prstGeom prst="ellipse">
            <a:avLst/>
          </a:prstGeom>
          <a:solidFill>
            <a:srgbClr val="FFFFFF"/>
          </a:solidFill>
          <a:ln w="12700">
            <a:solidFill>
              <a:srgbClr val="8A96A3"/>
            </a:solidFill>
            <a:prstDash val="solid"/>
          </a:ln>
        </p:spPr>
      </p:sp>
      <p:sp>
        <p:nvSpPr>
          <p:cNvPr id="24" name="Text 22"/>
          <p:cNvSpPr txBox="1"/>
          <p:nvPr/>
        </p:nvSpPr>
        <p:spPr>
          <a:xfrm>
            <a:off x="548640" y="3072384"/>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4</a:t>
            </a:r>
            <a:endParaRPr lang="en-US" sz="1300" dirty="0"/>
          </a:p>
        </p:txBody>
      </p:sp>
      <p:sp>
        <p:nvSpPr>
          <p:cNvPr id="25" name="Text 23"/>
          <p:cNvSpPr txBox="1"/>
          <p:nvPr/>
        </p:nvSpPr>
        <p:spPr>
          <a:xfrm>
            <a:off x="987552" y="3008376"/>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舌咽神経</a:t>
            </a:r>
            <a:endParaRPr lang="en-US" sz="1200" dirty="0"/>
          </a:p>
        </p:txBody>
      </p:sp>
      <p:sp>
        <p:nvSpPr>
          <p:cNvPr id="26" name="Text 24"/>
          <p:cNvSpPr txBox="1"/>
          <p:nvPr/>
        </p:nvSpPr>
        <p:spPr>
          <a:xfrm>
            <a:off x="4096512" y="3008376"/>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含む</a:t>
            </a:r>
            <a:endParaRPr lang="en-US" sz="1100" dirty="0"/>
          </a:p>
        </p:txBody>
      </p:sp>
      <p:sp>
        <p:nvSpPr>
          <p:cNvPr id="27" name="Shape 25"/>
          <p:cNvSpPr/>
          <p:nvPr/>
        </p:nvSpPr>
        <p:spPr>
          <a:xfrm>
            <a:off x="457200" y="3538728"/>
            <a:ext cx="8229600" cy="457200"/>
          </a:xfrm>
          <a:prstGeom prst="roundRect">
            <a:avLst>
              <a:gd name="adj" fmla="val 16000"/>
            </a:avLst>
          </a:prstGeom>
          <a:solidFill>
            <a:srgbClr val="F4F6F8"/>
          </a:solidFill>
          <a:ln/>
        </p:spPr>
      </p:sp>
      <p:sp>
        <p:nvSpPr>
          <p:cNvPr id="28" name="Shape 26"/>
          <p:cNvSpPr/>
          <p:nvPr/>
        </p:nvSpPr>
        <p:spPr>
          <a:xfrm>
            <a:off x="548640" y="3602736"/>
            <a:ext cx="329184" cy="329184"/>
          </a:xfrm>
          <a:prstGeom prst="ellipse">
            <a:avLst/>
          </a:prstGeom>
          <a:solidFill>
            <a:srgbClr val="FFFFFF"/>
          </a:solidFill>
          <a:ln w="12700">
            <a:solidFill>
              <a:srgbClr val="8A96A3"/>
            </a:solidFill>
            <a:prstDash val="solid"/>
          </a:ln>
        </p:spPr>
      </p:sp>
      <p:sp>
        <p:nvSpPr>
          <p:cNvPr id="29" name="Text 27"/>
          <p:cNvSpPr txBox="1"/>
          <p:nvPr/>
        </p:nvSpPr>
        <p:spPr>
          <a:xfrm>
            <a:off x="548640" y="3602736"/>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5</a:t>
            </a:r>
            <a:endParaRPr lang="en-US" sz="1300" dirty="0"/>
          </a:p>
        </p:txBody>
      </p:sp>
      <p:sp>
        <p:nvSpPr>
          <p:cNvPr id="30" name="Text 28"/>
          <p:cNvSpPr txBox="1"/>
          <p:nvPr/>
        </p:nvSpPr>
        <p:spPr>
          <a:xfrm>
            <a:off x="987552" y="3538728"/>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迷走神経</a:t>
            </a:r>
            <a:endParaRPr lang="en-US" sz="1200" dirty="0"/>
          </a:p>
        </p:txBody>
      </p:sp>
      <p:sp>
        <p:nvSpPr>
          <p:cNvPr id="31" name="Text 29"/>
          <p:cNvSpPr txBox="1"/>
          <p:nvPr/>
        </p:nvSpPr>
        <p:spPr>
          <a:xfrm>
            <a:off x="4096512" y="3538728"/>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含む</a:t>
            </a:r>
            <a:endParaRPr lang="en-US" sz="1100" dirty="0"/>
          </a:p>
        </p:txBody>
      </p:sp>
      <p:sp>
        <p:nvSpPr>
          <p:cNvPr id="32" name="Shape 30"/>
          <p:cNvSpPr/>
          <p:nvPr/>
        </p:nvSpPr>
        <p:spPr>
          <a:xfrm>
            <a:off x="457200" y="4160520"/>
            <a:ext cx="1463040" cy="685800"/>
          </a:xfrm>
          <a:prstGeom prst="roundRect">
            <a:avLst>
              <a:gd name="adj" fmla="val 10667"/>
            </a:avLst>
          </a:prstGeom>
          <a:solidFill>
            <a:srgbClr val="D9534F"/>
          </a:solidFill>
          <a:ln/>
        </p:spPr>
      </p:sp>
      <p:sp>
        <p:nvSpPr>
          <p:cNvPr id="33" name="Text 31"/>
          <p:cNvSpPr txBox="1"/>
          <p:nvPr/>
        </p:nvSpPr>
        <p:spPr>
          <a:xfrm>
            <a:off x="457200" y="4160520"/>
            <a:ext cx="1463040" cy="685800"/>
          </a:xfrm>
          <a:prstGeom prst="rect">
            <a:avLst/>
          </a:prstGeom>
          <a:noFill/>
          <a:ln/>
        </p:spPr>
        <p:txBody>
          <a:bodyPr wrap="square" lIns="0" tIns="0" rIns="0" bIns="0" rtlCol="0" anchor="ctr"/>
          <a:lstStyle/>
          <a:p>
            <a:pPr algn="ctr" indent="0" marL="0">
              <a:buNone/>
            </a:pPr>
            <a:r>
              <a:rPr lang="en-US" sz="1100" dirty="0">
                <a:solidFill>
                  <a:srgbClr val="FFFFFF"/>
                </a:solidFill>
                <a:latin typeface="Meiryo" pitchFamily="34" charset="0"/>
                <a:ea typeface="Meiryo" pitchFamily="34" charset="-122"/>
                <a:cs typeface="Meiryo" pitchFamily="34" charset="-120"/>
              </a:rPr>
              <a:t>正解</a:t>
            </a:r>
            <a:endParaRPr lang="en-US" sz="1100" dirty="0"/>
          </a:p>
          <a:p>
            <a:pPr algn="ctr" indent="0" marL="0">
              <a:buNone/>
            </a:pPr>
            <a:r>
              <a:rPr lang="en-US" sz="2200" b="1" dirty="0">
                <a:solidFill>
                  <a:srgbClr val="FFFFFF"/>
                </a:solidFill>
                <a:latin typeface="Meiryo" pitchFamily="34" charset="0"/>
                <a:ea typeface="Meiryo" pitchFamily="34" charset="-122"/>
                <a:cs typeface="Meiryo" pitchFamily="34" charset="-120"/>
              </a:rPr>
              <a:t>2</a:t>
            </a:r>
            <a:endParaRPr lang="en-US" sz="11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74320"/>
            <a:ext cx="868680" cy="384048"/>
          </a:xfrm>
          <a:prstGeom prst="roundRect">
            <a:avLst>
              <a:gd name="adj" fmla="val 19048"/>
            </a:avLst>
          </a:prstGeom>
          <a:solidFill>
            <a:srgbClr val="17324D"/>
          </a:solidFill>
          <a:ln/>
        </p:spPr>
      </p:sp>
      <p:sp>
        <p:nvSpPr>
          <p:cNvPr id="3" name="Text 1"/>
          <p:cNvSpPr txBox="1"/>
          <p:nvPr/>
        </p:nvSpPr>
        <p:spPr>
          <a:xfrm>
            <a:off x="457200" y="274320"/>
            <a:ext cx="86868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問題</a:t>
            </a:r>
            <a:endParaRPr lang="en-US" sz="1300" dirty="0"/>
          </a:p>
        </p:txBody>
      </p:sp>
      <p:sp>
        <p:nvSpPr>
          <p:cNvPr id="4" name="Text 2"/>
          <p:cNvSpPr txBox="1"/>
          <p:nvPr/>
        </p:nvSpPr>
        <p:spPr>
          <a:xfrm>
            <a:off x="1417320" y="274320"/>
            <a:ext cx="731520" cy="384048"/>
          </a:xfrm>
          <a:prstGeom prst="rect">
            <a:avLst/>
          </a:prstGeom>
          <a:noFill/>
          <a:ln/>
        </p:spPr>
        <p:txBody>
          <a:bodyPr wrap="square" lIns="0" tIns="0" rIns="0" bIns="0" rtlCol="0" anchor="ctr"/>
          <a:lstStyle/>
          <a:p>
            <a:pPr indent="0" marL="0">
              <a:buNone/>
            </a:pPr>
            <a:r>
              <a:rPr lang="en-US" sz="2000" b="1" dirty="0">
                <a:solidFill>
                  <a:srgbClr val="17324D"/>
                </a:solidFill>
                <a:latin typeface="Arial" pitchFamily="34" charset="0"/>
                <a:ea typeface="Arial" pitchFamily="34" charset="-122"/>
                <a:cs typeface="Arial" pitchFamily="34" charset="-120"/>
              </a:rPr>
              <a:t>[29]</a:t>
            </a:r>
            <a:endParaRPr lang="en-US" sz="2000" dirty="0"/>
          </a:p>
        </p:txBody>
      </p:sp>
      <p:sp>
        <p:nvSpPr>
          <p:cNvPr id="5" name="Text 3"/>
          <p:cNvSpPr txBox="1"/>
          <p:nvPr/>
        </p:nvSpPr>
        <p:spPr>
          <a:xfrm>
            <a:off x="5943600" y="274320"/>
            <a:ext cx="2743200" cy="384048"/>
          </a:xfrm>
          <a:prstGeom prst="rect">
            <a:avLst/>
          </a:prstGeom>
          <a:noFill/>
          <a:ln/>
        </p:spPr>
        <p:txBody>
          <a:bodyPr wrap="square" lIns="0" tIns="0" rIns="0" bIns="0" rtlCol="0" anchor="ctr"/>
          <a:lstStyle/>
          <a:p>
            <a:pPr algn="r" indent="0" marL="0">
              <a:buNone/>
            </a:pPr>
            <a:r>
              <a:rPr lang="en-US" sz="1100" dirty="0">
                <a:solidFill>
                  <a:srgbClr val="5F6B76"/>
                </a:solidFill>
                <a:latin typeface="Meiryo" pitchFamily="34" charset="0"/>
                <a:ea typeface="Meiryo" pitchFamily="34" charset="-122"/>
                <a:cs typeface="Meiryo" pitchFamily="34" charset="-120"/>
              </a:rPr>
              <a:t>41回午後25</a:t>
            </a:r>
            <a:endParaRPr lang="en-US" sz="1100" dirty="0"/>
          </a:p>
        </p:txBody>
      </p:sp>
      <p:sp>
        <p:nvSpPr>
          <p:cNvPr id="6" name="Text 4"/>
          <p:cNvSpPr txBox="1"/>
          <p:nvPr/>
        </p:nvSpPr>
        <p:spPr>
          <a:xfrm>
            <a:off x="457200" y="731520"/>
            <a:ext cx="8229600" cy="594360"/>
          </a:xfrm>
          <a:prstGeom prst="rect">
            <a:avLst/>
          </a:prstGeom>
          <a:noFill/>
          <a:ln/>
        </p:spPr>
        <p:txBody>
          <a:bodyPr wrap="square" lIns="0" tIns="0" rIns="0" bIns="0" rtlCol="0" anchor="t"/>
          <a:lstStyle/>
          <a:p>
            <a:pPr indent="0" marL="0">
              <a:buNone/>
            </a:pPr>
            <a:r>
              <a:rPr lang="en-US" sz="1700" b="1" dirty="0">
                <a:solidFill>
                  <a:srgbClr val="222222"/>
                </a:solidFill>
                <a:latin typeface="Meiryo" pitchFamily="34" charset="0"/>
                <a:ea typeface="Meiryo" pitchFamily="34" charset="-122"/>
                <a:cs typeface="Meiryo" pitchFamily="34" charset="-120"/>
              </a:rPr>
              <a:t>交感神経が優位に働いたときの反応で誤っているのはどれか。</a:t>
            </a:r>
            <a:endParaRPr lang="en-US" sz="1700" dirty="0"/>
          </a:p>
        </p:txBody>
      </p:sp>
      <p:sp>
        <p:nvSpPr>
          <p:cNvPr id="7" name="Shape 5"/>
          <p:cNvSpPr/>
          <p:nvPr/>
        </p:nvSpPr>
        <p:spPr>
          <a:xfrm>
            <a:off x="457200" y="1508760"/>
            <a:ext cx="8229600" cy="493776"/>
          </a:xfrm>
          <a:prstGeom prst="roundRect">
            <a:avLst>
              <a:gd name="adj" fmla="val 14815"/>
            </a:avLst>
          </a:prstGeom>
          <a:solidFill>
            <a:srgbClr val="EAF2F8"/>
          </a:solidFill>
          <a:ln/>
        </p:spPr>
      </p:sp>
      <p:sp>
        <p:nvSpPr>
          <p:cNvPr id="8" name="Shape 6"/>
          <p:cNvSpPr/>
          <p:nvPr/>
        </p:nvSpPr>
        <p:spPr>
          <a:xfrm>
            <a:off x="566928" y="1572768"/>
            <a:ext cx="365760" cy="365760"/>
          </a:xfrm>
          <a:prstGeom prst="ellipse">
            <a:avLst/>
          </a:prstGeom>
          <a:solidFill>
            <a:srgbClr val="FFFFFF"/>
          </a:solidFill>
          <a:ln w="15875">
            <a:solidFill>
              <a:srgbClr val="17324D"/>
            </a:solidFill>
            <a:prstDash val="solid"/>
          </a:ln>
        </p:spPr>
      </p:sp>
      <p:sp>
        <p:nvSpPr>
          <p:cNvPr id="9" name="Text 7"/>
          <p:cNvSpPr txBox="1"/>
          <p:nvPr/>
        </p:nvSpPr>
        <p:spPr>
          <a:xfrm>
            <a:off x="566928" y="1572768"/>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1</a:t>
            </a:r>
            <a:endParaRPr lang="en-US" sz="1400" dirty="0"/>
          </a:p>
        </p:txBody>
      </p:sp>
      <p:sp>
        <p:nvSpPr>
          <p:cNvPr id="10" name="Text 8"/>
          <p:cNvSpPr txBox="1"/>
          <p:nvPr/>
        </p:nvSpPr>
        <p:spPr>
          <a:xfrm>
            <a:off x="1051560" y="1508760"/>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瞳孔の散大</a:t>
            </a:r>
            <a:endParaRPr lang="en-US" sz="1500" dirty="0"/>
          </a:p>
        </p:txBody>
      </p:sp>
      <p:sp>
        <p:nvSpPr>
          <p:cNvPr id="11" name="Shape 9"/>
          <p:cNvSpPr/>
          <p:nvPr/>
        </p:nvSpPr>
        <p:spPr>
          <a:xfrm>
            <a:off x="457200" y="2112264"/>
            <a:ext cx="8229600" cy="493776"/>
          </a:xfrm>
          <a:prstGeom prst="roundRect">
            <a:avLst>
              <a:gd name="adj" fmla="val 14815"/>
            </a:avLst>
          </a:prstGeom>
          <a:solidFill>
            <a:srgbClr val="EAF2F8"/>
          </a:solidFill>
          <a:ln/>
        </p:spPr>
      </p:sp>
      <p:sp>
        <p:nvSpPr>
          <p:cNvPr id="12" name="Shape 10"/>
          <p:cNvSpPr/>
          <p:nvPr/>
        </p:nvSpPr>
        <p:spPr>
          <a:xfrm>
            <a:off x="566928" y="2176272"/>
            <a:ext cx="365760" cy="365760"/>
          </a:xfrm>
          <a:prstGeom prst="ellipse">
            <a:avLst/>
          </a:prstGeom>
          <a:solidFill>
            <a:srgbClr val="FFFFFF"/>
          </a:solidFill>
          <a:ln w="15875">
            <a:solidFill>
              <a:srgbClr val="17324D"/>
            </a:solidFill>
            <a:prstDash val="solid"/>
          </a:ln>
        </p:spPr>
      </p:sp>
      <p:sp>
        <p:nvSpPr>
          <p:cNvPr id="13" name="Text 11"/>
          <p:cNvSpPr txBox="1"/>
          <p:nvPr/>
        </p:nvSpPr>
        <p:spPr>
          <a:xfrm>
            <a:off x="566928" y="2176272"/>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2</a:t>
            </a:r>
            <a:endParaRPr lang="en-US" sz="1400" dirty="0"/>
          </a:p>
        </p:txBody>
      </p:sp>
      <p:sp>
        <p:nvSpPr>
          <p:cNvPr id="14" name="Text 12"/>
          <p:cNvSpPr txBox="1"/>
          <p:nvPr/>
        </p:nvSpPr>
        <p:spPr>
          <a:xfrm>
            <a:off x="1051560" y="2112264"/>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心拍数の増加</a:t>
            </a:r>
            <a:endParaRPr lang="en-US" sz="1500" dirty="0"/>
          </a:p>
        </p:txBody>
      </p:sp>
      <p:sp>
        <p:nvSpPr>
          <p:cNvPr id="15" name="Shape 13"/>
          <p:cNvSpPr/>
          <p:nvPr/>
        </p:nvSpPr>
        <p:spPr>
          <a:xfrm>
            <a:off x="457200" y="2715768"/>
            <a:ext cx="8229600" cy="493776"/>
          </a:xfrm>
          <a:prstGeom prst="roundRect">
            <a:avLst>
              <a:gd name="adj" fmla="val 14815"/>
            </a:avLst>
          </a:prstGeom>
          <a:solidFill>
            <a:srgbClr val="EAF2F8"/>
          </a:solidFill>
          <a:ln/>
        </p:spPr>
      </p:sp>
      <p:sp>
        <p:nvSpPr>
          <p:cNvPr id="16" name="Shape 14"/>
          <p:cNvSpPr/>
          <p:nvPr/>
        </p:nvSpPr>
        <p:spPr>
          <a:xfrm>
            <a:off x="566928" y="2779776"/>
            <a:ext cx="365760" cy="365760"/>
          </a:xfrm>
          <a:prstGeom prst="ellipse">
            <a:avLst/>
          </a:prstGeom>
          <a:solidFill>
            <a:srgbClr val="FFFFFF"/>
          </a:solidFill>
          <a:ln w="15875">
            <a:solidFill>
              <a:srgbClr val="17324D"/>
            </a:solidFill>
            <a:prstDash val="solid"/>
          </a:ln>
        </p:spPr>
      </p:sp>
      <p:sp>
        <p:nvSpPr>
          <p:cNvPr id="17" name="Text 15"/>
          <p:cNvSpPr txBox="1"/>
          <p:nvPr/>
        </p:nvSpPr>
        <p:spPr>
          <a:xfrm>
            <a:off x="566928" y="2779776"/>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3</a:t>
            </a:r>
            <a:endParaRPr lang="en-US" sz="1400" dirty="0"/>
          </a:p>
        </p:txBody>
      </p:sp>
      <p:sp>
        <p:nvSpPr>
          <p:cNvPr id="18" name="Text 16"/>
          <p:cNvSpPr txBox="1"/>
          <p:nvPr/>
        </p:nvSpPr>
        <p:spPr>
          <a:xfrm>
            <a:off x="1051560" y="2715768"/>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収縮期血圧の上昇</a:t>
            </a:r>
            <a:endParaRPr lang="en-US" sz="1500" dirty="0"/>
          </a:p>
        </p:txBody>
      </p:sp>
      <p:sp>
        <p:nvSpPr>
          <p:cNvPr id="19" name="Shape 17"/>
          <p:cNvSpPr/>
          <p:nvPr/>
        </p:nvSpPr>
        <p:spPr>
          <a:xfrm>
            <a:off x="457200" y="3319272"/>
            <a:ext cx="8229600" cy="493776"/>
          </a:xfrm>
          <a:prstGeom prst="roundRect">
            <a:avLst>
              <a:gd name="adj" fmla="val 14815"/>
            </a:avLst>
          </a:prstGeom>
          <a:solidFill>
            <a:srgbClr val="EAF2F8"/>
          </a:solidFill>
          <a:ln/>
        </p:spPr>
      </p:sp>
      <p:sp>
        <p:nvSpPr>
          <p:cNvPr id="20" name="Shape 18"/>
          <p:cNvSpPr/>
          <p:nvPr/>
        </p:nvSpPr>
        <p:spPr>
          <a:xfrm>
            <a:off x="566928" y="3383280"/>
            <a:ext cx="365760" cy="365760"/>
          </a:xfrm>
          <a:prstGeom prst="ellipse">
            <a:avLst/>
          </a:prstGeom>
          <a:solidFill>
            <a:srgbClr val="FFFFFF"/>
          </a:solidFill>
          <a:ln w="15875">
            <a:solidFill>
              <a:srgbClr val="17324D"/>
            </a:solidFill>
            <a:prstDash val="solid"/>
          </a:ln>
        </p:spPr>
      </p:sp>
      <p:sp>
        <p:nvSpPr>
          <p:cNvPr id="21" name="Text 19"/>
          <p:cNvSpPr txBox="1"/>
          <p:nvPr/>
        </p:nvSpPr>
        <p:spPr>
          <a:xfrm>
            <a:off x="566928" y="3383280"/>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4</a:t>
            </a:r>
            <a:endParaRPr lang="en-US" sz="1400" dirty="0"/>
          </a:p>
        </p:txBody>
      </p:sp>
      <p:sp>
        <p:nvSpPr>
          <p:cNvPr id="22" name="Text 20"/>
          <p:cNvSpPr txBox="1"/>
          <p:nvPr/>
        </p:nvSpPr>
        <p:spPr>
          <a:xfrm>
            <a:off x="1051560" y="3319272"/>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皮膚動脈の収縮</a:t>
            </a:r>
            <a:endParaRPr lang="en-US" sz="1500" dirty="0"/>
          </a:p>
        </p:txBody>
      </p:sp>
      <p:sp>
        <p:nvSpPr>
          <p:cNvPr id="23" name="Shape 21"/>
          <p:cNvSpPr/>
          <p:nvPr/>
        </p:nvSpPr>
        <p:spPr>
          <a:xfrm>
            <a:off x="457200" y="3922776"/>
            <a:ext cx="8229600" cy="493776"/>
          </a:xfrm>
          <a:prstGeom prst="roundRect">
            <a:avLst>
              <a:gd name="adj" fmla="val 14815"/>
            </a:avLst>
          </a:prstGeom>
          <a:solidFill>
            <a:srgbClr val="EAF2F8"/>
          </a:solidFill>
          <a:ln/>
        </p:spPr>
      </p:sp>
      <p:sp>
        <p:nvSpPr>
          <p:cNvPr id="24" name="Shape 22"/>
          <p:cNvSpPr/>
          <p:nvPr/>
        </p:nvSpPr>
        <p:spPr>
          <a:xfrm>
            <a:off x="566928" y="3986784"/>
            <a:ext cx="365760" cy="365760"/>
          </a:xfrm>
          <a:prstGeom prst="ellipse">
            <a:avLst/>
          </a:prstGeom>
          <a:solidFill>
            <a:srgbClr val="FFFFFF"/>
          </a:solidFill>
          <a:ln w="15875">
            <a:solidFill>
              <a:srgbClr val="17324D"/>
            </a:solidFill>
            <a:prstDash val="solid"/>
          </a:ln>
        </p:spPr>
      </p:sp>
      <p:sp>
        <p:nvSpPr>
          <p:cNvPr id="25" name="Text 23"/>
          <p:cNvSpPr txBox="1"/>
          <p:nvPr/>
        </p:nvSpPr>
        <p:spPr>
          <a:xfrm>
            <a:off x="566928" y="3986784"/>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5</a:t>
            </a:r>
            <a:endParaRPr lang="en-US" sz="1400" dirty="0"/>
          </a:p>
        </p:txBody>
      </p:sp>
      <p:sp>
        <p:nvSpPr>
          <p:cNvPr id="26" name="Text 24"/>
          <p:cNvSpPr txBox="1"/>
          <p:nvPr/>
        </p:nvSpPr>
        <p:spPr>
          <a:xfrm>
            <a:off x="1051560" y="3922776"/>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排尿筋の収縮</a:t>
            </a:r>
            <a:endParaRPr lang="en-US" sz="15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74320"/>
            <a:ext cx="868680" cy="384048"/>
          </a:xfrm>
          <a:prstGeom prst="roundRect">
            <a:avLst>
              <a:gd name="adj" fmla="val 19048"/>
            </a:avLst>
          </a:prstGeom>
          <a:solidFill>
            <a:srgbClr val="D9534F"/>
          </a:solidFill>
          <a:ln/>
        </p:spPr>
      </p:sp>
      <p:sp>
        <p:nvSpPr>
          <p:cNvPr id="3" name="Text 1"/>
          <p:cNvSpPr txBox="1"/>
          <p:nvPr/>
        </p:nvSpPr>
        <p:spPr>
          <a:xfrm>
            <a:off x="457200" y="274320"/>
            <a:ext cx="86868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解説</a:t>
            </a:r>
            <a:endParaRPr lang="en-US" sz="1300" dirty="0"/>
          </a:p>
        </p:txBody>
      </p:sp>
      <p:sp>
        <p:nvSpPr>
          <p:cNvPr id="4" name="Text 2"/>
          <p:cNvSpPr txBox="1"/>
          <p:nvPr/>
        </p:nvSpPr>
        <p:spPr>
          <a:xfrm>
            <a:off x="1417320" y="274320"/>
            <a:ext cx="731520" cy="384048"/>
          </a:xfrm>
          <a:prstGeom prst="rect">
            <a:avLst/>
          </a:prstGeom>
          <a:noFill/>
          <a:ln/>
        </p:spPr>
        <p:txBody>
          <a:bodyPr wrap="square" lIns="0" tIns="0" rIns="0" bIns="0" rtlCol="0" anchor="ctr"/>
          <a:lstStyle/>
          <a:p>
            <a:pPr indent="0" marL="0">
              <a:buNone/>
            </a:pPr>
            <a:r>
              <a:rPr lang="en-US" sz="2000" b="1" dirty="0">
                <a:solidFill>
                  <a:srgbClr val="17324D"/>
                </a:solidFill>
                <a:latin typeface="Arial" pitchFamily="34" charset="0"/>
                <a:ea typeface="Arial" pitchFamily="34" charset="-122"/>
                <a:cs typeface="Arial" pitchFamily="34" charset="-120"/>
              </a:rPr>
              <a:t>[29]</a:t>
            </a:r>
            <a:endParaRPr lang="en-US" sz="2000" dirty="0"/>
          </a:p>
        </p:txBody>
      </p:sp>
      <p:sp>
        <p:nvSpPr>
          <p:cNvPr id="5" name="Text 3"/>
          <p:cNvSpPr txBox="1"/>
          <p:nvPr/>
        </p:nvSpPr>
        <p:spPr>
          <a:xfrm>
            <a:off x="5943600" y="274320"/>
            <a:ext cx="2743200" cy="384048"/>
          </a:xfrm>
          <a:prstGeom prst="rect">
            <a:avLst/>
          </a:prstGeom>
          <a:noFill/>
          <a:ln/>
        </p:spPr>
        <p:txBody>
          <a:bodyPr wrap="square" lIns="0" tIns="0" rIns="0" bIns="0" rtlCol="0" anchor="ctr"/>
          <a:lstStyle/>
          <a:p>
            <a:pPr algn="r" indent="0" marL="0">
              <a:buNone/>
            </a:pPr>
            <a:r>
              <a:rPr lang="en-US" sz="1100" dirty="0">
                <a:solidFill>
                  <a:srgbClr val="5F6B76"/>
                </a:solidFill>
                <a:latin typeface="Meiryo" pitchFamily="34" charset="0"/>
                <a:ea typeface="Meiryo" pitchFamily="34" charset="-122"/>
                <a:cs typeface="Meiryo" pitchFamily="34" charset="-120"/>
              </a:rPr>
              <a:t>41回午後25</a:t>
            </a:r>
            <a:endParaRPr lang="en-US" sz="1100" dirty="0"/>
          </a:p>
        </p:txBody>
      </p:sp>
      <p:sp>
        <p:nvSpPr>
          <p:cNvPr id="6" name="Text 4"/>
          <p:cNvSpPr txBox="1"/>
          <p:nvPr/>
        </p:nvSpPr>
        <p:spPr>
          <a:xfrm>
            <a:off x="457200" y="731520"/>
            <a:ext cx="8229600" cy="594360"/>
          </a:xfrm>
          <a:prstGeom prst="rect">
            <a:avLst/>
          </a:prstGeom>
          <a:noFill/>
          <a:ln/>
        </p:spPr>
        <p:txBody>
          <a:bodyPr wrap="square" lIns="0" tIns="0" rIns="0" bIns="0" rtlCol="0" anchor="t"/>
          <a:lstStyle/>
          <a:p>
            <a:pPr indent="0" marL="0">
              <a:buNone/>
            </a:pPr>
            <a:r>
              <a:rPr lang="en-US" sz="1700" b="1" dirty="0">
                <a:solidFill>
                  <a:srgbClr val="222222"/>
                </a:solidFill>
                <a:latin typeface="Meiryo" pitchFamily="34" charset="0"/>
                <a:ea typeface="Meiryo" pitchFamily="34" charset="-122"/>
                <a:cs typeface="Meiryo" pitchFamily="34" charset="-120"/>
              </a:rPr>
              <a:t>交感神経が優位に働いたときの反応で誤っているのはどれか。</a:t>
            </a:r>
            <a:endParaRPr lang="en-US" sz="1700" dirty="0"/>
          </a:p>
        </p:txBody>
      </p:sp>
      <p:sp>
        <p:nvSpPr>
          <p:cNvPr id="7" name="Shape 5"/>
          <p:cNvSpPr/>
          <p:nvPr/>
        </p:nvSpPr>
        <p:spPr>
          <a:xfrm>
            <a:off x="457200" y="1417320"/>
            <a:ext cx="8229600" cy="457200"/>
          </a:xfrm>
          <a:prstGeom prst="roundRect">
            <a:avLst>
              <a:gd name="adj" fmla="val 16000"/>
            </a:avLst>
          </a:prstGeom>
          <a:solidFill>
            <a:srgbClr val="F4F6F8"/>
          </a:solidFill>
          <a:ln/>
        </p:spPr>
      </p:sp>
      <p:sp>
        <p:nvSpPr>
          <p:cNvPr id="8" name="Shape 6"/>
          <p:cNvSpPr/>
          <p:nvPr/>
        </p:nvSpPr>
        <p:spPr>
          <a:xfrm>
            <a:off x="548640" y="1481328"/>
            <a:ext cx="329184" cy="329184"/>
          </a:xfrm>
          <a:prstGeom prst="ellipse">
            <a:avLst/>
          </a:prstGeom>
          <a:solidFill>
            <a:srgbClr val="FFFFFF"/>
          </a:solidFill>
          <a:ln w="12700">
            <a:solidFill>
              <a:srgbClr val="8A96A3"/>
            </a:solidFill>
            <a:prstDash val="solid"/>
          </a:ln>
        </p:spPr>
      </p:sp>
      <p:sp>
        <p:nvSpPr>
          <p:cNvPr id="9" name="Text 7"/>
          <p:cNvSpPr txBox="1"/>
          <p:nvPr/>
        </p:nvSpPr>
        <p:spPr>
          <a:xfrm>
            <a:off x="548640" y="1481328"/>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1</a:t>
            </a:r>
            <a:endParaRPr lang="en-US" sz="1300" dirty="0"/>
          </a:p>
        </p:txBody>
      </p:sp>
      <p:sp>
        <p:nvSpPr>
          <p:cNvPr id="10" name="Text 8"/>
          <p:cNvSpPr txBox="1"/>
          <p:nvPr/>
        </p:nvSpPr>
        <p:spPr>
          <a:xfrm>
            <a:off x="987552" y="1417320"/>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瞳孔の散大</a:t>
            </a:r>
            <a:endParaRPr lang="en-US" sz="1200" dirty="0"/>
          </a:p>
        </p:txBody>
      </p:sp>
      <p:sp>
        <p:nvSpPr>
          <p:cNvPr id="11" name="Text 9"/>
          <p:cNvSpPr txBox="1"/>
          <p:nvPr/>
        </p:nvSpPr>
        <p:spPr>
          <a:xfrm>
            <a:off x="4096512" y="1417320"/>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正しい</a:t>
            </a:r>
            <a:endParaRPr lang="en-US" sz="1100" dirty="0"/>
          </a:p>
        </p:txBody>
      </p:sp>
      <p:sp>
        <p:nvSpPr>
          <p:cNvPr id="12" name="Shape 10"/>
          <p:cNvSpPr/>
          <p:nvPr/>
        </p:nvSpPr>
        <p:spPr>
          <a:xfrm>
            <a:off x="457200" y="1947672"/>
            <a:ext cx="8229600" cy="457200"/>
          </a:xfrm>
          <a:prstGeom prst="roundRect">
            <a:avLst>
              <a:gd name="adj" fmla="val 16000"/>
            </a:avLst>
          </a:prstGeom>
          <a:solidFill>
            <a:srgbClr val="F4F6F8"/>
          </a:solidFill>
          <a:ln/>
        </p:spPr>
      </p:sp>
      <p:sp>
        <p:nvSpPr>
          <p:cNvPr id="13" name="Shape 11"/>
          <p:cNvSpPr/>
          <p:nvPr/>
        </p:nvSpPr>
        <p:spPr>
          <a:xfrm>
            <a:off x="548640" y="2011680"/>
            <a:ext cx="329184" cy="329184"/>
          </a:xfrm>
          <a:prstGeom prst="ellipse">
            <a:avLst/>
          </a:prstGeom>
          <a:solidFill>
            <a:srgbClr val="FFFFFF"/>
          </a:solidFill>
          <a:ln w="12700">
            <a:solidFill>
              <a:srgbClr val="8A96A3"/>
            </a:solidFill>
            <a:prstDash val="solid"/>
          </a:ln>
        </p:spPr>
      </p:sp>
      <p:sp>
        <p:nvSpPr>
          <p:cNvPr id="14" name="Text 12"/>
          <p:cNvSpPr txBox="1"/>
          <p:nvPr/>
        </p:nvSpPr>
        <p:spPr>
          <a:xfrm>
            <a:off x="548640" y="2011680"/>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2</a:t>
            </a:r>
            <a:endParaRPr lang="en-US" sz="1300" dirty="0"/>
          </a:p>
        </p:txBody>
      </p:sp>
      <p:sp>
        <p:nvSpPr>
          <p:cNvPr id="15" name="Text 13"/>
          <p:cNvSpPr txBox="1"/>
          <p:nvPr/>
        </p:nvSpPr>
        <p:spPr>
          <a:xfrm>
            <a:off x="987552" y="1947672"/>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心拍数の増加</a:t>
            </a:r>
            <a:endParaRPr lang="en-US" sz="1200" dirty="0"/>
          </a:p>
        </p:txBody>
      </p:sp>
      <p:sp>
        <p:nvSpPr>
          <p:cNvPr id="16" name="Text 14"/>
          <p:cNvSpPr txBox="1"/>
          <p:nvPr/>
        </p:nvSpPr>
        <p:spPr>
          <a:xfrm>
            <a:off x="4096512" y="1947672"/>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正しい</a:t>
            </a:r>
            <a:endParaRPr lang="en-US" sz="1100" dirty="0"/>
          </a:p>
        </p:txBody>
      </p:sp>
      <p:sp>
        <p:nvSpPr>
          <p:cNvPr id="17" name="Shape 15"/>
          <p:cNvSpPr/>
          <p:nvPr/>
        </p:nvSpPr>
        <p:spPr>
          <a:xfrm>
            <a:off x="457200" y="2478024"/>
            <a:ext cx="8229600" cy="457200"/>
          </a:xfrm>
          <a:prstGeom prst="roundRect">
            <a:avLst>
              <a:gd name="adj" fmla="val 16000"/>
            </a:avLst>
          </a:prstGeom>
          <a:solidFill>
            <a:srgbClr val="F4F6F8"/>
          </a:solidFill>
          <a:ln/>
        </p:spPr>
      </p:sp>
      <p:sp>
        <p:nvSpPr>
          <p:cNvPr id="18" name="Shape 16"/>
          <p:cNvSpPr/>
          <p:nvPr/>
        </p:nvSpPr>
        <p:spPr>
          <a:xfrm>
            <a:off x="548640" y="2542032"/>
            <a:ext cx="329184" cy="329184"/>
          </a:xfrm>
          <a:prstGeom prst="ellipse">
            <a:avLst/>
          </a:prstGeom>
          <a:solidFill>
            <a:srgbClr val="FFFFFF"/>
          </a:solidFill>
          <a:ln w="12700">
            <a:solidFill>
              <a:srgbClr val="8A96A3"/>
            </a:solidFill>
            <a:prstDash val="solid"/>
          </a:ln>
        </p:spPr>
      </p:sp>
      <p:sp>
        <p:nvSpPr>
          <p:cNvPr id="19" name="Text 17"/>
          <p:cNvSpPr txBox="1"/>
          <p:nvPr/>
        </p:nvSpPr>
        <p:spPr>
          <a:xfrm>
            <a:off x="548640" y="2542032"/>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3</a:t>
            </a:r>
            <a:endParaRPr lang="en-US" sz="1300" dirty="0"/>
          </a:p>
        </p:txBody>
      </p:sp>
      <p:sp>
        <p:nvSpPr>
          <p:cNvPr id="20" name="Text 18"/>
          <p:cNvSpPr txBox="1"/>
          <p:nvPr/>
        </p:nvSpPr>
        <p:spPr>
          <a:xfrm>
            <a:off x="987552" y="2478024"/>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収縮期血圧の上昇</a:t>
            </a:r>
            <a:endParaRPr lang="en-US" sz="1200" dirty="0"/>
          </a:p>
        </p:txBody>
      </p:sp>
      <p:sp>
        <p:nvSpPr>
          <p:cNvPr id="21" name="Text 19"/>
          <p:cNvSpPr txBox="1"/>
          <p:nvPr/>
        </p:nvSpPr>
        <p:spPr>
          <a:xfrm>
            <a:off x="4096512" y="2478024"/>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正しい</a:t>
            </a:r>
            <a:endParaRPr lang="en-US" sz="1100" dirty="0"/>
          </a:p>
        </p:txBody>
      </p:sp>
      <p:sp>
        <p:nvSpPr>
          <p:cNvPr id="22" name="Shape 20"/>
          <p:cNvSpPr/>
          <p:nvPr/>
        </p:nvSpPr>
        <p:spPr>
          <a:xfrm>
            <a:off x="457200" y="3008376"/>
            <a:ext cx="8229600" cy="457200"/>
          </a:xfrm>
          <a:prstGeom prst="roundRect">
            <a:avLst>
              <a:gd name="adj" fmla="val 16000"/>
            </a:avLst>
          </a:prstGeom>
          <a:solidFill>
            <a:srgbClr val="F4F6F8"/>
          </a:solidFill>
          <a:ln/>
        </p:spPr>
      </p:sp>
      <p:sp>
        <p:nvSpPr>
          <p:cNvPr id="23" name="Shape 21"/>
          <p:cNvSpPr/>
          <p:nvPr/>
        </p:nvSpPr>
        <p:spPr>
          <a:xfrm>
            <a:off x="548640" y="3072384"/>
            <a:ext cx="329184" cy="329184"/>
          </a:xfrm>
          <a:prstGeom prst="ellipse">
            <a:avLst/>
          </a:prstGeom>
          <a:solidFill>
            <a:srgbClr val="FFFFFF"/>
          </a:solidFill>
          <a:ln w="12700">
            <a:solidFill>
              <a:srgbClr val="8A96A3"/>
            </a:solidFill>
            <a:prstDash val="solid"/>
          </a:ln>
        </p:spPr>
      </p:sp>
      <p:sp>
        <p:nvSpPr>
          <p:cNvPr id="24" name="Text 22"/>
          <p:cNvSpPr txBox="1"/>
          <p:nvPr/>
        </p:nvSpPr>
        <p:spPr>
          <a:xfrm>
            <a:off x="548640" y="3072384"/>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4</a:t>
            </a:r>
            <a:endParaRPr lang="en-US" sz="1300" dirty="0"/>
          </a:p>
        </p:txBody>
      </p:sp>
      <p:sp>
        <p:nvSpPr>
          <p:cNvPr id="25" name="Text 23"/>
          <p:cNvSpPr txBox="1"/>
          <p:nvPr/>
        </p:nvSpPr>
        <p:spPr>
          <a:xfrm>
            <a:off x="987552" y="3008376"/>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皮膚動脈の収縮</a:t>
            </a:r>
            <a:endParaRPr lang="en-US" sz="1200" dirty="0"/>
          </a:p>
        </p:txBody>
      </p:sp>
      <p:sp>
        <p:nvSpPr>
          <p:cNvPr id="26" name="Text 24"/>
          <p:cNvSpPr txBox="1"/>
          <p:nvPr/>
        </p:nvSpPr>
        <p:spPr>
          <a:xfrm>
            <a:off x="4096512" y="3008376"/>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正しい</a:t>
            </a:r>
            <a:endParaRPr lang="en-US" sz="1100" dirty="0"/>
          </a:p>
        </p:txBody>
      </p:sp>
      <p:sp>
        <p:nvSpPr>
          <p:cNvPr id="27" name="Shape 25"/>
          <p:cNvSpPr/>
          <p:nvPr/>
        </p:nvSpPr>
        <p:spPr>
          <a:xfrm>
            <a:off x="457200" y="3538728"/>
            <a:ext cx="8229600" cy="457200"/>
          </a:xfrm>
          <a:prstGeom prst="roundRect">
            <a:avLst>
              <a:gd name="adj" fmla="val 16000"/>
            </a:avLst>
          </a:prstGeom>
          <a:solidFill>
            <a:srgbClr val="FBE3E2"/>
          </a:solidFill>
          <a:ln w="19050">
            <a:solidFill>
              <a:srgbClr val="D9534F"/>
            </a:solidFill>
            <a:prstDash val="solid"/>
          </a:ln>
        </p:spPr>
      </p:sp>
      <p:sp>
        <p:nvSpPr>
          <p:cNvPr id="28" name="Shape 26"/>
          <p:cNvSpPr/>
          <p:nvPr/>
        </p:nvSpPr>
        <p:spPr>
          <a:xfrm>
            <a:off x="548640" y="3602736"/>
            <a:ext cx="329184" cy="329184"/>
          </a:xfrm>
          <a:prstGeom prst="ellipse">
            <a:avLst/>
          </a:prstGeom>
          <a:solidFill>
            <a:srgbClr val="D9534F"/>
          </a:solidFill>
          <a:ln w="12700">
            <a:solidFill>
              <a:srgbClr val="D9534F"/>
            </a:solidFill>
            <a:prstDash val="solid"/>
          </a:ln>
        </p:spPr>
      </p:sp>
      <p:sp>
        <p:nvSpPr>
          <p:cNvPr id="29" name="Text 27"/>
          <p:cNvSpPr txBox="1"/>
          <p:nvPr/>
        </p:nvSpPr>
        <p:spPr>
          <a:xfrm>
            <a:off x="548640" y="3602736"/>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5</a:t>
            </a:r>
            <a:endParaRPr lang="en-US" sz="1300" dirty="0"/>
          </a:p>
        </p:txBody>
      </p:sp>
      <p:sp>
        <p:nvSpPr>
          <p:cNvPr id="30" name="Text 28"/>
          <p:cNvSpPr txBox="1"/>
          <p:nvPr/>
        </p:nvSpPr>
        <p:spPr>
          <a:xfrm>
            <a:off x="987552" y="3538728"/>
            <a:ext cx="3017520" cy="457200"/>
          </a:xfrm>
          <a:prstGeom prst="rect">
            <a:avLst/>
          </a:prstGeom>
          <a:noFill/>
          <a:ln/>
        </p:spPr>
        <p:txBody>
          <a:bodyPr wrap="square" lIns="0" tIns="0" rIns="0" bIns="0" rtlCol="0" anchor="ctr"/>
          <a:lstStyle/>
          <a:p>
            <a:pPr indent="0" marL="0">
              <a:buNone/>
            </a:pPr>
            <a:r>
              <a:rPr lang="en-US" sz="1200" b="1" dirty="0">
                <a:solidFill>
                  <a:srgbClr val="D9534F"/>
                </a:solidFill>
                <a:latin typeface="Meiryo" pitchFamily="34" charset="0"/>
                <a:ea typeface="Meiryo" pitchFamily="34" charset="-122"/>
                <a:cs typeface="Meiryo" pitchFamily="34" charset="-120"/>
              </a:rPr>
              <a:t>排尿筋の収縮</a:t>
            </a:r>
            <a:endParaRPr lang="en-US" sz="1200" dirty="0"/>
          </a:p>
        </p:txBody>
      </p:sp>
      <p:sp>
        <p:nvSpPr>
          <p:cNvPr id="31" name="Text 29"/>
          <p:cNvSpPr txBox="1"/>
          <p:nvPr/>
        </p:nvSpPr>
        <p:spPr>
          <a:xfrm>
            <a:off x="4096512" y="3538728"/>
            <a:ext cx="4526280" cy="457200"/>
          </a:xfrm>
          <a:prstGeom prst="rect">
            <a:avLst/>
          </a:prstGeom>
          <a:noFill/>
          <a:ln/>
        </p:spPr>
        <p:txBody>
          <a:bodyPr wrap="square" lIns="0" tIns="0" rIns="0" bIns="0" rtlCol="0" anchor="ctr"/>
          <a:lstStyle/>
          <a:p>
            <a:pPr indent="0" marL="0">
              <a:buNone/>
            </a:pPr>
            <a:r>
              <a:rPr lang="en-US" sz="1100" dirty="0">
                <a:solidFill>
                  <a:srgbClr val="222222"/>
                </a:solidFill>
                <a:latin typeface="Meiryo" pitchFamily="34" charset="0"/>
                <a:ea typeface="Meiryo" pitchFamily="34" charset="-122"/>
                <a:cs typeface="Meiryo" pitchFamily="34" charset="-120"/>
              </a:rPr>
              <a:t>排尿筋は弛緩 → 誤り</a:t>
            </a:r>
            <a:endParaRPr lang="en-US" sz="1100" dirty="0"/>
          </a:p>
        </p:txBody>
      </p:sp>
      <p:sp>
        <p:nvSpPr>
          <p:cNvPr id="32" name="Shape 30"/>
          <p:cNvSpPr/>
          <p:nvPr/>
        </p:nvSpPr>
        <p:spPr>
          <a:xfrm>
            <a:off x="457200" y="4160520"/>
            <a:ext cx="1463040" cy="685800"/>
          </a:xfrm>
          <a:prstGeom prst="roundRect">
            <a:avLst>
              <a:gd name="adj" fmla="val 10667"/>
            </a:avLst>
          </a:prstGeom>
          <a:solidFill>
            <a:srgbClr val="D9534F"/>
          </a:solidFill>
          <a:ln/>
        </p:spPr>
      </p:sp>
      <p:sp>
        <p:nvSpPr>
          <p:cNvPr id="33" name="Text 31"/>
          <p:cNvSpPr txBox="1"/>
          <p:nvPr/>
        </p:nvSpPr>
        <p:spPr>
          <a:xfrm>
            <a:off x="457200" y="4160520"/>
            <a:ext cx="1463040" cy="685800"/>
          </a:xfrm>
          <a:prstGeom prst="rect">
            <a:avLst/>
          </a:prstGeom>
          <a:noFill/>
          <a:ln/>
        </p:spPr>
        <p:txBody>
          <a:bodyPr wrap="square" lIns="0" tIns="0" rIns="0" bIns="0" rtlCol="0" anchor="ctr"/>
          <a:lstStyle/>
          <a:p>
            <a:pPr algn="ctr" indent="0" marL="0">
              <a:buNone/>
            </a:pPr>
            <a:r>
              <a:rPr lang="en-US" sz="1100" dirty="0">
                <a:solidFill>
                  <a:srgbClr val="FFFFFF"/>
                </a:solidFill>
                <a:latin typeface="Meiryo" pitchFamily="34" charset="0"/>
                <a:ea typeface="Meiryo" pitchFamily="34" charset="-122"/>
                <a:cs typeface="Meiryo" pitchFamily="34" charset="-120"/>
              </a:rPr>
              <a:t>正解</a:t>
            </a:r>
            <a:endParaRPr lang="en-US" sz="1100" dirty="0"/>
          </a:p>
          <a:p>
            <a:pPr algn="ctr" indent="0" marL="0">
              <a:buNone/>
            </a:pPr>
            <a:r>
              <a:rPr lang="en-US" sz="2200" b="1" dirty="0">
                <a:solidFill>
                  <a:srgbClr val="FFFFFF"/>
                </a:solidFill>
                <a:latin typeface="Meiryo" pitchFamily="34" charset="0"/>
                <a:ea typeface="Meiryo" pitchFamily="34" charset="-122"/>
                <a:cs typeface="Meiryo" pitchFamily="34" charset="-120"/>
              </a:rPr>
              <a:t>5</a:t>
            </a:r>
            <a:endParaRPr lang="en-US" sz="11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74320"/>
            <a:ext cx="868680" cy="384048"/>
          </a:xfrm>
          <a:prstGeom prst="roundRect">
            <a:avLst>
              <a:gd name="adj" fmla="val 19048"/>
            </a:avLst>
          </a:prstGeom>
          <a:solidFill>
            <a:srgbClr val="17324D"/>
          </a:solidFill>
          <a:ln/>
        </p:spPr>
      </p:sp>
      <p:sp>
        <p:nvSpPr>
          <p:cNvPr id="3" name="Text 1"/>
          <p:cNvSpPr txBox="1"/>
          <p:nvPr/>
        </p:nvSpPr>
        <p:spPr>
          <a:xfrm>
            <a:off x="457200" y="274320"/>
            <a:ext cx="86868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問題</a:t>
            </a:r>
            <a:endParaRPr lang="en-US" sz="1300" dirty="0"/>
          </a:p>
        </p:txBody>
      </p:sp>
      <p:sp>
        <p:nvSpPr>
          <p:cNvPr id="4" name="Text 2"/>
          <p:cNvSpPr txBox="1"/>
          <p:nvPr/>
        </p:nvSpPr>
        <p:spPr>
          <a:xfrm>
            <a:off x="1417320" y="274320"/>
            <a:ext cx="731520" cy="384048"/>
          </a:xfrm>
          <a:prstGeom prst="rect">
            <a:avLst/>
          </a:prstGeom>
          <a:noFill/>
          <a:ln/>
        </p:spPr>
        <p:txBody>
          <a:bodyPr wrap="square" lIns="0" tIns="0" rIns="0" bIns="0" rtlCol="0" anchor="ctr"/>
          <a:lstStyle/>
          <a:p>
            <a:pPr indent="0" marL="0">
              <a:buNone/>
            </a:pPr>
            <a:r>
              <a:rPr lang="en-US" sz="2000" b="1" dirty="0">
                <a:solidFill>
                  <a:srgbClr val="17324D"/>
                </a:solidFill>
                <a:latin typeface="Arial" pitchFamily="34" charset="0"/>
                <a:ea typeface="Arial" pitchFamily="34" charset="-122"/>
                <a:cs typeface="Arial" pitchFamily="34" charset="-120"/>
              </a:rPr>
              <a:t>[30]</a:t>
            </a:r>
            <a:endParaRPr lang="en-US" sz="2000" dirty="0"/>
          </a:p>
        </p:txBody>
      </p:sp>
      <p:sp>
        <p:nvSpPr>
          <p:cNvPr id="5" name="Text 3"/>
          <p:cNvSpPr txBox="1"/>
          <p:nvPr/>
        </p:nvSpPr>
        <p:spPr>
          <a:xfrm>
            <a:off x="5943600" y="274320"/>
            <a:ext cx="2743200" cy="384048"/>
          </a:xfrm>
          <a:prstGeom prst="rect">
            <a:avLst/>
          </a:prstGeom>
          <a:noFill/>
          <a:ln/>
        </p:spPr>
        <p:txBody>
          <a:bodyPr wrap="square" lIns="0" tIns="0" rIns="0" bIns="0" rtlCol="0" anchor="ctr"/>
          <a:lstStyle/>
          <a:p>
            <a:pPr algn="r" indent="0" marL="0">
              <a:buNone/>
            </a:pPr>
            <a:r>
              <a:rPr lang="en-US" sz="1100" dirty="0">
                <a:solidFill>
                  <a:srgbClr val="5F6B76"/>
                </a:solidFill>
                <a:latin typeface="Meiryo" pitchFamily="34" charset="0"/>
                <a:ea typeface="Meiryo" pitchFamily="34" charset="-122"/>
                <a:cs typeface="Meiryo" pitchFamily="34" charset="-120"/>
              </a:rPr>
              <a:t>自作</a:t>
            </a:r>
            <a:endParaRPr lang="en-US" sz="1100" dirty="0"/>
          </a:p>
        </p:txBody>
      </p:sp>
      <p:sp>
        <p:nvSpPr>
          <p:cNvPr id="6" name="Text 4"/>
          <p:cNvSpPr txBox="1"/>
          <p:nvPr/>
        </p:nvSpPr>
        <p:spPr>
          <a:xfrm>
            <a:off x="457200" y="731520"/>
            <a:ext cx="8229600" cy="594360"/>
          </a:xfrm>
          <a:prstGeom prst="rect">
            <a:avLst/>
          </a:prstGeom>
          <a:noFill/>
          <a:ln/>
        </p:spPr>
        <p:txBody>
          <a:bodyPr wrap="square" lIns="0" tIns="0" rIns="0" bIns="0" rtlCol="0" anchor="t"/>
          <a:lstStyle/>
          <a:p>
            <a:pPr indent="0" marL="0">
              <a:buNone/>
            </a:pPr>
            <a:r>
              <a:rPr lang="en-US" sz="1700" b="1" dirty="0">
                <a:solidFill>
                  <a:srgbClr val="222222"/>
                </a:solidFill>
                <a:latin typeface="Meiryo" pitchFamily="34" charset="0"/>
                <a:ea typeface="Meiryo" pitchFamily="34" charset="-122"/>
                <a:cs typeface="Meiryo" pitchFamily="34" charset="-120"/>
              </a:rPr>
              <a:t>受容体がムスカリン受容体であるのはどれか。</a:t>
            </a:r>
            <a:endParaRPr lang="en-US" sz="1700" dirty="0"/>
          </a:p>
        </p:txBody>
      </p:sp>
      <p:sp>
        <p:nvSpPr>
          <p:cNvPr id="7" name="Shape 5"/>
          <p:cNvSpPr/>
          <p:nvPr/>
        </p:nvSpPr>
        <p:spPr>
          <a:xfrm>
            <a:off x="457200" y="1508760"/>
            <a:ext cx="8229600" cy="493776"/>
          </a:xfrm>
          <a:prstGeom prst="roundRect">
            <a:avLst>
              <a:gd name="adj" fmla="val 14815"/>
            </a:avLst>
          </a:prstGeom>
          <a:solidFill>
            <a:srgbClr val="EAF2F8"/>
          </a:solidFill>
          <a:ln/>
        </p:spPr>
      </p:sp>
      <p:sp>
        <p:nvSpPr>
          <p:cNvPr id="8" name="Shape 6"/>
          <p:cNvSpPr/>
          <p:nvPr/>
        </p:nvSpPr>
        <p:spPr>
          <a:xfrm>
            <a:off x="566928" y="1572768"/>
            <a:ext cx="365760" cy="365760"/>
          </a:xfrm>
          <a:prstGeom prst="ellipse">
            <a:avLst/>
          </a:prstGeom>
          <a:solidFill>
            <a:srgbClr val="FFFFFF"/>
          </a:solidFill>
          <a:ln w="15875">
            <a:solidFill>
              <a:srgbClr val="17324D"/>
            </a:solidFill>
            <a:prstDash val="solid"/>
          </a:ln>
        </p:spPr>
      </p:sp>
      <p:sp>
        <p:nvSpPr>
          <p:cNvPr id="9" name="Text 7"/>
          <p:cNvSpPr txBox="1"/>
          <p:nvPr/>
        </p:nvSpPr>
        <p:spPr>
          <a:xfrm>
            <a:off x="566928" y="1572768"/>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1</a:t>
            </a:r>
            <a:endParaRPr lang="en-US" sz="1400" dirty="0"/>
          </a:p>
        </p:txBody>
      </p:sp>
      <p:sp>
        <p:nvSpPr>
          <p:cNvPr id="10" name="Text 8"/>
          <p:cNvSpPr txBox="1"/>
          <p:nvPr/>
        </p:nvSpPr>
        <p:spPr>
          <a:xfrm>
            <a:off x="1051560" y="1508760"/>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交感神経節前線維</a:t>
            </a:r>
            <a:endParaRPr lang="en-US" sz="1500" dirty="0"/>
          </a:p>
        </p:txBody>
      </p:sp>
      <p:sp>
        <p:nvSpPr>
          <p:cNvPr id="11" name="Shape 9"/>
          <p:cNvSpPr/>
          <p:nvPr/>
        </p:nvSpPr>
        <p:spPr>
          <a:xfrm>
            <a:off x="457200" y="2112264"/>
            <a:ext cx="8229600" cy="493776"/>
          </a:xfrm>
          <a:prstGeom prst="roundRect">
            <a:avLst>
              <a:gd name="adj" fmla="val 14815"/>
            </a:avLst>
          </a:prstGeom>
          <a:solidFill>
            <a:srgbClr val="EAF2F8"/>
          </a:solidFill>
          <a:ln/>
        </p:spPr>
      </p:sp>
      <p:sp>
        <p:nvSpPr>
          <p:cNvPr id="12" name="Shape 10"/>
          <p:cNvSpPr/>
          <p:nvPr/>
        </p:nvSpPr>
        <p:spPr>
          <a:xfrm>
            <a:off x="566928" y="2176272"/>
            <a:ext cx="365760" cy="365760"/>
          </a:xfrm>
          <a:prstGeom prst="ellipse">
            <a:avLst/>
          </a:prstGeom>
          <a:solidFill>
            <a:srgbClr val="FFFFFF"/>
          </a:solidFill>
          <a:ln w="15875">
            <a:solidFill>
              <a:srgbClr val="17324D"/>
            </a:solidFill>
            <a:prstDash val="solid"/>
          </a:ln>
        </p:spPr>
      </p:sp>
      <p:sp>
        <p:nvSpPr>
          <p:cNvPr id="13" name="Text 11"/>
          <p:cNvSpPr txBox="1"/>
          <p:nvPr/>
        </p:nvSpPr>
        <p:spPr>
          <a:xfrm>
            <a:off x="566928" y="2176272"/>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2</a:t>
            </a:r>
            <a:endParaRPr lang="en-US" sz="1400" dirty="0"/>
          </a:p>
        </p:txBody>
      </p:sp>
      <p:sp>
        <p:nvSpPr>
          <p:cNvPr id="14" name="Text 12"/>
          <p:cNvSpPr txBox="1"/>
          <p:nvPr/>
        </p:nvSpPr>
        <p:spPr>
          <a:xfrm>
            <a:off x="1051560" y="2112264"/>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交感神経節後線維</a:t>
            </a:r>
            <a:endParaRPr lang="en-US" sz="1500" dirty="0"/>
          </a:p>
        </p:txBody>
      </p:sp>
      <p:sp>
        <p:nvSpPr>
          <p:cNvPr id="15" name="Shape 13"/>
          <p:cNvSpPr/>
          <p:nvPr/>
        </p:nvSpPr>
        <p:spPr>
          <a:xfrm>
            <a:off x="457200" y="2715768"/>
            <a:ext cx="8229600" cy="493776"/>
          </a:xfrm>
          <a:prstGeom prst="roundRect">
            <a:avLst>
              <a:gd name="adj" fmla="val 14815"/>
            </a:avLst>
          </a:prstGeom>
          <a:solidFill>
            <a:srgbClr val="EAF2F8"/>
          </a:solidFill>
          <a:ln/>
        </p:spPr>
      </p:sp>
      <p:sp>
        <p:nvSpPr>
          <p:cNvPr id="16" name="Shape 14"/>
          <p:cNvSpPr/>
          <p:nvPr/>
        </p:nvSpPr>
        <p:spPr>
          <a:xfrm>
            <a:off x="566928" y="2779776"/>
            <a:ext cx="365760" cy="365760"/>
          </a:xfrm>
          <a:prstGeom prst="ellipse">
            <a:avLst/>
          </a:prstGeom>
          <a:solidFill>
            <a:srgbClr val="FFFFFF"/>
          </a:solidFill>
          <a:ln w="15875">
            <a:solidFill>
              <a:srgbClr val="17324D"/>
            </a:solidFill>
            <a:prstDash val="solid"/>
          </a:ln>
        </p:spPr>
      </p:sp>
      <p:sp>
        <p:nvSpPr>
          <p:cNvPr id="17" name="Text 15"/>
          <p:cNvSpPr txBox="1"/>
          <p:nvPr/>
        </p:nvSpPr>
        <p:spPr>
          <a:xfrm>
            <a:off x="566928" y="2779776"/>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3</a:t>
            </a:r>
            <a:endParaRPr lang="en-US" sz="1400" dirty="0"/>
          </a:p>
        </p:txBody>
      </p:sp>
      <p:sp>
        <p:nvSpPr>
          <p:cNvPr id="18" name="Text 16"/>
          <p:cNvSpPr txBox="1"/>
          <p:nvPr/>
        </p:nvSpPr>
        <p:spPr>
          <a:xfrm>
            <a:off x="1051560" y="2715768"/>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副交感神経節前線維</a:t>
            </a:r>
            <a:endParaRPr lang="en-US" sz="1500" dirty="0"/>
          </a:p>
        </p:txBody>
      </p:sp>
      <p:sp>
        <p:nvSpPr>
          <p:cNvPr id="19" name="Shape 17"/>
          <p:cNvSpPr/>
          <p:nvPr/>
        </p:nvSpPr>
        <p:spPr>
          <a:xfrm>
            <a:off x="457200" y="3319272"/>
            <a:ext cx="8229600" cy="493776"/>
          </a:xfrm>
          <a:prstGeom prst="roundRect">
            <a:avLst>
              <a:gd name="adj" fmla="val 14815"/>
            </a:avLst>
          </a:prstGeom>
          <a:solidFill>
            <a:srgbClr val="EAF2F8"/>
          </a:solidFill>
          <a:ln/>
        </p:spPr>
      </p:sp>
      <p:sp>
        <p:nvSpPr>
          <p:cNvPr id="20" name="Shape 18"/>
          <p:cNvSpPr/>
          <p:nvPr/>
        </p:nvSpPr>
        <p:spPr>
          <a:xfrm>
            <a:off x="566928" y="3383280"/>
            <a:ext cx="365760" cy="365760"/>
          </a:xfrm>
          <a:prstGeom prst="ellipse">
            <a:avLst/>
          </a:prstGeom>
          <a:solidFill>
            <a:srgbClr val="FFFFFF"/>
          </a:solidFill>
          <a:ln w="15875">
            <a:solidFill>
              <a:srgbClr val="17324D"/>
            </a:solidFill>
            <a:prstDash val="solid"/>
          </a:ln>
        </p:spPr>
      </p:sp>
      <p:sp>
        <p:nvSpPr>
          <p:cNvPr id="21" name="Text 19"/>
          <p:cNvSpPr txBox="1"/>
          <p:nvPr/>
        </p:nvSpPr>
        <p:spPr>
          <a:xfrm>
            <a:off x="566928" y="3383280"/>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4</a:t>
            </a:r>
            <a:endParaRPr lang="en-US" sz="1400" dirty="0"/>
          </a:p>
        </p:txBody>
      </p:sp>
      <p:sp>
        <p:nvSpPr>
          <p:cNvPr id="22" name="Text 20"/>
          <p:cNvSpPr txBox="1"/>
          <p:nvPr/>
        </p:nvSpPr>
        <p:spPr>
          <a:xfrm>
            <a:off x="1051560" y="3319272"/>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副交感神経節後線維</a:t>
            </a:r>
            <a:endParaRPr lang="en-US" sz="1500" dirty="0"/>
          </a:p>
        </p:txBody>
      </p:sp>
      <p:sp>
        <p:nvSpPr>
          <p:cNvPr id="23" name="Shape 21"/>
          <p:cNvSpPr/>
          <p:nvPr/>
        </p:nvSpPr>
        <p:spPr>
          <a:xfrm>
            <a:off x="457200" y="3922776"/>
            <a:ext cx="8229600" cy="493776"/>
          </a:xfrm>
          <a:prstGeom prst="roundRect">
            <a:avLst>
              <a:gd name="adj" fmla="val 14815"/>
            </a:avLst>
          </a:prstGeom>
          <a:solidFill>
            <a:srgbClr val="EAF2F8"/>
          </a:solidFill>
          <a:ln/>
        </p:spPr>
      </p:sp>
      <p:sp>
        <p:nvSpPr>
          <p:cNvPr id="24" name="Shape 22"/>
          <p:cNvSpPr/>
          <p:nvPr/>
        </p:nvSpPr>
        <p:spPr>
          <a:xfrm>
            <a:off x="566928" y="3986784"/>
            <a:ext cx="365760" cy="365760"/>
          </a:xfrm>
          <a:prstGeom prst="ellipse">
            <a:avLst/>
          </a:prstGeom>
          <a:solidFill>
            <a:srgbClr val="FFFFFF"/>
          </a:solidFill>
          <a:ln w="15875">
            <a:solidFill>
              <a:srgbClr val="17324D"/>
            </a:solidFill>
            <a:prstDash val="solid"/>
          </a:ln>
        </p:spPr>
      </p:sp>
      <p:sp>
        <p:nvSpPr>
          <p:cNvPr id="25" name="Text 23"/>
          <p:cNvSpPr txBox="1"/>
          <p:nvPr/>
        </p:nvSpPr>
        <p:spPr>
          <a:xfrm>
            <a:off x="566928" y="3986784"/>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5</a:t>
            </a:r>
            <a:endParaRPr lang="en-US" sz="1400" dirty="0"/>
          </a:p>
        </p:txBody>
      </p:sp>
      <p:sp>
        <p:nvSpPr>
          <p:cNvPr id="26" name="Text 24"/>
          <p:cNvSpPr txBox="1"/>
          <p:nvPr/>
        </p:nvSpPr>
        <p:spPr>
          <a:xfrm>
            <a:off x="1051560" y="3922776"/>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運動神経神経筋接合部</a:t>
            </a:r>
            <a:endParaRPr lang="en-US" sz="15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74320"/>
            <a:ext cx="868680" cy="384048"/>
          </a:xfrm>
          <a:prstGeom prst="roundRect">
            <a:avLst>
              <a:gd name="adj" fmla="val 19048"/>
            </a:avLst>
          </a:prstGeom>
          <a:solidFill>
            <a:srgbClr val="D9534F"/>
          </a:solidFill>
          <a:ln/>
        </p:spPr>
      </p:sp>
      <p:sp>
        <p:nvSpPr>
          <p:cNvPr id="3" name="Text 1"/>
          <p:cNvSpPr txBox="1"/>
          <p:nvPr/>
        </p:nvSpPr>
        <p:spPr>
          <a:xfrm>
            <a:off x="457200" y="274320"/>
            <a:ext cx="86868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解説</a:t>
            </a:r>
            <a:endParaRPr lang="en-US" sz="1300" dirty="0"/>
          </a:p>
        </p:txBody>
      </p:sp>
      <p:sp>
        <p:nvSpPr>
          <p:cNvPr id="4" name="Text 2"/>
          <p:cNvSpPr txBox="1"/>
          <p:nvPr/>
        </p:nvSpPr>
        <p:spPr>
          <a:xfrm>
            <a:off x="1417320" y="274320"/>
            <a:ext cx="731520" cy="384048"/>
          </a:xfrm>
          <a:prstGeom prst="rect">
            <a:avLst/>
          </a:prstGeom>
          <a:noFill/>
          <a:ln/>
        </p:spPr>
        <p:txBody>
          <a:bodyPr wrap="square" lIns="0" tIns="0" rIns="0" bIns="0" rtlCol="0" anchor="ctr"/>
          <a:lstStyle/>
          <a:p>
            <a:pPr indent="0" marL="0">
              <a:buNone/>
            </a:pPr>
            <a:r>
              <a:rPr lang="en-US" sz="2000" b="1" dirty="0">
                <a:solidFill>
                  <a:srgbClr val="17324D"/>
                </a:solidFill>
                <a:latin typeface="Arial" pitchFamily="34" charset="0"/>
                <a:ea typeface="Arial" pitchFamily="34" charset="-122"/>
                <a:cs typeface="Arial" pitchFamily="34" charset="-120"/>
              </a:rPr>
              <a:t>[30]</a:t>
            </a:r>
            <a:endParaRPr lang="en-US" sz="2000" dirty="0"/>
          </a:p>
        </p:txBody>
      </p:sp>
      <p:sp>
        <p:nvSpPr>
          <p:cNvPr id="5" name="Text 3"/>
          <p:cNvSpPr txBox="1"/>
          <p:nvPr/>
        </p:nvSpPr>
        <p:spPr>
          <a:xfrm>
            <a:off x="5943600" y="274320"/>
            <a:ext cx="2743200" cy="384048"/>
          </a:xfrm>
          <a:prstGeom prst="rect">
            <a:avLst/>
          </a:prstGeom>
          <a:noFill/>
          <a:ln/>
        </p:spPr>
        <p:txBody>
          <a:bodyPr wrap="square" lIns="0" tIns="0" rIns="0" bIns="0" rtlCol="0" anchor="ctr"/>
          <a:lstStyle/>
          <a:p>
            <a:pPr algn="r" indent="0" marL="0">
              <a:buNone/>
            </a:pPr>
            <a:r>
              <a:rPr lang="en-US" sz="1100" dirty="0">
                <a:solidFill>
                  <a:srgbClr val="5F6B76"/>
                </a:solidFill>
                <a:latin typeface="Meiryo" pitchFamily="34" charset="0"/>
                <a:ea typeface="Meiryo" pitchFamily="34" charset="-122"/>
                <a:cs typeface="Meiryo" pitchFamily="34" charset="-120"/>
              </a:rPr>
              <a:t>自作</a:t>
            </a:r>
            <a:endParaRPr lang="en-US" sz="1100" dirty="0"/>
          </a:p>
        </p:txBody>
      </p:sp>
      <p:sp>
        <p:nvSpPr>
          <p:cNvPr id="6" name="Text 4"/>
          <p:cNvSpPr txBox="1"/>
          <p:nvPr/>
        </p:nvSpPr>
        <p:spPr>
          <a:xfrm>
            <a:off x="457200" y="731520"/>
            <a:ext cx="8229600" cy="594360"/>
          </a:xfrm>
          <a:prstGeom prst="rect">
            <a:avLst/>
          </a:prstGeom>
          <a:noFill/>
          <a:ln/>
        </p:spPr>
        <p:txBody>
          <a:bodyPr wrap="square" lIns="0" tIns="0" rIns="0" bIns="0" rtlCol="0" anchor="t"/>
          <a:lstStyle/>
          <a:p>
            <a:pPr indent="0" marL="0">
              <a:buNone/>
            </a:pPr>
            <a:r>
              <a:rPr lang="en-US" sz="1700" b="1" dirty="0">
                <a:solidFill>
                  <a:srgbClr val="222222"/>
                </a:solidFill>
                <a:latin typeface="Meiryo" pitchFamily="34" charset="0"/>
                <a:ea typeface="Meiryo" pitchFamily="34" charset="-122"/>
                <a:cs typeface="Meiryo" pitchFamily="34" charset="-120"/>
              </a:rPr>
              <a:t>受容体がムスカリン受容体であるのはどれか。</a:t>
            </a:r>
            <a:endParaRPr lang="en-US" sz="1700" dirty="0"/>
          </a:p>
        </p:txBody>
      </p:sp>
      <p:sp>
        <p:nvSpPr>
          <p:cNvPr id="7" name="Shape 5"/>
          <p:cNvSpPr/>
          <p:nvPr/>
        </p:nvSpPr>
        <p:spPr>
          <a:xfrm>
            <a:off x="457200" y="1417320"/>
            <a:ext cx="8229600" cy="457200"/>
          </a:xfrm>
          <a:prstGeom prst="roundRect">
            <a:avLst>
              <a:gd name="adj" fmla="val 16000"/>
            </a:avLst>
          </a:prstGeom>
          <a:solidFill>
            <a:srgbClr val="F4F6F8"/>
          </a:solidFill>
          <a:ln/>
        </p:spPr>
      </p:sp>
      <p:sp>
        <p:nvSpPr>
          <p:cNvPr id="8" name="Shape 6"/>
          <p:cNvSpPr/>
          <p:nvPr/>
        </p:nvSpPr>
        <p:spPr>
          <a:xfrm>
            <a:off x="548640" y="1481328"/>
            <a:ext cx="329184" cy="329184"/>
          </a:xfrm>
          <a:prstGeom prst="ellipse">
            <a:avLst/>
          </a:prstGeom>
          <a:solidFill>
            <a:srgbClr val="FFFFFF"/>
          </a:solidFill>
          <a:ln w="12700">
            <a:solidFill>
              <a:srgbClr val="8A96A3"/>
            </a:solidFill>
            <a:prstDash val="solid"/>
          </a:ln>
        </p:spPr>
      </p:sp>
      <p:sp>
        <p:nvSpPr>
          <p:cNvPr id="9" name="Text 7"/>
          <p:cNvSpPr txBox="1"/>
          <p:nvPr/>
        </p:nvSpPr>
        <p:spPr>
          <a:xfrm>
            <a:off x="548640" y="1481328"/>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1</a:t>
            </a:r>
            <a:endParaRPr lang="en-US" sz="1300" dirty="0"/>
          </a:p>
        </p:txBody>
      </p:sp>
      <p:sp>
        <p:nvSpPr>
          <p:cNvPr id="10" name="Text 8"/>
          <p:cNvSpPr txBox="1"/>
          <p:nvPr/>
        </p:nvSpPr>
        <p:spPr>
          <a:xfrm>
            <a:off x="987552" y="1417320"/>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交感神経節前線維</a:t>
            </a:r>
            <a:endParaRPr lang="en-US" sz="1200" dirty="0"/>
          </a:p>
        </p:txBody>
      </p:sp>
      <p:sp>
        <p:nvSpPr>
          <p:cNvPr id="11" name="Text 9"/>
          <p:cNvSpPr txBox="1"/>
          <p:nvPr/>
        </p:nvSpPr>
        <p:spPr>
          <a:xfrm>
            <a:off x="4096512" y="1417320"/>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節後ニューロンのニコチン受容体</a:t>
            </a:r>
            <a:endParaRPr lang="en-US" sz="1100" dirty="0"/>
          </a:p>
        </p:txBody>
      </p:sp>
      <p:sp>
        <p:nvSpPr>
          <p:cNvPr id="12" name="Shape 10"/>
          <p:cNvSpPr/>
          <p:nvPr/>
        </p:nvSpPr>
        <p:spPr>
          <a:xfrm>
            <a:off x="457200" y="1947672"/>
            <a:ext cx="8229600" cy="457200"/>
          </a:xfrm>
          <a:prstGeom prst="roundRect">
            <a:avLst>
              <a:gd name="adj" fmla="val 16000"/>
            </a:avLst>
          </a:prstGeom>
          <a:solidFill>
            <a:srgbClr val="F4F6F8"/>
          </a:solidFill>
          <a:ln/>
        </p:spPr>
      </p:sp>
      <p:sp>
        <p:nvSpPr>
          <p:cNvPr id="13" name="Shape 11"/>
          <p:cNvSpPr/>
          <p:nvPr/>
        </p:nvSpPr>
        <p:spPr>
          <a:xfrm>
            <a:off x="548640" y="2011680"/>
            <a:ext cx="329184" cy="329184"/>
          </a:xfrm>
          <a:prstGeom prst="ellipse">
            <a:avLst/>
          </a:prstGeom>
          <a:solidFill>
            <a:srgbClr val="FFFFFF"/>
          </a:solidFill>
          <a:ln w="12700">
            <a:solidFill>
              <a:srgbClr val="8A96A3"/>
            </a:solidFill>
            <a:prstDash val="solid"/>
          </a:ln>
        </p:spPr>
      </p:sp>
      <p:sp>
        <p:nvSpPr>
          <p:cNvPr id="14" name="Text 12"/>
          <p:cNvSpPr txBox="1"/>
          <p:nvPr/>
        </p:nvSpPr>
        <p:spPr>
          <a:xfrm>
            <a:off x="548640" y="2011680"/>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2</a:t>
            </a:r>
            <a:endParaRPr lang="en-US" sz="1300" dirty="0"/>
          </a:p>
        </p:txBody>
      </p:sp>
      <p:sp>
        <p:nvSpPr>
          <p:cNvPr id="15" name="Text 13"/>
          <p:cNvSpPr txBox="1"/>
          <p:nvPr/>
        </p:nvSpPr>
        <p:spPr>
          <a:xfrm>
            <a:off x="987552" y="1947672"/>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交感神経節後線維</a:t>
            </a:r>
            <a:endParaRPr lang="en-US" sz="1200" dirty="0"/>
          </a:p>
        </p:txBody>
      </p:sp>
      <p:sp>
        <p:nvSpPr>
          <p:cNvPr id="16" name="Text 14"/>
          <p:cNvSpPr txBox="1"/>
          <p:nvPr/>
        </p:nvSpPr>
        <p:spPr>
          <a:xfrm>
            <a:off x="4096512" y="1947672"/>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効果器のアドレナリン受容体（α・β）</a:t>
            </a:r>
            <a:endParaRPr lang="en-US" sz="1100" dirty="0"/>
          </a:p>
        </p:txBody>
      </p:sp>
      <p:sp>
        <p:nvSpPr>
          <p:cNvPr id="17" name="Shape 15"/>
          <p:cNvSpPr/>
          <p:nvPr/>
        </p:nvSpPr>
        <p:spPr>
          <a:xfrm>
            <a:off x="457200" y="2478024"/>
            <a:ext cx="8229600" cy="457200"/>
          </a:xfrm>
          <a:prstGeom prst="roundRect">
            <a:avLst>
              <a:gd name="adj" fmla="val 16000"/>
            </a:avLst>
          </a:prstGeom>
          <a:solidFill>
            <a:srgbClr val="F4F6F8"/>
          </a:solidFill>
          <a:ln/>
        </p:spPr>
      </p:sp>
      <p:sp>
        <p:nvSpPr>
          <p:cNvPr id="18" name="Shape 16"/>
          <p:cNvSpPr/>
          <p:nvPr/>
        </p:nvSpPr>
        <p:spPr>
          <a:xfrm>
            <a:off x="548640" y="2542032"/>
            <a:ext cx="329184" cy="329184"/>
          </a:xfrm>
          <a:prstGeom prst="ellipse">
            <a:avLst/>
          </a:prstGeom>
          <a:solidFill>
            <a:srgbClr val="FFFFFF"/>
          </a:solidFill>
          <a:ln w="12700">
            <a:solidFill>
              <a:srgbClr val="8A96A3"/>
            </a:solidFill>
            <a:prstDash val="solid"/>
          </a:ln>
        </p:spPr>
      </p:sp>
      <p:sp>
        <p:nvSpPr>
          <p:cNvPr id="19" name="Text 17"/>
          <p:cNvSpPr txBox="1"/>
          <p:nvPr/>
        </p:nvSpPr>
        <p:spPr>
          <a:xfrm>
            <a:off x="548640" y="2542032"/>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3</a:t>
            </a:r>
            <a:endParaRPr lang="en-US" sz="1300" dirty="0"/>
          </a:p>
        </p:txBody>
      </p:sp>
      <p:sp>
        <p:nvSpPr>
          <p:cNvPr id="20" name="Text 18"/>
          <p:cNvSpPr txBox="1"/>
          <p:nvPr/>
        </p:nvSpPr>
        <p:spPr>
          <a:xfrm>
            <a:off x="987552" y="2478024"/>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副交感神経節前線維</a:t>
            </a:r>
            <a:endParaRPr lang="en-US" sz="1200" dirty="0"/>
          </a:p>
        </p:txBody>
      </p:sp>
      <p:sp>
        <p:nvSpPr>
          <p:cNvPr id="21" name="Text 19"/>
          <p:cNvSpPr txBox="1"/>
          <p:nvPr/>
        </p:nvSpPr>
        <p:spPr>
          <a:xfrm>
            <a:off x="4096512" y="2478024"/>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節後ニューロンのニコチン受容体</a:t>
            </a:r>
            <a:endParaRPr lang="en-US" sz="1100" dirty="0"/>
          </a:p>
        </p:txBody>
      </p:sp>
      <p:sp>
        <p:nvSpPr>
          <p:cNvPr id="22" name="Shape 20"/>
          <p:cNvSpPr/>
          <p:nvPr/>
        </p:nvSpPr>
        <p:spPr>
          <a:xfrm>
            <a:off x="457200" y="3008376"/>
            <a:ext cx="8229600" cy="457200"/>
          </a:xfrm>
          <a:prstGeom prst="roundRect">
            <a:avLst>
              <a:gd name="adj" fmla="val 16000"/>
            </a:avLst>
          </a:prstGeom>
          <a:solidFill>
            <a:srgbClr val="FBE3E2"/>
          </a:solidFill>
          <a:ln w="19050">
            <a:solidFill>
              <a:srgbClr val="D9534F"/>
            </a:solidFill>
            <a:prstDash val="solid"/>
          </a:ln>
        </p:spPr>
      </p:sp>
      <p:sp>
        <p:nvSpPr>
          <p:cNvPr id="23" name="Shape 21"/>
          <p:cNvSpPr/>
          <p:nvPr/>
        </p:nvSpPr>
        <p:spPr>
          <a:xfrm>
            <a:off x="548640" y="3072384"/>
            <a:ext cx="329184" cy="329184"/>
          </a:xfrm>
          <a:prstGeom prst="ellipse">
            <a:avLst/>
          </a:prstGeom>
          <a:solidFill>
            <a:srgbClr val="D9534F"/>
          </a:solidFill>
          <a:ln w="12700">
            <a:solidFill>
              <a:srgbClr val="D9534F"/>
            </a:solidFill>
            <a:prstDash val="solid"/>
          </a:ln>
        </p:spPr>
      </p:sp>
      <p:sp>
        <p:nvSpPr>
          <p:cNvPr id="24" name="Text 22"/>
          <p:cNvSpPr txBox="1"/>
          <p:nvPr/>
        </p:nvSpPr>
        <p:spPr>
          <a:xfrm>
            <a:off x="548640" y="3072384"/>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4</a:t>
            </a:r>
            <a:endParaRPr lang="en-US" sz="1300" dirty="0"/>
          </a:p>
        </p:txBody>
      </p:sp>
      <p:sp>
        <p:nvSpPr>
          <p:cNvPr id="25" name="Text 23"/>
          <p:cNvSpPr txBox="1"/>
          <p:nvPr/>
        </p:nvSpPr>
        <p:spPr>
          <a:xfrm>
            <a:off x="987552" y="3008376"/>
            <a:ext cx="3017520" cy="457200"/>
          </a:xfrm>
          <a:prstGeom prst="rect">
            <a:avLst/>
          </a:prstGeom>
          <a:noFill/>
          <a:ln/>
        </p:spPr>
        <p:txBody>
          <a:bodyPr wrap="square" lIns="0" tIns="0" rIns="0" bIns="0" rtlCol="0" anchor="ctr"/>
          <a:lstStyle/>
          <a:p>
            <a:pPr indent="0" marL="0">
              <a:buNone/>
            </a:pPr>
            <a:r>
              <a:rPr lang="en-US" sz="1200" b="1" dirty="0">
                <a:solidFill>
                  <a:srgbClr val="D9534F"/>
                </a:solidFill>
                <a:latin typeface="Meiryo" pitchFamily="34" charset="0"/>
                <a:ea typeface="Meiryo" pitchFamily="34" charset="-122"/>
                <a:cs typeface="Meiryo" pitchFamily="34" charset="-120"/>
              </a:rPr>
              <a:t>副交感神経節後線維</a:t>
            </a:r>
            <a:endParaRPr lang="en-US" sz="1200" dirty="0"/>
          </a:p>
        </p:txBody>
      </p:sp>
      <p:sp>
        <p:nvSpPr>
          <p:cNvPr id="26" name="Text 24"/>
          <p:cNvSpPr txBox="1"/>
          <p:nvPr/>
        </p:nvSpPr>
        <p:spPr>
          <a:xfrm>
            <a:off x="4096512" y="3008376"/>
            <a:ext cx="4526280" cy="457200"/>
          </a:xfrm>
          <a:prstGeom prst="rect">
            <a:avLst/>
          </a:prstGeom>
          <a:noFill/>
          <a:ln/>
        </p:spPr>
        <p:txBody>
          <a:bodyPr wrap="square" lIns="0" tIns="0" rIns="0" bIns="0" rtlCol="0" anchor="ctr"/>
          <a:lstStyle/>
          <a:p>
            <a:pPr indent="0" marL="0">
              <a:buNone/>
            </a:pPr>
            <a:r>
              <a:rPr lang="en-US" sz="1100" dirty="0">
                <a:solidFill>
                  <a:srgbClr val="222222"/>
                </a:solidFill>
                <a:latin typeface="Meiryo" pitchFamily="34" charset="0"/>
                <a:ea typeface="Meiryo" pitchFamily="34" charset="-122"/>
                <a:cs typeface="Meiryo" pitchFamily="34" charset="-120"/>
              </a:rPr>
              <a:t>効果器のムスカリン受容体 ○</a:t>
            </a:r>
            <a:endParaRPr lang="en-US" sz="1100" dirty="0"/>
          </a:p>
        </p:txBody>
      </p:sp>
      <p:sp>
        <p:nvSpPr>
          <p:cNvPr id="27" name="Shape 25"/>
          <p:cNvSpPr/>
          <p:nvPr/>
        </p:nvSpPr>
        <p:spPr>
          <a:xfrm>
            <a:off x="457200" y="3538728"/>
            <a:ext cx="8229600" cy="457200"/>
          </a:xfrm>
          <a:prstGeom prst="roundRect">
            <a:avLst>
              <a:gd name="adj" fmla="val 16000"/>
            </a:avLst>
          </a:prstGeom>
          <a:solidFill>
            <a:srgbClr val="F4F6F8"/>
          </a:solidFill>
          <a:ln/>
        </p:spPr>
      </p:sp>
      <p:sp>
        <p:nvSpPr>
          <p:cNvPr id="28" name="Shape 26"/>
          <p:cNvSpPr/>
          <p:nvPr/>
        </p:nvSpPr>
        <p:spPr>
          <a:xfrm>
            <a:off x="548640" y="3602736"/>
            <a:ext cx="329184" cy="329184"/>
          </a:xfrm>
          <a:prstGeom prst="ellipse">
            <a:avLst/>
          </a:prstGeom>
          <a:solidFill>
            <a:srgbClr val="FFFFFF"/>
          </a:solidFill>
          <a:ln w="12700">
            <a:solidFill>
              <a:srgbClr val="8A96A3"/>
            </a:solidFill>
            <a:prstDash val="solid"/>
          </a:ln>
        </p:spPr>
      </p:sp>
      <p:sp>
        <p:nvSpPr>
          <p:cNvPr id="29" name="Text 27"/>
          <p:cNvSpPr txBox="1"/>
          <p:nvPr/>
        </p:nvSpPr>
        <p:spPr>
          <a:xfrm>
            <a:off x="548640" y="3602736"/>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5</a:t>
            </a:r>
            <a:endParaRPr lang="en-US" sz="1300" dirty="0"/>
          </a:p>
        </p:txBody>
      </p:sp>
      <p:sp>
        <p:nvSpPr>
          <p:cNvPr id="30" name="Text 28"/>
          <p:cNvSpPr txBox="1"/>
          <p:nvPr/>
        </p:nvSpPr>
        <p:spPr>
          <a:xfrm>
            <a:off x="987552" y="3538728"/>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運動神経神経筋接合部</a:t>
            </a:r>
            <a:endParaRPr lang="en-US" sz="1200" dirty="0"/>
          </a:p>
        </p:txBody>
      </p:sp>
      <p:sp>
        <p:nvSpPr>
          <p:cNvPr id="31" name="Text 29"/>
          <p:cNvSpPr txBox="1"/>
          <p:nvPr/>
        </p:nvSpPr>
        <p:spPr>
          <a:xfrm>
            <a:off x="4096512" y="3538728"/>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ニコチン受容体（NM）</a:t>
            </a:r>
            <a:endParaRPr lang="en-US" sz="1100" dirty="0"/>
          </a:p>
        </p:txBody>
      </p:sp>
      <p:sp>
        <p:nvSpPr>
          <p:cNvPr id="32" name="Shape 30"/>
          <p:cNvSpPr/>
          <p:nvPr/>
        </p:nvSpPr>
        <p:spPr>
          <a:xfrm>
            <a:off x="457200" y="4160520"/>
            <a:ext cx="1463040" cy="685800"/>
          </a:xfrm>
          <a:prstGeom prst="roundRect">
            <a:avLst>
              <a:gd name="adj" fmla="val 10667"/>
            </a:avLst>
          </a:prstGeom>
          <a:solidFill>
            <a:srgbClr val="D9534F"/>
          </a:solidFill>
          <a:ln/>
        </p:spPr>
      </p:sp>
      <p:sp>
        <p:nvSpPr>
          <p:cNvPr id="33" name="Text 31"/>
          <p:cNvSpPr txBox="1"/>
          <p:nvPr/>
        </p:nvSpPr>
        <p:spPr>
          <a:xfrm>
            <a:off x="457200" y="4160520"/>
            <a:ext cx="1463040" cy="685800"/>
          </a:xfrm>
          <a:prstGeom prst="rect">
            <a:avLst/>
          </a:prstGeom>
          <a:noFill/>
          <a:ln/>
        </p:spPr>
        <p:txBody>
          <a:bodyPr wrap="square" lIns="0" tIns="0" rIns="0" bIns="0" rtlCol="0" anchor="ctr"/>
          <a:lstStyle/>
          <a:p>
            <a:pPr algn="ctr" indent="0" marL="0">
              <a:buNone/>
            </a:pPr>
            <a:r>
              <a:rPr lang="en-US" sz="1100" dirty="0">
                <a:solidFill>
                  <a:srgbClr val="FFFFFF"/>
                </a:solidFill>
                <a:latin typeface="Meiryo" pitchFamily="34" charset="0"/>
                <a:ea typeface="Meiryo" pitchFamily="34" charset="-122"/>
                <a:cs typeface="Meiryo" pitchFamily="34" charset="-120"/>
              </a:rPr>
              <a:t>正解</a:t>
            </a:r>
            <a:endParaRPr lang="en-US" sz="1100" dirty="0"/>
          </a:p>
          <a:p>
            <a:pPr algn="ctr" indent="0" marL="0">
              <a:buNone/>
            </a:pPr>
            <a:r>
              <a:rPr lang="en-US" sz="2200" b="1" dirty="0">
                <a:solidFill>
                  <a:srgbClr val="FFFFFF"/>
                </a:solidFill>
                <a:latin typeface="Meiryo" pitchFamily="34" charset="0"/>
                <a:ea typeface="Meiryo" pitchFamily="34" charset="-122"/>
                <a:cs typeface="Meiryo" pitchFamily="34" charset="-120"/>
              </a:rPr>
              <a:t>4</a:t>
            </a:r>
            <a:endParaRPr lang="en-US" sz="1100" dirty="0"/>
          </a:p>
        </p:txBody>
      </p:sp>
      <p:sp>
        <p:nvSpPr>
          <p:cNvPr id="34" name="Shape 32"/>
          <p:cNvSpPr/>
          <p:nvPr/>
        </p:nvSpPr>
        <p:spPr>
          <a:xfrm>
            <a:off x="2057400" y="4160520"/>
            <a:ext cx="6629400" cy="685800"/>
          </a:xfrm>
          <a:prstGeom prst="roundRect">
            <a:avLst>
              <a:gd name="adj" fmla="val 10667"/>
            </a:avLst>
          </a:prstGeom>
          <a:solidFill>
            <a:srgbClr val="EAF2F8"/>
          </a:solidFill>
          <a:ln/>
        </p:spPr>
      </p:sp>
      <p:sp>
        <p:nvSpPr>
          <p:cNvPr id="35" name="Text 33"/>
          <p:cNvSpPr txBox="1"/>
          <p:nvPr/>
        </p:nvSpPr>
        <p:spPr>
          <a:xfrm>
            <a:off x="2194560" y="4160520"/>
            <a:ext cx="6400800" cy="685800"/>
          </a:xfrm>
          <a:prstGeom prst="rect">
            <a:avLst/>
          </a:prstGeom>
          <a:noFill/>
          <a:ln/>
        </p:spPr>
        <p:txBody>
          <a:bodyPr wrap="square" lIns="0" tIns="0" rIns="0" bIns="0" rtlCol="0" anchor="ctr"/>
          <a:lstStyle/>
          <a:p>
            <a:pPr indent="0" marL="0">
              <a:buNone/>
            </a:pPr>
            <a:r>
              <a:rPr lang="en-US" sz="1200" b="1" dirty="0">
                <a:solidFill>
                  <a:srgbClr val="2A7F9E"/>
                </a:solidFill>
                <a:latin typeface="Meiryo" pitchFamily="34" charset="0"/>
                <a:ea typeface="Meiryo" pitchFamily="34" charset="-122"/>
                <a:cs typeface="Meiryo" pitchFamily="34" charset="-120"/>
              </a:rPr>
              <a:t>POINT　</a:t>
            </a:r>
            <a:pPr indent="0" marL="0">
              <a:buNone/>
            </a:pPr>
            <a:r>
              <a:rPr lang="en-US" sz="1200" dirty="0">
                <a:solidFill>
                  <a:srgbClr val="222222"/>
                </a:solidFill>
                <a:latin typeface="Meiryo" pitchFamily="34" charset="0"/>
                <a:ea typeface="Meiryo" pitchFamily="34" charset="-122"/>
                <a:cs typeface="Meiryo" pitchFamily="34" charset="-120"/>
              </a:rPr>
              <a:t>神経節・神経筋接合部＝ニコチン受容体、副交感の効果器＝ムスカリン受容体。</a:t>
            </a:r>
            <a:endParaRPr lang="en-US" sz="12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28600"/>
            <a:ext cx="8229600" cy="548640"/>
          </a:xfrm>
          <a:prstGeom prst="rect">
            <a:avLst/>
          </a:prstGeom>
          <a:noFill/>
          <a:ln/>
        </p:spPr>
        <p:txBody>
          <a:bodyPr wrap="square" lIns="0" tIns="0" rIns="0" bIns="0" rtlCol="0" anchor="ctr"/>
          <a:lstStyle/>
          <a:p>
            <a:pPr indent="0" marL="0">
              <a:buNone/>
            </a:pPr>
            <a:r>
              <a:rPr lang="en-US" sz="2400" b="1" dirty="0">
                <a:solidFill>
                  <a:srgbClr val="17324D"/>
                </a:solidFill>
                <a:latin typeface="Meiryo" pitchFamily="34" charset="0"/>
                <a:ea typeface="Meiryo" pitchFamily="34" charset="-122"/>
                <a:cs typeface="Meiryo" pitchFamily="34" charset="-120"/>
              </a:rPr>
              <a:t>正答一覧</a:t>
            </a:r>
            <a:endParaRPr lang="en-US" sz="2400" dirty="0"/>
          </a:p>
        </p:txBody>
      </p:sp>
      <p:sp>
        <p:nvSpPr>
          <p:cNvPr id="3" name="Text 1"/>
          <p:cNvSpPr txBox="1"/>
          <p:nvPr/>
        </p:nvSpPr>
        <p:spPr>
          <a:xfrm>
            <a:off x="457200" y="749808"/>
            <a:ext cx="8229600" cy="27432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テーマ 04　交感神経・副交感神経</a:t>
            </a:r>
            <a:endParaRPr lang="en-US" sz="1100" dirty="0"/>
          </a:p>
        </p:txBody>
      </p:sp>
      <p:graphicFrame>
        <p:nvGraphicFramePr>
          <p:cNvPr id="65"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822960"/>
                <a:gridCol w="822960"/>
                <a:gridCol w="822960"/>
                <a:gridCol w="822960"/>
                <a:gridCol w="822960"/>
                <a:gridCol w="822960"/>
                <a:gridCol w="822960"/>
                <a:gridCol w="822960"/>
                <a:gridCol w="822960"/>
                <a:gridCol w="822960"/>
              </a:tblGrid>
              <a:tr h="457200">
                <a:tc>
                  <a:txBody>
                    <a:bodyPr/>
                    <a:lstStyle/>
                    <a:p>
                      <a:pPr algn="ctr" indent="0" marL="0">
                        <a:buNone/>
                      </a:pPr>
                      <a:r>
                        <a:rPr lang="en-US" sz="1300" b="1" dirty="0">
                          <a:solidFill>
                            <a:srgbClr val="FFFFFF"/>
                          </a:solidFill>
                          <a:latin typeface="Meiryo" pitchFamily="34" charset="0"/>
                          <a:ea typeface="Meiryo" pitchFamily="34" charset="-122"/>
                          <a:cs typeface="Meiryo" pitchFamily="34" charset="-120"/>
                        </a:rPr>
                        <a:t>[1]</a:t>
                      </a:r>
                      <a:endParaRPr lang="en-US" sz="1300" dirty="0">
                        <a:latin typeface="Meiryo" charset="0"/>
                        <a:ea typeface="Meiryo" charset="0"/>
                        <a:cs typeface="Meiryo" charset="0"/>
                      </a:endParaRPr>
                    </a:p>
                  </a:txBody>
                  <a:tcPr marL="91440" marR="91440" marT="45720" marB="45720"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17324D"/>
                    </a:solidFill>
                  </a:tcPr>
                </a:tc>
                <a:tc>
                  <a:txBody>
                    <a:bodyPr/>
                    <a:lstStyle/>
                    <a:p>
                      <a:pPr algn="ctr" indent="0" marL="0">
                        <a:buNone/>
                      </a:pPr>
                      <a:r>
                        <a:rPr lang="en-US" sz="1300" b="1" dirty="0">
                          <a:solidFill>
                            <a:srgbClr val="D9534F"/>
                          </a:solidFill>
                          <a:latin typeface="Meiryo" pitchFamily="34" charset="0"/>
                          <a:ea typeface="Meiryo" pitchFamily="34" charset="-122"/>
                          <a:cs typeface="Meiryo" pitchFamily="34" charset="-120"/>
                        </a:rPr>
                        <a:t>5</a:t>
                      </a:r>
                      <a:endParaRPr lang="en-US" sz="1300" dirty="0">
                        <a:latin typeface="Meiryo" charset="0"/>
                        <a:ea typeface="Meiryo" charset="0"/>
                        <a:cs typeface="Meiryo" charset="0"/>
                      </a:endParaRPr>
                    </a:p>
                  </a:txBody>
                  <a:tcPr marL="91440" marR="91440" marT="45720" marB="45720"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EAF2F8"/>
                    </a:solidFill>
                  </a:tcPr>
                </a:tc>
                <a:tc>
                  <a:txBody>
                    <a:bodyPr/>
                    <a:lstStyle/>
                    <a:p>
                      <a:pPr algn="ctr" indent="0" marL="0">
                        <a:buNone/>
                      </a:pPr>
                      <a:r>
                        <a:rPr lang="en-US" sz="1300" b="1" dirty="0">
                          <a:solidFill>
                            <a:srgbClr val="FFFFFF"/>
                          </a:solidFill>
                          <a:latin typeface="Meiryo" pitchFamily="34" charset="0"/>
                          <a:ea typeface="Meiryo" pitchFamily="34" charset="-122"/>
                          <a:cs typeface="Meiryo" pitchFamily="34" charset="-120"/>
                        </a:rPr>
                        <a:t>[7]</a:t>
                      </a:r>
                      <a:endParaRPr lang="en-US" sz="1300" dirty="0">
                        <a:latin typeface="Meiryo" charset="0"/>
                        <a:ea typeface="Meiryo" charset="0"/>
                        <a:cs typeface="Meiryo" charset="0"/>
                      </a:endParaRPr>
                    </a:p>
                  </a:txBody>
                  <a:tcPr marL="91440" marR="91440" marT="45720" marB="45720"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17324D"/>
                    </a:solidFill>
                  </a:tcPr>
                </a:tc>
                <a:tc>
                  <a:txBody>
                    <a:bodyPr/>
                    <a:lstStyle/>
                    <a:p>
                      <a:pPr algn="ctr" indent="0" marL="0">
                        <a:buNone/>
                      </a:pPr>
                      <a:r>
                        <a:rPr lang="en-US" sz="1300" b="1" dirty="0">
                          <a:solidFill>
                            <a:srgbClr val="D9534F"/>
                          </a:solidFill>
                          <a:latin typeface="Meiryo" pitchFamily="34" charset="0"/>
                          <a:ea typeface="Meiryo" pitchFamily="34" charset="-122"/>
                          <a:cs typeface="Meiryo" pitchFamily="34" charset="-120"/>
                        </a:rPr>
                        <a:t>5</a:t>
                      </a:r>
                      <a:endParaRPr lang="en-US" sz="1300" dirty="0">
                        <a:latin typeface="Meiryo" charset="0"/>
                        <a:ea typeface="Meiryo" charset="0"/>
                        <a:cs typeface="Meiryo" charset="0"/>
                      </a:endParaRPr>
                    </a:p>
                  </a:txBody>
                  <a:tcPr marL="91440" marR="91440" marT="45720" marB="45720"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EAF2F8"/>
                    </a:solidFill>
                  </a:tcPr>
                </a:tc>
                <a:tc>
                  <a:txBody>
                    <a:bodyPr/>
                    <a:lstStyle/>
                    <a:p>
                      <a:pPr algn="ctr" indent="0" marL="0">
                        <a:buNone/>
                      </a:pPr>
                      <a:r>
                        <a:rPr lang="en-US" sz="1300" b="1" dirty="0">
                          <a:solidFill>
                            <a:srgbClr val="FFFFFF"/>
                          </a:solidFill>
                          <a:latin typeface="Meiryo" pitchFamily="34" charset="0"/>
                          <a:ea typeface="Meiryo" pitchFamily="34" charset="-122"/>
                          <a:cs typeface="Meiryo" pitchFamily="34" charset="-120"/>
                        </a:rPr>
                        <a:t>[13]</a:t>
                      </a:r>
                      <a:endParaRPr lang="en-US" sz="1300" dirty="0">
                        <a:latin typeface="Meiryo" charset="0"/>
                        <a:ea typeface="Meiryo" charset="0"/>
                        <a:cs typeface="Meiryo" charset="0"/>
                      </a:endParaRPr>
                    </a:p>
                  </a:txBody>
                  <a:tcPr marL="91440" marR="91440" marT="45720" marB="45720"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17324D"/>
                    </a:solidFill>
                  </a:tcPr>
                </a:tc>
                <a:tc>
                  <a:txBody>
                    <a:bodyPr/>
                    <a:lstStyle/>
                    <a:p>
                      <a:pPr algn="ctr" indent="0" marL="0">
                        <a:buNone/>
                      </a:pPr>
                      <a:r>
                        <a:rPr lang="en-US" sz="1300" b="1" dirty="0">
                          <a:solidFill>
                            <a:srgbClr val="D9534F"/>
                          </a:solidFill>
                          <a:latin typeface="Meiryo" pitchFamily="34" charset="0"/>
                          <a:ea typeface="Meiryo" pitchFamily="34" charset="-122"/>
                          <a:cs typeface="Meiryo" pitchFamily="34" charset="-120"/>
                        </a:rPr>
                        <a:t>4</a:t>
                      </a:r>
                      <a:endParaRPr lang="en-US" sz="1300" dirty="0">
                        <a:latin typeface="Meiryo" charset="0"/>
                        <a:ea typeface="Meiryo" charset="0"/>
                        <a:cs typeface="Meiryo" charset="0"/>
                      </a:endParaRPr>
                    </a:p>
                  </a:txBody>
                  <a:tcPr marL="91440" marR="91440" marT="45720" marB="45720"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EAF2F8"/>
                    </a:solidFill>
                  </a:tcPr>
                </a:tc>
                <a:tc>
                  <a:txBody>
                    <a:bodyPr/>
                    <a:lstStyle/>
                    <a:p>
                      <a:pPr algn="ctr" indent="0" marL="0">
                        <a:buNone/>
                      </a:pPr>
                      <a:r>
                        <a:rPr lang="en-US" sz="1300" b="1" dirty="0">
                          <a:solidFill>
                            <a:srgbClr val="FFFFFF"/>
                          </a:solidFill>
                          <a:latin typeface="Meiryo" pitchFamily="34" charset="0"/>
                          <a:ea typeface="Meiryo" pitchFamily="34" charset="-122"/>
                          <a:cs typeface="Meiryo" pitchFamily="34" charset="-120"/>
                        </a:rPr>
                        <a:t>[19]</a:t>
                      </a:r>
                      <a:endParaRPr lang="en-US" sz="1300" dirty="0">
                        <a:latin typeface="Meiryo" charset="0"/>
                        <a:ea typeface="Meiryo" charset="0"/>
                        <a:cs typeface="Meiryo" charset="0"/>
                      </a:endParaRPr>
                    </a:p>
                  </a:txBody>
                  <a:tcPr marL="91440" marR="91440" marT="45720" marB="45720"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17324D"/>
                    </a:solidFill>
                  </a:tcPr>
                </a:tc>
                <a:tc>
                  <a:txBody>
                    <a:bodyPr/>
                    <a:lstStyle/>
                    <a:p>
                      <a:pPr algn="ctr" indent="0" marL="0">
                        <a:buNone/>
                      </a:pPr>
                      <a:r>
                        <a:rPr lang="en-US" sz="1300" b="1" dirty="0">
                          <a:solidFill>
                            <a:srgbClr val="D9534F"/>
                          </a:solidFill>
                          <a:latin typeface="Meiryo" pitchFamily="34" charset="0"/>
                          <a:ea typeface="Meiryo" pitchFamily="34" charset="-122"/>
                          <a:cs typeface="Meiryo" pitchFamily="34" charset="-120"/>
                        </a:rPr>
                        <a:t>5</a:t>
                      </a:r>
                      <a:endParaRPr lang="en-US" sz="1300" dirty="0">
                        <a:latin typeface="Meiryo" charset="0"/>
                        <a:ea typeface="Meiryo" charset="0"/>
                        <a:cs typeface="Meiryo" charset="0"/>
                      </a:endParaRPr>
                    </a:p>
                  </a:txBody>
                  <a:tcPr marL="91440" marR="91440" marT="45720" marB="45720"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EAF2F8"/>
                    </a:solidFill>
                  </a:tcPr>
                </a:tc>
                <a:tc>
                  <a:txBody>
                    <a:bodyPr/>
                    <a:lstStyle/>
                    <a:p>
                      <a:pPr algn="ctr" indent="0" marL="0">
                        <a:buNone/>
                      </a:pPr>
                      <a:r>
                        <a:rPr lang="en-US" sz="1300" b="1" dirty="0">
                          <a:solidFill>
                            <a:srgbClr val="FFFFFF"/>
                          </a:solidFill>
                          <a:latin typeface="Meiryo" pitchFamily="34" charset="0"/>
                          <a:ea typeface="Meiryo" pitchFamily="34" charset="-122"/>
                          <a:cs typeface="Meiryo" pitchFamily="34" charset="-120"/>
                        </a:rPr>
                        <a:t>[25]</a:t>
                      </a:r>
                      <a:endParaRPr lang="en-US" sz="1300" dirty="0">
                        <a:latin typeface="Meiryo" charset="0"/>
                        <a:ea typeface="Meiryo" charset="0"/>
                        <a:cs typeface="Meiryo" charset="0"/>
                      </a:endParaRPr>
                    </a:p>
                  </a:txBody>
                  <a:tcPr marL="91440" marR="91440" marT="45720" marB="45720"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17324D"/>
                    </a:solidFill>
                  </a:tcPr>
                </a:tc>
                <a:tc>
                  <a:txBody>
                    <a:bodyPr/>
                    <a:lstStyle/>
                    <a:p>
                      <a:pPr algn="ctr" indent="0" marL="0">
                        <a:buNone/>
                      </a:pPr>
                      <a:r>
                        <a:rPr lang="en-US" sz="1300" b="1" dirty="0">
                          <a:solidFill>
                            <a:srgbClr val="D9534F"/>
                          </a:solidFill>
                          <a:latin typeface="Meiryo" pitchFamily="34" charset="0"/>
                          <a:ea typeface="Meiryo" pitchFamily="34" charset="-122"/>
                          <a:cs typeface="Meiryo" pitchFamily="34" charset="-120"/>
                        </a:rPr>
                        <a:t>2・5</a:t>
                      </a:r>
                      <a:endParaRPr lang="en-US" sz="1300" dirty="0">
                        <a:latin typeface="Meiryo" charset="0"/>
                        <a:ea typeface="Meiryo" charset="0"/>
                        <a:cs typeface="Meiryo" charset="0"/>
                      </a:endParaRPr>
                    </a:p>
                  </a:txBody>
                  <a:tcPr marL="91440" marR="91440" marT="45720" marB="45720"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EAF2F8"/>
                    </a:solidFill>
                  </a:tcPr>
                </a:tc>
              </a:tr>
              <a:tr h="457200">
                <a:tc>
                  <a:txBody>
                    <a:bodyPr/>
                    <a:lstStyle/>
                    <a:p>
                      <a:pPr algn="ctr" indent="0" marL="0">
                        <a:buNone/>
                      </a:pPr>
                      <a:r>
                        <a:rPr lang="en-US" sz="1300" b="1" dirty="0">
                          <a:solidFill>
                            <a:srgbClr val="FFFFFF"/>
                          </a:solidFill>
                          <a:latin typeface="Meiryo" pitchFamily="34" charset="0"/>
                          <a:ea typeface="Meiryo" pitchFamily="34" charset="-122"/>
                          <a:cs typeface="Meiryo" pitchFamily="34" charset="-120"/>
                        </a:rPr>
                        <a:t>[2]</a:t>
                      </a:r>
                      <a:endParaRPr lang="en-US" sz="1300" dirty="0">
                        <a:latin typeface="Meiryo" charset="0"/>
                        <a:ea typeface="Meiryo" charset="0"/>
                        <a:cs typeface="Meiryo" charset="0"/>
                      </a:endParaRPr>
                    </a:p>
                  </a:txBody>
                  <a:tcPr marL="91440" marR="91440" marT="45720" marB="45720"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17324D"/>
                    </a:solidFill>
                  </a:tcPr>
                </a:tc>
                <a:tc>
                  <a:txBody>
                    <a:bodyPr/>
                    <a:lstStyle/>
                    <a:p>
                      <a:pPr algn="ctr" indent="0" marL="0">
                        <a:buNone/>
                      </a:pPr>
                      <a:r>
                        <a:rPr lang="en-US" sz="1300" b="1" dirty="0">
                          <a:solidFill>
                            <a:srgbClr val="D9534F"/>
                          </a:solidFill>
                          <a:latin typeface="Meiryo" pitchFamily="34" charset="0"/>
                          <a:ea typeface="Meiryo" pitchFamily="34" charset="-122"/>
                          <a:cs typeface="Meiryo" pitchFamily="34" charset="-120"/>
                        </a:rPr>
                        <a:t>5</a:t>
                      </a:r>
                      <a:endParaRPr lang="en-US" sz="1300" dirty="0">
                        <a:latin typeface="Meiryo" charset="0"/>
                        <a:ea typeface="Meiryo" charset="0"/>
                        <a:cs typeface="Meiryo" charset="0"/>
                      </a:endParaRPr>
                    </a:p>
                  </a:txBody>
                  <a:tcPr marL="91440" marR="91440" marT="45720" marB="45720"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FFFFFF"/>
                          </a:solidFill>
                          <a:latin typeface="Meiryo" pitchFamily="34" charset="0"/>
                          <a:ea typeface="Meiryo" pitchFamily="34" charset="-122"/>
                          <a:cs typeface="Meiryo" pitchFamily="34" charset="-120"/>
                        </a:rPr>
                        <a:t>[8]</a:t>
                      </a:r>
                      <a:endParaRPr lang="en-US" sz="1300" dirty="0">
                        <a:latin typeface="Meiryo" charset="0"/>
                        <a:ea typeface="Meiryo" charset="0"/>
                        <a:cs typeface="Meiryo" charset="0"/>
                      </a:endParaRPr>
                    </a:p>
                  </a:txBody>
                  <a:tcPr marL="91440" marR="91440" marT="45720" marB="45720"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17324D"/>
                    </a:solidFill>
                  </a:tcPr>
                </a:tc>
                <a:tc>
                  <a:txBody>
                    <a:bodyPr/>
                    <a:lstStyle/>
                    <a:p>
                      <a:pPr algn="ctr" indent="0" marL="0">
                        <a:buNone/>
                      </a:pPr>
                      <a:r>
                        <a:rPr lang="en-US" sz="1300" b="1" dirty="0">
                          <a:solidFill>
                            <a:srgbClr val="D9534F"/>
                          </a:solidFill>
                          <a:latin typeface="Meiryo" pitchFamily="34" charset="0"/>
                          <a:ea typeface="Meiryo" pitchFamily="34" charset="-122"/>
                          <a:cs typeface="Meiryo" pitchFamily="34" charset="-120"/>
                        </a:rPr>
                        <a:t>4</a:t>
                      </a:r>
                      <a:endParaRPr lang="en-US" sz="1300" dirty="0">
                        <a:latin typeface="Meiryo" charset="0"/>
                        <a:ea typeface="Meiryo" charset="0"/>
                        <a:cs typeface="Meiryo" charset="0"/>
                      </a:endParaRPr>
                    </a:p>
                  </a:txBody>
                  <a:tcPr marL="91440" marR="91440" marT="45720" marB="45720"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FFFFFF"/>
                          </a:solidFill>
                          <a:latin typeface="Meiryo" pitchFamily="34" charset="0"/>
                          <a:ea typeface="Meiryo" pitchFamily="34" charset="-122"/>
                          <a:cs typeface="Meiryo" pitchFamily="34" charset="-120"/>
                        </a:rPr>
                        <a:t>[14]</a:t>
                      </a:r>
                      <a:endParaRPr lang="en-US" sz="1300" dirty="0">
                        <a:latin typeface="Meiryo" charset="0"/>
                        <a:ea typeface="Meiryo" charset="0"/>
                        <a:cs typeface="Meiryo" charset="0"/>
                      </a:endParaRPr>
                    </a:p>
                  </a:txBody>
                  <a:tcPr marL="91440" marR="91440" marT="45720" marB="45720"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17324D"/>
                    </a:solidFill>
                  </a:tcPr>
                </a:tc>
                <a:tc>
                  <a:txBody>
                    <a:bodyPr/>
                    <a:lstStyle/>
                    <a:p>
                      <a:pPr algn="ctr" indent="0" marL="0">
                        <a:buNone/>
                      </a:pPr>
                      <a:r>
                        <a:rPr lang="en-US" sz="1300" b="1" dirty="0">
                          <a:solidFill>
                            <a:srgbClr val="D9534F"/>
                          </a:solidFill>
                          <a:latin typeface="Meiryo" pitchFamily="34" charset="0"/>
                          <a:ea typeface="Meiryo" pitchFamily="34" charset="-122"/>
                          <a:cs typeface="Meiryo" pitchFamily="34" charset="-120"/>
                        </a:rPr>
                        <a:t>1・4</a:t>
                      </a:r>
                      <a:endParaRPr lang="en-US" sz="1300" dirty="0">
                        <a:latin typeface="Meiryo" charset="0"/>
                        <a:ea typeface="Meiryo" charset="0"/>
                        <a:cs typeface="Meiryo" charset="0"/>
                      </a:endParaRPr>
                    </a:p>
                  </a:txBody>
                  <a:tcPr marL="91440" marR="91440" marT="45720" marB="45720"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FFFFFF"/>
                          </a:solidFill>
                          <a:latin typeface="Meiryo" pitchFamily="34" charset="0"/>
                          <a:ea typeface="Meiryo" pitchFamily="34" charset="-122"/>
                          <a:cs typeface="Meiryo" pitchFamily="34" charset="-120"/>
                        </a:rPr>
                        <a:t>[20]</a:t>
                      </a:r>
                      <a:endParaRPr lang="en-US" sz="1300" dirty="0">
                        <a:latin typeface="Meiryo" charset="0"/>
                        <a:ea typeface="Meiryo" charset="0"/>
                        <a:cs typeface="Meiryo" charset="0"/>
                      </a:endParaRPr>
                    </a:p>
                  </a:txBody>
                  <a:tcPr marL="91440" marR="91440" marT="45720" marB="45720"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17324D"/>
                    </a:solidFill>
                  </a:tcPr>
                </a:tc>
                <a:tc>
                  <a:txBody>
                    <a:bodyPr/>
                    <a:lstStyle/>
                    <a:p>
                      <a:pPr algn="ctr" indent="0" marL="0">
                        <a:buNone/>
                      </a:pPr>
                      <a:r>
                        <a:rPr lang="en-US" sz="1300" b="1" dirty="0">
                          <a:solidFill>
                            <a:srgbClr val="D9534F"/>
                          </a:solidFill>
                          <a:latin typeface="Meiryo" pitchFamily="34" charset="0"/>
                          <a:ea typeface="Meiryo" pitchFamily="34" charset="-122"/>
                          <a:cs typeface="Meiryo" pitchFamily="34" charset="-120"/>
                        </a:rPr>
                        <a:t>3</a:t>
                      </a:r>
                      <a:endParaRPr lang="en-US" sz="1300" dirty="0">
                        <a:latin typeface="Meiryo" charset="0"/>
                        <a:ea typeface="Meiryo" charset="0"/>
                        <a:cs typeface="Meiryo" charset="0"/>
                      </a:endParaRPr>
                    </a:p>
                  </a:txBody>
                  <a:tcPr marL="91440" marR="91440" marT="45720" marB="45720"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FFFFFF"/>
                          </a:solidFill>
                          <a:latin typeface="Meiryo" pitchFamily="34" charset="0"/>
                          <a:ea typeface="Meiryo" pitchFamily="34" charset="-122"/>
                          <a:cs typeface="Meiryo" pitchFamily="34" charset="-120"/>
                        </a:rPr>
                        <a:t>[26]</a:t>
                      </a:r>
                      <a:endParaRPr lang="en-US" sz="1300" dirty="0">
                        <a:latin typeface="Meiryo" charset="0"/>
                        <a:ea typeface="Meiryo" charset="0"/>
                        <a:cs typeface="Meiryo" charset="0"/>
                      </a:endParaRPr>
                    </a:p>
                  </a:txBody>
                  <a:tcPr marL="91440" marR="91440" marT="45720" marB="45720"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17324D"/>
                    </a:solidFill>
                  </a:tcPr>
                </a:tc>
                <a:tc>
                  <a:txBody>
                    <a:bodyPr/>
                    <a:lstStyle/>
                    <a:p>
                      <a:pPr algn="ctr" indent="0" marL="0">
                        <a:buNone/>
                      </a:pPr>
                      <a:r>
                        <a:rPr lang="en-US" sz="1300" b="1" dirty="0">
                          <a:solidFill>
                            <a:srgbClr val="D9534F"/>
                          </a:solidFill>
                          <a:latin typeface="Meiryo" pitchFamily="34" charset="0"/>
                          <a:ea typeface="Meiryo" pitchFamily="34" charset="-122"/>
                          <a:cs typeface="Meiryo" pitchFamily="34" charset="-120"/>
                        </a:rPr>
                        <a:t>3・5</a:t>
                      </a:r>
                      <a:endParaRPr lang="en-US" sz="1300" dirty="0">
                        <a:latin typeface="Meiryo" charset="0"/>
                        <a:ea typeface="Meiryo" charset="0"/>
                        <a:cs typeface="Meiryo" charset="0"/>
                      </a:endParaRPr>
                    </a:p>
                  </a:txBody>
                  <a:tcPr marL="91440" marR="91440" marT="45720" marB="45720"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FFFFFF"/>
                    </a:solidFill>
                  </a:tcPr>
                </a:tc>
              </a:tr>
              <a:tr h="457200">
                <a:tc>
                  <a:txBody>
                    <a:bodyPr/>
                    <a:lstStyle/>
                    <a:p>
                      <a:pPr algn="ctr" indent="0" marL="0">
                        <a:buNone/>
                      </a:pPr>
                      <a:r>
                        <a:rPr lang="en-US" sz="1300" b="1" dirty="0">
                          <a:solidFill>
                            <a:srgbClr val="FFFFFF"/>
                          </a:solidFill>
                          <a:latin typeface="Meiryo" pitchFamily="34" charset="0"/>
                          <a:ea typeface="Meiryo" pitchFamily="34" charset="-122"/>
                          <a:cs typeface="Meiryo" pitchFamily="34" charset="-120"/>
                        </a:rPr>
                        <a:t>[3]</a:t>
                      </a:r>
                      <a:endParaRPr lang="en-US" sz="1300" dirty="0">
                        <a:latin typeface="Meiryo" charset="0"/>
                        <a:ea typeface="Meiryo" charset="0"/>
                        <a:cs typeface="Meiryo" charset="0"/>
                      </a:endParaRPr>
                    </a:p>
                  </a:txBody>
                  <a:tcPr marL="91440" marR="91440" marT="45720" marB="45720"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17324D"/>
                    </a:solidFill>
                  </a:tcPr>
                </a:tc>
                <a:tc>
                  <a:txBody>
                    <a:bodyPr/>
                    <a:lstStyle/>
                    <a:p>
                      <a:pPr algn="ctr" indent="0" marL="0">
                        <a:buNone/>
                      </a:pPr>
                      <a:r>
                        <a:rPr lang="en-US" sz="1300" b="1" dirty="0">
                          <a:solidFill>
                            <a:srgbClr val="D9534F"/>
                          </a:solidFill>
                          <a:latin typeface="Meiryo" pitchFamily="34" charset="0"/>
                          <a:ea typeface="Meiryo" pitchFamily="34" charset="-122"/>
                          <a:cs typeface="Meiryo" pitchFamily="34" charset="-120"/>
                        </a:rPr>
                        <a:t>3・4</a:t>
                      </a:r>
                      <a:endParaRPr lang="en-US" sz="1300" dirty="0">
                        <a:latin typeface="Meiryo" charset="0"/>
                        <a:ea typeface="Meiryo" charset="0"/>
                        <a:cs typeface="Meiryo" charset="0"/>
                      </a:endParaRPr>
                    </a:p>
                  </a:txBody>
                  <a:tcPr marL="91440" marR="91440" marT="45720" marB="45720"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EAF2F8"/>
                    </a:solidFill>
                  </a:tcPr>
                </a:tc>
                <a:tc>
                  <a:txBody>
                    <a:bodyPr/>
                    <a:lstStyle/>
                    <a:p>
                      <a:pPr algn="ctr" indent="0" marL="0">
                        <a:buNone/>
                      </a:pPr>
                      <a:r>
                        <a:rPr lang="en-US" sz="1300" b="1" dirty="0">
                          <a:solidFill>
                            <a:srgbClr val="FFFFFF"/>
                          </a:solidFill>
                          <a:latin typeface="Meiryo" pitchFamily="34" charset="0"/>
                          <a:ea typeface="Meiryo" pitchFamily="34" charset="-122"/>
                          <a:cs typeface="Meiryo" pitchFamily="34" charset="-120"/>
                        </a:rPr>
                        <a:t>[9]</a:t>
                      </a:r>
                      <a:endParaRPr lang="en-US" sz="1300" dirty="0">
                        <a:latin typeface="Meiryo" charset="0"/>
                        <a:ea typeface="Meiryo" charset="0"/>
                        <a:cs typeface="Meiryo" charset="0"/>
                      </a:endParaRPr>
                    </a:p>
                  </a:txBody>
                  <a:tcPr marL="91440" marR="91440" marT="45720" marB="45720"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17324D"/>
                    </a:solidFill>
                  </a:tcPr>
                </a:tc>
                <a:tc>
                  <a:txBody>
                    <a:bodyPr/>
                    <a:lstStyle/>
                    <a:p>
                      <a:pPr algn="ctr" indent="0" marL="0">
                        <a:buNone/>
                      </a:pPr>
                      <a:r>
                        <a:rPr lang="en-US" sz="1300" b="1" dirty="0">
                          <a:solidFill>
                            <a:srgbClr val="D9534F"/>
                          </a:solidFill>
                          <a:latin typeface="Meiryo" pitchFamily="34" charset="0"/>
                          <a:ea typeface="Meiryo" pitchFamily="34" charset="-122"/>
                          <a:cs typeface="Meiryo" pitchFamily="34" charset="-120"/>
                        </a:rPr>
                        <a:t>2</a:t>
                      </a:r>
                      <a:endParaRPr lang="en-US" sz="1300" dirty="0">
                        <a:latin typeface="Meiryo" charset="0"/>
                        <a:ea typeface="Meiryo" charset="0"/>
                        <a:cs typeface="Meiryo" charset="0"/>
                      </a:endParaRPr>
                    </a:p>
                  </a:txBody>
                  <a:tcPr marL="91440" marR="91440" marT="45720" marB="45720"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EAF2F8"/>
                    </a:solidFill>
                  </a:tcPr>
                </a:tc>
                <a:tc>
                  <a:txBody>
                    <a:bodyPr/>
                    <a:lstStyle/>
                    <a:p>
                      <a:pPr algn="ctr" indent="0" marL="0">
                        <a:buNone/>
                      </a:pPr>
                      <a:r>
                        <a:rPr lang="en-US" sz="1300" b="1" dirty="0">
                          <a:solidFill>
                            <a:srgbClr val="FFFFFF"/>
                          </a:solidFill>
                          <a:latin typeface="Meiryo" pitchFamily="34" charset="0"/>
                          <a:ea typeface="Meiryo" pitchFamily="34" charset="-122"/>
                          <a:cs typeface="Meiryo" pitchFamily="34" charset="-120"/>
                        </a:rPr>
                        <a:t>[15]</a:t>
                      </a:r>
                      <a:endParaRPr lang="en-US" sz="1300" dirty="0">
                        <a:latin typeface="Meiryo" charset="0"/>
                        <a:ea typeface="Meiryo" charset="0"/>
                        <a:cs typeface="Meiryo" charset="0"/>
                      </a:endParaRPr>
                    </a:p>
                  </a:txBody>
                  <a:tcPr marL="91440" marR="91440" marT="45720" marB="45720"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17324D"/>
                    </a:solidFill>
                  </a:tcPr>
                </a:tc>
                <a:tc>
                  <a:txBody>
                    <a:bodyPr/>
                    <a:lstStyle/>
                    <a:p>
                      <a:pPr algn="ctr" indent="0" marL="0">
                        <a:buNone/>
                      </a:pPr>
                      <a:r>
                        <a:rPr lang="en-US" sz="1300" b="1" dirty="0">
                          <a:solidFill>
                            <a:srgbClr val="D9534F"/>
                          </a:solidFill>
                          <a:latin typeface="Meiryo" pitchFamily="34" charset="0"/>
                          <a:ea typeface="Meiryo" pitchFamily="34" charset="-122"/>
                          <a:cs typeface="Meiryo" pitchFamily="34" charset="-120"/>
                        </a:rPr>
                        <a:t>2</a:t>
                      </a:r>
                      <a:endParaRPr lang="en-US" sz="1300" dirty="0">
                        <a:latin typeface="Meiryo" charset="0"/>
                        <a:ea typeface="Meiryo" charset="0"/>
                        <a:cs typeface="Meiryo" charset="0"/>
                      </a:endParaRPr>
                    </a:p>
                  </a:txBody>
                  <a:tcPr marL="91440" marR="91440" marT="45720" marB="45720"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EAF2F8"/>
                    </a:solidFill>
                  </a:tcPr>
                </a:tc>
                <a:tc>
                  <a:txBody>
                    <a:bodyPr/>
                    <a:lstStyle/>
                    <a:p>
                      <a:pPr algn="ctr" indent="0" marL="0">
                        <a:buNone/>
                      </a:pPr>
                      <a:r>
                        <a:rPr lang="en-US" sz="1300" b="1" dirty="0">
                          <a:solidFill>
                            <a:srgbClr val="FFFFFF"/>
                          </a:solidFill>
                          <a:latin typeface="Meiryo" pitchFamily="34" charset="0"/>
                          <a:ea typeface="Meiryo" pitchFamily="34" charset="-122"/>
                          <a:cs typeface="Meiryo" pitchFamily="34" charset="-120"/>
                        </a:rPr>
                        <a:t>[21]</a:t>
                      </a:r>
                      <a:endParaRPr lang="en-US" sz="1300" dirty="0">
                        <a:latin typeface="Meiryo" charset="0"/>
                        <a:ea typeface="Meiryo" charset="0"/>
                        <a:cs typeface="Meiryo" charset="0"/>
                      </a:endParaRPr>
                    </a:p>
                  </a:txBody>
                  <a:tcPr marL="91440" marR="91440" marT="45720" marB="45720"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17324D"/>
                    </a:solidFill>
                  </a:tcPr>
                </a:tc>
                <a:tc>
                  <a:txBody>
                    <a:bodyPr/>
                    <a:lstStyle/>
                    <a:p>
                      <a:pPr algn="ctr" indent="0" marL="0">
                        <a:buNone/>
                      </a:pPr>
                      <a:r>
                        <a:rPr lang="en-US" sz="1300" b="1" dirty="0">
                          <a:solidFill>
                            <a:srgbClr val="D9534F"/>
                          </a:solidFill>
                          <a:latin typeface="Meiryo" pitchFamily="34" charset="0"/>
                          <a:ea typeface="Meiryo" pitchFamily="34" charset="-122"/>
                          <a:cs typeface="Meiryo" pitchFamily="34" charset="-120"/>
                        </a:rPr>
                        <a:t>1・3</a:t>
                      </a:r>
                      <a:endParaRPr lang="en-US" sz="1300" dirty="0">
                        <a:latin typeface="Meiryo" charset="0"/>
                        <a:ea typeface="Meiryo" charset="0"/>
                        <a:cs typeface="Meiryo" charset="0"/>
                      </a:endParaRPr>
                    </a:p>
                  </a:txBody>
                  <a:tcPr marL="91440" marR="91440" marT="45720" marB="45720"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EAF2F8"/>
                    </a:solidFill>
                  </a:tcPr>
                </a:tc>
                <a:tc>
                  <a:txBody>
                    <a:bodyPr/>
                    <a:lstStyle/>
                    <a:p>
                      <a:pPr algn="ctr" indent="0" marL="0">
                        <a:buNone/>
                      </a:pPr>
                      <a:r>
                        <a:rPr lang="en-US" sz="1300" b="1" dirty="0">
                          <a:solidFill>
                            <a:srgbClr val="FFFFFF"/>
                          </a:solidFill>
                          <a:latin typeface="Meiryo" pitchFamily="34" charset="0"/>
                          <a:ea typeface="Meiryo" pitchFamily="34" charset="-122"/>
                          <a:cs typeface="Meiryo" pitchFamily="34" charset="-120"/>
                        </a:rPr>
                        <a:t>[27]</a:t>
                      </a:r>
                      <a:endParaRPr lang="en-US" sz="1300" dirty="0">
                        <a:latin typeface="Meiryo" charset="0"/>
                        <a:ea typeface="Meiryo" charset="0"/>
                        <a:cs typeface="Meiryo" charset="0"/>
                      </a:endParaRPr>
                    </a:p>
                  </a:txBody>
                  <a:tcPr marL="91440" marR="91440" marT="45720" marB="45720"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17324D"/>
                    </a:solidFill>
                  </a:tcPr>
                </a:tc>
                <a:tc>
                  <a:txBody>
                    <a:bodyPr/>
                    <a:lstStyle/>
                    <a:p>
                      <a:pPr algn="ctr" indent="0" marL="0">
                        <a:buNone/>
                      </a:pPr>
                      <a:r>
                        <a:rPr lang="en-US" sz="1300" b="1" dirty="0">
                          <a:solidFill>
                            <a:srgbClr val="D9534F"/>
                          </a:solidFill>
                          <a:latin typeface="Meiryo" pitchFamily="34" charset="0"/>
                          <a:ea typeface="Meiryo" pitchFamily="34" charset="-122"/>
                          <a:cs typeface="Meiryo" pitchFamily="34" charset="-120"/>
                        </a:rPr>
                        <a:t>3</a:t>
                      </a:r>
                      <a:endParaRPr lang="en-US" sz="1300" dirty="0">
                        <a:latin typeface="Meiryo" charset="0"/>
                        <a:ea typeface="Meiryo" charset="0"/>
                        <a:cs typeface="Meiryo" charset="0"/>
                      </a:endParaRPr>
                    </a:p>
                  </a:txBody>
                  <a:tcPr marL="91440" marR="91440" marT="45720" marB="45720"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EAF2F8"/>
                    </a:solidFill>
                  </a:tcPr>
                </a:tc>
              </a:tr>
              <a:tr h="457200">
                <a:tc>
                  <a:txBody>
                    <a:bodyPr/>
                    <a:lstStyle/>
                    <a:p>
                      <a:pPr algn="ctr" indent="0" marL="0">
                        <a:buNone/>
                      </a:pPr>
                      <a:r>
                        <a:rPr lang="en-US" sz="1300" b="1" dirty="0">
                          <a:solidFill>
                            <a:srgbClr val="FFFFFF"/>
                          </a:solidFill>
                          <a:latin typeface="Meiryo" pitchFamily="34" charset="0"/>
                          <a:ea typeface="Meiryo" pitchFamily="34" charset="-122"/>
                          <a:cs typeface="Meiryo" pitchFamily="34" charset="-120"/>
                        </a:rPr>
                        <a:t>[4]</a:t>
                      </a:r>
                      <a:endParaRPr lang="en-US" sz="1300" dirty="0">
                        <a:latin typeface="Meiryo" charset="0"/>
                        <a:ea typeface="Meiryo" charset="0"/>
                        <a:cs typeface="Meiryo" charset="0"/>
                      </a:endParaRPr>
                    </a:p>
                  </a:txBody>
                  <a:tcPr marL="91440" marR="91440" marT="45720" marB="45720"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17324D"/>
                    </a:solidFill>
                  </a:tcPr>
                </a:tc>
                <a:tc>
                  <a:txBody>
                    <a:bodyPr/>
                    <a:lstStyle/>
                    <a:p>
                      <a:pPr algn="ctr" indent="0" marL="0">
                        <a:buNone/>
                      </a:pPr>
                      <a:r>
                        <a:rPr lang="en-US" sz="1300" b="1" dirty="0">
                          <a:solidFill>
                            <a:srgbClr val="D9534F"/>
                          </a:solidFill>
                          <a:latin typeface="Meiryo" pitchFamily="34" charset="0"/>
                          <a:ea typeface="Meiryo" pitchFamily="34" charset="-122"/>
                          <a:cs typeface="Meiryo" pitchFamily="34" charset="-120"/>
                        </a:rPr>
                        <a:t>5</a:t>
                      </a:r>
                      <a:endParaRPr lang="en-US" sz="1300" dirty="0">
                        <a:latin typeface="Meiryo" charset="0"/>
                        <a:ea typeface="Meiryo" charset="0"/>
                        <a:cs typeface="Meiryo" charset="0"/>
                      </a:endParaRPr>
                    </a:p>
                  </a:txBody>
                  <a:tcPr marL="91440" marR="91440" marT="45720" marB="45720"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FFFFFF"/>
                          </a:solidFill>
                          <a:latin typeface="Meiryo" pitchFamily="34" charset="0"/>
                          <a:ea typeface="Meiryo" pitchFamily="34" charset="-122"/>
                          <a:cs typeface="Meiryo" pitchFamily="34" charset="-120"/>
                        </a:rPr>
                        <a:t>[10]</a:t>
                      </a:r>
                      <a:endParaRPr lang="en-US" sz="1300" dirty="0">
                        <a:latin typeface="Meiryo" charset="0"/>
                        <a:ea typeface="Meiryo" charset="0"/>
                        <a:cs typeface="Meiryo" charset="0"/>
                      </a:endParaRPr>
                    </a:p>
                  </a:txBody>
                  <a:tcPr marL="91440" marR="91440" marT="45720" marB="45720"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17324D"/>
                    </a:solidFill>
                  </a:tcPr>
                </a:tc>
                <a:tc>
                  <a:txBody>
                    <a:bodyPr/>
                    <a:lstStyle/>
                    <a:p>
                      <a:pPr algn="ctr" indent="0" marL="0">
                        <a:buNone/>
                      </a:pPr>
                      <a:r>
                        <a:rPr lang="en-US" sz="1300" b="1" dirty="0">
                          <a:solidFill>
                            <a:srgbClr val="D9534F"/>
                          </a:solidFill>
                          <a:latin typeface="Meiryo" pitchFamily="34" charset="0"/>
                          <a:ea typeface="Meiryo" pitchFamily="34" charset="-122"/>
                          <a:cs typeface="Meiryo" pitchFamily="34" charset="-120"/>
                        </a:rPr>
                        <a:t>4</a:t>
                      </a:r>
                      <a:endParaRPr lang="en-US" sz="1300" dirty="0">
                        <a:latin typeface="Meiryo" charset="0"/>
                        <a:ea typeface="Meiryo" charset="0"/>
                        <a:cs typeface="Meiryo" charset="0"/>
                      </a:endParaRPr>
                    </a:p>
                  </a:txBody>
                  <a:tcPr marL="91440" marR="91440" marT="45720" marB="45720"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FFFFFF"/>
                          </a:solidFill>
                          <a:latin typeface="Meiryo" pitchFamily="34" charset="0"/>
                          <a:ea typeface="Meiryo" pitchFamily="34" charset="-122"/>
                          <a:cs typeface="Meiryo" pitchFamily="34" charset="-120"/>
                        </a:rPr>
                        <a:t>[16]</a:t>
                      </a:r>
                      <a:endParaRPr lang="en-US" sz="1300" dirty="0">
                        <a:latin typeface="Meiryo" charset="0"/>
                        <a:ea typeface="Meiryo" charset="0"/>
                        <a:cs typeface="Meiryo" charset="0"/>
                      </a:endParaRPr>
                    </a:p>
                  </a:txBody>
                  <a:tcPr marL="91440" marR="91440" marT="45720" marB="45720"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17324D"/>
                    </a:solidFill>
                  </a:tcPr>
                </a:tc>
                <a:tc>
                  <a:txBody>
                    <a:bodyPr/>
                    <a:lstStyle/>
                    <a:p>
                      <a:pPr algn="ctr" indent="0" marL="0">
                        <a:buNone/>
                      </a:pPr>
                      <a:r>
                        <a:rPr lang="en-US" sz="1300" b="1" dirty="0">
                          <a:solidFill>
                            <a:srgbClr val="D9534F"/>
                          </a:solidFill>
                          <a:latin typeface="Meiryo" pitchFamily="34" charset="0"/>
                          <a:ea typeface="Meiryo" pitchFamily="34" charset="-122"/>
                          <a:cs typeface="Meiryo" pitchFamily="34" charset="-120"/>
                        </a:rPr>
                        <a:t>4</a:t>
                      </a:r>
                      <a:endParaRPr lang="en-US" sz="1300" dirty="0">
                        <a:latin typeface="Meiryo" charset="0"/>
                        <a:ea typeface="Meiryo" charset="0"/>
                        <a:cs typeface="Meiryo" charset="0"/>
                      </a:endParaRPr>
                    </a:p>
                  </a:txBody>
                  <a:tcPr marL="91440" marR="91440" marT="45720" marB="45720"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FFFFFF"/>
                          </a:solidFill>
                          <a:latin typeface="Meiryo" pitchFamily="34" charset="0"/>
                          <a:ea typeface="Meiryo" pitchFamily="34" charset="-122"/>
                          <a:cs typeface="Meiryo" pitchFamily="34" charset="-120"/>
                        </a:rPr>
                        <a:t>[22]</a:t>
                      </a:r>
                      <a:endParaRPr lang="en-US" sz="1300" dirty="0">
                        <a:latin typeface="Meiryo" charset="0"/>
                        <a:ea typeface="Meiryo" charset="0"/>
                        <a:cs typeface="Meiryo" charset="0"/>
                      </a:endParaRPr>
                    </a:p>
                  </a:txBody>
                  <a:tcPr marL="91440" marR="91440" marT="45720" marB="45720"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17324D"/>
                    </a:solidFill>
                  </a:tcPr>
                </a:tc>
                <a:tc>
                  <a:txBody>
                    <a:bodyPr/>
                    <a:lstStyle/>
                    <a:p>
                      <a:pPr algn="ctr" indent="0" marL="0">
                        <a:buNone/>
                      </a:pPr>
                      <a:r>
                        <a:rPr lang="en-US" sz="1300" b="1" dirty="0">
                          <a:solidFill>
                            <a:srgbClr val="D9534F"/>
                          </a:solidFill>
                          <a:latin typeface="Meiryo" pitchFamily="34" charset="0"/>
                          <a:ea typeface="Meiryo" pitchFamily="34" charset="-122"/>
                          <a:cs typeface="Meiryo" pitchFamily="34" charset="-120"/>
                        </a:rPr>
                        <a:t>1</a:t>
                      </a:r>
                      <a:endParaRPr lang="en-US" sz="1300" dirty="0">
                        <a:latin typeface="Meiryo" charset="0"/>
                        <a:ea typeface="Meiryo" charset="0"/>
                        <a:cs typeface="Meiryo" charset="0"/>
                      </a:endParaRPr>
                    </a:p>
                  </a:txBody>
                  <a:tcPr marL="91440" marR="91440" marT="45720" marB="45720"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FFFFFF"/>
                          </a:solidFill>
                          <a:latin typeface="Meiryo" pitchFamily="34" charset="0"/>
                          <a:ea typeface="Meiryo" pitchFamily="34" charset="-122"/>
                          <a:cs typeface="Meiryo" pitchFamily="34" charset="-120"/>
                        </a:rPr>
                        <a:t>[28]</a:t>
                      </a:r>
                      <a:endParaRPr lang="en-US" sz="1300" dirty="0">
                        <a:latin typeface="Meiryo" charset="0"/>
                        <a:ea typeface="Meiryo" charset="0"/>
                        <a:cs typeface="Meiryo" charset="0"/>
                      </a:endParaRPr>
                    </a:p>
                  </a:txBody>
                  <a:tcPr marL="91440" marR="91440" marT="45720" marB="45720"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17324D"/>
                    </a:solidFill>
                  </a:tcPr>
                </a:tc>
                <a:tc>
                  <a:txBody>
                    <a:bodyPr/>
                    <a:lstStyle/>
                    <a:p>
                      <a:pPr algn="ctr" indent="0" marL="0">
                        <a:buNone/>
                      </a:pPr>
                      <a:r>
                        <a:rPr lang="en-US" sz="1300" b="1" dirty="0">
                          <a:solidFill>
                            <a:srgbClr val="D9534F"/>
                          </a:solidFill>
                          <a:latin typeface="Meiryo" pitchFamily="34" charset="0"/>
                          <a:ea typeface="Meiryo" pitchFamily="34" charset="-122"/>
                          <a:cs typeface="Meiryo" pitchFamily="34" charset="-120"/>
                        </a:rPr>
                        <a:t>2</a:t>
                      </a:r>
                      <a:endParaRPr lang="en-US" sz="1300" dirty="0">
                        <a:latin typeface="Meiryo" charset="0"/>
                        <a:ea typeface="Meiryo" charset="0"/>
                        <a:cs typeface="Meiryo" charset="0"/>
                      </a:endParaRPr>
                    </a:p>
                  </a:txBody>
                  <a:tcPr marL="91440" marR="91440" marT="45720" marB="45720"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FFFFFF"/>
                    </a:solidFill>
                  </a:tcPr>
                </a:tc>
              </a:tr>
              <a:tr h="457200">
                <a:tc>
                  <a:txBody>
                    <a:bodyPr/>
                    <a:lstStyle/>
                    <a:p>
                      <a:pPr algn="ctr" indent="0" marL="0">
                        <a:buNone/>
                      </a:pPr>
                      <a:r>
                        <a:rPr lang="en-US" sz="1300" b="1" dirty="0">
                          <a:solidFill>
                            <a:srgbClr val="FFFFFF"/>
                          </a:solidFill>
                          <a:latin typeface="Meiryo" pitchFamily="34" charset="0"/>
                          <a:ea typeface="Meiryo" pitchFamily="34" charset="-122"/>
                          <a:cs typeface="Meiryo" pitchFamily="34" charset="-120"/>
                        </a:rPr>
                        <a:t>[5]</a:t>
                      </a:r>
                      <a:endParaRPr lang="en-US" sz="1300" dirty="0">
                        <a:latin typeface="Meiryo" charset="0"/>
                        <a:ea typeface="Meiryo" charset="0"/>
                        <a:cs typeface="Meiryo" charset="0"/>
                      </a:endParaRPr>
                    </a:p>
                  </a:txBody>
                  <a:tcPr marL="91440" marR="91440" marT="45720" marB="45720"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17324D"/>
                    </a:solidFill>
                  </a:tcPr>
                </a:tc>
                <a:tc>
                  <a:txBody>
                    <a:bodyPr/>
                    <a:lstStyle/>
                    <a:p>
                      <a:pPr algn="ctr" indent="0" marL="0">
                        <a:buNone/>
                      </a:pPr>
                      <a:r>
                        <a:rPr lang="en-US" sz="1300" b="1" dirty="0">
                          <a:solidFill>
                            <a:srgbClr val="D9534F"/>
                          </a:solidFill>
                          <a:latin typeface="Meiryo" pitchFamily="34" charset="0"/>
                          <a:ea typeface="Meiryo" pitchFamily="34" charset="-122"/>
                          <a:cs typeface="Meiryo" pitchFamily="34" charset="-120"/>
                        </a:rPr>
                        <a:t>2・3</a:t>
                      </a:r>
                      <a:endParaRPr lang="en-US" sz="1300" dirty="0">
                        <a:latin typeface="Meiryo" charset="0"/>
                        <a:ea typeface="Meiryo" charset="0"/>
                        <a:cs typeface="Meiryo" charset="0"/>
                      </a:endParaRPr>
                    </a:p>
                  </a:txBody>
                  <a:tcPr marL="91440" marR="91440" marT="45720" marB="45720"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EAF2F8"/>
                    </a:solidFill>
                  </a:tcPr>
                </a:tc>
                <a:tc>
                  <a:txBody>
                    <a:bodyPr/>
                    <a:lstStyle/>
                    <a:p>
                      <a:pPr algn="ctr" indent="0" marL="0">
                        <a:buNone/>
                      </a:pPr>
                      <a:r>
                        <a:rPr lang="en-US" sz="1300" b="1" dirty="0">
                          <a:solidFill>
                            <a:srgbClr val="FFFFFF"/>
                          </a:solidFill>
                          <a:latin typeface="Meiryo" pitchFamily="34" charset="0"/>
                          <a:ea typeface="Meiryo" pitchFamily="34" charset="-122"/>
                          <a:cs typeface="Meiryo" pitchFamily="34" charset="-120"/>
                        </a:rPr>
                        <a:t>[11]</a:t>
                      </a:r>
                      <a:endParaRPr lang="en-US" sz="1300" dirty="0">
                        <a:latin typeface="Meiryo" charset="0"/>
                        <a:ea typeface="Meiryo" charset="0"/>
                        <a:cs typeface="Meiryo" charset="0"/>
                      </a:endParaRPr>
                    </a:p>
                  </a:txBody>
                  <a:tcPr marL="91440" marR="91440" marT="45720" marB="45720"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17324D"/>
                    </a:solidFill>
                  </a:tcPr>
                </a:tc>
                <a:tc>
                  <a:txBody>
                    <a:bodyPr/>
                    <a:lstStyle/>
                    <a:p>
                      <a:pPr algn="ctr" indent="0" marL="0">
                        <a:buNone/>
                      </a:pPr>
                      <a:r>
                        <a:rPr lang="en-US" sz="1300" b="1" dirty="0">
                          <a:solidFill>
                            <a:srgbClr val="D9534F"/>
                          </a:solidFill>
                          <a:latin typeface="Meiryo" pitchFamily="34" charset="0"/>
                          <a:ea typeface="Meiryo" pitchFamily="34" charset="-122"/>
                          <a:cs typeface="Meiryo" pitchFamily="34" charset="-120"/>
                        </a:rPr>
                        <a:t>4</a:t>
                      </a:r>
                      <a:endParaRPr lang="en-US" sz="1300" dirty="0">
                        <a:latin typeface="Meiryo" charset="0"/>
                        <a:ea typeface="Meiryo" charset="0"/>
                        <a:cs typeface="Meiryo" charset="0"/>
                      </a:endParaRPr>
                    </a:p>
                  </a:txBody>
                  <a:tcPr marL="91440" marR="91440" marT="45720" marB="45720"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EAF2F8"/>
                    </a:solidFill>
                  </a:tcPr>
                </a:tc>
                <a:tc>
                  <a:txBody>
                    <a:bodyPr/>
                    <a:lstStyle/>
                    <a:p>
                      <a:pPr algn="ctr" indent="0" marL="0">
                        <a:buNone/>
                      </a:pPr>
                      <a:r>
                        <a:rPr lang="en-US" sz="1300" b="1" dirty="0">
                          <a:solidFill>
                            <a:srgbClr val="FFFFFF"/>
                          </a:solidFill>
                          <a:latin typeface="Meiryo" pitchFamily="34" charset="0"/>
                          <a:ea typeface="Meiryo" pitchFamily="34" charset="-122"/>
                          <a:cs typeface="Meiryo" pitchFamily="34" charset="-120"/>
                        </a:rPr>
                        <a:t>[17]</a:t>
                      </a:r>
                      <a:endParaRPr lang="en-US" sz="1300" dirty="0">
                        <a:latin typeface="Meiryo" charset="0"/>
                        <a:ea typeface="Meiryo" charset="0"/>
                        <a:cs typeface="Meiryo" charset="0"/>
                      </a:endParaRPr>
                    </a:p>
                  </a:txBody>
                  <a:tcPr marL="91440" marR="91440" marT="45720" marB="45720"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17324D"/>
                    </a:solidFill>
                  </a:tcPr>
                </a:tc>
                <a:tc>
                  <a:txBody>
                    <a:bodyPr/>
                    <a:lstStyle/>
                    <a:p>
                      <a:pPr algn="ctr" indent="0" marL="0">
                        <a:buNone/>
                      </a:pPr>
                      <a:r>
                        <a:rPr lang="en-US" sz="1300" b="1" dirty="0">
                          <a:solidFill>
                            <a:srgbClr val="D9534F"/>
                          </a:solidFill>
                          <a:latin typeface="Meiryo" pitchFamily="34" charset="0"/>
                          <a:ea typeface="Meiryo" pitchFamily="34" charset="-122"/>
                          <a:cs typeface="Meiryo" pitchFamily="34" charset="-120"/>
                        </a:rPr>
                        <a:t>3</a:t>
                      </a:r>
                      <a:endParaRPr lang="en-US" sz="1300" dirty="0">
                        <a:latin typeface="Meiryo" charset="0"/>
                        <a:ea typeface="Meiryo" charset="0"/>
                        <a:cs typeface="Meiryo" charset="0"/>
                      </a:endParaRPr>
                    </a:p>
                  </a:txBody>
                  <a:tcPr marL="91440" marR="91440" marT="45720" marB="45720"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EAF2F8"/>
                    </a:solidFill>
                  </a:tcPr>
                </a:tc>
                <a:tc>
                  <a:txBody>
                    <a:bodyPr/>
                    <a:lstStyle/>
                    <a:p>
                      <a:pPr algn="ctr" indent="0" marL="0">
                        <a:buNone/>
                      </a:pPr>
                      <a:r>
                        <a:rPr lang="en-US" sz="1300" b="1" dirty="0">
                          <a:solidFill>
                            <a:srgbClr val="FFFFFF"/>
                          </a:solidFill>
                          <a:latin typeface="Meiryo" pitchFamily="34" charset="0"/>
                          <a:ea typeface="Meiryo" pitchFamily="34" charset="-122"/>
                          <a:cs typeface="Meiryo" pitchFamily="34" charset="-120"/>
                        </a:rPr>
                        <a:t>[23]</a:t>
                      </a:r>
                      <a:endParaRPr lang="en-US" sz="1300" dirty="0">
                        <a:latin typeface="Meiryo" charset="0"/>
                        <a:ea typeface="Meiryo" charset="0"/>
                        <a:cs typeface="Meiryo" charset="0"/>
                      </a:endParaRPr>
                    </a:p>
                  </a:txBody>
                  <a:tcPr marL="91440" marR="91440" marT="45720" marB="45720"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17324D"/>
                    </a:solidFill>
                  </a:tcPr>
                </a:tc>
                <a:tc>
                  <a:txBody>
                    <a:bodyPr/>
                    <a:lstStyle/>
                    <a:p>
                      <a:pPr algn="ctr" indent="0" marL="0">
                        <a:buNone/>
                      </a:pPr>
                      <a:r>
                        <a:rPr lang="en-US" sz="1300" b="1" dirty="0">
                          <a:solidFill>
                            <a:srgbClr val="D9534F"/>
                          </a:solidFill>
                          <a:latin typeface="Meiryo" pitchFamily="34" charset="0"/>
                          <a:ea typeface="Meiryo" pitchFamily="34" charset="-122"/>
                          <a:cs typeface="Meiryo" pitchFamily="34" charset="-120"/>
                        </a:rPr>
                        <a:t>4</a:t>
                      </a:r>
                      <a:endParaRPr lang="en-US" sz="1300" dirty="0">
                        <a:latin typeface="Meiryo" charset="0"/>
                        <a:ea typeface="Meiryo" charset="0"/>
                        <a:cs typeface="Meiryo" charset="0"/>
                      </a:endParaRPr>
                    </a:p>
                  </a:txBody>
                  <a:tcPr marL="91440" marR="91440" marT="45720" marB="45720"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EAF2F8"/>
                    </a:solidFill>
                  </a:tcPr>
                </a:tc>
                <a:tc>
                  <a:txBody>
                    <a:bodyPr/>
                    <a:lstStyle/>
                    <a:p>
                      <a:pPr algn="ctr" indent="0" marL="0">
                        <a:buNone/>
                      </a:pPr>
                      <a:r>
                        <a:rPr lang="en-US" sz="1300" b="1" dirty="0">
                          <a:solidFill>
                            <a:srgbClr val="FFFFFF"/>
                          </a:solidFill>
                          <a:latin typeface="Meiryo" pitchFamily="34" charset="0"/>
                          <a:ea typeface="Meiryo" pitchFamily="34" charset="-122"/>
                          <a:cs typeface="Meiryo" pitchFamily="34" charset="-120"/>
                        </a:rPr>
                        <a:t>[29]</a:t>
                      </a:r>
                      <a:endParaRPr lang="en-US" sz="1300" dirty="0">
                        <a:latin typeface="Meiryo" charset="0"/>
                        <a:ea typeface="Meiryo" charset="0"/>
                        <a:cs typeface="Meiryo" charset="0"/>
                      </a:endParaRPr>
                    </a:p>
                  </a:txBody>
                  <a:tcPr marL="91440" marR="91440" marT="45720" marB="45720"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17324D"/>
                    </a:solidFill>
                  </a:tcPr>
                </a:tc>
                <a:tc>
                  <a:txBody>
                    <a:bodyPr/>
                    <a:lstStyle/>
                    <a:p>
                      <a:pPr algn="ctr" indent="0" marL="0">
                        <a:buNone/>
                      </a:pPr>
                      <a:r>
                        <a:rPr lang="en-US" sz="1300" b="1" dirty="0">
                          <a:solidFill>
                            <a:srgbClr val="D9534F"/>
                          </a:solidFill>
                          <a:latin typeface="Meiryo" pitchFamily="34" charset="0"/>
                          <a:ea typeface="Meiryo" pitchFamily="34" charset="-122"/>
                          <a:cs typeface="Meiryo" pitchFamily="34" charset="-120"/>
                        </a:rPr>
                        <a:t>5</a:t>
                      </a:r>
                      <a:endParaRPr lang="en-US" sz="1300" dirty="0">
                        <a:latin typeface="Meiryo" charset="0"/>
                        <a:ea typeface="Meiryo" charset="0"/>
                        <a:cs typeface="Meiryo" charset="0"/>
                      </a:endParaRPr>
                    </a:p>
                  </a:txBody>
                  <a:tcPr marL="91440" marR="91440" marT="45720" marB="45720"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EAF2F8"/>
                    </a:solidFill>
                  </a:tcPr>
                </a:tc>
              </a:tr>
              <a:tr h="457200">
                <a:tc>
                  <a:txBody>
                    <a:bodyPr/>
                    <a:lstStyle/>
                    <a:p>
                      <a:pPr algn="ctr" indent="0" marL="0">
                        <a:buNone/>
                      </a:pPr>
                      <a:r>
                        <a:rPr lang="en-US" sz="1300" b="1" dirty="0">
                          <a:solidFill>
                            <a:srgbClr val="FFFFFF"/>
                          </a:solidFill>
                          <a:latin typeface="Meiryo" pitchFamily="34" charset="0"/>
                          <a:ea typeface="Meiryo" pitchFamily="34" charset="-122"/>
                          <a:cs typeface="Meiryo" pitchFamily="34" charset="-120"/>
                        </a:rPr>
                        <a:t>[6]</a:t>
                      </a:r>
                      <a:endParaRPr lang="en-US" sz="1300" dirty="0">
                        <a:latin typeface="Meiryo" charset="0"/>
                        <a:ea typeface="Meiryo" charset="0"/>
                        <a:cs typeface="Meiryo" charset="0"/>
                      </a:endParaRPr>
                    </a:p>
                  </a:txBody>
                  <a:tcPr marL="91440" marR="91440" marT="45720" marB="45720"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17324D"/>
                    </a:solidFill>
                  </a:tcPr>
                </a:tc>
                <a:tc>
                  <a:txBody>
                    <a:bodyPr/>
                    <a:lstStyle/>
                    <a:p>
                      <a:pPr algn="ctr" indent="0" marL="0">
                        <a:buNone/>
                      </a:pPr>
                      <a:r>
                        <a:rPr lang="en-US" sz="1300" b="1" dirty="0">
                          <a:solidFill>
                            <a:srgbClr val="D9534F"/>
                          </a:solidFill>
                          <a:latin typeface="Meiryo" pitchFamily="34" charset="0"/>
                          <a:ea typeface="Meiryo" pitchFamily="34" charset="-122"/>
                          <a:cs typeface="Meiryo" pitchFamily="34" charset="-120"/>
                        </a:rPr>
                        <a:t>2</a:t>
                      </a:r>
                      <a:endParaRPr lang="en-US" sz="1300" dirty="0">
                        <a:latin typeface="Meiryo" charset="0"/>
                        <a:ea typeface="Meiryo" charset="0"/>
                        <a:cs typeface="Meiryo" charset="0"/>
                      </a:endParaRPr>
                    </a:p>
                  </a:txBody>
                  <a:tcPr marL="91440" marR="91440" marT="45720" marB="45720"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FFFFFF"/>
                          </a:solidFill>
                          <a:latin typeface="Meiryo" pitchFamily="34" charset="0"/>
                          <a:ea typeface="Meiryo" pitchFamily="34" charset="-122"/>
                          <a:cs typeface="Meiryo" pitchFamily="34" charset="-120"/>
                        </a:rPr>
                        <a:t>[12]</a:t>
                      </a:r>
                      <a:endParaRPr lang="en-US" sz="1300" dirty="0">
                        <a:latin typeface="Meiryo" charset="0"/>
                        <a:ea typeface="Meiryo" charset="0"/>
                        <a:cs typeface="Meiryo" charset="0"/>
                      </a:endParaRPr>
                    </a:p>
                  </a:txBody>
                  <a:tcPr marL="91440" marR="91440" marT="45720" marB="45720"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17324D"/>
                    </a:solidFill>
                  </a:tcPr>
                </a:tc>
                <a:tc>
                  <a:txBody>
                    <a:bodyPr/>
                    <a:lstStyle/>
                    <a:p>
                      <a:pPr algn="ctr" indent="0" marL="0">
                        <a:buNone/>
                      </a:pPr>
                      <a:r>
                        <a:rPr lang="en-US" sz="1300" b="1" dirty="0">
                          <a:solidFill>
                            <a:srgbClr val="D9534F"/>
                          </a:solidFill>
                          <a:latin typeface="Meiryo" pitchFamily="34" charset="0"/>
                          <a:ea typeface="Meiryo" pitchFamily="34" charset="-122"/>
                          <a:cs typeface="Meiryo" pitchFamily="34" charset="-120"/>
                        </a:rPr>
                        <a:t>3</a:t>
                      </a:r>
                      <a:endParaRPr lang="en-US" sz="1300" dirty="0">
                        <a:latin typeface="Meiryo" charset="0"/>
                        <a:ea typeface="Meiryo" charset="0"/>
                        <a:cs typeface="Meiryo" charset="0"/>
                      </a:endParaRPr>
                    </a:p>
                  </a:txBody>
                  <a:tcPr marL="91440" marR="91440" marT="45720" marB="45720"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FFFFFF"/>
                          </a:solidFill>
                          <a:latin typeface="Meiryo" pitchFamily="34" charset="0"/>
                          <a:ea typeface="Meiryo" pitchFamily="34" charset="-122"/>
                          <a:cs typeface="Meiryo" pitchFamily="34" charset="-120"/>
                        </a:rPr>
                        <a:t>[18]</a:t>
                      </a:r>
                      <a:endParaRPr lang="en-US" sz="1300" dirty="0">
                        <a:latin typeface="Meiryo" charset="0"/>
                        <a:ea typeface="Meiryo" charset="0"/>
                        <a:cs typeface="Meiryo" charset="0"/>
                      </a:endParaRPr>
                    </a:p>
                  </a:txBody>
                  <a:tcPr marL="91440" marR="91440" marT="45720" marB="45720"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17324D"/>
                    </a:solidFill>
                  </a:tcPr>
                </a:tc>
                <a:tc>
                  <a:txBody>
                    <a:bodyPr/>
                    <a:lstStyle/>
                    <a:p>
                      <a:pPr algn="ctr" indent="0" marL="0">
                        <a:buNone/>
                      </a:pPr>
                      <a:r>
                        <a:rPr lang="en-US" sz="1300" b="1" dirty="0">
                          <a:solidFill>
                            <a:srgbClr val="D9534F"/>
                          </a:solidFill>
                          <a:latin typeface="Meiryo" pitchFamily="34" charset="0"/>
                          <a:ea typeface="Meiryo" pitchFamily="34" charset="-122"/>
                          <a:cs typeface="Meiryo" pitchFamily="34" charset="-120"/>
                        </a:rPr>
                        <a:t>1</a:t>
                      </a:r>
                      <a:endParaRPr lang="en-US" sz="1300" dirty="0">
                        <a:latin typeface="Meiryo" charset="0"/>
                        <a:ea typeface="Meiryo" charset="0"/>
                        <a:cs typeface="Meiryo" charset="0"/>
                      </a:endParaRPr>
                    </a:p>
                  </a:txBody>
                  <a:tcPr marL="91440" marR="91440" marT="45720" marB="45720"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FFFFFF"/>
                          </a:solidFill>
                          <a:latin typeface="Meiryo" pitchFamily="34" charset="0"/>
                          <a:ea typeface="Meiryo" pitchFamily="34" charset="-122"/>
                          <a:cs typeface="Meiryo" pitchFamily="34" charset="-120"/>
                        </a:rPr>
                        <a:t>[24]</a:t>
                      </a:r>
                      <a:endParaRPr lang="en-US" sz="1300" dirty="0">
                        <a:latin typeface="Meiryo" charset="0"/>
                        <a:ea typeface="Meiryo" charset="0"/>
                        <a:cs typeface="Meiryo" charset="0"/>
                      </a:endParaRPr>
                    </a:p>
                  </a:txBody>
                  <a:tcPr marL="91440" marR="91440" marT="45720" marB="45720"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17324D"/>
                    </a:solidFill>
                  </a:tcPr>
                </a:tc>
                <a:tc>
                  <a:txBody>
                    <a:bodyPr/>
                    <a:lstStyle/>
                    <a:p>
                      <a:pPr algn="ctr" indent="0" marL="0">
                        <a:buNone/>
                      </a:pPr>
                      <a:r>
                        <a:rPr lang="en-US" sz="1300" b="1" dirty="0">
                          <a:solidFill>
                            <a:srgbClr val="D9534F"/>
                          </a:solidFill>
                          <a:latin typeface="Meiryo" pitchFamily="34" charset="0"/>
                          <a:ea typeface="Meiryo" pitchFamily="34" charset="-122"/>
                          <a:cs typeface="Meiryo" pitchFamily="34" charset="-120"/>
                        </a:rPr>
                        <a:t>3</a:t>
                      </a:r>
                      <a:endParaRPr lang="en-US" sz="1300" dirty="0">
                        <a:latin typeface="Meiryo" charset="0"/>
                        <a:ea typeface="Meiryo" charset="0"/>
                        <a:cs typeface="Meiryo" charset="0"/>
                      </a:endParaRPr>
                    </a:p>
                  </a:txBody>
                  <a:tcPr marL="91440" marR="91440" marT="45720" marB="45720"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FFFFFF"/>
                          </a:solidFill>
                          <a:latin typeface="Meiryo" pitchFamily="34" charset="0"/>
                          <a:ea typeface="Meiryo" pitchFamily="34" charset="-122"/>
                          <a:cs typeface="Meiryo" pitchFamily="34" charset="-120"/>
                        </a:rPr>
                        <a:t>[30]</a:t>
                      </a:r>
                      <a:endParaRPr lang="en-US" sz="1300" dirty="0">
                        <a:latin typeface="Meiryo" charset="0"/>
                        <a:ea typeface="Meiryo" charset="0"/>
                        <a:cs typeface="Meiryo" charset="0"/>
                      </a:endParaRPr>
                    </a:p>
                  </a:txBody>
                  <a:tcPr marL="91440" marR="91440" marT="45720" marB="45720"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17324D"/>
                    </a:solidFill>
                  </a:tcPr>
                </a:tc>
                <a:tc>
                  <a:txBody>
                    <a:bodyPr/>
                    <a:lstStyle/>
                    <a:p>
                      <a:pPr algn="ctr" indent="0" marL="0">
                        <a:buNone/>
                      </a:pPr>
                      <a:r>
                        <a:rPr lang="en-US" sz="1300" b="1" dirty="0">
                          <a:solidFill>
                            <a:srgbClr val="D9534F"/>
                          </a:solidFill>
                          <a:latin typeface="Meiryo" pitchFamily="34" charset="0"/>
                          <a:ea typeface="Meiryo" pitchFamily="34" charset="-122"/>
                          <a:cs typeface="Meiryo" pitchFamily="34" charset="-120"/>
                        </a:rPr>
                        <a:t>4</a:t>
                      </a:r>
                      <a:endParaRPr lang="en-US" sz="1300" dirty="0">
                        <a:latin typeface="Meiryo" charset="0"/>
                        <a:ea typeface="Meiryo" charset="0"/>
                        <a:cs typeface="Meiryo" charset="0"/>
                      </a:endParaRPr>
                    </a:p>
                  </a:txBody>
                  <a:tcPr marL="91440" marR="91440" marT="45720" marB="45720"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FFFFFF"/>
                    </a:solidFill>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64</Slides>
  <Notes>64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64</vt:i4>
      </vt:variant>
    </vt:vector>
  </HeadingPairs>
  <TitlesOfParts>
    <vt:vector size="6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04 交感神経・副交感神経 解説</dc:title>
  <dc:subject>PptxGenJS Presentation</dc:subject>
  <dc:creator>PptxGenJS</dc:creator>
  <cp:lastModifiedBy>PptxGenJS</cp:lastModifiedBy>
  <cp:revision>1</cp:revision>
  <dcterms:created xsi:type="dcterms:W3CDTF">2026-09-29T06:41:20Z</dcterms:created>
  <dcterms:modified xsi:type="dcterms:W3CDTF">2026-09-29T06:41:20Z</dcterms:modified>
</cp:coreProperties>
</file>